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6" r:id="rId8"/>
    <p:sldId id="262"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42" d="100"/>
          <a:sy n="142" d="100"/>
        </p:scale>
        <p:origin x="150"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‹Nº›</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AF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85800" y="658368"/>
            <a:ext cx="10789920" cy="82296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211915"/>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77240" y="2331720"/>
            <a:ext cx="7680960" cy="173736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0803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1C29"/>
        </a:solidFill>
        <a:effectLst/>
      </p:bgPr>
    </p:bg>
    <p:spTree>
      <p:nvGrpSpPr>
        <p:cNvPr id="1" name=""/>
        <p:cNvGrpSpPr/>
        <p:nvPr/>
      </p:nvGrpSpPr>
      <p:grpSpPr>
        <a:xfrm>
          <a:off x="0" y="0"/>
          <a:ext cx="0" cy="0"/>
          <a:chOff x="0" y="0"/>
          <a:chExt cx="0" cy="0"/>
        </a:xfrm>
      </p:grpSpPr>
      <p:sp>
        <p:nvSpPr>
          <p:cNvPr id="4" name="Text 2"/>
          <p:cNvSpPr/>
          <p:nvPr/>
        </p:nvSpPr>
        <p:spPr>
          <a:xfrm>
            <a:off x="822960" y="1847088"/>
            <a:ext cx="7315200" cy="329184"/>
          </a:xfrm>
          <a:prstGeom prst="rect">
            <a:avLst/>
          </a:prstGeom>
          <a:noFill/>
          <a:ln/>
        </p:spPr>
        <p:txBody>
          <a:bodyPr wrap="square" lIns="0" tIns="0" rIns="0" bIns="0" rtlCol="0" anchor="ctr"/>
          <a:lstStyle/>
          <a:p>
            <a:pPr marL="0" indent="0" algn="l">
              <a:buNone/>
            </a:pPr>
            <a:r>
              <a:rPr lang="es-419" sz="1250" b="1" kern="0" spc="300" noProof="0" dirty="0">
                <a:solidFill>
                  <a:srgbClr val="FFFFFF"/>
                </a:solidFill>
                <a:latin typeface="Trebuchet MS" pitchFamily="34" charset="0"/>
                <a:ea typeface="Trebuchet MS" pitchFamily="34" charset="-122"/>
                <a:cs typeface="Trebuchet MS" pitchFamily="34" charset="-120"/>
              </a:rPr>
              <a:t>PRUEBA DE CONCEPTO  ·  2026</a:t>
            </a:r>
            <a:endParaRPr lang="es-419" sz="1250" noProof="0" dirty="0"/>
          </a:p>
        </p:txBody>
      </p:sp>
      <p:sp>
        <p:nvSpPr>
          <p:cNvPr id="5" name="Text 0"/>
          <p:cNvSpPr>
            <a:spLocks noGrp="1"/>
          </p:cNvSpPr>
          <p:nvPr>
            <p:ph type="title" idx="100" hasCustomPrompt="1"/>
          </p:nvPr>
        </p:nvSpPr>
        <p:spPr>
          <a:xfrm>
            <a:off x="777240" y="2331720"/>
            <a:ext cx="7680960" cy="1737360"/>
          </a:xfrm>
          <a:prstGeom prst="rect">
            <a:avLst/>
          </a:prstGeom>
          <a:noFill/>
          <a:ln/>
        </p:spPr>
        <p:txBody>
          <a:bodyPr wrap="square" lIns="0" tIns="0" rIns="0" bIns="0" rtlCol="0" anchor="ctr"/>
          <a:lstStyle/>
          <a:p>
            <a:pPr marL="0" indent="0" algn="l">
              <a:buNone/>
            </a:pPr>
            <a:r>
              <a:rPr lang="es-419" sz="3100" b="1" noProof="0" dirty="0">
                <a:solidFill>
                  <a:srgbClr val="FFFFFF"/>
                </a:solidFill>
                <a:latin typeface="Trebuchet MS" pitchFamily="34" charset="0"/>
                <a:ea typeface="Trebuchet MS" pitchFamily="34" charset="-122"/>
                <a:cs typeface="Trebuchet MS" pitchFamily="34" charset="-120"/>
              </a:rPr>
              <a:t>GitHub </a:t>
            </a:r>
            <a:r>
              <a:rPr lang="es-419" sz="3100" b="1" noProof="0" dirty="0" err="1">
                <a:solidFill>
                  <a:srgbClr val="FFFFFF"/>
                </a:solidFill>
                <a:latin typeface="Trebuchet MS" pitchFamily="34" charset="0"/>
                <a:ea typeface="Trebuchet MS" pitchFamily="34" charset="-122"/>
                <a:cs typeface="Trebuchet MS" pitchFamily="34" charset="-120"/>
              </a:rPr>
              <a:t>Copilot</a:t>
            </a:r>
            <a:endParaRPr lang="es-419" sz="3100" noProof="0" dirty="0"/>
          </a:p>
          <a:p>
            <a:pPr marL="0" indent="0" algn="l">
              <a:buNone/>
            </a:pPr>
            <a:r>
              <a:rPr lang="es-419" sz="3100" b="1" noProof="0" dirty="0">
                <a:solidFill>
                  <a:srgbClr val="FFFFFF"/>
                </a:solidFill>
                <a:latin typeface="Trebuchet MS" pitchFamily="34" charset="0"/>
                <a:ea typeface="Trebuchet MS" pitchFamily="34" charset="-122"/>
                <a:cs typeface="Trebuchet MS" pitchFamily="34" charset="-120"/>
              </a:rPr>
              <a:t>Resultados de la Prueba de Concepto</a:t>
            </a:r>
            <a:endParaRPr lang="es-419" sz="3100" noProof="0" dirty="0"/>
          </a:p>
        </p:txBody>
      </p:sp>
      <p:sp>
        <p:nvSpPr>
          <p:cNvPr id="6" name="accent">
            <a:extLst>
              <a:ext uri="{C183D7F6-B498-43B3-948B-1728B52AA6E4}">
                <adec:decorative xmlns:adec="http://schemas.microsoft.com/office/drawing/2017/decorative" val="1"/>
              </a:ext>
            </a:extLst>
          </p:cNvPr>
          <p:cNvSpPr/>
          <p:nvPr/>
        </p:nvSpPr>
        <p:spPr>
          <a:xfrm>
            <a:off x="822960" y="4224528"/>
            <a:ext cx="1051560" cy="54864"/>
          </a:xfrm>
          <a:prstGeom prst="rect">
            <a:avLst/>
          </a:prstGeom>
          <a:solidFill>
            <a:srgbClr val="FFFFFF"/>
          </a:solidFill>
          <a:ln/>
        </p:spPr>
        <p:txBody>
          <a:bodyPr/>
          <a:lstStyle/>
          <a:p>
            <a:endParaRPr lang="es-419" noProof="0" dirty="0"/>
          </a:p>
        </p:txBody>
      </p:sp>
      <p:sp>
        <p:nvSpPr>
          <p:cNvPr id="7" name="Text 5"/>
          <p:cNvSpPr/>
          <p:nvPr/>
        </p:nvSpPr>
        <p:spPr>
          <a:xfrm>
            <a:off x="804672" y="4407408"/>
            <a:ext cx="7498080" cy="457200"/>
          </a:xfrm>
          <a:prstGeom prst="rect">
            <a:avLst/>
          </a:prstGeom>
          <a:noFill/>
          <a:ln/>
        </p:spPr>
        <p:txBody>
          <a:bodyPr wrap="square" lIns="0" tIns="0" rIns="0" bIns="0" rtlCol="0" anchor="ctr"/>
          <a:lstStyle/>
          <a:p>
            <a:pPr marL="0" indent="0" algn="l">
              <a:buNone/>
            </a:pPr>
            <a:r>
              <a:rPr lang="es-419" sz="1550" noProof="0" dirty="0">
                <a:solidFill>
                  <a:srgbClr val="E7E2DF"/>
                </a:solidFill>
                <a:latin typeface="Calibri" pitchFamily="34" charset="0"/>
                <a:ea typeface="Calibri" pitchFamily="34" charset="-122"/>
                <a:cs typeface="Calibri" pitchFamily="34" charset="-120"/>
              </a:rPr>
              <a:t>Productividad, consumo, gobierno y </a:t>
            </a:r>
            <a:r>
              <a:rPr lang="es-419" sz="1550" noProof="0">
                <a:solidFill>
                  <a:srgbClr val="E7E2DF"/>
                </a:solidFill>
                <a:latin typeface="Calibri" pitchFamily="34" charset="0"/>
                <a:ea typeface="Calibri" pitchFamily="34" charset="-122"/>
                <a:cs typeface="Calibri" pitchFamily="34" charset="-120"/>
              </a:rPr>
              <a:t>caso </a:t>
            </a:r>
            <a:r>
              <a:rPr lang="es-419" sz="1550" noProof="0" dirty="0">
                <a:solidFill>
                  <a:srgbClr val="E7E2DF"/>
                </a:solidFill>
                <a:latin typeface="Calibri" pitchFamily="34" charset="0"/>
                <a:ea typeface="Calibri" pitchFamily="34" charset="-122"/>
                <a:cs typeface="Calibri" pitchFamily="34" charset="-120"/>
              </a:rPr>
              <a:t>de </a:t>
            </a:r>
            <a:r>
              <a:rPr lang="es-419" sz="1550" noProof="0">
                <a:solidFill>
                  <a:srgbClr val="E7E2DF"/>
                </a:solidFill>
                <a:latin typeface="Calibri" pitchFamily="34" charset="0"/>
                <a:ea typeface="Calibri" pitchFamily="34" charset="-122"/>
                <a:cs typeface="Calibri" pitchFamily="34" charset="-120"/>
              </a:rPr>
              <a:t>negocio</a:t>
            </a:r>
            <a:endParaRPr lang="es-419" sz="1550" noProof="0" dirty="0"/>
          </a:p>
        </p:txBody>
      </p:sp>
      <p:sp>
        <p:nvSpPr>
          <p:cNvPr id="8" name="Text 6"/>
          <p:cNvSpPr/>
          <p:nvPr/>
        </p:nvSpPr>
        <p:spPr>
          <a:xfrm>
            <a:off x="804672" y="5138928"/>
            <a:ext cx="8229600" cy="365760"/>
          </a:xfrm>
          <a:prstGeom prst="rect">
            <a:avLst/>
          </a:prstGeom>
          <a:noFill/>
          <a:ln/>
        </p:spPr>
        <p:txBody>
          <a:bodyPr wrap="square" lIns="0" tIns="0" rIns="0" bIns="0" rtlCol="0" anchor="ctr"/>
          <a:lstStyle/>
          <a:p>
            <a:pPr marL="0" indent="0" algn="l">
              <a:buNone/>
            </a:pPr>
            <a:r>
              <a:rPr lang="es-419" sz="1250" b="1" noProof="0" dirty="0">
                <a:solidFill>
                  <a:srgbClr val="FFFFFF"/>
                </a:solidFill>
                <a:latin typeface="Calibri" pitchFamily="34" charset="0"/>
                <a:ea typeface="Calibri" pitchFamily="34" charset="-122"/>
                <a:cs typeface="Calibri" pitchFamily="34" charset="-120"/>
              </a:rPr>
              <a:t>Tuya</a:t>
            </a:r>
            <a:r>
              <a:rPr lang="es-419" sz="1250" noProof="0" dirty="0">
                <a:solidFill>
                  <a:srgbClr val="B9B1AC"/>
                </a:solidFill>
                <a:latin typeface="Calibri" pitchFamily="34" charset="0"/>
                <a:ea typeface="Calibri" pitchFamily="34" charset="-122"/>
                <a:cs typeface="Calibri" pitchFamily="34" charset="-120"/>
              </a:rPr>
              <a:t>      [PERIODO EXACTO DE LA POC]      Ingeniería</a:t>
            </a:r>
            <a:endParaRPr lang="es-419" sz="1250" noProof="0" dirty="0"/>
          </a:p>
        </p:txBody>
      </p:sp>
      <p:sp>
        <p:nvSpPr>
          <p:cNvPr id="9" name="Text 7"/>
          <p:cNvSpPr/>
          <p:nvPr/>
        </p:nvSpPr>
        <p:spPr>
          <a:xfrm>
            <a:off x="8778240" y="6272784"/>
            <a:ext cx="2880360" cy="310896"/>
          </a:xfrm>
          <a:prstGeom prst="rect">
            <a:avLst/>
          </a:prstGeom>
          <a:noFill/>
          <a:ln/>
        </p:spPr>
        <p:txBody>
          <a:bodyPr wrap="square" lIns="0" tIns="0" rIns="0" bIns="0" rtlCol="0" anchor="ctr"/>
          <a:lstStyle/>
          <a:p>
            <a:pPr marL="0" indent="0" algn="r">
              <a:buNone/>
            </a:pPr>
            <a:r>
              <a:rPr lang="es-419" sz="1000" b="1" noProof="0" dirty="0">
                <a:solidFill>
                  <a:srgbClr val="9A928C"/>
                </a:solidFill>
                <a:latin typeface="Trebuchet MS" pitchFamily="34" charset="0"/>
                <a:ea typeface="Trebuchet MS" pitchFamily="34" charset="-122"/>
                <a:cs typeface="Trebuchet MS" pitchFamily="34" charset="-120"/>
              </a:rPr>
              <a:t>GitHub  ·  GitHub </a:t>
            </a:r>
            <a:r>
              <a:rPr lang="es-419" sz="1000" b="1" noProof="0" dirty="0" err="1">
                <a:solidFill>
                  <a:srgbClr val="9A928C"/>
                </a:solidFill>
                <a:latin typeface="Trebuchet MS" pitchFamily="34" charset="0"/>
                <a:ea typeface="Trebuchet MS" pitchFamily="34" charset="-122"/>
                <a:cs typeface="Trebuchet MS" pitchFamily="34" charset="-120"/>
              </a:rPr>
              <a:t>Copilot</a:t>
            </a:r>
            <a:endParaRPr lang="es-419" sz="1000" noProof="0" dirty="0"/>
          </a:p>
        </p:txBody>
      </p:sp>
      <p:sp>
        <p:nvSpPr>
          <p:cNvPr id="20" name="Logo Card"/>
          <p:cNvSpPr/>
          <p:nvPr/>
        </p:nvSpPr>
        <p:spPr>
          <a:xfrm>
            <a:off x="822960" y="470000"/>
            <a:ext cx="2438400" cy="1280160"/>
          </a:xfrm>
          <a:prstGeom prst="roundRect">
            <a:avLst>
              <a:gd name="adj" fmla="val 8000"/>
            </a:avLst>
          </a:prstGeom>
          <a:solidFill>
            <a:srgbClr val="FFFFFF"/>
          </a:solidFill>
          <a:ln>
            <a:noFill/>
          </a:ln>
        </p:spPr>
        <p:txBody>
          <a:bodyPr/>
          <a:lstStyle/>
          <a:p>
            <a:endParaRPr lang="es-419" noProof="0" dirty="0"/>
          </a:p>
        </p:txBody>
      </p:sp>
      <p:pic>
        <p:nvPicPr>
          <p:cNvPr id="10" name="Imagen 9" descr="Tuya vive una profunda transformación digital y de modelos de negocio | SAS">
            <a:extLst>
              <a:ext uri="{FF2B5EF4-FFF2-40B4-BE49-F238E27FC236}">
                <a16:creationId xmlns:a16="http://schemas.microsoft.com/office/drawing/2014/main" id="{11AD2E69-6247-1811-BE1D-8D98DF4D578A}"/>
              </a:ext>
            </a:extLst>
          </p:cNvPr>
          <p:cNvPicPr>
            <a:picLocks noChangeAspect="1"/>
          </p:cNvPicPr>
          <p:nvPr/>
        </p:nvPicPr>
        <p:blipFill>
          <a:blip r:embed="rId3"/>
          <a:stretch>
            <a:fillRect/>
          </a:stretch>
        </p:blipFill>
        <p:spPr>
          <a:xfrm>
            <a:off x="1142160" y="660080"/>
            <a:ext cx="1800000" cy="90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ED1C29"/>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dirty="0">
                <a:solidFill>
                  <a:srgbClr val="ED1C29"/>
                </a:solidFill>
                <a:latin typeface="Trebuchet MS" pitchFamily="34" charset="0"/>
                <a:ea typeface="Trebuchet MS" pitchFamily="34" charset="-122"/>
                <a:cs typeface="Trebuchet MS" pitchFamily="34" charset="-120"/>
              </a:rPr>
              <a:t>OBJETIVO Y ALCANCE DE LA POC</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dirty="0">
                <a:solidFill>
                  <a:srgbClr val="211915"/>
                </a:solidFill>
                <a:latin typeface="Trebuchet MS" pitchFamily="34" charset="0"/>
                <a:ea typeface="Trebuchet MS" pitchFamily="34" charset="-122"/>
                <a:cs typeface="Trebuchet MS" pitchFamily="34" charset="-120"/>
              </a:rPr>
              <a:t>Qué evaluamos y bajo qué condiciones</a:t>
            </a:r>
            <a:endParaRPr lang="es-419" sz="2700" noProof="0" dirty="0"/>
          </a:p>
        </p:txBody>
      </p:sp>
      <p:sp>
        <p:nvSpPr>
          <p:cNvPr id="5" name="objetivo">
            <a:extLst>
              <a:ext uri="{C183D7F6-B498-43B3-948B-1728B52AA6E4}">
                <adec:decorative xmlns:adec="http://schemas.microsoft.com/office/drawing/2017/decorative" val="1"/>
              </a:ext>
            </a:extLst>
          </p:cNvPr>
          <p:cNvSpPr/>
          <p:nvPr/>
        </p:nvSpPr>
        <p:spPr>
          <a:xfrm>
            <a:off x="685800" y="1627632"/>
            <a:ext cx="10817352" cy="932688"/>
          </a:xfrm>
          <a:prstGeom prst="rect">
            <a:avLst/>
          </a:prstGeom>
          <a:solidFill>
            <a:srgbClr val="FCE7E8"/>
          </a:solidFill>
          <a:ln w="12700">
            <a:solidFill>
              <a:srgbClr val="F3C9CC"/>
            </a:solidFill>
            <a:prstDash val="solid"/>
          </a:ln>
        </p:spPr>
        <p:txBody>
          <a:bodyPr/>
          <a:lstStyle/>
          <a:p>
            <a:endParaRPr lang="es-419" noProof="0" dirty="0"/>
          </a:p>
        </p:txBody>
      </p:sp>
      <p:sp>
        <p:nvSpPr>
          <p:cNvPr id="6" name="accent">
            <a:extLst>
              <a:ext uri="{C183D7F6-B498-43B3-948B-1728B52AA6E4}">
                <adec:decorative xmlns:adec="http://schemas.microsoft.com/office/drawing/2017/decorative" val="1"/>
              </a:ext>
            </a:extLst>
          </p:cNvPr>
          <p:cNvSpPr/>
          <p:nvPr/>
        </p:nvSpPr>
        <p:spPr>
          <a:xfrm>
            <a:off x="685800" y="1627632"/>
            <a:ext cx="82296" cy="932688"/>
          </a:xfrm>
          <a:prstGeom prst="rect">
            <a:avLst/>
          </a:prstGeom>
          <a:solidFill>
            <a:srgbClr val="ED1C29"/>
          </a:solidFill>
          <a:ln/>
        </p:spPr>
        <p:txBody>
          <a:bodyPr/>
          <a:lstStyle/>
          <a:p>
            <a:endParaRPr lang="es-419" noProof="0" dirty="0"/>
          </a:p>
        </p:txBody>
      </p:sp>
      <p:sp>
        <p:nvSpPr>
          <p:cNvPr id="7" name="Text 5"/>
          <p:cNvSpPr/>
          <p:nvPr/>
        </p:nvSpPr>
        <p:spPr>
          <a:xfrm>
            <a:off x="960120" y="1627632"/>
            <a:ext cx="10332720" cy="932688"/>
          </a:xfrm>
          <a:prstGeom prst="rect">
            <a:avLst/>
          </a:prstGeom>
          <a:noFill/>
          <a:ln/>
        </p:spPr>
        <p:txBody>
          <a:bodyPr wrap="square" lIns="0" tIns="0" rIns="0" bIns="0" rtlCol="0" anchor="ctr"/>
          <a:lstStyle/>
          <a:p>
            <a:pPr marL="0" indent="0" algn="l">
              <a:buNone/>
            </a:pPr>
            <a:r>
              <a:rPr lang="es-419" sz="1100" b="1" noProof="0" dirty="0">
                <a:solidFill>
                  <a:srgbClr val="ED1C29"/>
                </a:solidFill>
                <a:latin typeface="Trebuchet MS" pitchFamily="34" charset="0"/>
                <a:ea typeface="Trebuchet MS" pitchFamily="34" charset="-122"/>
                <a:cs typeface="Trebuchet MS" pitchFamily="34" charset="-120"/>
              </a:rPr>
              <a:t>OBJETIVO   </a:t>
            </a:r>
            <a:r>
              <a:rPr lang="es-419" sz="1350" noProof="0" dirty="0">
                <a:solidFill>
                  <a:srgbClr val="211915"/>
                </a:solidFill>
                <a:latin typeface="Calibri" pitchFamily="34" charset="0"/>
                <a:ea typeface="Calibri" pitchFamily="34" charset="-122"/>
                <a:cs typeface="Calibri" pitchFamily="34" charset="-120"/>
              </a:rPr>
              <a:t>Evaluar el impacto de GitHub </a:t>
            </a:r>
            <a:r>
              <a:rPr lang="es-419" sz="1350" noProof="0" dirty="0" err="1">
                <a:solidFill>
                  <a:srgbClr val="211915"/>
                </a:solidFill>
                <a:latin typeface="Calibri" pitchFamily="34" charset="0"/>
                <a:ea typeface="Calibri" pitchFamily="34" charset="-122"/>
                <a:cs typeface="Calibri" pitchFamily="34" charset="-120"/>
              </a:rPr>
              <a:t>Copilot</a:t>
            </a:r>
            <a:r>
              <a:rPr lang="es-419" sz="1350" noProof="0" dirty="0">
                <a:solidFill>
                  <a:srgbClr val="211915"/>
                </a:solidFill>
                <a:latin typeface="Calibri" pitchFamily="34" charset="0"/>
                <a:ea typeface="Calibri" pitchFamily="34" charset="-122"/>
                <a:cs typeface="Calibri" pitchFamily="34" charset="-120"/>
              </a:rPr>
              <a:t> en actividades de desarrollo seleccionadas y obtener evidencia para determinar su viabilidad técnica, operativa y económica.</a:t>
            </a:r>
            <a:endParaRPr lang="es-419" sz="1100" noProof="0" dirty="0"/>
          </a:p>
        </p:txBody>
      </p:sp>
      <p:sp>
        <p:nvSpPr>
          <p:cNvPr id="8" name="Text 6"/>
          <p:cNvSpPr/>
          <p:nvPr/>
        </p:nvSpPr>
        <p:spPr>
          <a:xfrm>
            <a:off x="685800" y="2816352"/>
            <a:ext cx="10058400" cy="274320"/>
          </a:xfrm>
          <a:prstGeom prst="rect">
            <a:avLst/>
          </a:prstGeom>
          <a:noFill/>
          <a:ln/>
        </p:spPr>
        <p:txBody>
          <a:bodyPr wrap="square" lIns="0" tIns="0" rIns="0" bIns="0" rtlCol="0" anchor="ctr"/>
          <a:lstStyle/>
          <a:p>
            <a:pPr marL="0" indent="0">
              <a:buNone/>
            </a:pPr>
            <a:r>
              <a:rPr lang="es-419" sz="1100" b="1" kern="0" spc="200" noProof="0" dirty="0">
                <a:solidFill>
                  <a:srgbClr val="7A716B"/>
                </a:solidFill>
                <a:latin typeface="Trebuchet MS" pitchFamily="34" charset="0"/>
                <a:ea typeface="Trebuchet MS" pitchFamily="34" charset="-122"/>
                <a:cs typeface="Trebuchet MS" pitchFamily="34" charset="-120"/>
              </a:rPr>
              <a:t>ALCANCE DE LA EVALUACIÓN</a:t>
            </a:r>
            <a:endParaRPr lang="es-419" sz="1100" noProof="0" dirty="0"/>
          </a:p>
        </p:txBody>
      </p:sp>
      <p:sp>
        <p:nvSpPr>
          <p:cNvPr id="9" name="card">
            <a:extLst>
              <a:ext uri="{C183D7F6-B498-43B3-948B-1728B52AA6E4}">
                <adec:decorative xmlns:adec="http://schemas.microsoft.com/office/drawing/2017/decorative" val="1"/>
              </a:ext>
            </a:extLst>
          </p:cNvPr>
          <p:cNvSpPr/>
          <p:nvPr/>
        </p:nvSpPr>
        <p:spPr>
          <a:xfrm>
            <a:off x="685800" y="3200400"/>
            <a:ext cx="1958645" cy="233172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0" name="top accent">
            <a:extLst>
              <a:ext uri="{C183D7F6-B498-43B3-948B-1728B52AA6E4}">
                <adec:decorative xmlns:adec="http://schemas.microsoft.com/office/drawing/2017/decorative" val="1"/>
              </a:ext>
            </a:extLst>
          </p:cNvPr>
          <p:cNvSpPr/>
          <p:nvPr/>
        </p:nvSpPr>
        <p:spPr>
          <a:xfrm>
            <a:off x="685800" y="3200400"/>
            <a:ext cx="1958645" cy="100584"/>
          </a:xfrm>
          <a:prstGeom prst="rect">
            <a:avLst/>
          </a:prstGeom>
          <a:solidFill>
            <a:srgbClr val="ED1C29"/>
          </a:solidFill>
          <a:ln/>
        </p:spPr>
        <p:txBody>
          <a:bodyPr/>
          <a:lstStyle/>
          <a:p>
            <a:endParaRPr lang="es-419" noProof="0" dirty="0"/>
          </a:p>
        </p:txBody>
      </p:sp>
      <p:sp>
        <p:nvSpPr>
          <p:cNvPr id="11" name="Text 9"/>
          <p:cNvSpPr/>
          <p:nvPr/>
        </p:nvSpPr>
        <p:spPr>
          <a:xfrm>
            <a:off x="850392" y="3456432"/>
            <a:ext cx="1629461" cy="457200"/>
          </a:xfrm>
          <a:prstGeom prst="rect">
            <a:avLst/>
          </a:prstGeom>
          <a:noFill/>
          <a:ln/>
        </p:spPr>
        <p:txBody>
          <a:bodyPr wrap="square" lIns="0" tIns="0" rIns="0" bIns="0" rtlCol="0" anchor="ctr"/>
          <a:lstStyle/>
          <a:p>
            <a:pPr marL="0" indent="0" algn="l">
              <a:buNone/>
            </a:pPr>
            <a:r>
              <a:rPr lang="es-419" sz="2000" b="1" noProof="0" dirty="0">
                <a:solidFill>
                  <a:srgbClr val="E4DAD6"/>
                </a:solidFill>
                <a:latin typeface="Trebuchet MS" pitchFamily="34" charset="0"/>
                <a:ea typeface="Trebuchet MS" pitchFamily="34" charset="-122"/>
                <a:cs typeface="Trebuchet MS" pitchFamily="34" charset="-120"/>
              </a:rPr>
              <a:t>01</a:t>
            </a:r>
            <a:endParaRPr lang="es-419" sz="2000" noProof="0" dirty="0"/>
          </a:p>
        </p:txBody>
      </p:sp>
      <p:sp>
        <p:nvSpPr>
          <p:cNvPr id="12" name="Text 10"/>
          <p:cNvSpPr/>
          <p:nvPr/>
        </p:nvSpPr>
        <p:spPr>
          <a:xfrm>
            <a:off x="850392" y="4041648"/>
            <a:ext cx="1629461" cy="640080"/>
          </a:xfrm>
          <a:prstGeom prst="rect">
            <a:avLst/>
          </a:prstGeom>
          <a:noFill/>
          <a:ln/>
        </p:spPr>
        <p:txBody>
          <a:bodyPr wrap="square" lIns="0" tIns="0" rIns="0" bIns="0" rtlCol="0" anchor="t"/>
          <a:lstStyle/>
          <a:p>
            <a:pPr marL="0" indent="0" algn="l">
              <a:buNone/>
            </a:pPr>
            <a:r>
              <a:rPr lang="es-419" sz="1300" b="1" noProof="0" dirty="0">
                <a:solidFill>
                  <a:srgbClr val="211915"/>
                </a:solidFill>
                <a:latin typeface="Trebuchet MS" pitchFamily="34" charset="0"/>
                <a:ea typeface="Trebuchet MS" pitchFamily="34" charset="-122"/>
                <a:cs typeface="Trebuchet MS" pitchFamily="34" charset="-120"/>
              </a:rPr>
              <a:t>Casos evaluados</a:t>
            </a:r>
            <a:endParaRPr lang="es-419" sz="1300" noProof="0" dirty="0"/>
          </a:p>
        </p:txBody>
      </p:sp>
      <p:sp>
        <p:nvSpPr>
          <p:cNvPr id="13" name="Text 11"/>
          <p:cNvSpPr/>
          <p:nvPr/>
        </p:nvSpPr>
        <p:spPr>
          <a:xfrm>
            <a:off x="850392" y="4681728"/>
            <a:ext cx="1629461" cy="731520"/>
          </a:xfrm>
          <a:prstGeom prst="rect">
            <a:avLst/>
          </a:prstGeom>
          <a:noFill/>
          <a:ln/>
        </p:spPr>
        <p:txBody>
          <a:bodyPr wrap="square" lIns="0" tIns="0" rIns="0" bIns="0" rtlCol="0" anchor="t"/>
          <a:lstStyle/>
          <a:p>
            <a:pPr marL="0" indent="0" algn="l">
              <a:buNone/>
            </a:pPr>
            <a:r>
              <a:rPr lang="es-419" sz="950" i="1" noProof="0" dirty="0">
                <a:solidFill>
                  <a:srgbClr val="ED1C29"/>
                </a:solidFill>
                <a:latin typeface="Calibri" pitchFamily="34" charset="0"/>
                <a:ea typeface="Calibri" pitchFamily="34" charset="-122"/>
                <a:cs typeface="Calibri" pitchFamily="34" charset="-120"/>
              </a:rPr>
              <a:t>Migración de apps .NET a .NET 10 (desde .NET Core 3.1 hasta .NET 8), con la estructura, estándares y prácticas de Tuya.</a:t>
            </a:r>
            <a:endParaRPr lang="es-419" sz="1150" noProof="0" dirty="0"/>
          </a:p>
        </p:txBody>
      </p:sp>
      <p:sp>
        <p:nvSpPr>
          <p:cNvPr id="14" name="card">
            <a:extLst>
              <a:ext uri="{C183D7F6-B498-43B3-948B-1728B52AA6E4}">
                <adec:decorative xmlns:adec="http://schemas.microsoft.com/office/drawing/2017/decorative" val="1"/>
              </a:ext>
            </a:extLst>
          </p:cNvPr>
          <p:cNvSpPr/>
          <p:nvPr/>
        </p:nvSpPr>
        <p:spPr>
          <a:xfrm>
            <a:off x="2900477" y="3200400"/>
            <a:ext cx="1958645" cy="233172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5" name="top accent">
            <a:extLst>
              <a:ext uri="{C183D7F6-B498-43B3-948B-1728B52AA6E4}">
                <adec:decorative xmlns:adec="http://schemas.microsoft.com/office/drawing/2017/decorative" val="1"/>
              </a:ext>
            </a:extLst>
          </p:cNvPr>
          <p:cNvSpPr/>
          <p:nvPr/>
        </p:nvSpPr>
        <p:spPr>
          <a:xfrm>
            <a:off x="2900477" y="3200400"/>
            <a:ext cx="1958645" cy="100584"/>
          </a:xfrm>
          <a:prstGeom prst="rect">
            <a:avLst/>
          </a:prstGeom>
          <a:solidFill>
            <a:srgbClr val="ED1C29"/>
          </a:solidFill>
          <a:ln/>
        </p:spPr>
        <p:txBody>
          <a:bodyPr/>
          <a:lstStyle/>
          <a:p>
            <a:endParaRPr lang="es-419" noProof="0" dirty="0"/>
          </a:p>
        </p:txBody>
      </p:sp>
      <p:sp>
        <p:nvSpPr>
          <p:cNvPr id="16" name="Text 14"/>
          <p:cNvSpPr/>
          <p:nvPr/>
        </p:nvSpPr>
        <p:spPr>
          <a:xfrm>
            <a:off x="3065069" y="3456432"/>
            <a:ext cx="1629461" cy="457200"/>
          </a:xfrm>
          <a:prstGeom prst="rect">
            <a:avLst/>
          </a:prstGeom>
          <a:noFill/>
          <a:ln/>
        </p:spPr>
        <p:txBody>
          <a:bodyPr wrap="square" lIns="0" tIns="0" rIns="0" bIns="0" rtlCol="0" anchor="ctr"/>
          <a:lstStyle/>
          <a:p>
            <a:pPr marL="0" indent="0" algn="l">
              <a:buNone/>
            </a:pPr>
            <a:r>
              <a:rPr lang="es-419" sz="2000" b="1" noProof="0" dirty="0">
                <a:solidFill>
                  <a:srgbClr val="E4DAD6"/>
                </a:solidFill>
                <a:latin typeface="Trebuchet MS" pitchFamily="34" charset="0"/>
                <a:ea typeface="Trebuchet MS" pitchFamily="34" charset="-122"/>
                <a:cs typeface="Trebuchet MS" pitchFamily="34" charset="-120"/>
              </a:rPr>
              <a:t>02</a:t>
            </a:r>
            <a:endParaRPr lang="es-419" sz="2000" noProof="0" dirty="0"/>
          </a:p>
        </p:txBody>
      </p:sp>
      <p:sp>
        <p:nvSpPr>
          <p:cNvPr id="17" name="Text 15"/>
          <p:cNvSpPr/>
          <p:nvPr/>
        </p:nvSpPr>
        <p:spPr>
          <a:xfrm>
            <a:off x="3065069" y="4041648"/>
            <a:ext cx="1629461" cy="640080"/>
          </a:xfrm>
          <a:prstGeom prst="rect">
            <a:avLst/>
          </a:prstGeom>
          <a:noFill/>
          <a:ln/>
        </p:spPr>
        <p:txBody>
          <a:bodyPr wrap="square" lIns="0" tIns="0" rIns="0" bIns="0" rtlCol="0" anchor="t"/>
          <a:lstStyle/>
          <a:p>
            <a:pPr marL="0" indent="0" algn="l">
              <a:buNone/>
            </a:pPr>
            <a:r>
              <a:rPr lang="es-419" sz="1300" b="1" noProof="0" dirty="0">
                <a:solidFill>
                  <a:srgbClr val="211915"/>
                </a:solidFill>
                <a:latin typeface="Trebuchet MS" pitchFamily="34" charset="0"/>
                <a:ea typeface="Trebuchet MS" pitchFamily="34" charset="-122"/>
                <a:cs typeface="Trebuchet MS" pitchFamily="34" charset="-120"/>
              </a:rPr>
              <a:t>Participantes</a:t>
            </a:r>
            <a:endParaRPr lang="es-419" sz="1300" noProof="0" dirty="0"/>
          </a:p>
        </p:txBody>
      </p:sp>
      <p:sp>
        <p:nvSpPr>
          <p:cNvPr id="18" name="Text 16"/>
          <p:cNvSpPr/>
          <p:nvPr/>
        </p:nvSpPr>
        <p:spPr>
          <a:xfrm>
            <a:off x="3065069" y="4681728"/>
            <a:ext cx="1629461" cy="731520"/>
          </a:xfrm>
          <a:prstGeom prst="rect">
            <a:avLst/>
          </a:prstGeom>
          <a:noFill/>
          <a:ln/>
        </p:spPr>
        <p:txBody>
          <a:bodyPr wrap="square" lIns="0" tIns="0" rIns="0" bIns="0" rtlCol="0" anchor="t"/>
          <a:lstStyle/>
          <a:p>
            <a:pPr marL="0" indent="0" algn="l">
              <a:buNone/>
            </a:pPr>
            <a:r>
              <a:rPr lang="es-419" sz="1150" i="1" noProof="0" dirty="0">
                <a:solidFill>
                  <a:srgbClr val="ED1C29"/>
                </a:solidFill>
                <a:latin typeface="Calibri" pitchFamily="34" charset="0"/>
                <a:ea typeface="Calibri" pitchFamily="34" charset="-122"/>
                <a:cs typeface="Calibri" pitchFamily="34" charset="-120"/>
              </a:rPr>
              <a:t>10 desarrolladores.</a:t>
            </a:r>
            <a:endParaRPr lang="es-419" sz="1150" noProof="0" dirty="0"/>
          </a:p>
        </p:txBody>
      </p:sp>
      <p:sp>
        <p:nvSpPr>
          <p:cNvPr id="19" name="card">
            <a:extLst>
              <a:ext uri="{C183D7F6-B498-43B3-948B-1728B52AA6E4}">
                <adec:decorative xmlns:adec="http://schemas.microsoft.com/office/drawing/2017/decorative" val="1"/>
              </a:ext>
            </a:extLst>
          </p:cNvPr>
          <p:cNvSpPr/>
          <p:nvPr/>
        </p:nvSpPr>
        <p:spPr>
          <a:xfrm>
            <a:off x="5115154" y="3200400"/>
            <a:ext cx="1958645" cy="233172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0" name="top accent">
            <a:extLst>
              <a:ext uri="{C183D7F6-B498-43B3-948B-1728B52AA6E4}">
                <adec:decorative xmlns:adec="http://schemas.microsoft.com/office/drawing/2017/decorative" val="1"/>
              </a:ext>
            </a:extLst>
          </p:cNvPr>
          <p:cNvSpPr/>
          <p:nvPr/>
        </p:nvSpPr>
        <p:spPr>
          <a:xfrm>
            <a:off x="5115154" y="3200400"/>
            <a:ext cx="1958645" cy="100584"/>
          </a:xfrm>
          <a:prstGeom prst="rect">
            <a:avLst/>
          </a:prstGeom>
          <a:solidFill>
            <a:srgbClr val="ED1C29"/>
          </a:solidFill>
          <a:ln/>
        </p:spPr>
        <p:txBody>
          <a:bodyPr/>
          <a:lstStyle/>
          <a:p>
            <a:endParaRPr lang="es-419" noProof="0" dirty="0"/>
          </a:p>
        </p:txBody>
      </p:sp>
      <p:sp>
        <p:nvSpPr>
          <p:cNvPr id="21" name="Text 19"/>
          <p:cNvSpPr/>
          <p:nvPr/>
        </p:nvSpPr>
        <p:spPr>
          <a:xfrm>
            <a:off x="5279746" y="3456432"/>
            <a:ext cx="1629461" cy="457200"/>
          </a:xfrm>
          <a:prstGeom prst="rect">
            <a:avLst/>
          </a:prstGeom>
          <a:noFill/>
          <a:ln/>
        </p:spPr>
        <p:txBody>
          <a:bodyPr wrap="square" lIns="0" tIns="0" rIns="0" bIns="0" rtlCol="0" anchor="ctr"/>
          <a:lstStyle/>
          <a:p>
            <a:pPr marL="0" indent="0" algn="l">
              <a:buNone/>
            </a:pPr>
            <a:r>
              <a:rPr lang="es-419" sz="2000" b="1" noProof="0" dirty="0">
                <a:solidFill>
                  <a:srgbClr val="E4DAD6"/>
                </a:solidFill>
                <a:latin typeface="Trebuchet MS" pitchFamily="34" charset="0"/>
                <a:ea typeface="Trebuchet MS" pitchFamily="34" charset="-122"/>
                <a:cs typeface="Trebuchet MS" pitchFamily="34" charset="-120"/>
              </a:rPr>
              <a:t>03</a:t>
            </a:r>
            <a:endParaRPr lang="es-419" sz="2000" noProof="0" dirty="0"/>
          </a:p>
        </p:txBody>
      </p:sp>
      <p:sp>
        <p:nvSpPr>
          <p:cNvPr id="22" name="Text 20"/>
          <p:cNvSpPr/>
          <p:nvPr/>
        </p:nvSpPr>
        <p:spPr>
          <a:xfrm>
            <a:off x="5279746" y="4041648"/>
            <a:ext cx="1629461" cy="640080"/>
          </a:xfrm>
          <a:prstGeom prst="rect">
            <a:avLst/>
          </a:prstGeom>
          <a:noFill/>
          <a:ln/>
        </p:spPr>
        <p:txBody>
          <a:bodyPr wrap="square" lIns="0" tIns="0" rIns="0" bIns="0" rtlCol="0" anchor="t"/>
          <a:lstStyle/>
          <a:p>
            <a:pPr marL="0" indent="0" algn="l">
              <a:buNone/>
            </a:pPr>
            <a:r>
              <a:rPr lang="es-419" sz="1300" b="1" noProof="0" dirty="0">
                <a:solidFill>
                  <a:srgbClr val="211915"/>
                </a:solidFill>
                <a:latin typeface="Trebuchet MS" pitchFamily="34" charset="0"/>
                <a:ea typeface="Trebuchet MS" pitchFamily="34" charset="-122"/>
                <a:cs typeface="Trebuchet MS" pitchFamily="34" charset="-120"/>
              </a:rPr>
              <a:t>Tecnologías</a:t>
            </a:r>
            <a:endParaRPr lang="es-419" sz="1300" noProof="0" dirty="0"/>
          </a:p>
        </p:txBody>
      </p:sp>
      <p:sp>
        <p:nvSpPr>
          <p:cNvPr id="23" name="Text 21"/>
          <p:cNvSpPr/>
          <p:nvPr/>
        </p:nvSpPr>
        <p:spPr>
          <a:xfrm>
            <a:off x="5279746" y="4681728"/>
            <a:ext cx="1629461" cy="731520"/>
          </a:xfrm>
          <a:prstGeom prst="rect">
            <a:avLst/>
          </a:prstGeom>
          <a:noFill/>
          <a:ln/>
        </p:spPr>
        <p:txBody>
          <a:bodyPr wrap="square" lIns="0" tIns="0" rIns="0" bIns="0" rtlCol="0" anchor="t"/>
          <a:lstStyle/>
          <a:p>
            <a:pPr marL="0" indent="0" algn="l">
              <a:buNone/>
            </a:pPr>
            <a:r>
              <a:rPr lang="es-419" sz="1150" i="1" noProof="0" dirty="0">
                <a:solidFill>
                  <a:srgbClr val="ED1C29"/>
                </a:solidFill>
                <a:latin typeface="Calibri" pitchFamily="34" charset="0"/>
                <a:ea typeface="Calibri" pitchFamily="34" charset="-122"/>
                <a:cs typeface="Calibri" pitchFamily="34" charset="-120"/>
              </a:rPr>
              <a:t>.NET, .NET 10, GitHub </a:t>
            </a:r>
            <a:r>
              <a:rPr lang="es-419" sz="1150" i="1" noProof="0" dirty="0" err="1">
                <a:solidFill>
                  <a:srgbClr val="ED1C29"/>
                </a:solidFill>
                <a:latin typeface="Calibri" pitchFamily="34" charset="0"/>
                <a:ea typeface="Calibri" pitchFamily="34" charset="-122"/>
                <a:cs typeface="Calibri" pitchFamily="34" charset="-120"/>
              </a:rPr>
              <a:t>Copilot</a:t>
            </a:r>
            <a:r>
              <a:rPr lang="es-419" sz="1150" i="1" noProof="0" dirty="0">
                <a:solidFill>
                  <a:srgbClr val="ED1C29"/>
                </a:solidFill>
                <a:latin typeface="Calibri" pitchFamily="34" charset="0"/>
                <a:ea typeface="Calibri" pitchFamily="34" charset="-122"/>
                <a:cs typeface="Calibri" pitchFamily="34" charset="-120"/>
              </a:rPr>
              <a:t>.</a:t>
            </a:r>
            <a:endParaRPr lang="es-419" sz="1150" noProof="0" dirty="0"/>
          </a:p>
        </p:txBody>
      </p:sp>
      <p:sp>
        <p:nvSpPr>
          <p:cNvPr id="24" name="card">
            <a:extLst>
              <a:ext uri="{C183D7F6-B498-43B3-948B-1728B52AA6E4}">
                <adec:decorative xmlns:adec="http://schemas.microsoft.com/office/drawing/2017/decorative" val="1"/>
              </a:ext>
            </a:extLst>
          </p:cNvPr>
          <p:cNvSpPr/>
          <p:nvPr/>
        </p:nvSpPr>
        <p:spPr>
          <a:xfrm>
            <a:off x="7329830" y="3200400"/>
            <a:ext cx="1958645" cy="233172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5" name="top accent">
            <a:extLst>
              <a:ext uri="{C183D7F6-B498-43B3-948B-1728B52AA6E4}">
                <adec:decorative xmlns:adec="http://schemas.microsoft.com/office/drawing/2017/decorative" val="1"/>
              </a:ext>
            </a:extLst>
          </p:cNvPr>
          <p:cNvSpPr/>
          <p:nvPr/>
        </p:nvSpPr>
        <p:spPr>
          <a:xfrm>
            <a:off x="7329830" y="3200400"/>
            <a:ext cx="1958645" cy="100584"/>
          </a:xfrm>
          <a:prstGeom prst="rect">
            <a:avLst/>
          </a:prstGeom>
          <a:solidFill>
            <a:srgbClr val="ED1C29"/>
          </a:solidFill>
          <a:ln/>
        </p:spPr>
        <p:txBody>
          <a:bodyPr/>
          <a:lstStyle/>
          <a:p>
            <a:endParaRPr lang="es-419" noProof="0" dirty="0"/>
          </a:p>
        </p:txBody>
      </p:sp>
      <p:sp>
        <p:nvSpPr>
          <p:cNvPr id="26" name="Text 24"/>
          <p:cNvSpPr/>
          <p:nvPr/>
        </p:nvSpPr>
        <p:spPr>
          <a:xfrm>
            <a:off x="7494422" y="3456432"/>
            <a:ext cx="1629461" cy="457200"/>
          </a:xfrm>
          <a:prstGeom prst="rect">
            <a:avLst/>
          </a:prstGeom>
          <a:noFill/>
          <a:ln/>
        </p:spPr>
        <p:txBody>
          <a:bodyPr wrap="square" lIns="0" tIns="0" rIns="0" bIns="0" rtlCol="0" anchor="ctr"/>
          <a:lstStyle/>
          <a:p>
            <a:pPr marL="0" indent="0" algn="l">
              <a:buNone/>
            </a:pPr>
            <a:r>
              <a:rPr lang="es-419" sz="2000" b="1" noProof="0" dirty="0">
                <a:solidFill>
                  <a:srgbClr val="E4DAD6"/>
                </a:solidFill>
                <a:latin typeface="Trebuchet MS" pitchFamily="34" charset="0"/>
                <a:ea typeface="Trebuchet MS" pitchFamily="34" charset="-122"/>
                <a:cs typeface="Trebuchet MS" pitchFamily="34" charset="-120"/>
              </a:rPr>
              <a:t>04</a:t>
            </a:r>
            <a:endParaRPr lang="es-419" sz="2000" noProof="0" dirty="0"/>
          </a:p>
        </p:txBody>
      </p:sp>
      <p:sp>
        <p:nvSpPr>
          <p:cNvPr id="27" name="Text 25"/>
          <p:cNvSpPr/>
          <p:nvPr/>
        </p:nvSpPr>
        <p:spPr>
          <a:xfrm>
            <a:off x="7494422" y="4041648"/>
            <a:ext cx="1629461" cy="640080"/>
          </a:xfrm>
          <a:prstGeom prst="rect">
            <a:avLst/>
          </a:prstGeom>
          <a:noFill/>
          <a:ln/>
        </p:spPr>
        <p:txBody>
          <a:bodyPr wrap="square" lIns="0" tIns="0" rIns="0" bIns="0" rtlCol="0" anchor="t"/>
          <a:lstStyle/>
          <a:p>
            <a:pPr marL="0" indent="0" algn="l">
              <a:buNone/>
            </a:pPr>
            <a:r>
              <a:rPr lang="es-419" sz="1300" b="1" noProof="0" dirty="0">
                <a:solidFill>
                  <a:srgbClr val="211915"/>
                </a:solidFill>
                <a:latin typeface="Trebuchet MS" pitchFamily="34" charset="0"/>
                <a:ea typeface="Trebuchet MS" pitchFamily="34" charset="-122"/>
                <a:cs typeface="Trebuchet MS" pitchFamily="34" charset="-120"/>
              </a:rPr>
              <a:t>Duración</a:t>
            </a:r>
            <a:endParaRPr lang="es-419" sz="1300" noProof="0" dirty="0"/>
          </a:p>
        </p:txBody>
      </p:sp>
      <p:sp>
        <p:nvSpPr>
          <p:cNvPr id="28" name="Text 26"/>
          <p:cNvSpPr/>
          <p:nvPr/>
        </p:nvSpPr>
        <p:spPr>
          <a:xfrm>
            <a:off x="7494422" y="4681728"/>
            <a:ext cx="1629461" cy="731520"/>
          </a:xfrm>
          <a:prstGeom prst="rect">
            <a:avLst/>
          </a:prstGeom>
          <a:noFill/>
          <a:ln/>
        </p:spPr>
        <p:txBody>
          <a:bodyPr wrap="square" lIns="0" tIns="0" rIns="0" bIns="0" rtlCol="0" anchor="t"/>
          <a:lstStyle/>
          <a:p>
            <a:pPr marL="0" indent="0" algn="l">
              <a:buNone/>
            </a:pPr>
            <a:r>
              <a:rPr lang="es-419" sz="1150" i="1" noProof="0" dirty="0">
                <a:solidFill>
                  <a:srgbClr val="ED1C29"/>
                </a:solidFill>
                <a:latin typeface="Calibri" pitchFamily="34" charset="0"/>
                <a:ea typeface="Calibri" pitchFamily="34" charset="-122"/>
                <a:cs typeface="Calibri" pitchFamily="34" charset="-120"/>
              </a:rPr>
              <a:t>2 semanas.</a:t>
            </a:r>
            <a:endParaRPr lang="es-419" sz="1150" noProof="0" dirty="0"/>
          </a:p>
        </p:txBody>
      </p:sp>
      <p:sp>
        <p:nvSpPr>
          <p:cNvPr id="29" name="card">
            <a:extLst>
              <a:ext uri="{C183D7F6-B498-43B3-948B-1728B52AA6E4}">
                <adec:decorative xmlns:adec="http://schemas.microsoft.com/office/drawing/2017/decorative" val="1"/>
              </a:ext>
            </a:extLst>
          </p:cNvPr>
          <p:cNvSpPr/>
          <p:nvPr/>
        </p:nvSpPr>
        <p:spPr>
          <a:xfrm>
            <a:off x="9544507" y="3200400"/>
            <a:ext cx="1958645" cy="233172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30" name="top accent">
            <a:extLst>
              <a:ext uri="{C183D7F6-B498-43B3-948B-1728B52AA6E4}">
                <adec:decorative xmlns:adec="http://schemas.microsoft.com/office/drawing/2017/decorative" val="1"/>
              </a:ext>
            </a:extLst>
          </p:cNvPr>
          <p:cNvSpPr/>
          <p:nvPr/>
        </p:nvSpPr>
        <p:spPr>
          <a:xfrm>
            <a:off x="9544507" y="3200400"/>
            <a:ext cx="1958645" cy="100584"/>
          </a:xfrm>
          <a:prstGeom prst="rect">
            <a:avLst/>
          </a:prstGeom>
          <a:solidFill>
            <a:srgbClr val="ED1C29"/>
          </a:solidFill>
          <a:ln/>
        </p:spPr>
        <p:txBody>
          <a:bodyPr/>
          <a:lstStyle/>
          <a:p>
            <a:endParaRPr lang="es-419" noProof="0" dirty="0"/>
          </a:p>
        </p:txBody>
      </p:sp>
      <p:sp>
        <p:nvSpPr>
          <p:cNvPr id="31" name="Text 29"/>
          <p:cNvSpPr/>
          <p:nvPr/>
        </p:nvSpPr>
        <p:spPr>
          <a:xfrm>
            <a:off x="9709099" y="3456432"/>
            <a:ext cx="1629461" cy="457200"/>
          </a:xfrm>
          <a:prstGeom prst="rect">
            <a:avLst/>
          </a:prstGeom>
          <a:noFill/>
          <a:ln/>
        </p:spPr>
        <p:txBody>
          <a:bodyPr wrap="square" lIns="0" tIns="0" rIns="0" bIns="0" rtlCol="0" anchor="ctr"/>
          <a:lstStyle/>
          <a:p>
            <a:pPr marL="0" indent="0" algn="l">
              <a:buNone/>
            </a:pPr>
            <a:r>
              <a:rPr lang="es-419" sz="2000" b="1" noProof="0" dirty="0">
                <a:solidFill>
                  <a:srgbClr val="E4DAD6"/>
                </a:solidFill>
                <a:latin typeface="Trebuchet MS" pitchFamily="34" charset="0"/>
                <a:ea typeface="Trebuchet MS" pitchFamily="34" charset="-122"/>
                <a:cs typeface="Trebuchet MS" pitchFamily="34" charset="-120"/>
              </a:rPr>
              <a:t>05</a:t>
            </a:r>
            <a:endParaRPr lang="es-419" sz="2000" noProof="0" dirty="0"/>
          </a:p>
        </p:txBody>
      </p:sp>
      <p:sp>
        <p:nvSpPr>
          <p:cNvPr id="32" name="Text 30"/>
          <p:cNvSpPr/>
          <p:nvPr/>
        </p:nvSpPr>
        <p:spPr>
          <a:xfrm>
            <a:off x="9709099" y="4041648"/>
            <a:ext cx="1629461" cy="640080"/>
          </a:xfrm>
          <a:prstGeom prst="rect">
            <a:avLst/>
          </a:prstGeom>
          <a:noFill/>
          <a:ln/>
        </p:spPr>
        <p:txBody>
          <a:bodyPr wrap="square" lIns="0" tIns="0" rIns="0" bIns="0" rtlCol="0" anchor="t"/>
          <a:lstStyle/>
          <a:p>
            <a:pPr marL="0" indent="0" algn="l">
              <a:buNone/>
            </a:pPr>
            <a:r>
              <a:rPr lang="es-419" sz="1300" b="1" noProof="0" dirty="0">
                <a:solidFill>
                  <a:srgbClr val="211915"/>
                </a:solidFill>
                <a:latin typeface="Trebuchet MS" pitchFamily="34" charset="0"/>
                <a:ea typeface="Trebuchet MS" pitchFamily="34" charset="-122"/>
                <a:cs typeface="Trebuchet MS" pitchFamily="34" charset="-120"/>
              </a:rPr>
              <a:t>Metodología</a:t>
            </a:r>
            <a:endParaRPr lang="es-419" sz="1300" noProof="0" dirty="0"/>
          </a:p>
        </p:txBody>
      </p:sp>
      <p:sp>
        <p:nvSpPr>
          <p:cNvPr id="33" name="Text 31"/>
          <p:cNvSpPr/>
          <p:nvPr/>
        </p:nvSpPr>
        <p:spPr>
          <a:xfrm>
            <a:off x="9709099" y="4681728"/>
            <a:ext cx="1629461" cy="731520"/>
          </a:xfrm>
          <a:prstGeom prst="rect">
            <a:avLst/>
          </a:prstGeom>
          <a:noFill/>
          <a:ln/>
        </p:spPr>
        <p:txBody>
          <a:bodyPr wrap="square" lIns="0" tIns="0" rIns="0" bIns="0" rtlCol="0" anchor="t"/>
          <a:lstStyle/>
          <a:p>
            <a:pPr marL="0" indent="0" algn="l">
              <a:buNone/>
            </a:pPr>
            <a:r>
              <a:rPr lang="es-419" sz="850" i="1" noProof="0" dirty="0">
                <a:solidFill>
                  <a:srgbClr val="ED1C29"/>
                </a:solidFill>
                <a:latin typeface="Calibri" pitchFamily="34" charset="0"/>
                <a:ea typeface="Calibri" pitchFamily="34" charset="-122"/>
                <a:cs typeface="Calibri" pitchFamily="34" charset="-120"/>
              </a:rPr>
              <a:t>Juicio experto: se estimó el esfuerzo sin IA y luego se ejecutó con </a:t>
            </a:r>
            <a:r>
              <a:rPr lang="es-419" sz="850" i="1" noProof="0" dirty="0" err="1">
                <a:solidFill>
                  <a:srgbClr val="ED1C29"/>
                </a:solidFill>
                <a:latin typeface="Calibri" pitchFamily="34" charset="0"/>
                <a:ea typeface="Calibri" pitchFamily="34" charset="-122"/>
                <a:cs typeface="Calibri" pitchFamily="34" charset="-120"/>
              </a:rPr>
              <a:t>Copilot</a:t>
            </a:r>
            <a:r>
              <a:rPr lang="es-419" sz="850" i="1" noProof="0" dirty="0">
                <a:solidFill>
                  <a:srgbClr val="ED1C29"/>
                </a:solidFill>
                <a:latin typeface="Calibri" pitchFamily="34" charset="0"/>
                <a:ea typeface="Calibri" pitchFamily="34" charset="-122"/>
                <a:cs typeface="Calibri" pitchFamily="34" charset="-120"/>
              </a:rPr>
              <a:t>, midiendo tiempo y consumo reales. Sin control manual paralelo.</a:t>
            </a:r>
            <a:endParaRPr lang="es-419" sz="1150" noProof="0" dirty="0"/>
          </a:p>
        </p:txBody>
      </p:sp>
      <p:sp>
        <p:nvSpPr>
          <p:cNvPr id="34" name="Text 32"/>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dirty="0">
                <a:solidFill>
                  <a:srgbClr val="211915"/>
                </a:solidFill>
                <a:latin typeface="Calibri" pitchFamily="34" charset="0"/>
                <a:ea typeface="Calibri" pitchFamily="34" charset="-122"/>
                <a:cs typeface="Calibri" pitchFamily="34" charset="-120"/>
              </a:rPr>
              <a:t>Tuya</a:t>
            </a:r>
            <a:r>
              <a:rPr lang="es-419" sz="850" noProof="0" dirty="0">
                <a:solidFill>
                  <a:srgbClr val="9C938D"/>
                </a:solidFill>
                <a:latin typeface="Calibri" pitchFamily="34" charset="0"/>
                <a:ea typeface="Calibri" pitchFamily="34" charset="-122"/>
                <a:cs typeface="Calibri" pitchFamily="34" charset="-120"/>
              </a:rPr>
              <a:t>   ·   GitHub </a:t>
            </a:r>
            <a:r>
              <a:rPr lang="es-419" sz="850" noProof="0" dirty="0" err="1">
                <a:solidFill>
                  <a:srgbClr val="9C938D"/>
                </a:solidFill>
                <a:latin typeface="Calibri" pitchFamily="34" charset="0"/>
                <a:ea typeface="Calibri" pitchFamily="34" charset="-122"/>
                <a:cs typeface="Calibri" pitchFamily="34" charset="-120"/>
              </a:rPr>
              <a:t>Copilot</a:t>
            </a:r>
            <a:r>
              <a:rPr lang="es-419" sz="850" noProof="0" dirty="0">
                <a:solidFill>
                  <a:srgbClr val="9C938D"/>
                </a:solidFill>
                <a:latin typeface="Calibri" pitchFamily="34" charset="0"/>
                <a:ea typeface="Calibri" pitchFamily="34" charset="-122"/>
                <a:cs typeface="Calibri" pitchFamily="34" charset="-120"/>
              </a:rPr>
              <a:t> - Resultados de la Prueba de Concepto</a:t>
            </a:r>
            <a:endParaRPr lang="es-419" sz="850" noProof="0" dirty="0"/>
          </a:p>
        </p:txBody>
      </p:sp>
      <p:sp>
        <p:nvSpPr>
          <p:cNvPr id="35" name="Text 33"/>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dirty="0">
                <a:solidFill>
                  <a:srgbClr val="ED1C29"/>
                </a:solidFill>
                <a:latin typeface="Trebuchet MS" pitchFamily="34" charset="0"/>
                <a:ea typeface="Trebuchet MS" pitchFamily="34" charset="-122"/>
                <a:cs typeface="Trebuchet MS" pitchFamily="34" charset="-120"/>
              </a:rPr>
              <a:t>02</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ED1C29"/>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dirty="0">
                <a:solidFill>
                  <a:srgbClr val="ED1C29"/>
                </a:solidFill>
                <a:latin typeface="Trebuchet MS" pitchFamily="34" charset="0"/>
                <a:ea typeface="Trebuchet MS" pitchFamily="34" charset="-122"/>
                <a:cs typeface="Trebuchet MS" pitchFamily="34" charset="-120"/>
              </a:rPr>
              <a:t>ESCENARIO EVALUADO</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a:solidFill>
                  <a:srgbClr val="211915"/>
                </a:solidFill>
                <a:latin typeface="Trebuchet MS" pitchFamily="34" charset="0"/>
                <a:ea typeface="Trebuchet MS" pitchFamily="34" charset="-122"/>
                <a:cs typeface="Trebuchet MS" pitchFamily="34" charset="-120"/>
              </a:rPr>
              <a:t>Cómo evaluamos el impacto de GitHub Copilot</a:t>
            </a:r>
            <a:endParaRPr lang="es-419" sz="2700" noProof="0" dirty="0"/>
          </a:p>
        </p:txBody>
      </p:sp>
      <p:sp>
        <p:nvSpPr>
          <p:cNvPr id="5" name="card">
            <a:extLst>
              <a:ext uri="{C183D7F6-B498-43B3-948B-1728B52AA6E4}">
                <adec:decorative xmlns:adec="http://schemas.microsoft.com/office/drawing/2017/decorative" val="1"/>
              </a:ext>
            </a:extLst>
          </p:cNvPr>
          <p:cNvSpPr/>
          <p:nvPr/>
        </p:nvSpPr>
        <p:spPr>
          <a:xfrm>
            <a:off x="685800" y="1664208"/>
            <a:ext cx="1574292" cy="16002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6" name="step badge">
            <a:extLst>
              <a:ext uri="{C183D7F6-B498-43B3-948B-1728B52AA6E4}">
                <adec:decorative xmlns:adec="http://schemas.microsoft.com/office/drawing/2017/decorative" val="1"/>
              </a:ext>
            </a:extLst>
          </p:cNvPr>
          <p:cNvSpPr/>
          <p:nvPr/>
        </p:nvSpPr>
        <p:spPr>
          <a:xfrm>
            <a:off x="1280922" y="1847088"/>
            <a:ext cx="384048" cy="384048"/>
          </a:xfrm>
          <a:prstGeom prst="ellipse">
            <a:avLst/>
          </a:prstGeom>
          <a:solidFill>
            <a:srgbClr val="FCE7E8"/>
          </a:solidFill>
          <a:ln/>
        </p:spPr>
        <p:txBody>
          <a:bodyPr/>
          <a:lstStyle/>
          <a:p>
            <a:endParaRPr lang="es-419" noProof="0" dirty="0"/>
          </a:p>
        </p:txBody>
      </p:sp>
      <p:sp>
        <p:nvSpPr>
          <p:cNvPr id="7" name="Text 5"/>
          <p:cNvSpPr/>
          <p:nvPr/>
        </p:nvSpPr>
        <p:spPr>
          <a:xfrm>
            <a:off x="1280922" y="1847088"/>
            <a:ext cx="384048" cy="384048"/>
          </a:xfrm>
          <a:prstGeom prst="rect">
            <a:avLst/>
          </a:prstGeom>
          <a:noFill/>
          <a:ln/>
        </p:spPr>
        <p:txBody>
          <a:bodyPr wrap="square" lIns="0" tIns="0" rIns="0" bIns="0" rtlCol="0" anchor="ctr"/>
          <a:lstStyle/>
          <a:p>
            <a:pPr marL="0" indent="0" algn="ctr">
              <a:buNone/>
            </a:pPr>
            <a:r>
              <a:rPr lang="es-419" sz="1400" b="1" noProof="0" dirty="0">
                <a:solidFill>
                  <a:srgbClr val="ED1C29"/>
                </a:solidFill>
                <a:latin typeface="Trebuchet MS" pitchFamily="34" charset="0"/>
                <a:ea typeface="Trebuchet MS" pitchFamily="34" charset="-122"/>
                <a:cs typeface="Trebuchet MS" pitchFamily="34" charset="-120"/>
              </a:rPr>
              <a:t>1</a:t>
            </a:r>
            <a:endParaRPr lang="es-419" sz="1400" noProof="0" dirty="0"/>
          </a:p>
        </p:txBody>
      </p:sp>
      <p:sp>
        <p:nvSpPr>
          <p:cNvPr id="8" name="Text 6"/>
          <p:cNvSpPr/>
          <p:nvPr/>
        </p:nvSpPr>
        <p:spPr>
          <a:xfrm>
            <a:off x="777240" y="2322576"/>
            <a:ext cx="1391412" cy="950000"/>
          </a:xfrm>
          <a:prstGeom prst="rect">
            <a:avLst/>
          </a:prstGeom>
          <a:noFill/>
          <a:ln/>
        </p:spPr>
        <p:txBody>
          <a:bodyPr wrap="square" lIns="0" tIns="0" rIns="0" bIns="0" rtlCol="0" anchor="t"/>
          <a:lstStyle/>
          <a:p>
            <a:pPr marL="0" indent="0" algn="ctr">
              <a:buNone/>
            </a:pPr>
            <a:r>
              <a:rPr lang="es-419" sz="950" b="1" noProof="0">
                <a:solidFill>
                  <a:srgbClr val="211915"/>
                </a:solidFill>
                <a:latin typeface="Calibri" pitchFamily="34" charset="0"/>
                <a:ea typeface="Calibri" pitchFamily="34" charset="-122"/>
                <a:cs typeface="Calibri" pitchFamily="34" charset="-120"/>
              </a:rPr>
              <a:t>Selección del caso de migración</a:t>
            </a:r>
            <a:endParaRPr lang="es-419" sz="950" noProof="0"/>
          </a:p>
          <a:p>
            <a:pPr marL="0" indent="0" algn="ctr">
              <a:buNone/>
            </a:pPr>
            <a:r>
              <a:rPr lang="es-419" sz="750" noProof="0">
                <a:solidFill>
                  <a:srgbClr val="4A423D"/>
                </a:solidFill>
                <a:latin typeface="Calibri" pitchFamily="34" charset="0"/>
                <a:ea typeface="Calibri" pitchFamily="34" charset="-122"/>
                <a:cs typeface="Calibri" pitchFamily="34" charset="-120"/>
              </a:rPr>
              <a:t>Aplicación .NET seleccionada para migración a .NET 10.</a:t>
            </a:r>
            <a:endParaRPr lang="es-419" sz="750" noProof="0"/>
          </a:p>
        </p:txBody>
      </p:sp>
      <p:sp>
        <p:nvSpPr>
          <p:cNvPr id="9" name="flow connector">
            <a:extLst>
              <a:ext uri="{C183D7F6-B498-43B3-948B-1728B52AA6E4}">
                <adec:decorative xmlns:adec="http://schemas.microsoft.com/office/drawing/2017/decorative" val="1"/>
              </a:ext>
            </a:extLst>
          </p:cNvPr>
          <p:cNvSpPr/>
          <p:nvPr/>
        </p:nvSpPr>
        <p:spPr>
          <a:xfrm>
            <a:off x="2241804" y="2235708"/>
            <a:ext cx="310896" cy="274320"/>
          </a:xfrm>
          <a:prstGeom prst="chevron">
            <a:avLst/>
          </a:prstGeom>
          <a:solidFill>
            <a:srgbClr val="ED1C29"/>
          </a:solidFill>
          <a:ln/>
        </p:spPr>
        <p:txBody>
          <a:bodyPr/>
          <a:lstStyle/>
          <a:p>
            <a:endParaRPr lang="es-419" noProof="0" dirty="0"/>
          </a:p>
        </p:txBody>
      </p:sp>
      <p:sp>
        <p:nvSpPr>
          <p:cNvPr id="10" name="card">
            <a:extLst>
              <a:ext uri="{C183D7F6-B498-43B3-948B-1728B52AA6E4}">
                <adec:decorative xmlns:adec="http://schemas.microsoft.com/office/drawing/2017/decorative" val="1"/>
              </a:ext>
            </a:extLst>
          </p:cNvPr>
          <p:cNvSpPr/>
          <p:nvPr/>
        </p:nvSpPr>
        <p:spPr>
          <a:xfrm>
            <a:off x="2534412" y="1664208"/>
            <a:ext cx="1574292" cy="1600200"/>
          </a:xfrm>
          <a:prstGeom prst="rect">
            <a:avLst/>
          </a:prstGeom>
          <a:solidFill>
            <a:srgbClr val="FCE7E8"/>
          </a:solidFill>
          <a:ln w="19050">
            <a:solidFill>
              <a:srgbClr val="ED1C29"/>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1" name="step badge">
            <a:extLst>
              <a:ext uri="{C183D7F6-B498-43B3-948B-1728B52AA6E4}">
                <adec:decorative xmlns:adec="http://schemas.microsoft.com/office/drawing/2017/decorative" val="1"/>
              </a:ext>
            </a:extLst>
          </p:cNvPr>
          <p:cNvSpPr/>
          <p:nvPr/>
        </p:nvSpPr>
        <p:spPr>
          <a:xfrm>
            <a:off x="3129534" y="1847088"/>
            <a:ext cx="384048" cy="384048"/>
          </a:xfrm>
          <a:prstGeom prst="ellipse">
            <a:avLst/>
          </a:prstGeom>
          <a:solidFill>
            <a:srgbClr val="FCE7E8"/>
          </a:solidFill>
          <a:ln/>
        </p:spPr>
        <p:txBody>
          <a:bodyPr/>
          <a:lstStyle/>
          <a:p>
            <a:endParaRPr lang="es-419" noProof="0" dirty="0"/>
          </a:p>
        </p:txBody>
      </p:sp>
      <p:sp>
        <p:nvSpPr>
          <p:cNvPr id="12" name="Text 10"/>
          <p:cNvSpPr/>
          <p:nvPr/>
        </p:nvSpPr>
        <p:spPr>
          <a:xfrm>
            <a:off x="3129534" y="1847088"/>
            <a:ext cx="384048" cy="384048"/>
          </a:xfrm>
          <a:prstGeom prst="rect">
            <a:avLst/>
          </a:prstGeom>
          <a:noFill/>
          <a:ln/>
        </p:spPr>
        <p:txBody>
          <a:bodyPr wrap="square" lIns="0" tIns="0" rIns="0" bIns="0" rtlCol="0" anchor="ctr"/>
          <a:lstStyle/>
          <a:p>
            <a:pPr marL="0" indent="0" algn="ctr">
              <a:buNone/>
            </a:pPr>
            <a:r>
              <a:rPr lang="es-419" sz="1400" b="1" noProof="0" dirty="0">
                <a:solidFill>
                  <a:srgbClr val="ED1C29"/>
                </a:solidFill>
                <a:latin typeface="Trebuchet MS" pitchFamily="34" charset="0"/>
                <a:ea typeface="Trebuchet MS" pitchFamily="34" charset="-122"/>
                <a:cs typeface="Trebuchet MS" pitchFamily="34" charset="-120"/>
              </a:rPr>
              <a:t>2</a:t>
            </a:r>
            <a:endParaRPr lang="es-419" sz="1400" noProof="0" dirty="0"/>
          </a:p>
        </p:txBody>
      </p:sp>
      <p:sp>
        <p:nvSpPr>
          <p:cNvPr id="13" name="Text 11"/>
          <p:cNvSpPr/>
          <p:nvPr/>
        </p:nvSpPr>
        <p:spPr>
          <a:xfrm>
            <a:off x="2625852" y="2322576"/>
            <a:ext cx="1391412" cy="950000"/>
          </a:xfrm>
          <a:prstGeom prst="rect">
            <a:avLst/>
          </a:prstGeom>
          <a:noFill/>
          <a:ln/>
        </p:spPr>
        <p:txBody>
          <a:bodyPr wrap="square" lIns="0" tIns="0" rIns="0" bIns="0" rtlCol="0" anchor="t"/>
          <a:lstStyle/>
          <a:p>
            <a:pPr marL="0" indent="0" algn="ctr">
              <a:buNone/>
            </a:pPr>
            <a:r>
              <a:rPr lang="es-419" sz="950" b="1" noProof="0">
                <a:solidFill>
                  <a:srgbClr val="ED1C29"/>
                </a:solidFill>
                <a:latin typeface="Calibri" pitchFamily="34" charset="0"/>
                <a:ea typeface="Calibri" pitchFamily="34" charset="-122"/>
                <a:cs typeface="Calibri" pitchFamily="34" charset="-120"/>
              </a:rPr>
              <a:t>Estimación por juicio experto</a:t>
            </a:r>
            <a:endParaRPr lang="es-419" sz="950" noProof="0"/>
          </a:p>
          <a:p>
            <a:pPr marL="0" indent="0" algn="ctr">
              <a:buNone/>
            </a:pPr>
            <a:r>
              <a:rPr lang="es-419" sz="750" b="1" noProof="0">
                <a:solidFill>
                  <a:srgbClr val="211915"/>
                </a:solidFill>
                <a:latin typeface="Calibri" pitchFamily="34" charset="0"/>
                <a:ea typeface="Calibri" pitchFamily="34" charset="-122"/>
                <a:cs typeface="Calibri" pitchFamily="34" charset="-120"/>
              </a:rPr>
              <a:t>Línea base estimada. Esfuerzo esperado sin asistencia de IA.</a:t>
            </a:r>
            <a:endParaRPr lang="es-419" sz="750" noProof="0"/>
          </a:p>
        </p:txBody>
      </p:sp>
      <p:sp>
        <p:nvSpPr>
          <p:cNvPr id="14" name="flow connector">
            <a:extLst>
              <a:ext uri="{C183D7F6-B498-43B3-948B-1728B52AA6E4}">
                <adec:decorative xmlns:adec="http://schemas.microsoft.com/office/drawing/2017/decorative" val="1"/>
              </a:ext>
            </a:extLst>
          </p:cNvPr>
          <p:cNvSpPr/>
          <p:nvPr/>
        </p:nvSpPr>
        <p:spPr>
          <a:xfrm>
            <a:off x="4090416" y="2235708"/>
            <a:ext cx="310896" cy="274320"/>
          </a:xfrm>
          <a:prstGeom prst="chevron">
            <a:avLst/>
          </a:prstGeom>
          <a:solidFill>
            <a:srgbClr val="ED1C29"/>
          </a:solidFill>
          <a:ln/>
        </p:spPr>
        <p:txBody>
          <a:bodyPr/>
          <a:lstStyle/>
          <a:p>
            <a:endParaRPr lang="es-419" noProof="0" dirty="0"/>
          </a:p>
        </p:txBody>
      </p:sp>
      <p:sp>
        <p:nvSpPr>
          <p:cNvPr id="15" name="step">
            <a:extLst>
              <a:ext uri="{C183D7F6-B498-43B3-948B-1728B52AA6E4}">
                <adec:decorative xmlns:adec="http://schemas.microsoft.com/office/drawing/2017/decorative" val="1"/>
              </a:ext>
            </a:extLst>
          </p:cNvPr>
          <p:cNvSpPr/>
          <p:nvPr/>
        </p:nvSpPr>
        <p:spPr>
          <a:xfrm>
            <a:off x="4383024" y="1664208"/>
            <a:ext cx="1574292" cy="16002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6" name="step badge">
            <a:extLst>
              <a:ext uri="{C183D7F6-B498-43B3-948B-1728B52AA6E4}">
                <adec:decorative xmlns:adec="http://schemas.microsoft.com/office/drawing/2017/decorative" val="1"/>
              </a:ext>
            </a:extLst>
          </p:cNvPr>
          <p:cNvSpPr/>
          <p:nvPr/>
        </p:nvSpPr>
        <p:spPr>
          <a:xfrm>
            <a:off x="4978146" y="1847088"/>
            <a:ext cx="384048" cy="384048"/>
          </a:xfrm>
          <a:prstGeom prst="ellipse">
            <a:avLst/>
          </a:prstGeom>
          <a:solidFill>
            <a:srgbClr val="FCE7E8"/>
          </a:solidFill>
          <a:ln/>
        </p:spPr>
        <p:txBody>
          <a:bodyPr/>
          <a:lstStyle/>
          <a:p>
            <a:endParaRPr lang="es-419" noProof="0" dirty="0"/>
          </a:p>
        </p:txBody>
      </p:sp>
      <p:sp>
        <p:nvSpPr>
          <p:cNvPr id="17" name="Text 15"/>
          <p:cNvSpPr/>
          <p:nvPr/>
        </p:nvSpPr>
        <p:spPr>
          <a:xfrm>
            <a:off x="4978146" y="1847088"/>
            <a:ext cx="384048" cy="384048"/>
          </a:xfrm>
          <a:prstGeom prst="rect">
            <a:avLst/>
          </a:prstGeom>
          <a:noFill/>
          <a:ln/>
        </p:spPr>
        <p:txBody>
          <a:bodyPr wrap="square" lIns="0" tIns="0" rIns="0" bIns="0" rtlCol="0" anchor="ctr"/>
          <a:lstStyle/>
          <a:p>
            <a:pPr marL="0" indent="0" algn="ctr">
              <a:buNone/>
            </a:pPr>
            <a:r>
              <a:rPr lang="es-419" sz="1400" b="1" noProof="0" dirty="0">
                <a:solidFill>
                  <a:srgbClr val="ED1C29"/>
                </a:solidFill>
                <a:latin typeface="Trebuchet MS" pitchFamily="34" charset="0"/>
                <a:ea typeface="Trebuchet MS" pitchFamily="34" charset="-122"/>
                <a:cs typeface="Trebuchet MS" pitchFamily="34" charset="-120"/>
              </a:rPr>
              <a:t>3</a:t>
            </a:r>
            <a:endParaRPr lang="es-419" sz="1400" noProof="0" dirty="0"/>
          </a:p>
        </p:txBody>
      </p:sp>
      <p:sp>
        <p:nvSpPr>
          <p:cNvPr id="18" name="Text 16"/>
          <p:cNvSpPr/>
          <p:nvPr/>
        </p:nvSpPr>
        <p:spPr>
          <a:xfrm>
            <a:off x="4474464" y="2322576"/>
            <a:ext cx="1391412" cy="950000"/>
          </a:xfrm>
          <a:prstGeom prst="rect">
            <a:avLst/>
          </a:prstGeom>
          <a:noFill/>
          <a:ln/>
        </p:spPr>
        <p:txBody>
          <a:bodyPr wrap="square" lIns="0" tIns="0" rIns="0" bIns="0" rtlCol="0" anchor="t"/>
          <a:lstStyle/>
          <a:p>
            <a:pPr marL="0" indent="0" algn="ctr">
              <a:buNone/>
            </a:pPr>
            <a:r>
              <a:rPr lang="es-419" sz="950" b="1" noProof="0">
                <a:solidFill>
                  <a:srgbClr val="211915"/>
                </a:solidFill>
                <a:latin typeface="Calibri" pitchFamily="34" charset="0"/>
                <a:ea typeface="Calibri" pitchFamily="34" charset="-122"/>
                <a:cs typeface="Calibri" pitchFamily="34" charset="-120"/>
              </a:rPr>
              <a:t>Incorporación de GitHub </a:t>
            </a:r>
            <a:r>
              <a:rPr lang="es-419" sz="950" b="1" noProof="0" err="1">
                <a:solidFill>
                  <a:srgbClr val="211915"/>
                </a:solidFill>
                <a:latin typeface="Calibri" pitchFamily="34" charset="0"/>
                <a:ea typeface="Calibri" pitchFamily="34" charset="-122"/>
                <a:cs typeface="Calibri" pitchFamily="34" charset="-120"/>
              </a:rPr>
              <a:t>Copilot</a:t>
            </a:r>
            <a:endParaRPr lang="es-419" sz="950" noProof="0"/>
          </a:p>
          <a:p>
            <a:pPr marL="0" indent="0" algn="ctr">
              <a:buNone/>
            </a:pPr>
            <a:r>
              <a:rPr lang="es-419" sz="750" noProof="0">
                <a:solidFill>
                  <a:srgbClr val="4A423D"/>
                </a:solidFill>
                <a:latin typeface="Calibri" pitchFamily="34" charset="0"/>
                <a:ea typeface="Calibri" pitchFamily="34" charset="-122"/>
                <a:cs typeface="Calibri" pitchFamily="34" charset="-120"/>
              </a:rPr>
              <a:t>Uso de Copilot dentro del flujo de migración definido.</a:t>
            </a:r>
            <a:endParaRPr lang="es-419" sz="750" noProof="0"/>
          </a:p>
        </p:txBody>
      </p:sp>
      <p:sp>
        <p:nvSpPr>
          <p:cNvPr id="19" name="flow connector">
            <a:extLst>
              <a:ext uri="{C183D7F6-B498-43B3-948B-1728B52AA6E4}">
                <adec:decorative xmlns:adec="http://schemas.microsoft.com/office/drawing/2017/decorative" val="1"/>
              </a:ext>
            </a:extLst>
          </p:cNvPr>
          <p:cNvSpPr/>
          <p:nvPr/>
        </p:nvSpPr>
        <p:spPr>
          <a:xfrm>
            <a:off x="5939028" y="2235708"/>
            <a:ext cx="310896" cy="274320"/>
          </a:xfrm>
          <a:prstGeom prst="chevron">
            <a:avLst/>
          </a:prstGeom>
          <a:solidFill>
            <a:srgbClr val="ED1C29"/>
          </a:solidFill>
          <a:ln/>
        </p:spPr>
        <p:txBody>
          <a:bodyPr/>
          <a:lstStyle/>
          <a:p>
            <a:endParaRPr lang="es-419" noProof="0" dirty="0"/>
          </a:p>
        </p:txBody>
      </p:sp>
      <p:sp>
        <p:nvSpPr>
          <p:cNvPr id="20" name="step">
            <a:extLst>
              <a:ext uri="{C183D7F6-B498-43B3-948B-1728B52AA6E4}">
                <adec:decorative xmlns:adec="http://schemas.microsoft.com/office/drawing/2017/decorative" val="1"/>
              </a:ext>
            </a:extLst>
          </p:cNvPr>
          <p:cNvSpPr/>
          <p:nvPr/>
        </p:nvSpPr>
        <p:spPr>
          <a:xfrm>
            <a:off x="6231636" y="1664208"/>
            <a:ext cx="1574292" cy="16002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1" name="step badge">
            <a:extLst>
              <a:ext uri="{C183D7F6-B498-43B3-948B-1728B52AA6E4}">
                <adec:decorative xmlns:adec="http://schemas.microsoft.com/office/drawing/2017/decorative" val="1"/>
              </a:ext>
            </a:extLst>
          </p:cNvPr>
          <p:cNvSpPr/>
          <p:nvPr/>
        </p:nvSpPr>
        <p:spPr>
          <a:xfrm>
            <a:off x="6826758" y="1847088"/>
            <a:ext cx="384048" cy="384048"/>
          </a:xfrm>
          <a:prstGeom prst="ellipse">
            <a:avLst/>
          </a:prstGeom>
          <a:solidFill>
            <a:srgbClr val="FCE7E8"/>
          </a:solidFill>
          <a:ln/>
        </p:spPr>
        <p:txBody>
          <a:bodyPr/>
          <a:lstStyle/>
          <a:p>
            <a:endParaRPr lang="es-419" noProof="0" dirty="0"/>
          </a:p>
        </p:txBody>
      </p:sp>
      <p:sp>
        <p:nvSpPr>
          <p:cNvPr id="22" name="Text 20"/>
          <p:cNvSpPr/>
          <p:nvPr/>
        </p:nvSpPr>
        <p:spPr>
          <a:xfrm>
            <a:off x="6826758" y="1847088"/>
            <a:ext cx="384048" cy="384048"/>
          </a:xfrm>
          <a:prstGeom prst="rect">
            <a:avLst/>
          </a:prstGeom>
          <a:noFill/>
          <a:ln/>
        </p:spPr>
        <p:txBody>
          <a:bodyPr wrap="square" lIns="0" tIns="0" rIns="0" bIns="0" rtlCol="0" anchor="ctr"/>
          <a:lstStyle/>
          <a:p>
            <a:pPr marL="0" indent="0" algn="ctr">
              <a:buNone/>
            </a:pPr>
            <a:r>
              <a:rPr lang="es-419" sz="1400" b="1" noProof="0" dirty="0">
                <a:solidFill>
                  <a:srgbClr val="ED1C29"/>
                </a:solidFill>
                <a:latin typeface="Trebuchet MS" pitchFamily="34" charset="0"/>
                <a:ea typeface="Trebuchet MS" pitchFamily="34" charset="-122"/>
                <a:cs typeface="Trebuchet MS" pitchFamily="34" charset="-120"/>
              </a:rPr>
              <a:t>4</a:t>
            </a:r>
            <a:endParaRPr lang="es-419" sz="1400" noProof="0" dirty="0"/>
          </a:p>
        </p:txBody>
      </p:sp>
      <p:sp>
        <p:nvSpPr>
          <p:cNvPr id="23" name="Text 21"/>
          <p:cNvSpPr/>
          <p:nvPr/>
        </p:nvSpPr>
        <p:spPr>
          <a:xfrm>
            <a:off x="6323076" y="2322576"/>
            <a:ext cx="1391412" cy="950000"/>
          </a:xfrm>
          <a:prstGeom prst="rect">
            <a:avLst/>
          </a:prstGeom>
          <a:noFill/>
          <a:ln/>
        </p:spPr>
        <p:txBody>
          <a:bodyPr wrap="square" lIns="0" tIns="0" rIns="0" bIns="0" rtlCol="0" anchor="t"/>
          <a:lstStyle/>
          <a:p>
            <a:pPr marL="0" indent="0" algn="ctr">
              <a:buNone/>
            </a:pPr>
            <a:r>
              <a:rPr lang="es-419" sz="950" b="1" noProof="0">
                <a:solidFill>
                  <a:srgbClr val="211915"/>
                </a:solidFill>
                <a:latin typeface="Calibri" pitchFamily="34" charset="0"/>
                <a:ea typeface="Calibri" pitchFamily="34" charset="-122"/>
                <a:cs typeface="Calibri" pitchFamily="34" charset="-120"/>
              </a:rPr>
              <a:t>Ejecución asistida por IA</a:t>
            </a:r>
            <a:endParaRPr lang="es-419" sz="950" noProof="0"/>
          </a:p>
          <a:p>
            <a:pPr marL="0" indent="0" algn="ctr">
              <a:buNone/>
            </a:pPr>
            <a:r>
              <a:rPr lang="es-419" sz="750" noProof="0">
                <a:solidFill>
                  <a:srgbClr val="4A423D"/>
                </a:solidFill>
                <a:latin typeface="Calibri" pitchFamily="34" charset="0"/>
                <a:ea typeface="Calibri" pitchFamily="34" charset="-122"/>
                <a:cs typeface="Calibri" pitchFamily="34" charset="-120"/>
              </a:rPr>
              <a:t>Migración hacia .NET 10 aplicando estándares y prácticas de Tuya.</a:t>
            </a:r>
            <a:endParaRPr lang="es-419" sz="750" noProof="0"/>
          </a:p>
        </p:txBody>
      </p:sp>
      <p:sp>
        <p:nvSpPr>
          <p:cNvPr id="24" name="flow connector">
            <a:extLst>
              <a:ext uri="{C183D7F6-B498-43B3-948B-1728B52AA6E4}">
                <adec:decorative xmlns:adec="http://schemas.microsoft.com/office/drawing/2017/decorative" val="1"/>
              </a:ext>
            </a:extLst>
          </p:cNvPr>
          <p:cNvSpPr/>
          <p:nvPr/>
        </p:nvSpPr>
        <p:spPr>
          <a:xfrm>
            <a:off x="7787640" y="2235708"/>
            <a:ext cx="310896" cy="274320"/>
          </a:xfrm>
          <a:prstGeom prst="chevron">
            <a:avLst/>
          </a:prstGeom>
          <a:solidFill>
            <a:srgbClr val="ED1C29"/>
          </a:solidFill>
          <a:ln/>
        </p:spPr>
        <p:txBody>
          <a:bodyPr/>
          <a:lstStyle/>
          <a:p>
            <a:endParaRPr lang="es-419" noProof="0" dirty="0"/>
          </a:p>
        </p:txBody>
      </p:sp>
      <p:sp>
        <p:nvSpPr>
          <p:cNvPr id="25" name="card">
            <a:extLst>
              <a:ext uri="{C183D7F6-B498-43B3-948B-1728B52AA6E4}">
                <adec:decorative xmlns:adec="http://schemas.microsoft.com/office/drawing/2017/decorative" val="1"/>
              </a:ext>
            </a:extLst>
          </p:cNvPr>
          <p:cNvSpPr/>
          <p:nvPr/>
        </p:nvSpPr>
        <p:spPr>
          <a:xfrm>
            <a:off x="8080248" y="1664208"/>
            <a:ext cx="1574292" cy="16002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6" name="step badge">
            <a:extLst>
              <a:ext uri="{C183D7F6-B498-43B3-948B-1728B52AA6E4}">
                <adec:decorative xmlns:adec="http://schemas.microsoft.com/office/drawing/2017/decorative" val="1"/>
              </a:ext>
            </a:extLst>
          </p:cNvPr>
          <p:cNvSpPr/>
          <p:nvPr/>
        </p:nvSpPr>
        <p:spPr>
          <a:xfrm>
            <a:off x="8675370" y="1847088"/>
            <a:ext cx="384048" cy="384048"/>
          </a:xfrm>
          <a:prstGeom prst="ellipse">
            <a:avLst/>
          </a:prstGeom>
          <a:solidFill>
            <a:srgbClr val="FCE7E8"/>
          </a:solidFill>
          <a:ln/>
        </p:spPr>
        <p:txBody>
          <a:bodyPr/>
          <a:lstStyle/>
          <a:p>
            <a:endParaRPr lang="es-419" noProof="0" dirty="0"/>
          </a:p>
        </p:txBody>
      </p:sp>
      <p:sp>
        <p:nvSpPr>
          <p:cNvPr id="27" name="Text 25"/>
          <p:cNvSpPr/>
          <p:nvPr/>
        </p:nvSpPr>
        <p:spPr>
          <a:xfrm>
            <a:off x="8675370" y="1847088"/>
            <a:ext cx="384048" cy="384048"/>
          </a:xfrm>
          <a:prstGeom prst="rect">
            <a:avLst/>
          </a:prstGeom>
          <a:noFill/>
          <a:ln/>
        </p:spPr>
        <p:txBody>
          <a:bodyPr wrap="square" lIns="0" tIns="0" rIns="0" bIns="0" rtlCol="0" anchor="ctr"/>
          <a:lstStyle/>
          <a:p>
            <a:pPr marL="0" indent="0" algn="ctr">
              <a:buNone/>
            </a:pPr>
            <a:r>
              <a:rPr lang="es-419" sz="1400" b="1" noProof="0" dirty="0">
                <a:solidFill>
                  <a:srgbClr val="ED1C29"/>
                </a:solidFill>
                <a:latin typeface="Trebuchet MS" pitchFamily="34" charset="0"/>
                <a:ea typeface="Trebuchet MS" pitchFamily="34" charset="-122"/>
                <a:cs typeface="Trebuchet MS" pitchFamily="34" charset="-120"/>
              </a:rPr>
              <a:t>5</a:t>
            </a:r>
            <a:endParaRPr lang="es-419" sz="1400" noProof="0" dirty="0"/>
          </a:p>
        </p:txBody>
      </p:sp>
      <p:sp>
        <p:nvSpPr>
          <p:cNvPr id="28" name="Text 26"/>
          <p:cNvSpPr/>
          <p:nvPr/>
        </p:nvSpPr>
        <p:spPr>
          <a:xfrm>
            <a:off x="8171688" y="2322576"/>
            <a:ext cx="1391412" cy="950000"/>
          </a:xfrm>
          <a:prstGeom prst="rect">
            <a:avLst/>
          </a:prstGeom>
          <a:noFill/>
          <a:ln/>
        </p:spPr>
        <p:txBody>
          <a:bodyPr wrap="square" lIns="0" tIns="0" rIns="0" bIns="0" rtlCol="0" anchor="t"/>
          <a:lstStyle/>
          <a:p>
            <a:pPr marL="0" indent="0" algn="ctr">
              <a:buNone/>
            </a:pPr>
            <a:r>
              <a:rPr lang="es-419" sz="950" b="1" noProof="0">
                <a:solidFill>
                  <a:srgbClr val="211915"/>
                </a:solidFill>
                <a:latin typeface="Calibri" pitchFamily="34" charset="0"/>
                <a:ea typeface="Calibri" pitchFamily="34" charset="-122"/>
                <a:cs typeface="Calibri" pitchFamily="34" charset="-120"/>
              </a:rPr>
              <a:t>Validación técnica</a:t>
            </a:r>
            <a:endParaRPr lang="es-419" sz="950" noProof="0"/>
          </a:p>
          <a:p>
            <a:pPr marL="0" indent="0" algn="ctr">
              <a:buNone/>
            </a:pPr>
            <a:r>
              <a:rPr lang="es-419" sz="750" noProof="0">
                <a:solidFill>
                  <a:srgbClr val="4A423D"/>
                </a:solidFill>
                <a:latin typeface="Calibri" pitchFamily="34" charset="0"/>
                <a:ea typeface="Calibri" pitchFamily="34" charset="-122"/>
                <a:cs typeface="Calibri" pitchFamily="34" charset="-120"/>
              </a:rPr>
              <a:t>Revisión del resultado, correcciones necesarias y análisis técnico.</a:t>
            </a:r>
            <a:endParaRPr lang="es-419" sz="750" noProof="0"/>
          </a:p>
        </p:txBody>
      </p:sp>
      <p:sp>
        <p:nvSpPr>
          <p:cNvPr id="29" name="flow connector">
            <a:extLst>
              <a:ext uri="{C183D7F6-B498-43B3-948B-1728B52AA6E4}">
                <adec:decorative xmlns:adec="http://schemas.microsoft.com/office/drawing/2017/decorative" val="1"/>
              </a:ext>
            </a:extLst>
          </p:cNvPr>
          <p:cNvSpPr/>
          <p:nvPr/>
        </p:nvSpPr>
        <p:spPr>
          <a:xfrm>
            <a:off x="9636252" y="2235708"/>
            <a:ext cx="310896" cy="274320"/>
          </a:xfrm>
          <a:prstGeom prst="chevron">
            <a:avLst/>
          </a:prstGeom>
          <a:solidFill>
            <a:srgbClr val="ED1C29"/>
          </a:solidFill>
          <a:ln/>
        </p:spPr>
        <p:txBody>
          <a:bodyPr/>
          <a:lstStyle/>
          <a:p>
            <a:endParaRPr lang="es-419" noProof="0" dirty="0"/>
          </a:p>
        </p:txBody>
      </p:sp>
      <p:sp>
        <p:nvSpPr>
          <p:cNvPr id="30" name="card">
            <a:extLst>
              <a:ext uri="{C183D7F6-B498-43B3-948B-1728B52AA6E4}">
                <adec:decorative xmlns:adec="http://schemas.microsoft.com/office/drawing/2017/decorative" val="1"/>
              </a:ext>
            </a:extLst>
          </p:cNvPr>
          <p:cNvSpPr/>
          <p:nvPr/>
        </p:nvSpPr>
        <p:spPr>
          <a:xfrm>
            <a:off x="9928860" y="1664208"/>
            <a:ext cx="1574292" cy="16002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31" name="step badge">
            <a:extLst>
              <a:ext uri="{C183D7F6-B498-43B3-948B-1728B52AA6E4}">
                <adec:decorative xmlns:adec="http://schemas.microsoft.com/office/drawing/2017/decorative" val="1"/>
              </a:ext>
            </a:extLst>
          </p:cNvPr>
          <p:cNvSpPr/>
          <p:nvPr/>
        </p:nvSpPr>
        <p:spPr>
          <a:xfrm>
            <a:off x="10523982" y="1847088"/>
            <a:ext cx="384048" cy="384048"/>
          </a:xfrm>
          <a:prstGeom prst="ellipse">
            <a:avLst/>
          </a:prstGeom>
          <a:solidFill>
            <a:srgbClr val="FCE7E8"/>
          </a:solidFill>
          <a:ln/>
        </p:spPr>
        <p:txBody>
          <a:bodyPr/>
          <a:lstStyle/>
          <a:p>
            <a:endParaRPr lang="es-419" noProof="0" dirty="0"/>
          </a:p>
        </p:txBody>
      </p:sp>
      <p:sp>
        <p:nvSpPr>
          <p:cNvPr id="32" name="Text 30"/>
          <p:cNvSpPr/>
          <p:nvPr/>
        </p:nvSpPr>
        <p:spPr>
          <a:xfrm>
            <a:off x="10523982" y="1847088"/>
            <a:ext cx="384048" cy="384048"/>
          </a:xfrm>
          <a:prstGeom prst="rect">
            <a:avLst/>
          </a:prstGeom>
          <a:noFill/>
          <a:ln/>
        </p:spPr>
        <p:txBody>
          <a:bodyPr wrap="square" lIns="0" tIns="0" rIns="0" bIns="0" rtlCol="0" anchor="ctr"/>
          <a:lstStyle/>
          <a:p>
            <a:pPr marL="0" indent="0" algn="ctr">
              <a:buNone/>
            </a:pPr>
            <a:r>
              <a:rPr lang="es-419" sz="1400" b="1" noProof="0" dirty="0">
                <a:solidFill>
                  <a:srgbClr val="ED1C29"/>
                </a:solidFill>
                <a:latin typeface="Trebuchet MS" pitchFamily="34" charset="0"/>
                <a:ea typeface="Trebuchet MS" pitchFamily="34" charset="-122"/>
                <a:cs typeface="Trebuchet MS" pitchFamily="34" charset="-120"/>
              </a:rPr>
              <a:t>6</a:t>
            </a:r>
            <a:endParaRPr lang="es-419" sz="1400" noProof="0" dirty="0"/>
          </a:p>
        </p:txBody>
      </p:sp>
      <p:sp>
        <p:nvSpPr>
          <p:cNvPr id="33" name="Text 31"/>
          <p:cNvSpPr/>
          <p:nvPr/>
        </p:nvSpPr>
        <p:spPr>
          <a:xfrm>
            <a:off x="10020300" y="2322576"/>
            <a:ext cx="1391412" cy="950000"/>
          </a:xfrm>
          <a:prstGeom prst="rect">
            <a:avLst/>
          </a:prstGeom>
          <a:noFill/>
          <a:ln/>
        </p:spPr>
        <p:txBody>
          <a:bodyPr wrap="square" lIns="0" tIns="0" rIns="0" bIns="0" rtlCol="0" anchor="t"/>
          <a:lstStyle/>
          <a:p>
            <a:pPr marL="0" indent="0" algn="ctr">
              <a:buNone/>
            </a:pPr>
            <a:r>
              <a:rPr lang="es-419" sz="950" b="1" noProof="0">
                <a:solidFill>
                  <a:srgbClr val="211915"/>
                </a:solidFill>
                <a:latin typeface="Calibri" pitchFamily="34" charset="0"/>
                <a:ea typeface="Calibri" pitchFamily="34" charset="-122"/>
                <a:cs typeface="Calibri" pitchFamily="34" charset="-120"/>
              </a:rPr>
              <a:t>Medición y comparación</a:t>
            </a:r>
            <a:endParaRPr lang="es-419" sz="950" noProof="0"/>
          </a:p>
          <a:p>
            <a:pPr marL="0" indent="0" algn="ctr">
              <a:buNone/>
            </a:pPr>
            <a:r>
              <a:rPr lang="es-419" sz="750" noProof="0">
                <a:solidFill>
                  <a:srgbClr val="4A423D"/>
                </a:solidFill>
                <a:latin typeface="Calibri" pitchFamily="34" charset="0"/>
                <a:ea typeface="Calibri" pitchFamily="34" charset="-122"/>
                <a:cs typeface="Calibri" pitchFamily="34" charset="-120"/>
              </a:rPr>
              <a:t>Tiempo real, consumo y comparación frente a la estimación experta.</a:t>
            </a:r>
            <a:endParaRPr lang="es-419" sz="750" noProof="0"/>
          </a:p>
        </p:txBody>
      </p:sp>
      <p:sp>
        <p:nvSpPr>
          <p:cNvPr id="34" name="Text 32"/>
          <p:cNvSpPr/>
          <p:nvPr/>
        </p:nvSpPr>
        <p:spPr>
          <a:xfrm>
            <a:off x="685800" y="3401568"/>
            <a:ext cx="7315200" cy="274320"/>
          </a:xfrm>
          <a:prstGeom prst="rect">
            <a:avLst/>
          </a:prstGeom>
          <a:noFill/>
          <a:ln/>
        </p:spPr>
        <p:txBody>
          <a:bodyPr wrap="square" lIns="0" tIns="0" rIns="0" bIns="0" rtlCol="0" anchor="ctr"/>
          <a:lstStyle/>
          <a:p>
            <a:pPr marL="0" indent="0">
              <a:buNone/>
            </a:pPr>
            <a:r>
              <a:rPr lang="es-419" sz="1100" b="1" kern="0" spc="200" noProof="0" dirty="0">
                <a:solidFill>
                  <a:srgbClr val="7A716B"/>
                </a:solidFill>
                <a:latin typeface="Trebuchet MS" pitchFamily="34" charset="0"/>
                <a:ea typeface="Trebuchet MS" pitchFamily="34" charset="-122"/>
                <a:cs typeface="Trebuchet MS" pitchFamily="34" charset="-120"/>
              </a:rPr>
              <a:t>ESCENARIOS EVALUADOS</a:t>
            </a:r>
            <a:endParaRPr lang="es-419" sz="1100" noProof="0" dirty="0"/>
          </a:p>
        </p:txBody>
      </p:sp>
      <p:sp>
        <p:nvSpPr>
          <p:cNvPr id="35" name="card">
            <a:extLst>
              <a:ext uri="{C183D7F6-B498-43B3-948B-1728B52AA6E4}">
                <adec:decorative xmlns:adec="http://schemas.microsoft.com/office/drawing/2017/decorative" val="1"/>
              </a:ext>
            </a:extLst>
          </p:cNvPr>
          <p:cNvSpPr/>
          <p:nvPr/>
        </p:nvSpPr>
        <p:spPr>
          <a:xfrm>
            <a:off x="685800" y="3730752"/>
            <a:ext cx="3422904" cy="1051560"/>
          </a:xfrm>
          <a:prstGeom prst="rect">
            <a:avLst/>
          </a:prstGeom>
          <a:solidFill>
            <a:srgbClr val="F4F1EF"/>
          </a:solidFill>
          <a:ln w="12700">
            <a:solidFill>
              <a:srgbClr val="E7E1DE"/>
            </a:solidFill>
            <a:prstDash val="solid"/>
          </a:ln>
        </p:spPr>
        <p:txBody>
          <a:bodyPr/>
          <a:lstStyle/>
          <a:p>
            <a:endParaRPr lang="es-419" noProof="0" dirty="0"/>
          </a:p>
        </p:txBody>
      </p:sp>
      <p:sp>
        <p:nvSpPr>
          <p:cNvPr id="36" name="Text 34"/>
          <p:cNvSpPr/>
          <p:nvPr/>
        </p:nvSpPr>
        <p:spPr>
          <a:xfrm>
            <a:off x="868680" y="3730752"/>
            <a:ext cx="3057144" cy="1051560"/>
          </a:xfrm>
          <a:prstGeom prst="rect">
            <a:avLst/>
          </a:prstGeom>
          <a:noFill/>
          <a:ln/>
        </p:spPr>
        <p:txBody>
          <a:bodyPr wrap="square" lIns="0" tIns="0" rIns="0" bIns="0" rtlCol="0" anchor="ctr"/>
          <a:lstStyle/>
          <a:p>
            <a:pPr marL="0" indent="0" algn="l">
              <a:buNone/>
            </a:pPr>
            <a:r>
              <a:rPr lang="es-419" sz="1400" b="1" noProof="0" dirty="0">
                <a:solidFill>
                  <a:srgbClr val="211915"/>
                </a:solidFill>
                <a:latin typeface="Trebuchet MS" pitchFamily="34" charset="0"/>
                <a:ea typeface="Trebuchet MS" pitchFamily="34" charset="-122"/>
                <a:cs typeface="Trebuchet MS" pitchFamily="34" charset="-120"/>
              </a:rPr>
              <a:t>Migración de aplicaciones </a:t>
            </a:r>
            <a:r>
              <a:rPr lang="es-419" sz="1400" b="1" noProof="0" dirty="0" err="1">
                <a:solidFill>
                  <a:srgbClr val="211915"/>
                </a:solidFill>
                <a:latin typeface="Trebuchet MS" pitchFamily="34" charset="0"/>
                <a:ea typeface="Trebuchet MS" pitchFamily="34" charset="-122"/>
                <a:cs typeface="Trebuchet MS" pitchFamily="34" charset="-120"/>
              </a:rPr>
              <a:t>legacy</a:t>
            </a:r>
            <a:r>
              <a:rPr lang="es-419" sz="1400" b="1" noProof="0" dirty="0">
                <a:solidFill>
                  <a:srgbClr val="211915"/>
                </a:solidFill>
                <a:latin typeface="Trebuchet MS" pitchFamily="34" charset="0"/>
                <a:ea typeface="Trebuchet MS" pitchFamily="34" charset="-122"/>
                <a:cs typeface="Trebuchet MS" pitchFamily="34" charset="-120"/>
              </a:rPr>
              <a:t> desde .NET Core 3.1 hacia .NET 10.</a:t>
            </a:r>
          </a:p>
          <a:p>
            <a:pPr marL="0" indent="0" algn="l">
              <a:buNone/>
            </a:pPr>
            <a:r>
              <a:rPr lang="es-419" sz="1400" b="1" noProof="0" dirty="0">
                <a:solidFill>
                  <a:srgbClr val="211915"/>
                </a:solidFill>
                <a:latin typeface="Trebuchet MS" pitchFamily="34" charset="0"/>
                <a:ea typeface="Trebuchet MS" pitchFamily="34" charset="-122"/>
                <a:cs typeface="Trebuchet MS" pitchFamily="34" charset="-120"/>
              </a:rPr>
              <a:t>Aplicando estándares y prácticas de desarrollo definidas por Tuya.</a:t>
            </a:r>
            <a:endParaRPr lang="es-419" sz="1400" noProof="0" dirty="0"/>
          </a:p>
        </p:txBody>
      </p:sp>
      <p:sp>
        <p:nvSpPr>
          <p:cNvPr id="37" name="card">
            <a:extLst>
              <a:ext uri="{C183D7F6-B498-43B3-948B-1728B52AA6E4}">
                <adec:decorative xmlns:adec="http://schemas.microsoft.com/office/drawing/2017/decorative" val="1"/>
              </a:ext>
            </a:extLst>
          </p:cNvPr>
          <p:cNvSpPr/>
          <p:nvPr/>
        </p:nvSpPr>
        <p:spPr>
          <a:xfrm>
            <a:off x="4383024" y="3730752"/>
            <a:ext cx="3422904" cy="1051560"/>
          </a:xfrm>
          <a:prstGeom prst="rect">
            <a:avLst/>
          </a:prstGeom>
          <a:solidFill>
            <a:srgbClr val="F4F1EF"/>
          </a:solidFill>
          <a:ln w="12700">
            <a:solidFill>
              <a:srgbClr val="E7E1DE"/>
            </a:solidFill>
            <a:prstDash val="solid"/>
          </a:ln>
        </p:spPr>
        <p:txBody>
          <a:bodyPr/>
          <a:lstStyle/>
          <a:p>
            <a:endParaRPr lang="es-419" noProof="0" dirty="0"/>
          </a:p>
        </p:txBody>
      </p:sp>
      <p:sp>
        <p:nvSpPr>
          <p:cNvPr id="38" name="Text 36"/>
          <p:cNvSpPr/>
          <p:nvPr/>
        </p:nvSpPr>
        <p:spPr>
          <a:xfrm>
            <a:off x="4565904" y="3730752"/>
            <a:ext cx="3057144" cy="1051560"/>
          </a:xfrm>
          <a:prstGeom prst="rect">
            <a:avLst/>
          </a:prstGeom>
          <a:noFill/>
          <a:ln/>
        </p:spPr>
        <p:txBody>
          <a:bodyPr wrap="square" lIns="0" tIns="0" rIns="0" bIns="0" rtlCol="0" anchor="ctr"/>
          <a:lstStyle/>
          <a:p>
            <a:pPr marL="0" indent="0" algn="l">
              <a:buNone/>
            </a:pPr>
            <a:r>
              <a:rPr lang="es-419" sz="1400" b="1" noProof="0" dirty="0">
                <a:solidFill>
                  <a:srgbClr val="211915"/>
                </a:solidFill>
                <a:latin typeface="Trebuchet MS" pitchFamily="34" charset="0"/>
                <a:ea typeface="Trebuchet MS" pitchFamily="34" charset="-122"/>
                <a:cs typeface="Trebuchet MS" pitchFamily="34" charset="-120"/>
              </a:rPr>
              <a:t>Migración de aplicaciones en versiones intermedias de .NET hacia .NET 10.</a:t>
            </a:r>
          </a:p>
          <a:p>
            <a:pPr marL="0" indent="0" algn="l">
              <a:buNone/>
            </a:pPr>
            <a:r>
              <a:rPr lang="es-419" sz="1400" b="1" noProof="0" dirty="0">
                <a:solidFill>
                  <a:srgbClr val="211915"/>
                </a:solidFill>
                <a:latin typeface="Trebuchet MS" pitchFamily="34" charset="0"/>
                <a:ea typeface="Trebuchet MS" pitchFamily="34" charset="-122"/>
                <a:cs typeface="Trebuchet MS" pitchFamily="34" charset="-120"/>
              </a:rPr>
              <a:t>Aplicando estándares y prácticas de desarrollo definidas por Tuya.</a:t>
            </a:r>
            <a:endParaRPr lang="es-419" sz="1400" noProof="0" dirty="0"/>
          </a:p>
        </p:txBody>
      </p:sp>
      <p:sp>
        <p:nvSpPr>
          <p:cNvPr id="39" name="card">
            <a:extLst>
              <a:ext uri="{C183D7F6-B498-43B3-948B-1728B52AA6E4}">
                <adec:decorative xmlns:adec="http://schemas.microsoft.com/office/drawing/2017/decorative" val="1"/>
              </a:ext>
            </a:extLst>
          </p:cNvPr>
          <p:cNvSpPr/>
          <p:nvPr/>
        </p:nvSpPr>
        <p:spPr>
          <a:xfrm>
            <a:off x="8080248" y="3730752"/>
            <a:ext cx="3422904" cy="1051560"/>
          </a:xfrm>
          <a:prstGeom prst="rect">
            <a:avLst/>
          </a:prstGeom>
          <a:solidFill>
            <a:srgbClr val="F4F1EF"/>
          </a:solidFill>
          <a:ln w="12700">
            <a:solidFill>
              <a:srgbClr val="E7E1DE"/>
            </a:solidFill>
            <a:prstDash val="solid"/>
          </a:ln>
        </p:spPr>
        <p:txBody>
          <a:bodyPr/>
          <a:lstStyle/>
          <a:p>
            <a:endParaRPr lang="es-419" noProof="0" dirty="0"/>
          </a:p>
        </p:txBody>
      </p:sp>
      <p:sp>
        <p:nvSpPr>
          <p:cNvPr id="40" name="Text 38"/>
          <p:cNvSpPr/>
          <p:nvPr/>
        </p:nvSpPr>
        <p:spPr>
          <a:xfrm>
            <a:off x="8263128" y="3730752"/>
            <a:ext cx="3057144" cy="1051560"/>
          </a:xfrm>
          <a:prstGeom prst="rect">
            <a:avLst/>
          </a:prstGeom>
          <a:noFill/>
          <a:ln/>
        </p:spPr>
        <p:txBody>
          <a:bodyPr wrap="square" lIns="0" tIns="0" rIns="0" bIns="0" rtlCol="0" anchor="ctr"/>
          <a:lstStyle/>
          <a:p>
            <a:pPr marL="0" indent="0" algn="l">
              <a:buNone/>
            </a:pPr>
            <a:r>
              <a:rPr lang="es-419" sz="1400" b="1" noProof="0" dirty="0">
                <a:solidFill>
                  <a:srgbClr val="211915"/>
                </a:solidFill>
                <a:latin typeface="Trebuchet MS" pitchFamily="34" charset="0"/>
                <a:ea typeface="Trebuchet MS" pitchFamily="34" charset="-122"/>
                <a:cs typeface="Trebuchet MS" pitchFamily="34" charset="-120"/>
              </a:rPr>
              <a:t>Migración de aplicaciones modernas hasta .NET 8 hacia .NET 10.</a:t>
            </a:r>
          </a:p>
          <a:p>
            <a:pPr marL="0" indent="0" algn="l">
              <a:buNone/>
            </a:pPr>
            <a:r>
              <a:rPr lang="es-419" sz="1400" b="1" noProof="0" dirty="0">
                <a:solidFill>
                  <a:srgbClr val="211915"/>
                </a:solidFill>
                <a:latin typeface="Trebuchet MS" pitchFamily="34" charset="0"/>
                <a:ea typeface="Trebuchet MS" pitchFamily="34" charset="-122"/>
                <a:cs typeface="Trebuchet MS" pitchFamily="34" charset="-120"/>
              </a:rPr>
              <a:t>Aplicando estándares y prácticas de desarrollo definidas por Tuya.</a:t>
            </a:r>
            <a:endParaRPr lang="es-419" sz="1400" noProof="0" dirty="0"/>
          </a:p>
        </p:txBody>
      </p:sp>
      <p:sp>
        <p:nvSpPr>
          <p:cNvPr id="41" name="note">
            <a:extLst>
              <a:ext uri="{C183D7F6-B498-43B3-948B-1728B52AA6E4}">
                <adec:decorative xmlns:adec="http://schemas.microsoft.com/office/drawing/2017/decorative" val="1"/>
              </a:ext>
            </a:extLst>
          </p:cNvPr>
          <p:cNvSpPr/>
          <p:nvPr/>
        </p:nvSpPr>
        <p:spPr>
          <a:xfrm>
            <a:off x="685800" y="5074920"/>
            <a:ext cx="10817352" cy="1050000"/>
          </a:xfrm>
          <a:prstGeom prst="rect">
            <a:avLst/>
          </a:prstGeom>
          <a:solidFill>
            <a:srgbClr val="F4F1E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42" name="Text 40"/>
          <p:cNvSpPr/>
          <p:nvPr/>
        </p:nvSpPr>
        <p:spPr>
          <a:xfrm>
            <a:off x="1005840" y="5074920"/>
            <a:ext cx="10241280" cy="1050000"/>
          </a:xfrm>
          <a:prstGeom prst="rect">
            <a:avLst/>
          </a:prstGeom>
          <a:noFill/>
          <a:ln/>
        </p:spPr>
        <p:txBody>
          <a:bodyPr wrap="square" lIns="0" tIns="0" rIns="0" bIns="0" rtlCol="0" anchor="ctr"/>
          <a:lstStyle/>
          <a:p>
            <a:pPr marL="0" indent="0" algn="l">
              <a:buNone/>
            </a:pPr>
            <a:r>
              <a:rPr lang="es-419" sz="1200" b="1" noProof="0">
                <a:solidFill>
                  <a:srgbClr val="ED1C29"/>
                </a:solidFill>
                <a:latin typeface="Calibri" pitchFamily="34" charset="0"/>
                <a:ea typeface="Calibri" pitchFamily="34" charset="-122"/>
                <a:cs typeface="Calibri" pitchFamily="34" charset="-120"/>
              </a:rPr>
              <a:t>Validación humana y línea base estimada   </a:t>
            </a:r>
            <a:r>
              <a:rPr lang="es-419" sz="1200" noProof="0">
                <a:solidFill>
                  <a:srgbClr val="4A423D"/>
                </a:solidFill>
                <a:latin typeface="Calibri" pitchFamily="34" charset="0"/>
                <a:ea typeface="Calibri" pitchFamily="34" charset="-122"/>
                <a:cs typeface="Calibri" pitchFamily="34" charset="-120"/>
              </a:rPr>
              <a:t>La validación humana y los controles técnicos estuvieron presentes durante todo el proceso. La comparación de tiempos se realizó contra una estimación definida mediante juicio experto; no se ejecutaron migraciones manuales paralelas como grupo de control.</a:t>
            </a:r>
            <a:endParaRPr lang="es-419" sz="1300" noProof="0" dirty="0"/>
          </a:p>
        </p:txBody>
      </p:sp>
      <p:sp>
        <p:nvSpPr>
          <p:cNvPr id="43" name="Text 41"/>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dirty="0">
                <a:solidFill>
                  <a:srgbClr val="211915"/>
                </a:solidFill>
                <a:latin typeface="Calibri" pitchFamily="34" charset="0"/>
                <a:ea typeface="Calibri" pitchFamily="34" charset="-122"/>
                <a:cs typeface="Calibri" pitchFamily="34" charset="-120"/>
              </a:rPr>
              <a:t>Tuya</a:t>
            </a:r>
            <a:r>
              <a:rPr lang="es-419" sz="850" noProof="0" dirty="0">
                <a:solidFill>
                  <a:srgbClr val="9C938D"/>
                </a:solidFill>
                <a:latin typeface="Calibri" pitchFamily="34" charset="0"/>
                <a:ea typeface="Calibri" pitchFamily="34" charset="-122"/>
                <a:cs typeface="Calibri" pitchFamily="34" charset="-120"/>
              </a:rPr>
              <a:t>   ·   GitHub </a:t>
            </a:r>
            <a:r>
              <a:rPr lang="es-419" sz="850" noProof="0" dirty="0" err="1">
                <a:solidFill>
                  <a:srgbClr val="9C938D"/>
                </a:solidFill>
                <a:latin typeface="Calibri" pitchFamily="34" charset="0"/>
                <a:ea typeface="Calibri" pitchFamily="34" charset="-122"/>
                <a:cs typeface="Calibri" pitchFamily="34" charset="-120"/>
              </a:rPr>
              <a:t>Copilot</a:t>
            </a:r>
            <a:r>
              <a:rPr lang="es-419" sz="850" noProof="0" dirty="0">
                <a:solidFill>
                  <a:srgbClr val="9C938D"/>
                </a:solidFill>
                <a:latin typeface="Calibri" pitchFamily="34" charset="0"/>
                <a:ea typeface="Calibri" pitchFamily="34" charset="-122"/>
                <a:cs typeface="Calibri" pitchFamily="34" charset="-120"/>
              </a:rPr>
              <a:t> - Resultados de la Prueba de Concepto</a:t>
            </a:r>
            <a:endParaRPr lang="es-419" sz="850" noProof="0" dirty="0"/>
          </a:p>
        </p:txBody>
      </p:sp>
      <p:sp>
        <p:nvSpPr>
          <p:cNvPr id="44" name="Text 42"/>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dirty="0">
                <a:solidFill>
                  <a:srgbClr val="ED1C29"/>
                </a:solidFill>
                <a:latin typeface="Trebuchet MS" pitchFamily="34" charset="0"/>
                <a:ea typeface="Trebuchet MS" pitchFamily="34" charset="-122"/>
                <a:cs typeface="Trebuchet MS" pitchFamily="34" charset="-120"/>
              </a:rPr>
              <a:t>03</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ED1C29"/>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dirty="0">
                <a:solidFill>
                  <a:srgbClr val="ED1C29"/>
                </a:solidFill>
                <a:latin typeface="Trebuchet MS" pitchFamily="34" charset="0"/>
                <a:ea typeface="Trebuchet MS" pitchFamily="34" charset="-122"/>
                <a:cs typeface="Trebuchet MS" pitchFamily="34" charset="-120"/>
              </a:rPr>
              <a:t>RESULTADOS DE LA POC</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dirty="0">
                <a:solidFill>
                  <a:srgbClr val="211915"/>
                </a:solidFill>
                <a:latin typeface="Trebuchet MS" pitchFamily="34" charset="0"/>
                <a:ea typeface="Trebuchet MS" pitchFamily="34" charset="-122"/>
                <a:cs typeface="Trebuchet MS" pitchFamily="34" charset="-120"/>
              </a:rPr>
              <a:t>Qué resultados obtuvimos</a:t>
            </a:r>
            <a:endParaRPr lang="es-419" sz="2700" noProof="0" dirty="0"/>
          </a:p>
        </p:txBody>
      </p:sp>
      <p:sp>
        <p:nvSpPr>
          <p:cNvPr id="5" name="card">
            <a:extLst>
              <a:ext uri="{C183D7F6-B498-43B3-948B-1728B52AA6E4}">
                <adec:decorative xmlns:adec="http://schemas.microsoft.com/office/drawing/2017/decorative" val="1"/>
              </a:ext>
            </a:extLst>
          </p:cNvPr>
          <p:cNvSpPr/>
          <p:nvPr/>
        </p:nvSpPr>
        <p:spPr>
          <a:xfrm>
            <a:off x="685800" y="1691640"/>
            <a:ext cx="1958645" cy="214884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6" name="Text 4"/>
          <p:cNvSpPr/>
          <p:nvPr/>
        </p:nvSpPr>
        <p:spPr>
          <a:xfrm>
            <a:off x="795528" y="2075688"/>
            <a:ext cx="1739189" cy="914400"/>
          </a:xfrm>
          <a:prstGeom prst="rect">
            <a:avLst/>
          </a:prstGeom>
          <a:noFill/>
          <a:ln/>
        </p:spPr>
        <p:txBody>
          <a:bodyPr wrap="square" lIns="0" tIns="0" rIns="0" bIns="0" rtlCol="0" anchor="ctr"/>
          <a:lstStyle/>
          <a:p>
            <a:pPr marL="0" indent="0" algn="ctr">
              <a:buNone/>
            </a:pPr>
            <a:r>
              <a:rPr lang="es-419" sz="2500" b="1" noProof="0" dirty="0">
                <a:solidFill>
                  <a:srgbClr val="ED1C29"/>
                </a:solidFill>
                <a:latin typeface="Trebuchet MS" pitchFamily="34" charset="0"/>
                <a:ea typeface="Trebuchet MS" pitchFamily="34" charset="-122"/>
                <a:cs typeface="Trebuchet MS" pitchFamily="34" charset="-120"/>
              </a:rPr>
              <a:t>50 h</a:t>
            </a:r>
            <a:endParaRPr lang="es-419" sz="2500" noProof="0" dirty="0"/>
          </a:p>
        </p:txBody>
      </p:sp>
      <p:sp>
        <p:nvSpPr>
          <p:cNvPr id="7" name="Text 5"/>
          <p:cNvSpPr/>
          <p:nvPr/>
        </p:nvSpPr>
        <p:spPr>
          <a:xfrm>
            <a:off x="795528" y="3172968"/>
            <a:ext cx="1739189" cy="502920"/>
          </a:xfrm>
          <a:prstGeom prst="rect">
            <a:avLst/>
          </a:prstGeom>
          <a:noFill/>
          <a:ln/>
        </p:spPr>
        <p:txBody>
          <a:bodyPr wrap="square" lIns="0" tIns="0" rIns="0" bIns="0" rtlCol="0" anchor="t"/>
          <a:lstStyle/>
          <a:p>
            <a:pPr marL="0" indent="0" algn="ctr">
              <a:buNone/>
            </a:pPr>
            <a:r>
              <a:rPr lang="es-419" sz="1050" b="1" kern="0" spc="100" noProof="0" dirty="0">
                <a:solidFill>
                  <a:srgbClr val="7A716B"/>
                </a:solidFill>
                <a:latin typeface="Calibri" pitchFamily="34" charset="0"/>
                <a:ea typeface="Calibri" pitchFamily="34" charset="-122"/>
                <a:cs typeface="Calibri" pitchFamily="34" charset="-120"/>
              </a:rPr>
              <a:t>TIEMPO ESTIMADO SIN COPILOT - JUICIO EXPERTO</a:t>
            </a:r>
            <a:endParaRPr lang="es-419" sz="1050" noProof="0" dirty="0"/>
          </a:p>
        </p:txBody>
      </p:sp>
      <p:sp>
        <p:nvSpPr>
          <p:cNvPr id="8" name="card">
            <a:extLst>
              <a:ext uri="{C183D7F6-B498-43B3-948B-1728B52AA6E4}">
                <adec:decorative xmlns:adec="http://schemas.microsoft.com/office/drawing/2017/decorative" val="1"/>
              </a:ext>
            </a:extLst>
          </p:cNvPr>
          <p:cNvSpPr/>
          <p:nvPr/>
        </p:nvSpPr>
        <p:spPr>
          <a:xfrm>
            <a:off x="2900477" y="1691640"/>
            <a:ext cx="1958645" cy="214884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9" name="Text 7"/>
          <p:cNvSpPr/>
          <p:nvPr/>
        </p:nvSpPr>
        <p:spPr>
          <a:xfrm>
            <a:off x="3010205" y="2075688"/>
            <a:ext cx="1739189" cy="914400"/>
          </a:xfrm>
          <a:prstGeom prst="rect">
            <a:avLst/>
          </a:prstGeom>
          <a:noFill/>
          <a:ln/>
        </p:spPr>
        <p:txBody>
          <a:bodyPr wrap="square" lIns="0" tIns="0" rIns="0" bIns="0" rtlCol="0" anchor="ctr"/>
          <a:lstStyle/>
          <a:p>
            <a:pPr marL="0" indent="0" algn="ctr">
              <a:buNone/>
            </a:pPr>
            <a:r>
              <a:rPr lang="es-419" sz="2500" b="1" noProof="0" dirty="0">
                <a:solidFill>
                  <a:srgbClr val="ED1C29"/>
                </a:solidFill>
                <a:latin typeface="Trebuchet MS" pitchFamily="34" charset="0"/>
                <a:ea typeface="Trebuchet MS" pitchFamily="34" charset="-122"/>
                <a:cs typeface="Trebuchet MS" pitchFamily="34" charset="-120"/>
              </a:rPr>
              <a:t>2 h 18 min</a:t>
            </a:r>
            <a:endParaRPr lang="es-419" sz="2500" noProof="0" dirty="0"/>
          </a:p>
        </p:txBody>
      </p:sp>
      <p:sp>
        <p:nvSpPr>
          <p:cNvPr id="10" name="Text 8"/>
          <p:cNvSpPr/>
          <p:nvPr/>
        </p:nvSpPr>
        <p:spPr>
          <a:xfrm>
            <a:off x="3010205" y="3172968"/>
            <a:ext cx="1739189" cy="502920"/>
          </a:xfrm>
          <a:prstGeom prst="rect">
            <a:avLst/>
          </a:prstGeom>
          <a:noFill/>
          <a:ln/>
        </p:spPr>
        <p:txBody>
          <a:bodyPr wrap="square" lIns="0" tIns="0" rIns="0" bIns="0" rtlCol="0" anchor="t"/>
          <a:lstStyle/>
          <a:p>
            <a:pPr marL="0" indent="0" algn="ctr">
              <a:buNone/>
            </a:pPr>
            <a:r>
              <a:rPr lang="es-419" sz="1050" b="1" kern="0" spc="100" noProof="0" dirty="0">
                <a:solidFill>
                  <a:srgbClr val="7A716B"/>
                </a:solidFill>
                <a:latin typeface="Calibri" pitchFamily="34" charset="0"/>
                <a:ea typeface="Calibri" pitchFamily="34" charset="-122"/>
                <a:cs typeface="Calibri" pitchFamily="34" charset="-120"/>
              </a:rPr>
              <a:t>TIEMPO CON COPILOT</a:t>
            </a:r>
            <a:endParaRPr lang="es-419" sz="1050" noProof="0" dirty="0"/>
          </a:p>
        </p:txBody>
      </p:sp>
      <p:sp>
        <p:nvSpPr>
          <p:cNvPr id="11" name="kpi">
            <a:extLst>
              <a:ext uri="{C183D7F6-B498-43B3-948B-1728B52AA6E4}">
                <adec:decorative xmlns:adec="http://schemas.microsoft.com/office/drawing/2017/decorative" val="1"/>
              </a:ext>
            </a:extLst>
          </p:cNvPr>
          <p:cNvSpPr/>
          <p:nvPr/>
        </p:nvSpPr>
        <p:spPr>
          <a:xfrm>
            <a:off x="5115154" y="1691640"/>
            <a:ext cx="1958645" cy="214884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2" name="Text 10"/>
          <p:cNvSpPr/>
          <p:nvPr/>
        </p:nvSpPr>
        <p:spPr>
          <a:xfrm>
            <a:off x="5224882" y="2075688"/>
            <a:ext cx="1739189" cy="914400"/>
          </a:xfrm>
          <a:prstGeom prst="rect">
            <a:avLst/>
          </a:prstGeom>
          <a:noFill/>
          <a:ln/>
        </p:spPr>
        <p:txBody>
          <a:bodyPr wrap="square" lIns="0" tIns="0" rIns="0" bIns="0" rtlCol="0" anchor="ctr"/>
          <a:lstStyle/>
          <a:p>
            <a:pPr marL="0" indent="0" algn="ctr">
              <a:buNone/>
            </a:pPr>
            <a:r>
              <a:rPr lang="es-419" sz="2500" b="1" noProof="0" dirty="0">
                <a:solidFill>
                  <a:srgbClr val="ED1C29"/>
                </a:solidFill>
                <a:latin typeface="Trebuchet MS" pitchFamily="34" charset="0"/>
                <a:ea typeface="Trebuchet MS" pitchFamily="34" charset="-122"/>
                <a:cs typeface="Trebuchet MS" pitchFamily="34" charset="-120"/>
              </a:rPr>
              <a:t>47 h 42 min</a:t>
            </a:r>
            <a:endParaRPr lang="es-419" sz="2500" noProof="0" dirty="0"/>
          </a:p>
        </p:txBody>
      </p:sp>
      <p:sp>
        <p:nvSpPr>
          <p:cNvPr id="13" name="Text 11"/>
          <p:cNvSpPr/>
          <p:nvPr/>
        </p:nvSpPr>
        <p:spPr>
          <a:xfrm>
            <a:off x="5224882" y="3172968"/>
            <a:ext cx="1739189" cy="502920"/>
          </a:xfrm>
          <a:prstGeom prst="rect">
            <a:avLst/>
          </a:prstGeom>
          <a:noFill/>
          <a:ln/>
        </p:spPr>
        <p:txBody>
          <a:bodyPr wrap="square" lIns="0" tIns="0" rIns="0" bIns="0" rtlCol="0" anchor="t"/>
          <a:lstStyle/>
          <a:p>
            <a:pPr marL="0" indent="0" algn="ctr">
              <a:buNone/>
            </a:pPr>
            <a:r>
              <a:rPr lang="es-419" sz="1050" b="1" kern="0" spc="100" noProof="0" dirty="0">
                <a:solidFill>
                  <a:srgbClr val="7A716B"/>
                </a:solidFill>
                <a:latin typeface="Calibri" pitchFamily="34" charset="0"/>
                <a:ea typeface="Calibri" pitchFamily="34" charset="-122"/>
                <a:cs typeface="Calibri" pitchFamily="34" charset="-120"/>
              </a:rPr>
              <a:t>DIFERENCIA VS. ESTIMACIÓN</a:t>
            </a:r>
            <a:endParaRPr lang="es-419" sz="1050" noProof="0" dirty="0"/>
          </a:p>
        </p:txBody>
      </p:sp>
      <p:sp>
        <p:nvSpPr>
          <p:cNvPr id="14" name="kpi">
            <a:extLst>
              <a:ext uri="{C183D7F6-B498-43B3-948B-1728B52AA6E4}">
                <adec:decorative xmlns:adec="http://schemas.microsoft.com/office/drawing/2017/decorative" val="1"/>
              </a:ext>
            </a:extLst>
          </p:cNvPr>
          <p:cNvSpPr/>
          <p:nvPr/>
        </p:nvSpPr>
        <p:spPr>
          <a:xfrm>
            <a:off x="7329830" y="1691640"/>
            <a:ext cx="1958645" cy="214884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5" name="Text 13"/>
          <p:cNvSpPr/>
          <p:nvPr/>
        </p:nvSpPr>
        <p:spPr>
          <a:xfrm>
            <a:off x="7439558" y="2075688"/>
            <a:ext cx="1739189" cy="914400"/>
          </a:xfrm>
          <a:prstGeom prst="rect">
            <a:avLst/>
          </a:prstGeom>
          <a:noFill/>
          <a:ln/>
        </p:spPr>
        <p:txBody>
          <a:bodyPr wrap="square" lIns="0" tIns="0" rIns="0" bIns="0" rtlCol="0" anchor="ctr"/>
          <a:lstStyle/>
          <a:p>
            <a:pPr marL="0" indent="0" algn="ctr">
              <a:buNone/>
            </a:pPr>
            <a:r>
              <a:rPr lang="es-419" sz="2500" b="1" noProof="0" dirty="0">
                <a:solidFill>
                  <a:srgbClr val="ED1C29"/>
                </a:solidFill>
                <a:latin typeface="Trebuchet MS" pitchFamily="34" charset="0"/>
                <a:ea typeface="Trebuchet MS" pitchFamily="34" charset="-122"/>
                <a:cs typeface="Trebuchet MS" pitchFamily="34" charset="-120"/>
              </a:rPr>
              <a:t>95,4 %</a:t>
            </a:r>
            <a:endParaRPr lang="es-419" sz="2500" noProof="0" dirty="0"/>
          </a:p>
        </p:txBody>
      </p:sp>
      <p:sp>
        <p:nvSpPr>
          <p:cNvPr id="16" name="Text 14"/>
          <p:cNvSpPr/>
          <p:nvPr/>
        </p:nvSpPr>
        <p:spPr>
          <a:xfrm>
            <a:off x="7439558" y="3172968"/>
            <a:ext cx="1739189" cy="502920"/>
          </a:xfrm>
          <a:prstGeom prst="rect">
            <a:avLst/>
          </a:prstGeom>
          <a:noFill/>
          <a:ln/>
        </p:spPr>
        <p:txBody>
          <a:bodyPr wrap="square" lIns="0" tIns="0" rIns="0" bIns="0" rtlCol="0" anchor="t"/>
          <a:lstStyle/>
          <a:p>
            <a:pPr marL="0" indent="0" algn="ctr">
              <a:buNone/>
            </a:pPr>
            <a:r>
              <a:rPr lang="es-419" sz="1050" b="1" kern="0" spc="100" noProof="0" dirty="0">
                <a:solidFill>
                  <a:srgbClr val="7A716B"/>
                </a:solidFill>
                <a:latin typeface="Calibri" pitchFamily="34" charset="0"/>
                <a:ea typeface="Calibri" pitchFamily="34" charset="-122"/>
                <a:cs typeface="Calibri" pitchFamily="34" charset="-120"/>
              </a:rPr>
              <a:t>REDUCCIÓN ESTIMADA</a:t>
            </a:r>
            <a:endParaRPr lang="es-419" sz="1050" noProof="0" dirty="0"/>
          </a:p>
        </p:txBody>
      </p:sp>
      <p:sp>
        <p:nvSpPr>
          <p:cNvPr id="17" name="card">
            <a:extLst>
              <a:ext uri="{C183D7F6-B498-43B3-948B-1728B52AA6E4}">
                <adec:decorative xmlns:adec="http://schemas.microsoft.com/office/drawing/2017/decorative" val="1"/>
              </a:ext>
            </a:extLst>
          </p:cNvPr>
          <p:cNvSpPr/>
          <p:nvPr/>
        </p:nvSpPr>
        <p:spPr>
          <a:xfrm>
            <a:off x="9544507" y="1691640"/>
            <a:ext cx="1958645" cy="214884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8" name="Text 16"/>
          <p:cNvSpPr/>
          <p:nvPr/>
        </p:nvSpPr>
        <p:spPr>
          <a:xfrm>
            <a:off x="9654235" y="2075688"/>
            <a:ext cx="1739189" cy="914400"/>
          </a:xfrm>
          <a:prstGeom prst="rect">
            <a:avLst/>
          </a:prstGeom>
          <a:noFill/>
          <a:ln/>
        </p:spPr>
        <p:txBody>
          <a:bodyPr wrap="square" lIns="0" tIns="0" rIns="0" bIns="0" rtlCol="0" anchor="ctr"/>
          <a:lstStyle/>
          <a:p>
            <a:pPr marL="0" indent="0" algn="ctr">
              <a:buNone/>
            </a:pPr>
            <a:r>
              <a:rPr lang="es-419" sz="2500" b="1" noProof="0" dirty="0">
                <a:solidFill>
                  <a:srgbClr val="ED1C29"/>
                </a:solidFill>
                <a:latin typeface="Trebuchet MS" pitchFamily="34" charset="0"/>
                <a:ea typeface="Trebuchet MS" pitchFamily="34" charset="-122"/>
                <a:cs typeface="Trebuchet MS" pitchFamily="34" charset="-120"/>
              </a:rPr>
              <a:t>5</a:t>
            </a:r>
            <a:endParaRPr lang="es-419" sz="2500" noProof="0" dirty="0"/>
          </a:p>
        </p:txBody>
      </p:sp>
      <p:sp>
        <p:nvSpPr>
          <p:cNvPr id="19" name="Text 17"/>
          <p:cNvSpPr/>
          <p:nvPr/>
        </p:nvSpPr>
        <p:spPr>
          <a:xfrm>
            <a:off x="9654235" y="3172968"/>
            <a:ext cx="1739189" cy="502920"/>
          </a:xfrm>
          <a:prstGeom prst="rect">
            <a:avLst/>
          </a:prstGeom>
          <a:noFill/>
          <a:ln/>
        </p:spPr>
        <p:txBody>
          <a:bodyPr wrap="square" lIns="0" tIns="0" rIns="0" bIns="0" rtlCol="0" anchor="t"/>
          <a:lstStyle/>
          <a:p>
            <a:pPr marL="0" indent="0" algn="ctr">
              <a:buNone/>
            </a:pPr>
            <a:r>
              <a:rPr lang="es-419" sz="1050" b="1" kern="0" spc="100" noProof="0" dirty="0">
                <a:solidFill>
                  <a:srgbClr val="7A716B"/>
                </a:solidFill>
                <a:latin typeface="Calibri" pitchFamily="34" charset="0"/>
                <a:ea typeface="Calibri" pitchFamily="34" charset="-122"/>
                <a:cs typeface="Calibri" pitchFamily="34" charset="-120"/>
              </a:rPr>
              <a:t>CASOS CON MEDICIÓN COMPLETA</a:t>
            </a:r>
            <a:endParaRPr lang="es-419" sz="1050" noProof="0" dirty="0"/>
          </a:p>
        </p:txBody>
      </p:sp>
      <p:sp>
        <p:nvSpPr>
          <p:cNvPr id="20" name="card">
            <a:extLst>
              <a:ext uri="{C183D7F6-B498-43B3-948B-1728B52AA6E4}">
                <adec:decorative xmlns:adec="http://schemas.microsoft.com/office/drawing/2017/decorative" val="1"/>
              </a:ext>
            </a:extLst>
          </p:cNvPr>
          <p:cNvSpPr/>
          <p:nvPr/>
        </p:nvSpPr>
        <p:spPr>
          <a:xfrm>
            <a:off x="685800" y="4114800"/>
            <a:ext cx="10817352" cy="1828800"/>
          </a:xfrm>
          <a:prstGeom prst="rect">
            <a:avLst/>
          </a:prstGeom>
          <a:solidFill>
            <a:srgbClr val="FAF8F7"/>
          </a:solidFill>
          <a:ln w="12700">
            <a:solidFill>
              <a:srgbClr val="E7E1DE"/>
            </a:solidFill>
            <a:prstDash val="solid"/>
          </a:ln>
        </p:spPr>
        <p:txBody>
          <a:bodyPr/>
          <a:lstStyle/>
          <a:p>
            <a:endParaRPr lang="es-419" noProof="0" dirty="0"/>
          </a:p>
        </p:txBody>
      </p:sp>
      <p:sp>
        <p:nvSpPr>
          <p:cNvPr id="21" name="Text 19"/>
          <p:cNvSpPr/>
          <p:nvPr/>
        </p:nvSpPr>
        <p:spPr>
          <a:xfrm>
            <a:off x="932688" y="4315968"/>
            <a:ext cx="7315200" cy="292608"/>
          </a:xfrm>
          <a:prstGeom prst="rect">
            <a:avLst/>
          </a:prstGeom>
          <a:noFill/>
          <a:ln/>
        </p:spPr>
        <p:txBody>
          <a:bodyPr wrap="square" lIns="0" tIns="0" rIns="0" bIns="0" rtlCol="0" anchor="ctr"/>
          <a:lstStyle/>
          <a:p>
            <a:pPr marL="0" indent="0">
              <a:buNone/>
            </a:pPr>
            <a:r>
              <a:rPr lang="es-419" sz="1150" b="1" kern="0" spc="200" noProof="0" dirty="0">
                <a:solidFill>
                  <a:srgbClr val="7A716B"/>
                </a:solidFill>
                <a:latin typeface="Trebuchet MS" pitchFamily="34" charset="0"/>
                <a:ea typeface="Trebuchet MS" pitchFamily="34" charset="-122"/>
                <a:cs typeface="Trebuchet MS" pitchFamily="34" charset="-120"/>
              </a:rPr>
              <a:t>PRINCIPALES HALLAZGOS</a:t>
            </a:r>
            <a:endParaRPr lang="es-419" sz="1150" noProof="0" dirty="0"/>
          </a:p>
        </p:txBody>
      </p:sp>
      <p:sp>
        <p:nvSpPr>
          <p:cNvPr id="22" name="card">
            <a:extLst>
              <a:ext uri="{C183D7F6-B498-43B3-948B-1728B52AA6E4}">
                <adec:decorative xmlns:adec="http://schemas.microsoft.com/office/drawing/2017/decorative" val="1"/>
              </a:ext>
            </a:extLst>
          </p:cNvPr>
          <p:cNvSpPr/>
          <p:nvPr/>
        </p:nvSpPr>
        <p:spPr>
          <a:xfrm>
            <a:off x="932688" y="4736592"/>
            <a:ext cx="3258312" cy="1065814"/>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3" name="accent">
            <a:extLst>
              <a:ext uri="{C183D7F6-B498-43B3-948B-1728B52AA6E4}">
                <adec:decorative xmlns:adec="http://schemas.microsoft.com/office/drawing/2017/decorative" val="1"/>
              </a:ext>
            </a:extLst>
          </p:cNvPr>
          <p:cNvSpPr/>
          <p:nvPr/>
        </p:nvSpPr>
        <p:spPr>
          <a:xfrm>
            <a:off x="932688" y="4736592"/>
            <a:ext cx="82296" cy="960120"/>
          </a:xfrm>
          <a:prstGeom prst="rect">
            <a:avLst/>
          </a:prstGeom>
          <a:solidFill>
            <a:srgbClr val="ED1C29"/>
          </a:solidFill>
          <a:ln/>
        </p:spPr>
        <p:txBody>
          <a:bodyPr/>
          <a:lstStyle/>
          <a:p>
            <a:endParaRPr lang="es-419" noProof="0" dirty="0"/>
          </a:p>
        </p:txBody>
      </p:sp>
      <p:sp>
        <p:nvSpPr>
          <p:cNvPr id="24" name="Text 22"/>
          <p:cNvSpPr/>
          <p:nvPr/>
        </p:nvSpPr>
        <p:spPr>
          <a:xfrm>
            <a:off x="1152144" y="4736592"/>
            <a:ext cx="2892552" cy="1065812"/>
          </a:xfrm>
          <a:prstGeom prst="rect">
            <a:avLst/>
          </a:prstGeom>
          <a:noFill/>
          <a:ln/>
        </p:spPr>
        <p:txBody>
          <a:bodyPr wrap="square" lIns="0" tIns="0" rIns="0" bIns="0" rtlCol="0" anchor="ctr"/>
          <a:lstStyle/>
          <a:p>
            <a:pPr marL="0" indent="0" algn="l">
              <a:buNone/>
            </a:pPr>
            <a:r>
              <a:rPr lang="es-419" sz="1350" b="1" noProof="0" dirty="0">
                <a:solidFill>
                  <a:srgbClr val="211915"/>
                </a:solidFill>
                <a:latin typeface="Trebuchet MS" pitchFamily="34" charset="0"/>
                <a:ea typeface="Trebuchet MS" pitchFamily="34" charset="-122"/>
                <a:cs typeface="Trebuchet MS" pitchFamily="34" charset="-120"/>
              </a:rPr>
              <a:t>El esfuerzo agregado pasó de 50 horas estimadas por juicio experto a 2 horas y 18 minutos de ejecución real con </a:t>
            </a:r>
            <a:r>
              <a:rPr lang="es-419" sz="1350" b="1" noProof="0" dirty="0" err="1">
                <a:solidFill>
                  <a:srgbClr val="211915"/>
                </a:solidFill>
                <a:latin typeface="Trebuchet MS" pitchFamily="34" charset="0"/>
                <a:ea typeface="Trebuchet MS" pitchFamily="34" charset="-122"/>
                <a:cs typeface="Trebuchet MS" pitchFamily="34" charset="-120"/>
              </a:rPr>
              <a:t>Copilot</a:t>
            </a:r>
            <a:r>
              <a:rPr lang="es-419" sz="1350" b="1" noProof="0" dirty="0">
                <a:solidFill>
                  <a:srgbClr val="211915"/>
                </a:solidFill>
                <a:latin typeface="Trebuchet MS" pitchFamily="34" charset="0"/>
                <a:ea typeface="Trebuchet MS" pitchFamily="34" charset="-122"/>
                <a:cs typeface="Trebuchet MS" pitchFamily="34" charset="-120"/>
              </a:rPr>
              <a:t> en los cinco casos medidos.</a:t>
            </a:r>
            <a:endParaRPr lang="es-419" sz="1350" noProof="0" dirty="0"/>
          </a:p>
        </p:txBody>
      </p:sp>
      <p:sp>
        <p:nvSpPr>
          <p:cNvPr id="25" name="card">
            <a:extLst>
              <a:ext uri="{C183D7F6-B498-43B3-948B-1728B52AA6E4}">
                <adec:decorative xmlns:adec="http://schemas.microsoft.com/office/drawing/2017/decorative" val="1"/>
              </a:ext>
            </a:extLst>
          </p:cNvPr>
          <p:cNvSpPr/>
          <p:nvPr/>
        </p:nvSpPr>
        <p:spPr>
          <a:xfrm>
            <a:off x="4465320" y="4736592"/>
            <a:ext cx="3258312" cy="1065814"/>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6" name="accent">
            <a:extLst>
              <a:ext uri="{C183D7F6-B498-43B3-948B-1728B52AA6E4}">
                <adec:decorative xmlns:adec="http://schemas.microsoft.com/office/drawing/2017/decorative" val="1"/>
              </a:ext>
            </a:extLst>
          </p:cNvPr>
          <p:cNvSpPr/>
          <p:nvPr/>
        </p:nvSpPr>
        <p:spPr>
          <a:xfrm>
            <a:off x="4465320" y="4736592"/>
            <a:ext cx="82296" cy="960120"/>
          </a:xfrm>
          <a:prstGeom prst="rect">
            <a:avLst/>
          </a:prstGeom>
          <a:solidFill>
            <a:srgbClr val="ED1C29"/>
          </a:solidFill>
          <a:ln/>
        </p:spPr>
        <p:txBody>
          <a:bodyPr/>
          <a:lstStyle/>
          <a:p>
            <a:endParaRPr lang="es-419" noProof="0" dirty="0"/>
          </a:p>
        </p:txBody>
      </p:sp>
      <p:sp>
        <p:nvSpPr>
          <p:cNvPr id="27" name="Text 25"/>
          <p:cNvSpPr/>
          <p:nvPr/>
        </p:nvSpPr>
        <p:spPr>
          <a:xfrm>
            <a:off x="4684776" y="4736592"/>
            <a:ext cx="2892552" cy="1065812"/>
          </a:xfrm>
          <a:prstGeom prst="rect">
            <a:avLst/>
          </a:prstGeom>
          <a:noFill/>
          <a:ln/>
        </p:spPr>
        <p:txBody>
          <a:bodyPr wrap="square" lIns="0" tIns="0" rIns="0" bIns="0" rtlCol="0" anchor="ctr"/>
          <a:lstStyle/>
          <a:p>
            <a:pPr marL="0" indent="0" algn="l">
              <a:buNone/>
            </a:pPr>
            <a:r>
              <a:rPr lang="es-419" sz="1350" b="1" noProof="0" dirty="0">
                <a:solidFill>
                  <a:srgbClr val="211915"/>
                </a:solidFill>
                <a:latin typeface="Trebuchet MS" pitchFamily="34" charset="0"/>
                <a:ea typeface="Trebuchet MS" pitchFamily="34" charset="-122"/>
                <a:cs typeface="Trebuchet MS" pitchFamily="34" charset="-120"/>
              </a:rPr>
              <a:t>Los cinco casos medidos finalizaron el flujo de migración en tiempos entre 15 y 35 minutos, frente a estimaciones expertas entre 2 y 24 horas.</a:t>
            </a:r>
            <a:endParaRPr lang="es-419" sz="1350" noProof="0" dirty="0"/>
          </a:p>
        </p:txBody>
      </p:sp>
      <p:sp>
        <p:nvSpPr>
          <p:cNvPr id="28" name="card">
            <a:extLst>
              <a:ext uri="{C183D7F6-B498-43B3-948B-1728B52AA6E4}">
                <adec:decorative xmlns:adec="http://schemas.microsoft.com/office/drawing/2017/decorative" val="1"/>
              </a:ext>
            </a:extLst>
          </p:cNvPr>
          <p:cNvSpPr/>
          <p:nvPr/>
        </p:nvSpPr>
        <p:spPr>
          <a:xfrm>
            <a:off x="7997952" y="4736592"/>
            <a:ext cx="3258312" cy="1065814"/>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9" name="accent">
            <a:extLst>
              <a:ext uri="{C183D7F6-B498-43B3-948B-1728B52AA6E4}">
                <adec:decorative xmlns:adec="http://schemas.microsoft.com/office/drawing/2017/decorative" val="1"/>
              </a:ext>
            </a:extLst>
          </p:cNvPr>
          <p:cNvSpPr/>
          <p:nvPr/>
        </p:nvSpPr>
        <p:spPr>
          <a:xfrm>
            <a:off x="7997952" y="4736592"/>
            <a:ext cx="82296" cy="960120"/>
          </a:xfrm>
          <a:prstGeom prst="rect">
            <a:avLst/>
          </a:prstGeom>
          <a:solidFill>
            <a:srgbClr val="ED1C29"/>
          </a:solidFill>
          <a:ln/>
        </p:spPr>
        <p:txBody>
          <a:bodyPr/>
          <a:lstStyle/>
          <a:p>
            <a:endParaRPr lang="es-419" noProof="0" dirty="0"/>
          </a:p>
        </p:txBody>
      </p:sp>
      <p:sp>
        <p:nvSpPr>
          <p:cNvPr id="30" name="Text 28"/>
          <p:cNvSpPr/>
          <p:nvPr/>
        </p:nvSpPr>
        <p:spPr>
          <a:xfrm>
            <a:off x="8217408" y="4736591"/>
            <a:ext cx="2892552" cy="1065813"/>
          </a:xfrm>
          <a:prstGeom prst="rect">
            <a:avLst/>
          </a:prstGeom>
          <a:noFill/>
          <a:ln/>
        </p:spPr>
        <p:txBody>
          <a:bodyPr wrap="square" lIns="0" tIns="0" rIns="0" bIns="0" rtlCol="0" anchor="ctr"/>
          <a:lstStyle/>
          <a:p>
            <a:pPr marL="0" indent="0" algn="l">
              <a:buNone/>
            </a:pPr>
            <a:r>
              <a:rPr lang="es-419" sz="1350" b="1" noProof="0" dirty="0">
                <a:solidFill>
                  <a:srgbClr val="211915"/>
                </a:solidFill>
                <a:latin typeface="Trebuchet MS" pitchFamily="34" charset="0"/>
                <a:ea typeface="Trebuchet MS" pitchFamily="34" charset="-122"/>
                <a:cs typeface="Trebuchet MS" pitchFamily="34" charset="-120"/>
              </a:rPr>
              <a:t>El código generado requirió pocas correcciones durante la etapa evaluada, sin embargo, la PoC aún no ha concluido las pruebas funcionales.</a:t>
            </a:r>
            <a:endParaRPr lang="es-419" sz="1350" noProof="0" dirty="0"/>
          </a:p>
        </p:txBody>
      </p:sp>
      <p:sp>
        <p:nvSpPr>
          <p:cNvPr id="31" name="Text 29"/>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dirty="0">
                <a:solidFill>
                  <a:srgbClr val="211915"/>
                </a:solidFill>
                <a:latin typeface="Calibri" pitchFamily="34" charset="0"/>
                <a:ea typeface="Calibri" pitchFamily="34" charset="-122"/>
                <a:cs typeface="Calibri" pitchFamily="34" charset="-120"/>
              </a:rPr>
              <a:t>Tuya</a:t>
            </a:r>
            <a:r>
              <a:rPr lang="es-419" sz="850" noProof="0" dirty="0">
                <a:solidFill>
                  <a:srgbClr val="9C938D"/>
                </a:solidFill>
                <a:latin typeface="Calibri" pitchFamily="34" charset="0"/>
                <a:ea typeface="Calibri" pitchFamily="34" charset="-122"/>
                <a:cs typeface="Calibri" pitchFamily="34" charset="-120"/>
              </a:rPr>
              <a:t>   ·   GitHub </a:t>
            </a:r>
            <a:r>
              <a:rPr lang="es-419" sz="850" noProof="0" dirty="0" err="1">
                <a:solidFill>
                  <a:srgbClr val="9C938D"/>
                </a:solidFill>
                <a:latin typeface="Calibri" pitchFamily="34" charset="0"/>
                <a:ea typeface="Calibri" pitchFamily="34" charset="-122"/>
                <a:cs typeface="Calibri" pitchFamily="34" charset="-120"/>
              </a:rPr>
              <a:t>Copilot</a:t>
            </a:r>
            <a:r>
              <a:rPr lang="es-419" sz="850" noProof="0" dirty="0">
                <a:solidFill>
                  <a:srgbClr val="9C938D"/>
                </a:solidFill>
                <a:latin typeface="Calibri" pitchFamily="34" charset="0"/>
                <a:ea typeface="Calibri" pitchFamily="34" charset="-122"/>
                <a:cs typeface="Calibri" pitchFamily="34" charset="-120"/>
              </a:rPr>
              <a:t> - Resultados de la Prueba de Concepto</a:t>
            </a:r>
            <a:endParaRPr lang="es-419" sz="850" noProof="0" dirty="0"/>
          </a:p>
        </p:txBody>
      </p:sp>
      <p:sp>
        <p:nvSpPr>
          <p:cNvPr id="32" name="Text 30"/>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dirty="0">
                <a:solidFill>
                  <a:srgbClr val="ED1C29"/>
                </a:solidFill>
                <a:latin typeface="Trebuchet MS" pitchFamily="34" charset="0"/>
                <a:ea typeface="Trebuchet MS" pitchFamily="34" charset="-122"/>
                <a:cs typeface="Trebuchet MS" pitchFamily="34" charset="-120"/>
              </a:rPr>
              <a:t>04</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
        <p:nvSpPr>
          <p:cNvPr id="80" name="nota casos"/>
          <p:cNvSpPr/>
          <p:nvPr/>
        </p:nvSpPr>
        <p:spPr>
          <a:xfrm>
            <a:off x="685800" y="6020000"/>
            <a:ext cx="10817352" cy="330000"/>
          </a:xfrm>
          <a:prstGeom prst="rect">
            <a:avLst/>
          </a:prstGeom>
          <a:noFill/>
          <a:ln/>
        </p:spPr>
        <p:txBody>
          <a:bodyPr wrap="square" lIns="0" tIns="0" rIns="0" bIns="0" rtlCol="0" anchor="ctr"/>
          <a:lstStyle/>
          <a:p>
            <a:pPr marL="0" indent="0" algn="l">
              <a:buNone/>
            </a:pPr>
            <a:r>
              <a:rPr lang="es-419" sz="900" i="1" noProof="0" dirty="0">
                <a:solidFill>
                  <a:srgbClr val="6B615C"/>
                </a:solidFill>
                <a:latin typeface="Calibri" pitchFamily="34" charset="0"/>
                <a:cs typeface="Calibri" pitchFamily="34" charset="0"/>
              </a:rPr>
              <a:t>6 de los 10 casos asignados finalizaron la PoC. Cinco cuentan con información completa para comparar el tiempo estimado por juicio experto y el tiempo real de ejecución.</a:t>
            </a:r>
            <a:endParaRPr lang="es-419" sz="900" i="1"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ED1C29"/>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dirty="0">
                <a:solidFill>
                  <a:srgbClr val="ED1C29"/>
                </a:solidFill>
                <a:latin typeface="Trebuchet MS" pitchFamily="34" charset="0"/>
                <a:ea typeface="Trebuchet MS" pitchFamily="34" charset="-122"/>
                <a:cs typeface="Trebuchet MS" pitchFamily="34" charset="-120"/>
              </a:rPr>
              <a:t>CONSUMO OBSERVADO Y MODELO COMERCIAL 2026</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dirty="0">
                <a:solidFill>
                  <a:srgbClr val="211915"/>
                </a:solidFill>
                <a:latin typeface="Trebuchet MS" pitchFamily="34" charset="0"/>
                <a:ea typeface="Trebuchet MS" pitchFamily="34" charset="-122"/>
                <a:cs typeface="Trebuchet MS" pitchFamily="34" charset="-120"/>
              </a:rPr>
              <a:t>Cuánto consumimos y cómo se factura hoy</a:t>
            </a:r>
            <a:endParaRPr lang="es-419" sz="2700" noProof="0" dirty="0"/>
          </a:p>
        </p:txBody>
      </p:sp>
      <p:sp>
        <p:nvSpPr>
          <p:cNvPr id="5" name="card">
            <a:extLst>
              <a:ext uri="{C183D7F6-B498-43B3-948B-1728B52AA6E4}">
                <adec:decorative xmlns:adec="http://schemas.microsoft.com/office/drawing/2017/decorative" val="1"/>
              </a:ext>
            </a:extLst>
          </p:cNvPr>
          <p:cNvSpPr/>
          <p:nvPr/>
        </p:nvSpPr>
        <p:spPr>
          <a:xfrm>
            <a:off x="685800" y="1664208"/>
            <a:ext cx="3977640" cy="4160520"/>
          </a:xfrm>
          <a:prstGeom prst="rect">
            <a:avLst/>
          </a:prstGeom>
          <a:solidFill>
            <a:srgbClr val="F4F1EF"/>
          </a:solidFill>
          <a:ln w="12700">
            <a:solidFill>
              <a:srgbClr val="E7E1DE"/>
            </a:solidFill>
            <a:prstDash val="solid"/>
          </a:ln>
        </p:spPr>
        <p:txBody>
          <a:bodyPr/>
          <a:lstStyle/>
          <a:p>
            <a:endParaRPr lang="es-419" noProof="0" dirty="0"/>
          </a:p>
        </p:txBody>
      </p:sp>
      <p:sp>
        <p:nvSpPr>
          <p:cNvPr id="6" name="Text 4"/>
          <p:cNvSpPr/>
          <p:nvPr/>
        </p:nvSpPr>
        <p:spPr>
          <a:xfrm>
            <a:off x="941832" y="1920240"/>
            <a:ext cx="3520440" cy="310896"/>
          </a:xfrm>
          <a:prstGeom prst="rect">
            <a:avLst/>
          </a:prstGeom>
          <a:noFill/>
          <a:ln/>
        </p:spPr>
        <p:txBody>
          <a:bodyPr wrap="square" lIns="0" tIns="0" rIns="0" bIns="0" rtlCol="0" anchor="ctr"/>
          <a:lstStyle/>
          <a:p>
            <a:pPr marL="0" indent="0">
              <a:buNone/>
            </a:pPr>
            <a:r>
              <a:rPr lang="es-419" sz="1200" b="1" noProof="0" dirty="0">
                <a:solidFill>
                  <a:srgbClr val="211915"/>
                </a:solidFill>
                <a:latin typeface="Trebuchet MS" pitchFamily="34" charset="0"/>
                <a:ea typeface="Trebuchet MS" pitchFamily="34" charset="-122"/>
                <a:cs typeface="Trebuchet MS" pitchFamily="34" charset="-120"/>
              </a:rPr>
              <a:t>A · RESULTADO DE NUESTRA PoC</a:t>
            </a:r>
            <a:endParaRPr lang="es-419" sz="1200" noProof="0" dirty="0"/>
          </a:p>
        </p:txBody>
      </p:sp>
      <p:sp>
        <p:nvSpPr>
          <p:cNvPr id="7" name="Text 5"/>
          <p:cNvSpPr/>
          <p:nvPr/>
        </p:nvSpPr>
        <p:spPr>
          <a:xfrm>
            <a:off x="941832" y="2231136"/>
            <a:ext cx="3520440" cy="274320"/>
          </a:xfrm>
          <a:prstGeom prst="rect">
            <a:avLst/>
          </a:prstGeom>
          <a:noFill/>
          <a:ln/>
        </p:spPr>
        <p:txBody>
          <a:bodyPr wrap="square" lIns="0" tIns="0" rIns="0" bIns="0" rtlCol="0" anchor="ctr"/>
          <a:lstStyle/>
          <a:p>
            <a:pPr marL="0" indent="0">
              <a:buNone/>
            </a:pPr>
            <a:r>
              <a:rPr lang="es-419" sz="1000" i="1" noProof="0" dirty="0">
                <a:solidFill>
                  <a:srgbClr val="7A716B"/>
                </a:solidFill>
                <a:latin typeface="Calibri" pitchFamily="34" charset="0"/>
                <a:ea typeface="Calibri" pitchFamily="34" charset="-122"/>
                <a:cs typeface="Calibri" pitchFamily="34" charset="-120"/>
              </a:rPr>
              <a:t>Datos internos de Tuya</a:t>
            </a:r>
            <a:endParaRPr lang="es-419" sz="1000" noProof="0" dirty="0"/>
          </a:p>
        </p:txBody>
      </p:sp>
      <p:sp>
        <p:nvSpPr>
          <p:cNvPr id="8" name="card">
            <a:extLst>
              <a:ext uri="{C183D7F6-B498-43B3-948B-1728B52AA6E4}">
                <adec:decorative xmlns:adec="http://schemas.microsoft.com/office/drawing/2017/decorative" val="1"/>
              </a:ext>
            </a:extLst>
          </p:cNvPr>
          <p:cNvSpPr/>
          <p:nvPr/>
        </p:nvSpPr>
        <p:spPr>
          <a:xfrm>
            <a:off x="905256" y="2670048"/>
            <a:ext cx="3538728" cy="86868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9" name="Text 7"/>
          <p:cNvSpPr/>
          <p:nvPr/>
        </p:nvSpPr>
        <p:spPr>
          <a:xfrm>
            <a:off x="1088136" y="2779776"/>
            <a:ext cx="3172968" cy="274320"/>
          </a:xfrm>
          <a:prstGeom prst="rect">
            <a:avLst/>
          </a:prstGeom>
          <a:noFill/>
          <a:ln/>
        </p:spPr>
        <p:txBody>
          <a:bodyPr wrap="square" lIns="0" tIns="0" rIns="0" bIns="0" rtlCol="0" anchor="ctr"/>
          <a:lstStyle/>
          <a:p>
            <a:pPr marL="0" indent="0">
              <a:buNone/>
            </a:pPr>
            <a:r>
              <a:rPr lang="es-419" sz="950" b="1" kern="0" spc="100" noProof="0" dirty="0">
                <a:solidFill>
                  <a:srgbClr val="7A716B"/>
                </a:solidFill>
                <a:latin typeface="Calibri" pitchFamily="34" charset="0"/>
                <a:ea typeface="Calibri" pitchFamily="34" charset="-122"/>
                <a:cs typeface="Calibri" pitchFamily="34" charset="-120"/>
              </a:rPr>
              <a:t>AI CREDITS CONSUMIDOS</a:t>
            </a:r>
            <a:endParaRPr lang="es-419" sz="950" noProof="0" dirty="0"/>
          </a:p>
        </p:txBody>
      </p:sp>
      <p:sp>
        <p:nvSpPr>
          <p:cNvPr id="10" name="Text 8"/>
          <p:cNvSpPr/>
          <p:nvPr/>
        </p:nvSpPr>
        <p:spPr>
          <a:xfrm>
            <a:off x="1088136" y="3054096"/>
            <a:ext cx="3172968" cy="411480"/>
          </a:xfrm>
          <a:prstGeom prst="rect">
            <a:avLst/>
          </a:prstGeom>
          <a:noFill/>
          <a:ln/>
        </p:spPr>
        <p:txBody>
          <a:bodyPr wrap="square" lIns="0" tIns="0" rIns="0" bIns="0" rtlCol="0" anchor="ctr"/>
          <a:lstStyle/>
          <a:p>
            <a:pPr marL="0" indent="0">
              <a:buNone/>
            </a:pPr>
            <a:r>
              <a:rPr lang="es-419" sz="1300" b="1" noProof="0" dirty="0">
                <a:solidFill>
                  <a:srgbClr val="ED1C29"/>
                </a:solidFill>
                <a:latin typeface="Trebuchet MS" pitchFamily="34" charset="0"/>
                <a:ea typeface="Trebuchet MS" pitchFamily="34" charset="-122"/>
                <a:cs typeface="Trebuchet MS" pitchFamily="34" charset="-120"/>
              </a:rPr>
              <a:t>≈ 2.831 AI </a:t>
            </a:r>
            <a:r>
              <a:rPr lang="es-419" sz="1300" b="1" noProof="0" dirty="0" err="1">
                <a:solidFill>
                  <a:srgbClr val="ED1C29"/>
                </a:solidFill>
                <a:latin typeface="Trebuchet MS" pitchFamily="34" charset="0"/>
                <a:ea typeface="Trebuchet MS" pitchFamily="34" charset="-122"/>
                <a:cs typeface="Trebuchet MS" pitchFamily="34" charset="-120"/>
              </a:rPr>
              <a:t>Credits</a:t>
            </a:r>
            <a:endParaRPr lang="es-419" sz="1300" noProof="0" dirty="0"/>
          </a:p>
        </p:txBody>
      </p:sp>
      <p:sp>
        <p:nvSpPr>
          <p:cNvPr id="11" name="card">
            <a:extLst>
              <a:ext uri="{C183D7F6-B498-43B3-948B-1728B52AA6E4}">
                <adec:decorative xmlns:adec="http://schemas.microsoft.com/office/drawing/2017/decorative" val="1"/>
              </a:ext>
            </a:extLst>
          </p:cNvPr>
          <p:cNvSpPr/>
          <p:nvPr/>
        </p:nvSpPr>
        <p:spPr>
          <a:xfrm>
            <a:off x="905256" y="3694176"/>
            <a:ext cx="3538728" cy="86868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2" name="Text 10"/>
          <p:cNvSpPr/>
          <p:nvPr/>
        </p:nvSpPr>
        <p:spPr>
          <a:xfrm>
            <a:off x="1088136" y="3803904"/>
            <a:ext cx="3172968" cy="274320"/>
          </a:xfrm>
          <a:prstGeom prst="rect">
            <a:avLst/>
          </a:prstGeom>
          <a:noFill/>
          <a:ln/>
        </p:spPr>
        <p:txBody>
          <a:bodyPr wrap="square" lIns="0" tIns="0" rIns="0" bIns="0" rtlCol="0" anchor="ctr"/>
          <a:lstStyle/>
          <a:p>
            <a:pPr marL="0" indent="0">
              <a:buNone/>
            </a:pPr>
            <a:r>
              <a:rPr lang="es-419" sz="950" b="1" kern="0" spc="100" noProof="0" dirty="0">
                <a:solidFill>
                  <a:srgbClr val="7A716B"/>
                </a:solidFill>
                <a:latin typeface="Calibri" pitchFamily="34" charset="0"/>
                <a:ea typeface="Calibri" pitchFamily="34" charset="-122"/>
                <a:cs typeface="Calibri" pitchFamily="34" charset="-120"/>
              </a:rPr>
              <a:t>CONSUMO PROMEDIO</a:t>
            </a:r>
            <a:endParaRPr lang="es-419" sz="950" noProof="0" dirty="0"/>
          </a:p>
        </p:txBody>
      </p:sp>
      <p:sp>
        <p:nvSpPr>
          <p:cNvPr id="13" name="Text 11"/>
          <p:cNvSpPr/>
          <p:nvPr/>
        </p:nvSpPr>
        <p:spPr>
          <a:xfrm>
            <a:off x="1088136" y="4078224"/>
            <a:ext cx="3172968" cy="411480"/>
          </a:xfrm>
          <a:prstGeom prst="rect">
            <a:avLst/>
          </a:prstGeom>
          <a:noFill/>
          <a:ln/>
        </p:spPr>
        <p:txBody>
          <a:bodyPr wrap="square" lIns="0" tIns="0" rIns="0" bIns="0" rtlCol="0" anchor="ctr"/>
          <a:lstStyle/>
          <a:p>
            <a:pPr marL="0" indent="0">
              <a:buNone/>
            </a:pPr>
            <a:r>
              <a:rPr lang="es-419" sz="1300" b="1" noProof="0" dirty="0">
                <a:solidFill>
                  <a:srgbClr val="ED1C29"/>
                </a:solidFill>
                <a:latin typeface="Trebuchet MS" pitchFamily="34" charset="0"/>
                <a:ea typeface="Trebuchet MS" pitchFamily="34" charset="-122"/>
                <a:cs typeface="Trebuchet MS" pitchFamily="34" charset="-120"/>
              </a:rPr>
              <a:t>≈ 566 AI </a:t>
            </a:r>
            <a:r>
              <a:rPr lang="es-419" sz="1300" b="1" noProof="0" dirty="0" err="1">
                <a:solidFill>
                  <a:srgbClr val="ED1C29"/>
                </a:solidFill>
                <a:latin typeface="Trebuchet MS" pitchFamily="34" charset="0"/>
                <a:ea typeface="Trebuchet MS" pitchFamily="34" charset="-122"/>
                <a:cs typeface="Trebuchet MS" pitchFamily="34" charset="-120"/>
              </a:rPr>
              <a:t>Credits</a:t>
            </a:r>
            <a:r>
              <a:rPr lang="es-419" sz="1300" b="1" noProof="0" dirty="0">
                <a:solidFill>
                  <a:srgbClr val="ED1C29"/>
                </a:solidFill>
                <a:latin typeface="Trebuchet MS" pitchFamily="34" charset="0"/>
                <a:ea typeface="Trebuchet MS" pitchFamily="34" charset="-122"/>
                <a:cs typeface="Trebuchet MS" pitchFamily="34" charset="-120"/>
              </a:rPr>
              <a:t> por migración</a:t>
            </a:r>
            <a:endParaRPr lang="es-419" sz="1300" noProof="0" dirty="0"/>
          </a:p>
        </p:txBody>
      </p:sp>
      <p:sp>
        <p:nvSpPr>
          <p:cNvPr id="14" name="card">
            <a:extLst>
              <a:ext uri="{C183D7F6-B498-43B3-948B-1728B52AA6E4}">
                <adec:decorative xmlns:adec="http://schemas.microsoft.com/office/drawing/2017/decorative" val="1"/>
              </a:ext>
            </a:extLst>
          </p:cNvPr>
          <p:cNvSpPr/>
          <p:nvPr/>
        </p:nvSpPr>
        <p:spPr>
          <a:xfrm>
            <a:off x="905256" y="4718304"/>
            <a:ext cx="3538728" cy="86868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5" name="Text 13"/>
          <p:cNvSpPr/>
          <p:nvPr/>
        </p:nvSpPr>
        <p:spPr>
          <a:xfrm>
            <a:off x="1088136" y="4828032"/>
            <a:ext cx="3172968" cy="274320"/>
          </a:xfrm>
          <a:prstGeom prst="rect">
            <a:avLst/>
          </a:prstGeom>
          <a:noFill/>
          <a:ln/>
        </p:spPr>
        <p:txBody>
          <a:bodyPr wrap="square" lIns="0" tIns="0" rIns="0" bIns="0" rtlCol="0" anchor="ctr"/>
          <a:lstStyle/>
          <a:p>
            <a:pPr marL="0" indent="0">
              <a:buNone/>
            </a:pPr>
            <a:r>
              <a:rPr lang="es-419" sz="950" b="1" kern="0" spc="100" noProof="0">
                <a:solidFill>
                  <a:srgbClr val="7A716B"/>
                </a:solidFill>
                <a:latin typeface="Calibri" pitchFamily="34" charset="0"/>
                <a:ea typeface="Calibri" pitchFamily="34" charset="-122"/>
                <a:cs typeface="Calibri" pitchFamily="34" charset="-120"/>
              </a:rPr>
              <a:t>RANGO DE </a:t>
            </a:r>
            <a:r>
              <a:rPr lang="es-419" sz="950" b="1" kern="0" spc="100" noProof="0" dirty="0">
                <a:solidFill>
                  <a:srgbClr val="7A716B"/>
                </a:solidFill>
                <a:latin typeface="Calibri" pitchFamily="34" charset="0"/>
                <a:ea typeface="Calibri" pitchFamily="34" charset="-122"/>
                <a:cs typeface="Calibri" pitchFamily="34" charset="-120"/>
              </a:rPr>
              <a:t>CONSUMO </a:t>
            </a:r>
            <a:r>
              <a:rPr lang="es-419" sz="950" b="1" kern="0" spc="100" noProof="0">
                <a:solidFill>
                  <a:srgbClr val="7A716B"/>
                </a:solidFill>
                <a:latin typeface="Calibri" pitchFamily="34" charset="0"/>
                <a:ea typeface="Calibri" pitchFamily="34" charset="-122"/>
                <a:cs typeface="Calibri" pitchFamily="34" charset="-120"/>
              </a:rPr>
              <a:t>OBSERVADO</a:t>
            </a:r>
            <a:endParaRPr lang="es-419" sz="950" noProof="0" dirty="0"/>
          </a:p>
        </p:txBody>
      </p:sp>
      <p:sp>
        <p:nvSpPr>
          <p:cNvPr id="16" name="Text 14"/>
          <p:cNvSpPr/>
          <p:nvPr/>
        </p:nvSpPr>
        <p:spPr>
          <a:xfrm>
            <a:off x="1088136" y="5102352"/>
            <a:ext cx="3172968" cy="411480"/>
          </a:xfrm>
          <a:prstGeom prst="rect">
            <a:avLst/>
          </a:prstGeom>
          <a:noFill/>
          <a:ln/>
        </p:spPr>
        <p:txBody>
          <a:bodyPr wrap="square" lIns="0" tIns="0" rIns="0" bIns="0" rtlCol="0" anchor="ctr"/>
          <a:lstStyle/>
          <a:p>
            <a:pPr marL="0" indent="0">
              <a:buNone/>
            </a:pPr>
            <a:r>
              <a:rPr lang="es-419" sz="1300" b="1" noProof="0" dirty="0">
                <a:solidFill>
                  <a:srgbClr val="ED1C29"/>
                </a:solidFill>
                <a:latin typeface="Trebuchet MS" pitchFamily="34" charset="0"/>
                <a:ea typeface="Trebuchet MS" pitchFamily="34" charset="-122"/>
                <a:cs typeface="Trebuchet MS" pitchFamily="34" charset="-120"/>
              </a:rPr>
              <a:t>20 % – 50 % de la asignación estándar de 1.900 AI </a:t>
            </a:r>
            <a:r>
              <a:rPr lang="es-419" sz="1300" b="1" noProof="0" dirty="0" err="1">
                <a:solidFill>
                  <a:srgbClr val="ED1C29"/>
                </a:solidFill>
                <a:latin typeface="Trebuchet MS" pitchFamily="34" charset="0"/>
                <a:ea typeface="Trebuchet MS" pitchFamily="34" charset="-122"/>
                <a:cs typeface="Trebuchet MS" pitchFamily="34" charset="-120"/>
              </a:rPr>
              <a:t>Credits</a:t>
            </a:r>
            <a:endParaRPr lang="es-419" sz="1300" noProof="0" dirty="0"/>
          </a:p>
        </p:txBody>
      </p:sp>
      <p:sp>
        <p:nvSpPr>
          <p:cNvPr id="60" name="Nota consumo PoC"/>
          <p:cNvSpPr/>
          <p:nvPr/>
        </p:nvSpPr>
        <p:spPr>
          <a:xfrm>
            <a:off x="685800" y="5880000"/>
            <a:ext cx="3977640" cy="520000"/>
          </a:xfrm>
          <a:prstGeom prst="rect">
            <a:avLst/>
          </a:prstGeom>
          <a:noFill/>
          <a:ln/>
        </p:spPr>
        <p:txBody>
          <a:bodyPr wrap="square" lIns="0" tIns="0" rIns="0" bIns="0" rtlCol="0" anchor="t"/>
          <a:lstStyle/>
          <a:p>
            <a:pPr marL="0" indent="0" algn="l">
              <a:buNone/>
            </a:pPr>
            <a:r>
              <a:rPr lang="es-419" sz="800" i="1" noProof="0">
                <a:solidFill>
                  <a:srgbClr val="7A716B"/>
                </a:solidFill>
                <a:latin typeface="Calibri" pitchFamily="34" charset="0"/>
                <a:ea typeface="Calibri" pitchFamily="34" charset="-122"/>
                <a:cs typeface="Calibri" pitchFamily="34" charset="-120"/>
              </a:rPr>
              <a:t>Estos valores corresponden únicamente al flujo de migración evaluado durante la PoC y no constituyen una proyección del consumo mensual futuro de los desarrolladores.</a:t>
            </a:r>
            <a:endParaRPr lang="es-419" sz="800" i="1" noProof="0"/>
          </a:p>
        </p:txBody>
      </p:sp>
      <p:sp>
        <p:nvSpPr>
          <p:cNvPr id="17" name="Text 15"/>
          <p:cNvSpPr/>
          <p:nvPr/>
        </p:nvSpPr>
        <p:spPr>
          <a:xfrm>
            <a:off x="4937760" y="1664208"/>
            <a:ext cx="6565392" cy="292608"/>
          </a:xfrm>
          <a:prstGeom prst="rect">
            <a:avLst/>
          </a:prstGeom>
          <a:noFill/>
          <a:ln/>
        </p:spPr>
        <p:txBody>
          <a:bodyPr wrap="square" lIns="0" tIns="0" rIns="0" bIns="0" rtlCol="0" anchor="ctr"/>
          <a:lstStyle/>
          <a:p>
            <a:pPr marL="0" indent="0">
              <a:buNone/>
            </a:pPr>
            <a:r>
              <a:rPr lang="es-419" sz="1200" b="1" noProof="0" dirty="0">
                <a:solidFill>
                  <a:srgbClr val="211915"/>
                </a:solidFill>
                <a:latin typeface="Trebuchet MS" pitchFamily="34" charset="0"/>
                <a:ea typeface="Trebuchet MS" pitchFamily="34" charset="-122"/>
                <a:cs typeface="Trebuchet MS" pitchFamily="34" charset="-120"/>
              </a:rPr>
              <a:t>B · MODELO COMERCIAL ACTUAL DE GITHUB</a:t>
            </a:r>
            <a:endParaRPr lang="es-419" sz="1200" noProof="0" dirty="0"/>
          </a:p>
        </p:txBody>
      </p:sp>
      <p:sp>
        <p:nvSpPr>
          <p:cNvPr id="18" name="Text 16"/>
          <p:cNvSpPr/>
          <p:nvPr/>
        </p:nvSpPr>
        <p:spPr>
          <a:xfrm>
            <a:off x="4937760" y="1956816"/>
            <a:ext cx="6565392" cy="274320"/>
          </a:xfrm>
          <a:prstGeom prst="rect">
            <a:avLst/>
          </a:prstGeom>
          <a:noFill/>
          <a:ln/>
        </p:spPr>
        <p:txBody>
          <a:bodyPr wrap="square" lIns="0" tIns="0" rIns="0" bIns="0" rtlCol="0" anchor="ctr"/>
          <a:lstStyle/>
          <a:p>
            <a:pPr marL="0" indent="0">
              <a:buNone/>
            </a:pPr>
            <a:r>
              <a:rPr lang="es-419" sz="1000" i="1" noProof="0" dirty="0">
                <a:solidFill>
                  <a:srgbClr val="7A716B"/>
                </a:solidFill>
                <a:latin typeface="Calibri" pitchFamily="34" charset="0"/>
                <a:ea typeface="Calibri" pitchFamily="34" charset="-122"/>
                <a:cs typeface="Calibri" pitchFamily="34" charset="-120"/>
              </a:rPr>
              <a:t>Datos públicos oficiales de GitHub · no mezclar con resultados internos</a:t>
            </a:r>
            <a:endParaRPr lang="es-419" sz="1000" noProof="0" dirty="0"/>
          </a:p>
        </p:txBody>
      </p:sp>
      <p:sp>
        <p:nvSpPr>
          <p:cNvPr id="19" name="card">
            <a:extLst>
              <a:ext uri="{C183D7F6-B498-43B3-948B-1728B52AA6E4}">
                <adec:decorative xmlns:adec="http://schemas.microsoft.com/office/drawing/2017/decorative" val="1"/>
              </a:ext>
            </a:extLst>
          </p:cNvPr>
          <p:cNvSpPr/>
          <p:nvPr/>
        </p:nvSpPr>
        <p:spPr>
          <a:xfrm>
            <a:off x="4937760" y="2377440"/>
            <a:ext cx="3145536" cy="196596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0" name="Text 18"/>
          <p:cNvSpPr/>
          <p:nvPr/>
        </p:nvSpPr>
        <p:spPr>
          <a:xfrm>
            <a:off x="5157216" y="2578608"/>
            <a:ext cx="2706624" cy="274320"/>
          </a:xfrm>
          <a:prstGeom prst="rect">
            <a:avLst/>
          </a:prstGeom>
          <a:noFill/>
          <a:ln/>
        </p:spPr>
        <p:txBody>
          <a:bodyPr wrap="square" lIns="0" tIns="0" rIns="0" bIns="0" rtlCol="0" anchor="ctr"/>
          <a:lstStyle/>
          <a:p>
            <a:pPr marL="0" indent="0">
              <a:buNone/>
            </a:pPr>
            <a:r>
              <a:rPr lang="es-419" sz="1200" b="1" kern="0" spc="100" noProof="0" dirty="0">
                <a:solidFill>
                  <a:srgbClr val="ED1C29"/>
                </a:solidFill>
                <a:latin typeface="Trebuchet MS" pitchFamily="34" charset="0"/>
                <a:ea typeface="Trebuchet MS" pitchFamily="34" charset="-122"/>
                <a:cs typeface="Trebuchet MS" pitchFamily="34" charset="-120"/>
              </a:rPr>
              <a:t>COPILOT BUSINESS</a:t>
            </a:r>
            <a:endParaRPr lang="es-419" sz="1200" noProof="0" dirty="0"/>
          </a:p>
        </p:txBody>
      </p:sp>
      <p:sp>
        <p:nvSpPr>
          <p:cNvPr id="21" name="Text 19"/>
          <p:cNvSpPr/>
          <p:nvPr/>
        </p:nvSpPr>
        <p:spPr>
          <a:xfrm>
            <a:off x="5157216" y="2907792"/>
            <a:ext cx="2706624" cy="548640"/>
          </a:xfrm>
          <a:prstGeom prst="rect">
            <a:avLst/>
          </a:prstGeom>
          <a:noFill/>
          <a:ln/>
        </p:spPr>
        <p:txBody>
          <a:bodyPr wrap="square" lIns="0" tIns="0" rIns="0" bIns="0" rtlCol="0" anchor="ctr"/>
          <a:lstStyle/>
          <a:p>
            <a:pPr marL="0" indent="0">
              <a:buNone/>
            </a:pPr>
            <a:r>
              <a:rPr lang="es-419" sz="2600" b="1" noProof="0" dirty="0">
                <a:solidFill>
                  <a:srgbClr val="ED1C29"/>
                </a:solidFill>
                <a:latin typeface="Trebuchet MS" pitchFamily="34" charset="0"/>
                <a:ea typeface="Trebuchet MS" pitchFamily="34" charset="-122"/>
                <a:cs typeface="Trebuchet MS" pitchFamily="34" charset="-120"/>
              </a:rPr>
              <a:t>USD 19  </a:t>
            </a:r>
            <a:r>
              <a:rPr lang="es-419" sz="1100" noProof="0" dirty="0">
                <a:solidFill>
                  <a:srgbClr val="7A716B"/>
                </a:solidFill>
                <a:latin typeface="Trebuchet MS" pitchFamily="34" charset="0"/>
                <a:ea typeface="Trebuchet MS" pitchFamily="34" charset="-122"/>
                <a:cs typeface="Trebuchet MS" pitchFamily="34" charset="-120"/>
              </a:rPr>
              <a:t>por usuario / mes</a:t>
            </a:r>
            <a:endParaRPr lang="es-419" sz="2600" noProof="0" dirty="0"/>
          </a:p>
        </p:txBody>
      </p:sp>
      <p:sp>
        <p:nvSpPr>
          <p:cNvPr id="22" name="Text 20"/>
          <p:cNvSpPr/>
          <p:nvPr/>
        </p:nvSpPr>
        <p:spPr>
          <a:xfrm>
            <a:off x="5157216" y="3547872"/>
            <a:ext cx="2706624" cy="685800"/>
          </a:xfrm>
          <a:prstGeom prst="rect">
            <a:avLst/>
          </a:prstGeom>
          <a:noFill/>
          <a:ln/>
        </p:spPr>
        <p:txBody>
          <a:bodyPr wrap="square" lIns="0" tIns="0" rIns="0" bIns="0" rtlCol="0" anchor="t"/>
          <a:lstStyle/>
          <a:p>
            <a:pPr marL="0" indent="0">
              <a:buNone/>
            </a:pPr>
            <a:r>
              <a:rPr lang="es-419" sz="1100" noProof="0" dirty="0">
                <a:solidFill>
                  <a:srgbClr val="4A423D"/>
                </a:solidFill>
                <a:latin typeface="Calibri" pitchFamily="34" charset="0"/>
                <a:ea typeface="Calibri" pitchFamily="34" charset="-122"/>
                <a:cs typeface="Calibri" pitchFamily="34" charset="-120"/>
              </a:rPr>
              <a:t>1.900 AI </a:t>
            </a:r>
            <a:r>
              <a:rPr lang="es-419" sz="1100" noProof="0" dirty="0" err="1">
                <a:solidFill>
                  <a:srgbClr val="4A423D"/>
                </a:solidFill>
                <a:latin typeface="Calibri" pitchFamily="34" charset="0"/>
                <a:ea typeface="Calibri" pitchFamily="34" charset="-122"/>
                <a:cs typeface="Calibri" pitchFamily="34" charset="-120"/>
              </a:rPr>
              <a:t>Credits</a:t>
            </a:r>
            <a:r>
              <a:rPr lang="es-419" sz="1100" noProof="0" dirty="0">
                <a:solidFill>
                  <a:srgbClr val="4A423D"/>
                </a:solidFill>
                <a:latin typeface="Calibri" pitchFamily="34" charset="0"/>
                <a:ea typeface="Calibri" pitchFamily="34" charset="-122"/>
                <a:cs typeface="Calibri" pitchFamily="34" charset="-120"/>
              </a:rPr>
              <a:t> incluidos por usuario/mes</a:t>
            </a:r>
            <a:endParaRPr lang="es-419" sz="1100" noProof="0" dirty="0"/>
          </a:p>
        </p:txBody>
      </p:sp>
      <p:sp>
        <p:nvSpPr>
          <p:cNvPr id="23" name="plan">
            <a:extLst>
              <a:ext uri="{C183D7F6-B498-43B3-948B-1728B52AA6E4}">
                <adec:decorative xmlns:adec="http://schemas.microsoft.com/office/drawing/2017/decorative" val="1"/>
              </a:ext>
            </a:extLst>
          </p:cNvPr>
          <p:cNvSpPr/>
          <p:nvPr/>
        </p:nvSpPr>
        <p:spPr>
          <a:xfrm>
            <a:off x="8357616" y="2377440"/>
            <a:ext cx="3145536" cy="196596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4" name="Text 22"/>
          <p:cNvSpPr/>
          <p:nvPr/>
        </p:nvSpPr>
        <p:spPr>
          <a:xfrm>
            <a:off x="8577072" y="2578608"/>
            <a:ext cx="2706624" cy="274320"/>
          </a:xfrm>
          <a:prstGeom prst="rect">
            <a:avLst/>
          </a:prstGeom>
          <a:noFill/>
          <a:ln/>
        </p:spPr>
        <p:txBody>
          <a:bodyPr wrap="square" lIns="0" tIns="0" rIns="0" bIns="0" rtlCol="0" anchor="ctr"/>
          <a:lstStyle/>
          <a:p>
            <a:pPr marL="0" indent="0">
              <a:buNone/>
            </a:pPr>
            <a:r>
              <a:rPr lang="es-419" sz="1200" b="1" kern="0" spc="100" noProof="0" dirty="0">
                <a:solidFill>
                  <a:srgbClr val="ED1C29"/>
                </a:solidFill>
                <a:latin typeface="Trebuchet MS" pitchFamily="34" charset="0"/>
                <a:ea typeface="Trebuchet MS" pitchFamily="34" charset="-122"/>
                <a:cs typeface="Trebuchet MS" pitchFamily="34" charset="-120"/>
              </a:rPr>
              <a:t>COPILOT ENTERPRISE</a:t>
            </a:r>
            <a:endParaRPr lang="es-419" sz="1200" noProof="0" dirty="0"/>
          </a:p>
        </p:txBody>
      </p:sp>
      <p:sp>
        <p:nvSpPr>
          <p:cNvPr id="25" name="Text 23"/>
          <p:cNvSpPr/>
          <p:nvPr/>
        </p:nvSpPr>
        <p:spPr>
          <a:xfrm>
            <a:off x="8577072" y="2907792"/>
            <a:ext cx="2706624" cy="548640"/>
          </a:xfrm>
          <a:prstGeom prst="rect">
            <a:avLst/>
          </a:prstGeom>
          <a:noFill/>
          <a:ln/>
        </p:spPr>
        <p:txBody>
          <a:bodyPr wrap="square" lIns="0" tIns="0" rIns="0" bIns="0" rtlCol="0" anchor="ctr"/>
          <a:lstStyle/>
          <a:p>
            <a:pPr marL="0" indent="0">
              <a:buNone/>
            </a:pPr>
            <a:r>
              <a:rPr lang="es-419" sz="2600" b="1" noProof="0" dirty="0">
                <a:solidFill>
                  <a:srgbClr val="ED1C29"/>
                </a:solidFill>
                <a:latin typeface="Trebuchet MS" pitchFamily="34" charset="0"/>
                <a:ea typeface="Trebuchet MS" pitchFamily="34" charset="-122"/>
                <a:cs typeface="Trebuchet MS" pitchFamily="34" charset="-120"/>
              </a:rPr>
              <a:t>USD 39  </a:t>
            </a:r>
            <a:r>
              <a:rPr lang="es-419" sz="1100" noProof="0" dirty="0">
                <a:solidFill>
                  <a:srgbClr val="7A716B"/>
                </a:solidFill>
                <a:latin typeface="Trebuchet MS" pitchFamily="34" charset="0"/>
                <a:ea typeface="Trebuchet MS" pitchFamily="34" charset="-122"/>
                <a:cs typeface="Trebuchet MS" pitchFamily="34" charset="-120"/>
              </a:rPr>
              <a:t>por usuario / mes</a:t>
            </a:r>
            <a:endParaRPr lang="es-419" sz="2600" noProof="0" dirty="0"/>
          </a:p>
        </p:txBody>
      </p:sp>
      <p:sp>
        <p:nvSpPr>
          <p:cNvPr id="26" name="Text 24"/>
          <p:cNvSpPr/>
          <p:nvPr/>
        </p:nvSpPr>
        <p:spPr>
          <a:xfrm>
            <a:off x="8577072" y="3547872"/>
            <a:ext cx="2706624" cy="685800"/>
          </a:xfrm>
          <a:prstGeom prst="rect">
            <a:avLst/>
          </a:prstGeom>
          <a:noFill/>
          <a:ln/>
        </p:spPr>
        <p:txBody>
          <a:bodyPr wrap="square" lIns="0" tIns="0" rIns="0" bIns="0" rtlCol="0" anchor="t"/>
          <a:lstStyle/>
          <a:p>
            <a:pPr marL="0" indent="0">
              <a:buNone/>
            </a:pPr>
            <a:r>
              <a:rPr lang="es-419" sz="1100" noProof="0" dirty="0">
                <a:solidFill>
                  <a:srgbClr val="4A423D"/>
                </a:solidFill>
                <a:latin typeface="Calibri" pitchFamily="34" charset="0"/>
                <a:ea typeface="Calibri" pitchFamily="34" charset="-122"/>
                <a:cs typeface="Calibri" pitchFamily="34" charset="-120"/>
              </a:rPr>
              <a:t>3.900 AI </a:t>
            </a:r>
            <a:r>
              <a:rPr lang="es-419" sz="1100" noProof="0" dirty="0" err="1">
                <a:solidFill>
                  <a:srgbClr val="4A423D"/>
                </a:solidFill>
                <a:latin typeface="Calibri" pitchFamily="34" charset="0"/>
                <a:ea typeface="Calibri" pitchFamily="34" charset="-122"/>
                <a:cs typeface="Calibri" pitchFamily="34" charset="-120"/>
              </a:rPr>
              <a:t>Credits</a:t>
            </a:r>
            <a:r>
              <a:rPr lang="es-419" sz="1100" noProof="0" dirty="0">
                <a:solidFill>
                  <a:srgbClr val="4A423D"/>
                </a:solidFill>
                <a:latin typeface="Calibri" pitchFamily="34" charset="0"/>
                <a:ea typeface="Calibri" pitchFamily="34" charset="-122"/>
                <a:cs typeface="Calibri" pitchFamily="34" charset="-120"/>
              </a:rPr>
              <a:t> incluidos por usuario/mes · requiere GitHub Enterprise Cloud</a:t>
            </a:r>
            <a:endParaRPr lang="es-419" sz="1100" noProof="0" dirty="0"/>
          </a:p>
        </p:txBody>
      </p:sp>
      <p:sp>
        <p:nvSpPr>
          <p:cNvPr id="27" name="card">
            <a:extLst>
              <a:ext uri="{C183D7F6-B498-43B3-948B-1728B52AA6E4}">
                <adec:decorative xmlns:adec="http://schemas.microsoft.com/office/drawing/2017/decorative" val="1"/>
              </a:ext>
            </a:extLst>
          </p:cNvPr>
          <p:cNvSpPr/>
          <p:nvPr/>
        </p:nvSpPr>
        <p:spPr>
          <a:xfrm>
            <a:off x="4937760" y="4526280"/>
            <a:ext cx="6565392" cy="658368"/>
          </a:xfrm>
          <a:prstGeom prst="rect">
            <a:avLst/>
          </a:prstGeom>
          <a:solidFill>
            <a:srgbClr val="FCE7E8"/>
          </a:solidFill>
          <a:ln w="12700">
            <a:solidFill>
              <a:srgbClr val="F3C9CC"/>
            </a:solidFill>
            <a:prstDash val="solid"/>
          </a:ln>
        </p:spPr>
        <p:txBody>
          <a:bodyPr/>
          <a:lstStyle/>
          <a:p>
            <a:endParaRPr lang="es-419" noProof="0" dirty="0"/>
          </a:p>
        </p:txBody>
      </p:sp>
      <p:sp>
        <p:nvSpPr>
          <p:cNvPr id="28" name="Text 26"/>
          <p:cNvSpPr/>
          <p:nvPr/>
        </p:nvSpPr>
        <p:spPr>
          <a:xfrm>
            <a:off x="5157216" y="4526280"/>
            <a:ext cx="6126480" cy="658368"/>
          </a:xfrm>
          <a:prstGeom prst="rect">
            <a:avLst/>
          </a:prstGeom>
          <a:noFill/>
          <a:ln/>
        </p:spPr>
        <p:txBody>
          <a:bodyPr wrap="square" lIns="0" tIns="0" rIns="0" bIns="0" rtlCol="0" anchor="ctr"/>
          <a:lstStyle/>
          <a:p>
            <a:pPr marL="0" indent="0" algn="l">
              <a:buNone/>
            </a:pPr>
            <a:r>
              <a:rPr lang="es-419" sz="1000" i="1" noProof="0">
                <a:solidFill>
                  <a:srgbClr val="7A716B"/>
                </a:solidFill>
                <a:latin typeface="Calibri" pitchFamily="34" charset="0"/>
                <a:ea typeface="Calibri" pitchFamily="34" charset="-122"/>
                <a:cs typeface="Calibri" pitchFamily="34" charset="-120"/>
              </a:rPr>
              <a:t>Nota: los clientes existentes elegibles cuentan temporalmente con una asignación superior de AI Credits durante junio–agosto de 2026. La base permanente del caso de negocio son 1.900 AI Credits por usuario/mes para Copilot Business.</a:t>
            </a:r>
            <a:endParaRPr lang="es-419" sz="1000" i="1" noProof="0"/>
          </a:p>
        </p:txBody>
      </p:sp>
      <p:sp>
        <p:nvSpPr>
          <p:cNvPr id="29" name="card">
            <a:extLst>
              <a:ext uri="{C183D7F6-B498-43B3-948B-1728B52AA6E4}">
                <adec:decorative xmlns:adec="http://schemas.microsoft.com/office/drawing/2017/decorative" val="1"/>
              </a:ext>
            </a:extLst>
          </p:cNvPr>
          <p:cNvSpPr/>
          <p:nvPr/>
        </p:nvSpPr>
        <p:spPr>
          <a:xfrm>
            <a:off x="4937760" y="5312664"/>
            <a:ext cx="3145536" cy="11000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30" name="Text 28"/>
          <p:cNvSpPr/>
          <p:nvPr/>
        </p:nvSpPr>
        <p:spPr>
          <a:xfrm>
            <a:off x="5138928" y="5312664"/>
            <a:ext cx="2743200" cy="1100000"/>
          </a:xfrm>
          <a:prstGeom prst="rect">
            <a:avLst/>
          </a:prstGeom>
          <a:noFill/>
          <a:ln/>
        </p:spPr>
        <p:txBody>
          <a:bodyPr wrap="square" lIns="0" tIns="0" rIns="0" bIns="0" rtlCol="0" anchor="ctr"/>
          <a:lstStyle/>
          <a:p>
            <a:pPr marL="0" indent="0" algn="l">
              <a:buNone/>
            </a:pPr>
            <a:r>
              <a:rPr lang="es-419" sz="900" b="1" noProof="0">
                <a:solidFill>
                  <a:srgbClr val="7A716B"/>
                </a:solidFill>
                <a:latin typeface="Trebuchet MS" pitchFamily="34" charset="0"/>
                <a:ea typeface="Trebuchet MS" pitchFamily="34" charset="-122"/>
                <a:cs typeface="Trebuchet MS" pitchFamily="34" charset="-120"/>
              </a:rPr>
              <a:t>CONSUMO ADICIONAL POTENCIAL
</a:t>
            </a:r>
            <a:r>
              <a:rPr lang="es-419" sz="1150" b="1" noProof="0">
                <a:solidFill>
                  <a:srgbClr val="ED1C29"/>
                </a:solidFill>
                <a:latin typeface="Trebuchet MS" pitchFamily="34" charset="0"/>
                <a:ea typeface="Trebuchet MS" pitchFamily="34" charset="-122"/>
                <a:cs typeface="Trebuchet MS" pitchFamily="34" charset="-120"/>
              </a:rPr>
              <a:t>USD 0,01 por AI Credit</a:t>
            </a:r>
          </a:p>
          <a:p>
            <a:pPr marL="0" indent="0" algn="l">
              <a:buNone/>
            </a:pPr>
            <a:r>
              <a:rPr lang="es-419" sz="650" b="1" noProof="0">
                <a:solidFill>
                  <a:srgbClr val="7A716B"/>
                </a:solidFill>
                <a:latin typeface="Calibri" pitchFamily="34" charset="0"/>
                <a:ea typeface="Calibri" pitchFamily="34" charset="-122"/>
                <a:cs typeface="Calibri" pitchFamily="34" charset="-120"/>
              </a:rPr>
              <a:t>No contemplado en el escenario financiero actual. El uso adicional permanecerá sujeto a las políticas, presupuestos y límites configurados.</a:t>
            </a:r>
          </a:p>
          <a:p>
            <a:pPr marL="0" indent="0" algn="l">
              <a:buNone/>
            </a:pPr>
            <a:r>
              <a:rPr lang="es-419" sz="650" b="0" noProof="0">
                <a:solidFill>
                  <a:srgbClr val="7A716B"/>
                </a:solidFill>
                <a:latin typeface="Calibri" pitchFamily="34" charset="0"/>
                <a:ea typeface="Calibri" pitchFamily="34" charset="-122"/>
                <a:cs typeface="Calibri" pitchFamily="34" charset="-120"/>
              </a:rPr>
              <a:t>El cargo adicional aplicaría únicamente si se habilita 'AI credit paid usage' y el pool compartido incluido ya se encuentra agotado.</a:t>
            </a:r>
          </a:p>
          <a:p>
            <a:pPr marL="0" indent="0" algn="l">
              <a:buNone/>
            </a:pPr>
            <a:r>
              <a:rPr lang="es-419" sz="650" b="0" noProof="0">
                <a:solidFill>
                  <a:srgbClr val="7A716B"/>
                </a:solidFill>
                <a:latin typeface="Calibri" pitchFamily="34" charset="0"/>
                <a:ea typeface="Calibri" pitchFamily="34" charset="-122"/>
                <a:cs typeface="Calibri" pitchFamily="34" charset="-120"/>
              </a:rPr>
              <a:t>Si 'AI credit paid usage' permanece deshabilitado, las funcionalidades sujetas a AI Credits se bloquean al agotarse el pool compartido hasta el siguiente ciclo de facturación.</a:t>
            </a:r>
            <a:endParaRPr lang="es-419" sz="650" noProof="0"/>
          </a:p>
        </p:txBody>
      </p:sp>
      <p:sp>
        <p:nvSpPr>
          <p:cNvPr id="31" name="card">
            <a:extLst>
              <a:ext uri="{C183D7F6-B498-43B3-948B-1728B52AA6E4}">
                <adec:decorative xmlns:adec="http://schemas.microsoft.com/office/drawing/2017/decorative" val="1"/>
              </a:ext>
            </a:extLst>
          </p:cNvPr>
          <p:cNvSpPr/>
          <p:nvPr/>
        </p:nvSpPr>
        <p:spPr>
          <a:xfrm>
            <a:off x="8357616" y="5312663"/>
            <a:ext cx="3145536" cy="1014983"/>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32" name="Text 30"/>
          <p:cNvSpPr/>
          <p:nvPr/>
        </p:nvSpPr>
        <p:spPr>
          <a:xfrm>
            <a:off x="8540496" y="5312664"/>
            <a:ext cx="2761488" cy="1100000"/>
          </a:xfrm>
          <a:prstGeom prst="rect">
            <a:avLst/>
          </a:prstGeom>
          <a:noFill/>
          <a:ln/>
        </p:spPr>
        <p:txBody>
          <a:bodyPr wrap="square" lIns="0" tIns="0" rIns="0" bIns="0" rtlCol="0" anchor="ctr"/>
          <a:lstStyle/>
          <a:p>
            <a:pPr marL="0" indent="0" algn="l">
              <a:buNone/>
            </a:pPr>
            <a:r>
              <a:rPr lang="es-419" sz="980" noProof="0" dirty="0">
                <a:solidFill>
                  <a:srgbClr val="4A423D"/>
                </a:solidFill>
                <a:latin typeface="Calibri" pitchFamily="34" charset="0"/>
                <a:ea typeface="Calibri" pitchFamily="34" charset="-122"/>
                <a:cs typeface="Calibri" pitchFamily="34" charset="-120"/>
              </a:rPr>
              <a:t>Desde el 1 de junio de 2026, las funcionalidades de </a:t>
            </a:r>
            <a:r>
              <a:rPr lang="es-419" sz="980" noProof="0" dirty="0" err="1">
                <a:solidFill>
                  <a:srgbClr val="4A423D"/>
                </a:solidFill>
                <a:latin typeface="Calibri" pitchFamily="34" charset="0"/>
                <a:ea typeface="Calibri" pitchFamily="34" charset="-122"/>
                <a:cs typeface="Calibri" pitchFamily="34" charset="-120"/>
              </a:rPr>
              <a:t>Copilot</a:t>
            </a:r>
            <a:r>
              <a:rPr lang="es-419" sz="980" noProof="0" dirty="0">
                <a:solidFill>
                  <a:srgbClr val="4A423D"/>
                </a:solidFill>
                <a:latin typeface="Calibri" pitchFamily="34" charset="0"/>
                <a:ea typeface="Calibri" pitchFamily="34" charset="-122"/>
                <a:cs typeface="Calibri" pitchFamily="34" charset="-120"/>
              </a:rPr>
              <a:t> </a:t>
            </a:r>
            <a:r>
              <a:rPr lang="es-419" sz="980" noProof="0">
                <a:solidFill>
                  <a:srgbClr val="4A423D"/>
                </a:solidFill>
                <a:latin typeface="Calibri" pitchFamily="34" charset="0"/>
                <a:ea typeface="Calibri" pitchFamily="34" charset="-122"/>
                <a:cs typeface="Calibri" pitchFamily="34" charset="-120"/>
              </a:rPr>
              <a:t>que consumen AI </a:t>
            </a:r>
            <a:r>
              <a:rPr lang="es-419" sz="980" noProof="0" err="1">
                <a:solidFill>
                  <a:srgbClr val="4A423D"/>
                </a:solidFill>
                <a:latin typeface="Calibri" pitchFamily="34" charset="0"/>
                <a:ea typeface="Calibri" pitchFamily="34" charset="-122"/>
                <a:cs typeface="Calibri" pitchFamily="34" charset="-120"/>
              </a:rPr>
              <a:t>Credits</a:t>
            </a:r>
            <a:r>
              <a:rPr lang="es-419" sz="980" noProof="0">
                <a:solidFill>
                  <a:srgbClr val="4A423D"/>
                </a:solidFill>
                <a:latin typeface="Calibri" pitchFamily="34" charset="0"/>
                <a:ea typeface="Calibri" pitchFamily="34" charset="-122"/>
                <a:cs typeface="Calibri" pitchFamily="34" charset="-120"/>
              </a:rPr>
              <a:t> </a:t>
            </a:r>
            <a:r>
              <a:rPr lang="es-419" sz="980" noProof="0" dirty="0">
                <a:solidFill>
                  <a:srgbClr val="4A423D"/>
                </a:solidFill>
                <a:latin typeface="Calibri" pitchFamily="34" charset="0"/>
                <a:ea typeface="Calibri" pitchFamily="34" charset="-122"/>
                <a:cs typeface="Calibri" pitchFamily="34" charset="-120"/>
              </a:rPr>
              <a:t>se miden </a:t>
            </a:r>
            <a:r>
              <a:rPr lang="es-419" sz="980" noProof="0">
                <a:solidFill>
                  <a:srgbClr val="4A423D"/>
                </a:solidFill>
                <a:latin typeface="Calibri" pitchFamily="34" charset="0"/>
                <a:ea typeface="Calibri" pitchFamily="34" charset="-122"/>
                <a:cs typeface="Calibri" pitchFamily="34" charset="-120"/>
              </a:rPr>
              <a:t>bajo este modelo</a:t>
            </a:r>
            <a:r>
              <a:rPr lang="es-419" sz="980" noProof="0" dirty="0">
                <a:solidFill>
                  <a:srgbClr val="4A423D"/>
                </a:solidFill>
                <a:latin typeface="Calibri" pitchFamily="34" charset="0"/>
                <a:ea typeface="Calibri" pitchFamily="34" charset="-122"/>
                <a:cs typeface="Calibri" pitchFamily="34" charset="-120"/>
              </a:rPr>
              <a:t>. Las </a:t>
            </a:r>
            <a:r>
              <a:rPr lang="es-419" sz="980" noProof="0" dirty="0" err="1">
                <a:solidFill>
                  <a:srgbClr val="4A423D"/>
                </a:solidFill>
                <a:latin typeface="Calibri" pitchFamily="34" charset="0"/>
                <a:ea typeface="Calibri" pitchFamily="34" charset="-122"/>
                <a:cs typeface="Calibri" pitchFamily="34" charset="-120"/>
              </a:rPr>
              <a:t>code</a:t>
            </a:r>
            <a:r>
              <a:rPr lang="es-419" sz="980" noProof="0" dirty="0">
                <a:solidFill>
                  <a:srgbClr val="4A423D"/>
                </a:solidFill>
                <a:latin typeface="Calibri" pitchFamily="34" charset="0"/>
                <a:ea typeface="Calibri" pitchFamily="34" charset="-122"/>
                <a:cs typeface="Calibri" pitchFamily="34" charset="-120"/>
              </a:rPr>
              <a:t> </a:t>
            </a:r>
            <a:r>
              <a:rPr lang="es-419" sz="980" noProof="0" dirty="0" err="1">
                <a:solidFill>
                  <a:srgbClr val="4A423D"/>
                </a:solidFill>
                <a:latin typeface="Calibri" pitchFamily="34" charset="0"/>
                <a:ea typeface="Calibri" pitchFamily="34" charset="-122"/>
                <a:cs typeface="Calibri" pitchFamily="34" charset="-120"/>
              </a:rPr>
              <a:t>completions</a:t>
            </a:r>
            <a:r>
              <a:rPr lang="es-419" sz="980" noProof="0" dirty="0">
                <a:solidFill>
                  <a:srgbClr val="4A423D"/>
                </a:solidFill>
                <a:latin typeface="Calibri" pitchFamily="34" charset="0"/>
                <a:ea typeface="Calibri" pitchFamily="34" charset="-122"/>
                <a:cs typeface="Calibri" pitchFamily="34" charset="-120"/>
              </a:rPr>
              <a:t> y Next Edit </a:t>
            </a:r>
            <a:r>
              <a:rPr lang="es-419" sz="980" noProof="0" dirty="0" err="1">
                <a:solidFill>
                  <a:srgbClr val="4A423D"/>
                </a:solidFill>
                <a:latin typeface="Calibri" pitchFamily="34" charset="0"/>
                <a:ea typeface="Calibri" pitchFamily="34" charset="-122"/>
                <a:cs typeface="Calibri" pitchFamily="34" charset="-120"/>
              </a:rPr>
              <a:t>Suggestions</a:t>
            </a:r>
            <a:r>
              <a:rPr lang="es-419" sz="980" noProof="0" dirty="0">
                <a:solidFill>
                  <a:srgbClr val="4A423D"/>
                </a:solidFill>
                <a:latin typeface="Calibri" pitchFamily="34" charset="0"/>
                <a:ea typeface="Calibri" pitchFamily="34" charset="-122"/>
                <a:cs typeface="Calibri" pitchFamily="34" charset="-120"/>
              </a:rPr>
              <a:t> permanecen incluidas sin consumo de AI </a:t>
            </a:r>
            <a:r>
              <a:rPr lang="es-419" sz="980" noProof="0" dirty="0" err="1">
                <a:solidFill>
                  <a:srgbClr val="4A423D"/>
                </a:solidFill>
                <a:latin typeface="Calibri" pitchFamily="34" charset="0"/>
                <a:ea typeface="Calibri" pitchFamily="34" charset="-122"/>
                <a:cs typeface="Calibri" pitchFamily="34" charset="-120"/>
              </a:rPr>
              <a:t>Credits</a:t>
            </a:r>
            <a:r>
              <a:rPr lang="es-419" sz="980" noProof="0" dirty="0">
                <a:solidFill>
                  <a:srgbClr val="4A423D"/>
                </a:solidFill>
                <a:latin typeface="Calibri" pitchFamily="34" charset="0"/>
                <a:ea typeface="Calibri" pitchFamily="34" charset="-122"/>
                <a:cs typeface="Calibri" pitchFamily="34" charset="-120"/>
              </a:rPr>
              <a:t> en los planes pagos.</a:t>
            </a:r>
            <a:endParaRPr lang="es-419" sz="980" noProof="0" dirty="0"/>
          </a:p>
        </p:txBody>
      </p:sp>
      <p:sp>
        <p:nvSpPr>
          <p:cNvPr id="33" name="Text 31"/>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dirty="0">
                <a:solidFill>
                  <a:srgbClr val="211915"/>
                </a:solidFill>
                <a:latin typeface="Calibri" pitchFamily="34" charset="0"/>
                <a:ea typeface="Calibri" pitchFamily="34" charset="-122"/>
                <a:cs typeface="Calibri" pitchFamily="34" charset="-120"/>
              </a:rPr>
              <a:t>Tuya</a:t>
            </a:r>
            <a:r>
              <a:rPr lang="es-419" sz="850" noProof="0" dirty="0">
                <a:solidFill>
                  <a:srgbClr val="9C938D"/>
                </a:solidFill>
                <a:latin typeface="Calibri" pitchFamily="34" charset="0"/>
                <a:ea typeface="Calibri" pitchFamily="34" charset="-122"/>
                <a:cs typeface="Calibri" pitchFamily="34" charset="-120"/>
              </a:rPr>
              <a:t>   ·   GitHub </a:t>
            </a:r>
            <a:r>
              <a:rPr lang="es-419" sz="850" noProof="0" dirty="0" err="1">
                <a:solidFill>
                  <a:srgbClr val="9C938D"/>
                </a:solidFill>
                <a:latin typeface="Calibri" pitchFamily="34" charset="0"/>
                <a:ea typeface="Calibri" pitchFamily="34" charset="-122"/>
                <a:cs typeface="Calibri" pitchFamily="34" charset="-120"/>
              </a:rPr>
              <a:t>Copilot</a:t>
            </a:r>
            <a:r>
              <a:rPr lang="es-419" sz="850" noProof="0" dirty="0">
                <a:solidFill>
                  <a:srgbClr val="9C938D"/>
                </a:solidFill>
                <a:latin typeface="Calibri" pitchFamily="34" charset="0"/>
                <a:ea typeface="Calibri" pitchFamily="34" charset="-122"/>
                <a:cs typeface="Calibri" pitchFamily="34" charset="-120"/>
              </a:rPr>
              <a:t> - Resultados de la Prueba de Concepto</a:t>
            </a:r>
            <a:endParaRPr lang="es-419" sz="850" noProof="0" dirty="0"/>
          </a:p>
        </p:txBody>
      </p:sp>
      <p:sp>
        <p:nvSpPr>
          <p:cNvPr id="34" name="Text 32"/>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dirty="0">
                <a:solidFill>
                  <a:srgbClr val="ED1C29"/>
                </a:solidFill>
                <a:latin typeface="Trebuchet MS" pitchFamily="34" charset="0"/>
                <a:ea typeface="Trebuchet MS" pitchFamily="34" charset="-122"/>
                <a:cs typeface="Trebuchet MS" pitchFamily="34" charset="-120"/>
              </a:rPr>
              <a:t>05</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ED1C29"/>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a:solidFill>
                  <a:srgbClr val="ED1C29"/>
                </a:solidFill>
                <a:latin typeface="Trebuchet MS" pitchFamily="34" charset="0"/>
                <a:ea typeface="Trebuchet MS" pitchFamily="34" charset="-122"/>
                <a:cs typeface="Trebuchet MS" pitchFamily="34" charset="-120"/>
              </a:rPr>
              <a:t>COSTO DE ESCALAMIENTO </a:t>
            </a:r>
            <a:r>
              <a:rPr lang="es-419" sz="1150" b="1" kern="0" spc="200" noProof="0" dirty="0">
                <a:solidFill>
                  <a:srgbClr val="ED1C29"/>
                </a:solidFill>
                <a:latin typeface="Trebuchet MS" pitchFamily="34" charset="0"/>
                <a:ea typeface="Trebuchet MS" pitchFamily="34" charset="-122"/>
                <a:cs typeface="Trebuchet MS" pitchFamily="34" charset="-120"/>
              </a:rPr>
              <a:t>DE </a:t>
            </a:r>
            <a:r>
              <a:rPr lang="es-419" sz="1150" b="1" kern="0" spc="200" noProof="0">
                <a:solidFill>
                  <a:srgbClr val="ED1C29"/>
                </a:solidFill>
                <a:latin typeface="Trebuchet MS" pitchFamily="34" charset="0"/>
                <a:ea typeface="Trebuchet MS" pitchFamily="34" charset="-122"/>
                <a:cs typeface="Trebuchet MS" pitchFamily="34" charset="-120"/>
              </a:rPr>
              <a:t>GITHUB COPILOT</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a:solidFill>
                  <a:srgbClr val="211915"/>
                </a:solidFill>
                <a:latin typeface="Trebuchet MS" pitchFamily="34" charset="0"/>
                <a:ea typeface="Trebuchet MS" pitchFamily="34" charset="-122"/>
                <a:cs typeface="Trebuchet MS" pitchFamily="34" charset="-120"/>
              </a:rPr>
              <a:t>Inversión base para 70 desarrolladores</a:t>
            </a:r>
            <a:endParaRPr lang="es-419" sz="2700" noProof="0" dirty="0"/>
          </a:p>
        </p:txBody>
      </p:sp>
      <p:sp>
        <p:nvSpPr>
          <p:cNvPr id="5" name="card">
            <a:extLst>
              <a:ext uri="{C183D7F6-B498-43B3-948B-1728B52AA6E4}">
                <adec:decorative xmlns:adec="http://schemas.microsoft.com/office/drawing/2017/decorative" val="1"/>
              </a:ext>
            </a:extLst>
          </p:cNvPr>
          <p:cNvSpPr/>
          <p:nvPr/>
        </p:nvSpPr>
        <p:spPr>
          <a:xfrm>
            <a:off x="685800" y="1691640"/>
            <a:ext cx="6537960" cy="400836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6" name="Text 4"/>
          <p:cNvSpPr/>
          <p:nvPr/>
        </p:nvSpPr>
        <p:spPr>
          <a:xfrm>
            <a:off x="960120" y="1911096"/>
            <a:ext cx="5989320" cy="310896"/>
          </a:xfrm>
          <a:prstGeom prst="rect">
            <a:avLst/>
          </a:prstGeom>
          <a:noFill/>
          <a:ln/>
        </p:spPr>
        <p:txBody>
          <a:bodyPr wrap="square" lIns="0" tIns="0" rIns="0" bIns="0" rtlCol="0" anchor="ctr"/>
          <a:lstStyle/>
          <a:p>
            <a:pPr marL="0" indent="0">
              <a:buNone/>
            </a:pPr>
            <a:r>
              <a:rPr lang="es-419" sz="1250" b="1" kern="0" spc="100" noProof="0" dirty="0">
                <a:solidFill>
                  <a:srgbClr val="211915"/>
                </a:solidFill>
                <a:latin typeface="Trebuchet MS" pitchFamily="34" charset="0"/>
                <a:ea typeface="Trebuchet MS" pitchFamily="34" charset="-122"/>
                <a:cs typeface="Trebuchet MS" pitchFamily="34" charset="-120"/>
              </a:rPr>
              <a:t>ESTRUCTURA DE COSTOS</a:t>
            </a:r>
            <a:endParaRPr lang="es-419" sz="1250" noProof="0" dirty="0"/>
          </a:p>
        </p:txBody>
      </p:sp>
      <p:sp>
        <p:nvSpPr>
          <p:cNvPr id="7" name="Text 5"/>
          <p:cNvSpPr/>
          <p:nvPr/>
        </p:nvSpPr>
        <p:spPr>
          <a:xfrm>
            <a:off x="978408" y="2368296"/>
            <a:ext cx="3294126" cy="422910"/>
          </a:xfrm>
          <a:prstGeom prst="rect">
            <a:avLst/>
          </a:prstGeom>
          <a:noFill/>
          <a:ln/>
        </p:spPr>
        <p:txBody>
          <a:bodyPr wrap="square" lIns="0" tIns="0" rIns="0" bIns="0" rtlCol="0" anchor="ctr"/>
          <a:lstStyle/>
          <a:p>
            <a:pPr marL="0" indent="0" algn="l">
              <a:buNone/>
            </a:pPr>
            <a:r>
              <a:rPr lang="es-419" sz="1200" noProof="0" dirty="0">
                <a:solidFill>
                  <a:srgbClr val="4A423D"/>
                </a:solidFill>
                <a:latin typeface="Calibri" pitchFamily="34" charset="0"/>
                <a:ea typeface="Calibri" pitchFamily="34" charset="-122"/>
                <a:cs typeface="Calibri" pitchFamily="34" charset="-120"/>
              </a:rPr>
              <a:t>Usuarios objetivo</a:t>
            </a:r>
            <a:endParaRPr lang="es-419" sz="1200" noProof="0" dirty="0"/>
          </a:p>
        </p:txBody>
      </p:sp>
      <p:sp>
        <p:nvSpPr>
          <p:cNvPr id="8" name="Text 6"/>
          <p:cNvSpPr/>
          <p:nvPr/>
        </p:nvSpPr>
        <p:spPr>
          <a:xfrm>
            <a:off x="3973068" y="2368296"/>
            <a:ext cx="2994660" cy="422910"/>
          </a:xfrm>
          <a:prstGeom prst="rect">
            <a:avLst/>
          </a:prstGeom>
          <a:noFill/>
          <a:ln/>
        </p:spPr>
        <p:txBody>
          <a:bodyPr wrap="square" lIns="0" tIns="0" rIns="0" bIns="0" rtlCol="0" anchor="ctr"/>
          <a:lstStyle/>
          <a:p>
            <a:pPr marL="0" indent="0" algn="r">
              <a:buNone/>
            </a:pPr>
            <a:r>
              <a:rPr lang="es-419" sz="1200" b="1" noProof="0" dirty="0">
                <a:solidFill>
                  <a:srgbClr val="ED1C29"/>
                </a:solidFill>
                <a:latin typeface="Trebuchet MS" pitchFamily="34" charset="0"/>
                <a:ea typeface="Trebuchet MS" pitchFamily="34" charset="-122"/>
                <a:cs typeface="Trebuchet MS" pitchFamily="34" charset="-120"/>
              </a:rPr>
              <a:t>70 desarrolladores</a:t>
            </a:r>
            <a:endParaRPr lang="es-419" sz="1200" noProof="0" dirty="0"/>
          </a:p>
        </p:txBody>
      </p:sp>
      <p:sp>
        <p:nvSpPr>
          <p:cNvPr id="9" name="row divider">
            <a:extLst>
              <a:ext uri="{C183D7F6-B498-43B3-948B-1728B52AA6E4}">
                <adec:decorative xmlns:adec="http://schemas.microsoft.com/office/drawing/2017/decorative" val="1"/>
              </a:ext>
            </a:extLst>
          </p:cNvPr>
          <p:cNvSpPr/>
          <p:nvPr/>
        </p:nvSpPr>
        <p:spPr>
          <a:xfrm>
            <a:off x="960120" y="2791206"/>
            <a:ext cx="5989320" cy="0"/>
          </a:xfrm>
          <a:prstGeom prst="line">
            <a:avLst/>
          </a:prstGeom>
          <a:noFill/>
          <a:ln w="12700">
            <a:solidFill>
              <a:srgbClr val="E7E1DE"/>
            </a:solidFill>
            <a:prstDash val="solid"/>
          </a:ln>
        </p:spPr>
        <p:txBody>
          <a:bodyPr/>
          <a:lstStyle/>
          <a:p>
            <a:endParaRPr lang="es-419" noProof="0" dirty="0"/>
          </a:p>
        </p:txBody>
      </p:sp>
      <p:sp>
        <p:nvSpPr>
          <p:cNvPr id="10" name="Text 8"/>
          <p:cNvSpPr/>
          <p:nvPr/>
        </p:nvSpPr>
        <p:spPr>
          <a:xfrm>
            <a:off x="978408" y="2791206"/>
            <a:ext cx="3294126" cy="422910"/>
          </a:xfrm>
          <a:prstGeom prst="rect">
            <a:avLst/>
          </a:prstGeom>
          <a:noFill/>
          <a:ln/>
        </p:spPr>
        <p:txBody>
          <a:bodyPr wrap="square" lIns="0" tIns="0" rIns="0" bIns="0" rtlCol="0" anchor="ctr"/>
          <a:lstStyle/>
          <a:p>
            <a:pPr marL="0" indent="0" algn="l">
              <a:buNone/>
            </a:pPr>
            <a:r>
              <a:rPr lang="es-419" sz="1200" noProof="0" dirty="0">
                <a:solidFill>
                  <a:srgbClr val="4A423D"/>
                </a:solidFill>
                <a:latin typeface="Calibri" pitchFamily="34" charset="0"/>
                <a:ea typeface="Calibri" pitchFamily="34" charset="-122"/>
                <a:cs typeface="Calibri" pitchFamily="34" charset="-120"/>
              </a:rPr>
              <a:t>Plan considerado</a:t>
            </a:r>
            <a:endParaRPr lang="es-419" sz="1200" noProof="0" dirty="0"/>
          </a:p>
        </p:txBody>
      </p:sp>
      <p:sp>
        <p:nvSpPr>
          <p:cNvPr id="11" name="Text 9"/>
          <p:cNvSpPr/>
          <p:nvPr/>
        </p:nvSpPr>
        <p:spPr>
          <a:xfrm>
            <a:off x="3973068" y="2791206"/>
            <a:ext cx="2994660" cy="422910"/>
          </a:xfrm>
          <a:prstGeom prst="rect">
            <a:avLst/>
          </a:prstGeom>
          <a:noFill/>
          <a:ln/>
        </p:spPr>
        <p:txBody>
          <a:bodyPr wrap="square" lIns="0" tIns="0" rIns="0" bIns="0" rtlCol="0" anchor="ctr"/>
          <a:lstStyle/>
          <a:p>
            <a:pPr marL="0" indent="0" algn="r">
              <a:buNone/>
            </a:pPr>
            <a:r>
              <a:rPr lang="es-419" sz="1200" b="1" noProof="0" dirty="0">
                <a:solidFill>
                  <a:srgbClr val="ED1C29"/>
                </a:solidFill>
                <a:latin typeface="Trebuchet MS" pitchFamily="34" charset="0"/>
                <a:ea typeface="Trebuchet MS" pitchFamily="34" charset="-122"/>
                <a:cs typeface="Trebuchet MS" pitchFamily="34" charset="-120"/>
              </a:rPr>
              <a:t>GitHub </a:t>
            </a:r>
            <a:r>
              <a:rPr lang="es-419" sz="1200" b="1" noProof="0">
                <a:solidFill>
                  <a:srgbClr val="ED1C29"/>
                </a:solidFill>
                <a:latin typeface="Trebuchet MS" pitchFamily="34" charset="0"/>
                <a:ea typeface="Trebuchet MS" pitchFamily="34" charset="-122"/>
                <a:cs typeface="Trebuchet MS" pitchFamily="34" charset="-120"/>
              </a:rPr>
              <a:t>Copilot</a:t>
            </a:r>
            <a:r>
              <a:rPr lang="es-419" sz="1200" b="1" noProof="0" dirty="0">
                <a:solidFill>
                  <a:srgbClr val="ED1C29"/>
                </a:solidFill>
                <a:latin typeface="Trebuchet MS" pitchFamily="34" charset="0"/>
                <a:ea typeface="Trebuchet MS" pitchFamily="34" charset="-122"/>
                <a:cs typeface="Trebuchet MS" pitchFamily="34" charset="-120"/>
              </a:rPr>
              <a:t> Business</a:t>
            </a:r>
            <a:endParaRPr lang="es-419" sz="1200" noProof="0" dirty="0"/>
          </a:p>
        </p:txBody>
      </p:sp>
      <p:sp>
        <p:nvSpPr>
          <p:cNvPr id="12" name="row divider">
            <a:extLst>
              <a:ext uri="{C183D7F6-B498-43B3-948B-1728B52AA6E4}">
                <adec:decorative xmlns:adec="http://schemas.microsoft.com/office/drawing/2017/decorative" val="1"/>
              </a:ext>
            </a:extLst>
          </p:cNvPr>
          <p:cNvSpPr/>
          <p:nvPr/>
        </p:nvSpPr>
        <p:spPr>
          <a:xfrm>
            <a:off x="960120" y="3214116"/>
            <a:ext cx="5989320" cy="0"/>
          </a:xfrm>
          <a:prstGeom prst="line">
            <a:avLst/>
          </a:prstGeom>
          <a:noFill/>
          <a:ln w="12700">
            <a:solidFill>
              <a:srgbClr val="E7E1DE"/>
            </a:solidFill>
            <a:prstDash val="solid"/>
          </a:ln>
        </p:spPr>
        <p:txBody>
          <a:bodyPr/>
          <a:lstStyle/>
          <a:p>
            <a:endParaRPr lang="es-419" noProof="0" dirty="0"/>
          </a:p>
        </p:txBody>
      </p:sp>
      <p:sp>
        <p:nvSpPr>
          <p:cNvPr id="13" name="Text 11"/>
          <p:cNvSpPr/>
          <p:nvPr/>
        </p:nvSpPr>
        <p:spPr>
          <a:xfrm>
            <a:off x="978408" y="3214116"/>
            <a:ext cx="3294126" cy="422910"/>
          </a:xfrm>
          <a:prstGeom prst="rect">
            <a:avLst/>
          </a:prstGeom>
          <a:noFill/>
          <a:ln/>
        </p:spPr>
        <p:txBody>
          <a:bodyPr wrap="square" lIns="0" tIns="0" rIns="0" bIns="0" rtlCol="0" anchor="ctr"/>
          <a:lstStyle/>
          <a:p>
            <a:pPr marL="0" indent="0" algn="l">
              <a:buNone/>
            </a:pPr>
            <a:r>
              <a:rPr lang="es-419" sz="1200" noProof="0" dirty="0">
                <a:solidFill>
                  <a:srgbClr val="4A423D"/>
                </a:solidFill>
                <a:latin typeface="Calibri" pitchFamily="34" charset="0"/>
                <a:ea typeface="Calibri" pitchFamily="34" charset="-122"/>
                <a:cs typeface="Calibri" pitchFamily="34" charset="-120"/>
              </a:rPr>
              <a:t>Costo unitario</a:t>
            </a:r>
            <a:endParaRPr lang="es-419" sz="1200" noProof="0" dirty="0"/>
          </a:p>
        </p:txBody>
      </p:sp>
      <p:sp>
        <p:nvSpPr>
          <p:cNvPr id="14" name="Text 12"/>
          <p:cNvSpPr/>
          <p:nvPr/>
        </p:nvSpPr>
        <p:spPr>
          <a:xfrm>
            <a:off x="3973068" y="3214116"/>
            <a:ext cx="2994660" cy="422910"/>
          </a:xfrm>
          <a:prstGeom prst="rect">
            <a:avLst/>
          </a:prstGeom>
          <a:noFill/>
          <a:ln/>
        </p:spPr>
        <p:txBody>
          <a:bodyPr wrap="square" lIns="0" tIns="0" rIns="0" bIns="0" rtlCol="0" anchor="ctr"/>
          <a:lstStyle/>
          <a:p>
            <a:pPr marL="0" indent="0" algn="r">
              <a:buNone/>
            </a:pPr>
            <a:r>
              <a:rPr lang="es-419" sz="1200" b="1" noProof="0" dirty="0">
                <a:solidFill>
                  <a:srgbClr val="ED1C29"/>
                </a:solidFill>
                <a:latin typeface="Trebuchet MS" pitchFamily="34" charset="0"/>
                <a:ea typeface="Trebuchet MS" pitchFamily="34" charset="-122"/>
                <a:cs typeface="Trebuchet MS" pitchFamily="34" charset="-120"/>
              </a:rPr>
              <a:t>USD 19 / usuario / mes</a:t>
            </a:r>
            <a:endParaRPr lang="es-419" sz="1200" noProof="0" dirty="0"/>
          </a:p>
        </p:txBody>
      </p:sp>
      <p:sp>
        <p:nvSpPr>
          <p:cNvPr id="15" name="row divider">
            <a:extLst>
              <a:ext uri="{C183D7F6-B498-43B3-948B-1728B52AA6E4}">
                <adec:decorative xmlns:adec="http://schemas.microsoft.com/office/drawing/2017/decorative" val="1"/>
              </a:ext>
            </a:extLst>
          </p:cNvPr>
          <p:cNvSpPr/>
          <p:nvPr/>
        </p:nvSpPr>
        <p:spPr>
          <a:xfrm>
            <a:off x="960120" y="3637026"/>
            <a:ext cx="5989320" cy="0"/>
          </a:xfrm>
          <a:prstGeom prst="line">
            <a:avLst/>
          </a:prstGeom>
          <a:noFill/>
          <a:ln w="12700">
            <a:solidFill>
              <a:srgbClr val="E7E1DE"/>
            </a:solidFill>
            <a:prstDash val="solid"/>
          </a:ln>
        </p:spPr>
        <p:txBody>
          <a:bodyPr/>
          <a:lstStyle/>
          <a:p>
            <a:endParaRPr lang="es-419" noProof="0" dirty="0"/>
          </a:p>
        </p:txBody>
      </p:sp>
      <p:sp>
        <p:nvSpPr>
          <p:cNvPr id="16" name="Text 14"/>
          <p:cNvSpPr/>
          <p:nvPr/>
        </p:nvSpPr>
        <p:spPr>
          <a:xfrm>
            <a:off x="978408" y="3637026"/>
            <a:ext cx="3294126" cy="422910"/>
          </a:xfrm>
          <a:prstGeom prst="rect">
            <a:avLst/>
          </a:prstGeom>
          <a:noFill/>
          <a:ln/>
        </p:spPr>
        <p:txBody>
          <a:bodyPr wrap="square" lIns="0" tIns="0" rIns="0" bIns="0" rtlCol="0" anchor="ctr"/>
          <a:lstStyle/>
          <a:p>
            <a:pPr marL="0" indent="0" algn="l">
              <a:buNone/>
            </a:pPr>
            <a:r>
              <a:rPr lang="es-419" sz="1200" noProof="0" dirty="0">
                <a:solidFill>
                  <a:srgbClr val="4A423D"/>
                </a:solidFill>
                <a:latin typeface="Calibri" pitchFamily="34" charset="0"/>
                <a:ea typeface="Calibri" pitchFamily="34" charset="-122"/>
                <a:cs typeface="Calibri" pitchFamily="34" charset="-120"/>
              </a:rPr>
              <a:t>Costo mensual base</a:t>
            </a:r>
            <a:endParaRPr lang="es-419" sz="1200" noProof="0" dirty="0"/>
          </a:p>
        </p:txBody>
      </p:sp>
      <p:sp>
        <p:nvSpPr>
          <p:cNvPr id="17" name="Text 15"/>
          <p:cNvSpPr/>
          <p:nvPr/>
        </p:nvSpPr>
        <p:spPr>
          <a:xfrm>
            <a:off x="3973068" y="3637026"/>
            <a:ext cx="2994660" cy="422910"/>
          </a:xfrm>
          <a:prstGeom prst="rect">
            <a:avLst/>
          </a:prstGeom>
          <a:noFill/>
          <a:ln/>
        </p:spPr>
        <p:txBody>
          <a:bodyPr wrap="square" lIns="0" tIns="0" rIns="0" bIns="0" rtlCol="0" anchor="ctr"/>
          <a:lstStyle/>
          <a:p>
            <a:pPr marL="0" indent="0" algn="r">
              <a:buNone/>
            </a:pPr>
            <a:r>
              <a:rPr lang="es-419" sz="1200" b="1" noProof="0" dirty="0">
                <a:solidFill>
                  <a:srgbClr val="ED1C29"/>
                </a:solidFill>
                <a:latin typeface="Trebuchet MS" pitchFamily="34" charset="0"/>
                <a:ea typeface="Trebuchet MS" pitchFamily="34" charset="-122"/>
                <a:cs typeface="Trebuchet MS" pitchFamily="34" charset="-120"/>
              </a:rPr>
              <a:t>USD 1.330</a:t>
            </a:r>
            <a:endParaRPr lang="es-419" sz="1200" noProof="0" dirty="0"/>
          </a:p>
        </p:txBody>
      </p:sp>
      <p:sp>
        <p:nvSpPr>
          <p:cNvPr id="18" name="row divider">
            <a:extLst>
              <a:ext uri="{C183D7F6-B498-43B3-948B-1728B52AA6E4}">
                <adec:decorative xmlns:adec="http://schemas.microsoft.com/office/drawing/2017/decorative" val="1"/>
              </a:ext>
            </a:extLst>
          </p:cNvPr>
          <p:cNvSpPr/>
          <p:nvPr/>
        </p:nvSpPr>
        <p:spPr>
          <a:xfrm>
            <a:off x="960120" y="4059936"/>
            <a:ext cx="5989320" cy="0"/>
          </a:xfrm>
          <a:prstGeom prst="line">
            <a:avLst/>
          </a:prstGeom>
          <a:noFill/>
          <a:ln w="12700">
            <a:solidFill>
              <a:srgbClr val="E7E1DE"/>
            </a:solidFill>
            <a:prstDash val="solid"/>
          </a:ln>
        </p:spPr>
        <p:txBody>
          <a:bodyPr/>
          <a:lstStyle/>
          <a:p>
            <a:endParaRPr lang="es-419" noProof="0" dirty="0"/>
          </a:p>
        </p:txBody>
      </p:sp>
      <p:sp>
        <p:nvSpPr>
          <p:cNvPr id="19" name="Text 17"/>
          <p:cNvSpPr/>
          <p:nvPr/>
        </p:nvSpPr>
        <p:spPr>
          <a:xfrm>
            <a:off x="978408" y="4059936"/>
            <a:ext cx="3294126" cy="422910"/>
          </a:xfrm>
          <a:prstGeom prst="rect">
            <a:avLst/>
          </a:prstGeom>
          <a:noFill/>
          <a:ln/>
        </p:spPr>
        <p:txBody>
          <a:bodyPr wrap="square" lIns="0" tIns="0" rIns="0" bIns="0" rtlCol="0" anchor="ctr"/>
          <a:lstStyle/>
          <a:p>
            <a:pPr marL="0" indent="0" algn="l">
              <a:buNone/>
            </a:pPr>
            <a:r>
              <a:rPr lang="es-419" sz="1200" noProof="0" dirty="0">
                <a:solidFill>
                  <a:srgbClr val="4A423D"/>
                </a:solidFill>
                <a:latin typeface="Calibri" pitchFamily="34" charset="0"/>
                <a:ea typeface="Calibri" pitchFamily="34" charset="-122"/>
                <a:cs typeface="Calibri" pitchFamily="34" charset="-120"/>
              </a:rPr>
              <a:t>Costo anual</a:t>
            </a:r>
            <a:r>
              <a:rPr lang="es-419" sz="1200" noProof="0">
                <a:solidFill>
                  <a:srgbClr val="4A423D"/>
                </a:solidFill>
                <a:latin typeface="Calibri" pitchFamily="34" charset="0"/>
                <a:ea typeface="Calibri" pitchFamily="34" charset="-122"/>
                <a:cs typeface="Calibri" pitchFamily="34" charset="-120"/>
              </a:rPr>
              <a:t> base</a:t>
            </a:r>
            <a:endParaRPr lang="es-419" sz="1200" noProof="0" dirty="0"/>
          </a:p>
        </p:txBody>
      </p:sp>
      <p:sp>
        <p:nvSpPr>
          <p:cNvPr id="20" name="Text 18"/>
          <p:cNvSpPr/>
          <p:nvPr/>
        </p:nvSpPr>
        <p:spPr>
          <a:xfrm>
            <a:off x="3973068" y="4059936"/>
            <a:ext cx="2994660" cy="422910"/>
          </a:xfrm>
          <a:prstGeom prst="rect">
            <a:avLst/>
          </a:prstGeom>
          <a:noFill/>
          <a:ln/>
        </p:spPr>
        <p:txBody>
          <a:bodyPr wrap="square" lIns="0" tIns="0" rIns="0" bIns="0" rtlCol="0" anchor="ctr"/>
          <a:lstStyle/>
          <a:p>
            <a:pPr marL="0" indent="0" algn="r">
              <a:buNone/>
            </a:pPr>
            <a:r>
              <a:rPr lang="es-419" sz="1200" b="1" noProof="0" dirty="0">
                <a:solidFill>
                  <a:srgbClr val="ED1C29"/>
                </a:solidFill>
                <a:latin typeface="Trebuchet MS" pitchFamily="34" charset="0"/>
                <a:ea typeface="Trebuchet MS" pitchFamily="34" charset="-122"/>
                <a:cs typeface="Trebuchet MS" pitchFamily="34" charset="-120"/>
              </a:rPr>
              <a:t>USD 15.960</a:t>
            </a:r>
            <a:endParaRPr lang="es-419" sz="1200" noProof="0" dirty="0"/>
          </a:p>
        </p:txBody>
      </p:sp>
      <p:sp>
        <p:nvSpPr>
          <p:cNvPr id="21" name="row divider">
            <a:extLst>
              <a:ext uri="{C183D7F6-B498-43B3-948B-1728B52AA6E4}">
                <adec:decorative xmlns:adec="http://schemas.microsoft.com/office/drawing/2017/decorative" val="1"/>
              </a:ext>
            </a:extLst>
          </p:cNvPr>
          <p:cNvSpPr/>
          <p:nvPr/>
        </p:nvSpPr>
        <p:spPr>
          <a:xfrm>
            <a:off x="960120" y="4482846"/>
            <a:ext cx="5989320" cy="0"/>
          </a:xfrm>
          <a:prstGeom prst="line">
            <a:avLst/>
          </a:prstGeom>
          <a:noFill/>
          <a:ln w="12700">
            <a:solidFill>
              <a:srgbClr val="E7E1DE"/>
            </a:solidFill>
            <a:prstDash val="solid"/>
          </a:ln>
        </p:spPr>
        <p:txBody>
          <a:bodyPr/>
          <a:lstStyle/>
          <a:p>
            <a:endParaRPr lang="es-419" noProof="0" dirty="0"/>
          </a:p>
        </p:txBody>
      </p:sp>
      <p:sp>
        <p:nvSpPr>
          <p:cNvPr id="22" name="Text 20"/>
          <p:cNvSpPr/>
          <p:nvPr/>
        </p:nvSpPr>
        <p:spPr>
          <a:xfrm>
            <a:off x="978408" y="4482846"/>
            <a:ext cx="3294126" cy="422910"/>
          </a:xfrm>
          <a:prstGeom prst="rect">
            <a:avLst/>
          </a:prstGeom>
          <a:noFill/>
          <a:ln/>
        </p:spPr>
        <p:txBody>
          <a:bodyPr wrap="square" lIns="0" tIns="0" rIns="0" bIns="0" rtlCol="0" anchor="ctr"/>
          <a:lstStyle/>
          <a:p>
            <a:pPr marL="0" indent="0" algn="l">
              <a:buNone/>
            </a:pPr>
            <a:r>
              <a:rPr lang="es-419" sz="1200" noProof="0">
                <a:solidFill>
                  <a:srgbClr val="4A423D"/>
                </a:solidFill>
                <a:latin typeface="Calibri" pitchFamily="34" charset="0"/>
                <a:ea typeface="Calibri" pitchFamily="34" charset="-122"/>
                <a:cs typeface="Calibri" pitchFamily="34" charset="-120"/>
              </a:rPr>
              <a:t>AI Credits incluidos</a:t>
            </a:r>
            <a:endParaRPr lang="es-419" sz="1200" noProof="0" dirty="0"/>
          </a:p>
        </p:txBody>
      </p:sp>
      <p:sp>
        <p:nvSpPr>
          <p:cNvPr id="23" name="Text 21"/>
          <p:cNvSpPr/>
          <p:nvPr/>
        </p:nvSpPr>
        <p:spPr>
          <a:xfrm>
            <a:off x="3973068" y="4482846"/>
            <a:ext cx="2994660" cy="422910"/>
          </a:xfrm>
          <a:prstGeom prst="rect">
            <a:avLst/>
          </a:prstGeom>
          <a:noFill/>
          <a:ln/>
        </p:spPr>
        <p:txBody>
          <a:bodyPr wrap="square" lIns="0" tIns="0" rIns="0" bIns="0" rtlCol="0" anchor="ctr"/>
          <a:lstStyle/>
          <a:p>
            <a:pPr marL="0" indent="0" algn="r">
              <a:buNone/>
            </a:pPr>
            <a:r>
              <a:rPr lang="es-419" sz="1200" b="1" noProof="0">
                <a:solidFill>
                  <a:srgbClr val="ED1C29"/>
                </a:solidFill>
                <a:latin typeface="Trebuchet MS" pitchFamily="34" charset="0"/>
                <a:ea typeface="Trebuchet MS" pitchFamily="34" charset="-122"/>
                <a:cs typeface="Trebuchet MS" pitchFamily="34" charset="-120"/>
              </a:rPr>
              <a:t>133.000 </a:t>
            </a:r>
            <a:r>
              <a:rPr lang="es-419" sz="1200" b="1" noProof="0" dirty="0">
                <a:solidFill>
                  <a:srgbClr val="ED1C29"/>
                </a:solidFill>
                <a:latin typeface="Trebuchet MS" pitchFamily="34" charset="0"/>
                <a:ea typeface="Trebuchet MS" pitchFamily="34" charset="-122"/>
                <a:cs typeface="Trebuchet MS" pitchFamily="34" charset="-120"/>
              </a:rPr>
              <a:t>AI </a:t>
            </a:r>
            <a:r>
              <a:rPr lang="es-419" sz="1200" b="1" noProof="0">
                <a:solidFill>
                  <a:srgbClr val="ED1C29"/>
                </a:solidFill>
                <a:latin typeface="Trebuchet MS" pitchFamily="34" charset="0"/>
                <a:ea typeface="Trebuchet MS" pitchFamily="34" charset="-122"/>
                <a:cs typeface="Trebuchet MS" pitchFamily="34" charset="-120"/>
              </a:rPr>
              <a:t>Credits / mes</a:t>
            </a:r>
            <a:endParaRPr lang="es-419" sz="1200" noProof="0" dirty="0"/>
          </a:p>
        </p:txBody>
      </p:sp>
      <p:sp>
        <p:nvSpPr>
          <p:cNvPr id="24" name="row divider">
            <a:extLst>
              <a:ext uri="{C183D7F6-B498-43B3-948B-1728B52AA6E4}">
                <adec:decorative xmlns:adec="http://schemas.microsoft.com/office/drawing/2017/decorative" val="1"/>
              </a:ext>
            </a:extLst>
          </p:cNvPr>
          <p:cNvSpPr/>
          <p:nvPr/>
        </p:nvSpPr>
        <p:spPr>
          <a:xfrm>
            <a:off x="960120" y="4905756"/>
            <a:ext cx="5989320" cy="0"/>
          </a:xfrm>
          <a:prstGeom prst="line">
            <a:avLst/>
          </a:prstGeom>
          <a:noFill/>
          <a:ln w="12700">
            <a:solidFill>
              <a:srgbClr val="E7E1DE"/>
            </a:solidFill>
            <a:prstDash val="solid"/>
          </a:ln>
        </p:spPr>
        <p:txBody>
          <a:bodyPr/>
          <a:lstStyle/>
          <a:p>
            <a:endParaRPr lang="es-419" noProof="0" dirty="0"/>
          </a:p>
        </p:txBody>
      </p:sp>
      <p:sp>
        <p:nvSpPr>
          <p:cNvPr id="25" name="Text 23"/>
          <p:cNvSpPr/>
          <p:nvPr/>
        </p:nvSpPr>
        <p:spPr>
          <a:xfrm>
            <a:off x="978408" y="4905756"/>
            <a:ext cx="3294126" cy="422910"/>
          </a:xfrm>
          <a:prstGeom prst="rect">
            <a:avLst/>
          </a:prstGeom>
          <a:noFill/>
          <a:ln/>
        </p:spPr>
        <p:txBody>
          <a:bodyPr wrap="square" lIns="0" tIns="0" rIns="0" bIns="0" rtlCol="0" anchor="ctr"/>
          <a:lstStyle/>
          <a:p>
            <a:pPr marL="0" indent="0" algn="l">
              <a:buNone/>
            </a:pPr>
            <a:r>
              <a:rPr lang="es-419" sz="1200" noProof="0">
                <a:solidFill>
                  <a:srgbClr val="4A423D"/>
                </a:solidFill>
                <a:latin typeface="Calibri" pitchFamily="34" charset="0"/>
                <a:ea typeface="Calibri" pitchFamily="34" charset="-122"/>
                <a:cs typeface="Calibri" pitchFamily="34" charset="-120"/>
              </a:rPr>
              <a:t>Control de sobrecostos</a:t>
            </a:r>
            <a:endParaRPr lang="es-419" sz="1200" noProof="0" dirty="0"/>
          </a:p>
        </p:txBody>
      </p:sp>
      <p:sp>
        <p:nvSpPr>
          <p:cNvPr id="26" name="Text 24"/>
          <p:cNvSpPr/>
          <p:nvPr/>
        </p:nvSpPr>
        <p:spPr>
          <a:xfrm>
            <a:off x="3973068" y="4905756"/>
            <a:ext cx="2994660" cy="422910"/>
          </a:xfrm>
          <a:prstGeom prst="rect">
            <a:avLst/>
          </a:prstGeom>
          <a:noFill/>
          <a:ln/>
        </p:spPr>
        <p:txBody>
          <a:bodyPr wrap="square" lIns="0" tIns="0" rIns="0" bIns="0" rtlCol="0" anchor="ctr"/>
          <a:lstStyle/>
          <a:p>
            <a:pPr marL="0" indent="0" algn="r">
              <a:buNone/>
            </a:pPr>
            <a:r>
              <a:rPr lang="es-419" sz="900" b="1" noProof="0">
                <a:solidFill>
                  <a:srgbClr val="ED1C29"/>
                </a:solidFill>
                <a:latin typeface="Trebuchet MS" pitchFamily="34" charset="0"/>
                <a:ea typeface="Trebuchet MS" pitchFamily="34" charset="-122"/>
                <a:cs typeface="Trebuchet MS" pitchFamily="34" charset="-120"/>
              </a:rPr>
              <a:t>Uso adicional controlado mediante políticas, presupuestos y límites configurados.</a:t>
            </a:r>
            <a:endParaRPr lang="es-419" sz="1200" noProof="0" dirty="0"/>
          </a:p>
        </p:txBody>
      </p:sp>
      <p:sp>
        <p:nvSpPr>
          <p:cNvPr id="27" name="row divider">
            <a:extLst>
              <a:ext uri="{C183D7F6-B498-43B3-948B-1728B52AA6E4}">
                <adec:decorative xmlns:adec="http://schemas.microsoft.com/office/drawing/2017/decorative" val="1"/>
              </a:ext>
            </a:extLst>
          </p:cNvPr>
          <p:cNvSpPr/>
          <p:nvPr/>
        </p:nvSpPr>
        <p:spPr>
          <a:xfrm>
            <a:off x="960120" y="5328666"/>
            <a:ext cx="5989320" cy="0"/>
          </a:xfrm>
          <a:prstGeom prst="line">
            <a:avLst/>
          </a:prstGeom>
          <a:noFill/>
          <a:ln w="12700">
            <a:solidFill>
              <a:srgbClr val="E7E1DE"/>
            </a:solidFill>
            <a:prstDash val="solid"/>
          </a:ln>
        </p:spPr>
        <p:txBody>
          <a:bodyPr/>
          <a:lstStyle/>
          <a:p>
            <a:endParaRPr lang="es-419" noProof="0" dirty="0"/>
          </a:p>
        </p:txBody>
      </p:sp>
      <p:sp>
        <p:nvSpPr>
          <p:cNvPr id="28" name="Text 26"/>
          <p:cNvSpPr/>
          <p:nvPr/>
        </p:nvSpPr>
        <p:spPr>
          <a:xfrm>
            <a:off x="978408" y="5361666"/>
            <a:ext cx="5989320" cy="292608"/>
          </a:xfrm>
          <a:prstGeom prst="rect">
            <a:avLst/>
          </a:prstGeom>
          <a:noFill/>
          <a:ln/>
        </p:spPr>
        <p:txBody>
          <a:bodyPr wrap="square" lIns="0" tIns="0" rIns="0" bIns="0" rtlCol="0" anchor="ctr"/>
          <a:lstStyle/>
          <a:p>
            <a:pPr marL="0" indent="0" algn="l">
              <a:buNone/>
            </a:pPr>
            <a:r>
              <a:rPr lang="es-419" sz="850" noProof="0">
                <a:solidFill>
                  <a:srgbClr val="6B615C"/>
                </a:solidFill>
                <a:latin typeface="Calibri" pitchFamily="34" charset="0"/>
                <a:ea typeface="Calibri" pitchFamily="34" charset="-122"/>
                <a:cs typeface="Calibri" pitchFamily="34" charset="-120"/>
              </a:rPr>
              <a:t>Pool estándar compartido para 70 licencias.</a:t>
            </a:r>
            <a:endParaRPr lang="es-419" sz="850" noProof="0"/>
          </a:p>
        </p:txBody>
      </p:sp>
      <p:sp>
        <p:nvSpPr>
          <p:cNvPr id="40" name="Text 38"/>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dirty="0">
                <a:solidFill>
                  <a:srgbClr val="211915"/>
                </a:solidFill>
                <a:latin typeface="Calibri" pitchFamily="34" charset="0"/>
                <a:ea typeface="Calibri" pitchFamily="34" charset="-122"/>
                <a:cs typeface="Calibri" pitchFamily="34" charset="-120"/>
              </a:rPr>
              <a:t>Tuya</a:t>
            </a:r>
            <a:r>
              <a:rPr lang="es-419" sz="850" noProof="0" dirty="0">
                <a:solidFill>
                  <a:srgbClr val="9C938D"/>
                </a:solidFill>
                <a:latin typeface="Calibri" pitchFamily="34" charset="0"/>
                <a:ea typeface="Calibri" pitchFamily="34" charset="-122"/>
                <a:cs typeface="Calibri" pitchFamily="34" charset="-120"/>
              </a:rPr>
              <a:t>   ·   GitHub </a:t>
            </a:r>
            <a:r>
              <a:rPr lang="es-419" sz="850" noProof="0" dirty="0" err="1">
                <a:solidFill>
                  <a:srgbClr val="9C938D"/>
                </a:solidFill>
                <a:latin typeface="Calibri" pitchFamily="34" charset="0"/>
                <a:ea typeface="Calibri" pitchFamily="34" charset="-122"/>
                <a:cs typeface="Calibri" pitchFamily="34" charset="-120"/>
              </a:rPr>
              <a:t>Copilot</a:t>
            </a:r>
            <a:r>
              <a:rPr lang="es-419" sz="850" noProof="0" dirty="0">
                <a:solidFill>
                  <a:srgbClr val="9C938D"/>
                </a:solidFill>
                <a:latin typeface="Calibri" pitchFamily="34" charset="0"/>
                <a:ea typeface="Calibri" pitchFamily="34" charset="-122"/>
                <a:cs typeface="Calibri" pitchFamily="34" charset="-120"/>
              </a:rPr>
              <a:t> - Resultados de la Prueba de Concepto</a:t>
            </a:r>
            <a:endParaRPr lang="es-419" sz="850" noProof="0" dirty="0"/>
          </a:p>
        </p:txBody>
      </p:sp>
      <p:sp>
        <p:nvSpPr>
          <p:cNvPr id="41" name="Text 39"/>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dirty="0">
                <a:solidFill>
                  <a:srgbClr val="ED1C29"/>
                </a:solidFill>
                <a:latin typeface="Trebuchet MS" pitchFamily="34" charset="0"/>
                <a:ea typeface="Trebuchet MS" pitchFamily="34" charset="-122"/>
                <a:cs typeface="Trebuchet MS" pitchFamily="34" charset="-120"/>
              </a:rPr>
              <a:t>06</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ED1C29"/>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a:solidFill>
                  <a:srgbClr val="ED1C29"/>
                </a:solidFill>
                <a:latin typeface="Trebuchet MS" pitchFamily="34" charset="0"/>
                <a:ea typeface="Trebuchet MS" pitchFamily="34" charset="-122"/>
                <a:cs typeface="Trebuchet MS" pitchFamily="34" charset="-120"/>
              </a:rPr>
              <a:t>CASO </a:t>
            </a:r>
            <a:r>
              <a:rPr lang="es-419" sz="1150" b="1" kern="0" spc="200" noProof="0" dirty="0">
                <a:solidFill>
                  <a:srgbClr val="ED1C29"/>
                </a:solidFill>
                <a:latin typeface="Trebuchet MS" pitchFamily="34" charset="0"/>
                <a:ea typeface="Trebuchet MS" pitchFamily="34" charset="-122"/>
                <a:cs typeface="Trebuchet MS" pitchFamily="34" charset="-120"/>
              </a:rPr>
              <a:t>DE </a:t>
            </a:r>
            <a:r>
              <a:rPr lang="es-419" sz="1150" b="1" kern="0" spc="200" noProof="0">
                <a:solidFill>
                  <a:srgbClr val="ED1C29"/>
                </a:solidFill>
                <a:latin typeface="Trebuchet MS" pitchFamily="34" charset="0"/>
                <a:ea typeface="Trebuchet MS" pitchFamily="34" charset="-122"/>
                <a:cs typeface="Trebuchet MS" pitchFamily="34" charset="-120"/>
              </a:rPr>
              <a:t>NEGOCIO</a:t>
            </a:r>
            <a:endParaRPr lang="es-419" sz="1150" noProof="0" dirty="0"/>
          </a:p>
        </p:txBody>
      </p:sp>
      <p:sp>
        <p:nvSpPr>
          <p:cNvPr id="4" name="Text 0"/>
          <p:cNvSpPr>
            <a:spLocks noGrp="1"/>
          </p:cNvSpPr>
          <p:nvPr>
            <p:ph type="title" idx="100" hasCustomPrompt="1"/>
          </p:nvPr>
        </p:nvSpPr>
        <p:spPr>
          <a:xfrm>
            <a:off x="685800" y="658368"/>
            <a:ext cx="10789920" cy="475488"/>
          </a:xfrm>
          <a:prstGeom prst="rect">
            <a:avLst/>
          </a:prstGeom>
          <a:noFill/>
          <a:ln/>
        </p:spPr>
        <p:txBody>
          <a:bodyPr wrap="square" lIns="0" tIns="0" rIns="0" bIns="0" rtlCol="0" anchor="t"/>
          <a:lstStyle/>
          <a:p>
            <a:pPr marL="0" indent="0" algn="l">
              <a:buNone/>
            </a:pPr>
            <a:r>
              <a:rPr lang="es-419" sz="2700" b="1" noProof="0">
                <a:solidFill>
                  <a:srgbClr val="211915"/>
                </a:solidFill>
                <a:latin typeface="Trebuchet MS" pitchFamily="34" charset="0"/>
                <a:ea typeface="Trebuchet MS" pitchFamily="34" charset="-122"/>
                <a:cs typeface="Trebuchet MS" pitchFamily="34" charset="-120"/>
              </a:rPr>
              <a:t>Punto de equilibrio </a:t>
            </a:r>
            <a:r>
              <a:rPr lang="es-419" sz="2700" b="1" noProof="0" dirty="0">
                <a:solidFill>
                  <a:srgbClr val="211915"/>
                </a:solidFill>
                <a:latin typeface="Trebuchet MS" pitchFamily="34" charset="0"/>
                <a:ea typeface="Trebuchet MS" pitchFamily="34" charset="-122"/>
                <a:cs typeface="Trebuchet MS" pitchFamily="34" charset="-120"/>
              </a:rPr>
              <a:t>de </a:t>
            </a:r>
            <a:r>
              <a:rPr lang="es-419" sz="2700" b="1" noProof="0">
                <a:solidFill>
                  <a:srgbClr val="211915"/>
                </a:solidFill>
                <a:latin typeface="Trebuchet MS" pitchFamily="34" charset="0"/>
                <a:ea typeface="Trebuchet MS" pitchFamily="34" charset="-122"/>
                <a:cs typeface="Trebuchet MS" pitchFamily="34" charset="-120"/>
              </a:rPr>
              <a:t>la inversión</a:t>
            </a:r>
            <a:endParaRPr lang="es-419" sz="2700" noProof="0" dirty="0"/>
          </a:p>
        </p:txBody>
      </p:sp>
      <p:sp>
        <p:nvSpPr>
          <p:cNvPr id="5" name="Subtitle">
            <a:extLst>
              <a:ext uri="{C183D7F6-B498-43B3-948B-1728B52AA6E4}">
                <adec:decorative xmlns:adec="http://schemas.microsoft.com/office/drawing/2017/decorative" val="1"/>
              </a:ext>
            </a:extLst>
          </p:cNvPr>
          <p:cNvSpPr/>
          <p:nvPr/>
        </p:nvSpPr>
        <p:spPr>
          <a:xfrm>
            <a:off x="685800" y="1188720"/>
            <a:ext cx="10789920" cy="292608"/>
          </a:xfrm>
          <a:prstGeom prst="rect">
            <a:avLst/>
          </a:prstGeom>
          <a:noFill/>
          <a:ln/>
        </p:spPr>
        <p:txBody>
          <a:bodyPr wrap="square" lIns="0" tIns="0" rIns="0" bIns="0" rtlCol="0" anchor="ctr"/>
          <a:lstStyle/>
          <a:p>
            <a:pPr marL="0" indent="0" algn="l">
              <a:buNone/>
            </a:pPr>
            <a:r>
              <a:rPr lang="es-419" sz="1400" noProof="0">
                <a:solidFill>
                  <a:srgbClr val="6B615C"/>
                </a:solidFill>
                <a:latin typeface="Calibri" pitchFamily="34" charset="0"/>
                <a:ea typeface="Calibri" pitchFamily="34" charset="-122"/>
                <a:cs typeface="Calibri" pitchFamily="34" charset="-120"/>
              </a:rPr>
              <a:t>Horas de desarrollo que debe liberar Copilot para compensar el costo mensual</a:t>
            </a:r>
            <a:endParaRPr lang="es-419" sz="1400" noProof="0"/>
          </a:p>
        </p:txBody>
      </p:sp>
      <p:sp>
        <p:nvSpPr>
          <p:cNvPr id="10" name="card inversion">
            <a:extLst>
              <a:ext uri="{C183D7F6-B498-43B3-948B-1728B52AA6E4}">
                <adec:decorative xmlns:adec="http://schemas.microsoft.com/office/drawing/2017/decorative" val="1"/>
              </a:ext>
            </a:extLst>
          </p:cNvPr>
          <p:cNvSpPr/>
          <p:nvPr/>
        </p:nvSpPr>
        <p:spPr>
          <a:xfrm>
            <a:off x="685800" y="1600000"/>
            <a:ext cx="5240000" cy="11400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a:p>
        </p:txBody>
      </p:sp>
      <p:sp>
        <p:nvSpPr>
          <p:cNvPr id="11" name="Text inversion"/>
          <p:cNvSpPr/>
          <p:nvPr/>
        </p:nvSpPr>
        <p:spPr>
          <a:xfrm>
            <a:off x="925800" y="1720000"/>
            <a:ext cx="4760000" cy="900000"/>
          </a:xfrm>
          <a:prstGeom prst="rect">
            <a:avLst/>
          </a:prstGeom>
          <a:noFill/>
          <a:ln/>
        </p:spPr>
        <p:txBody>
          <a:bodyPr wrap="square" lIns="0" tIns="0" rIns="0" bIns="0" rtlCol="0" anchor="t"/>
          <a:lstStyle/>
          <a:p>
            <a:pPr marL="0" indent="0" algn="l">
              <a:buNone/>
            </a:pPr>
            <a:r>
              <a:rPr lang="es-419" sz="1050" b="1" kern="0" spc="150" noProof="0">
                <a:solidFill>
                  <a:srgbClr val="ED1C29"/>
                </a:solidFill>
                <a:latin typeface="Trebuchet MS" pitchFamily="34" charset="0"/>
                <a:ea typeface="Trebuchet MS" pitchFamily="34" charset="-122"/>
                <a:cs typeface="Trebuchet MS" pitchFamily="34" charset="-120"/>
              </a:rPr>
              <a:t>INVERSIÓN MENSUAL</a:t>
            </a:r>
          </a:p>
          <a:p>
            <a:pPr marL="0" indent="0" algn="l">
              <a:spcBef>
                <a:spcPts val="700"/>
              </a:spcBef>
              <a:buNone/>
            </a:pPr>
            <a:r>
              <a:rPr lang="es-419" sz="1050" noProof="0">
                <a:solidFill>
                  <a:srgbClr val="6B615C"/>
                </a:solidFill>
                <a:latin typeface="Calibri" pitchFamily="34" charset="0"/>
                <a:ea typeface="Calibri" pitchFamily="34" charset="-122"/>
                <a:cs typeface="Calibri" pitchFamily="34" charset="-120"/>
              </a:rPr>
              <a:t>Usuarios objetivo:  </a:t>
            </a:r>
            <a:r>
              <a:rPr lang="es-419" sz="1050" b="1" noProof="0">
                <a:solidFill>
                  <a:srgbClr val="211915"/>
                </a:solidFill>
                <a:latin typeface="Calibri" pitchFamily="34" charset="0"/>
                <a:ea typeface="Calibri" pitchFamily="34" charset="-122"/>
                <a:cs typeface="Calibri" pitchFamily="34" charset="-120"/>
              </a:rPr>
              <a:t>70 desarrolladores</a:t>
            </a:r>
          </a:p>
          <a:p>
            <a:pPr marL="0" indent="0" algn="l">
              <a:spcBef>
                <a:spcPts val="300"/>
              </a:spcBef>
              <a:buNone/>
            </a:pPr>
            <a:r>
              <a:rPr lang="es-419" sz="1050" noProof="0">
                <a:solidFill>
                  <a:srgbClr val="6B615C"/>
                </a:solidFill>
                <a:latin typeface="Calibri" pitchFamily="34" charset="0"/>
                <a:ea typeface="Calibri" pitchFamily="34" charset="-122"/>
                <a:cs typeface="Calibri" pitchFamily="34" charset="-120"/>
              </a:rPr>
              <a:t>Plan:  </a:t>
            </a:r>
            <a:r>
              <a:rPr lang="es-419" sz="1050" b="1" noProof="0">
                <a:solidFill>
                  <a:srgbClr val="211915"/>
                </a:solidFill>
                <a:latin typeface="Calibri" pitchFamily="34" charset="0"/>
                <a:ea typeface="Calibri" pitchFamily="34" charset="-122"/>
                <a:cs typeface="Calibri" pitchFamily="34" charset="-120"/>
              </a:rPr>
              <a:t>GitHub Copilot Business</a:t>
            </a:r>
          </a:p>
          <a:p>
            <a:pPr marL="0" indent="0" algn="l">
              <a:spcBef>
                <a:spcPts val="300"/>
              </a:spcBef>
              <a:buNone/>
            </a:pPr>
            <a:r>
              <a:rPr lang="es-419" sz="1050" noProof="0">
                <a:solidFill>
                  <a:srgbClr val="6B615C"/>
                </a:solidFill>
                <a:latin typeface="Calibri" pitchFamily="34" charset="0"/>
                <a:ea typeface="Calibri" pitchFamily="34" charset="-122"/>
                <a:cs typeface="Calibri" pitchFamily="34" charset="-120"/>
              </a:rPr>
              <a:t>Costo mensual base:  </a:t>
            </a:r>
            <a:r>
              <a:rPr lang="es-419" sz="1200" b="1" noProof="0">
                <a:solidFill>
                  <a:srgbClr val="ED1C29"/>
                </a:solidFill>
                <a:latin typeface="Trebuchet MS" pitchFamily="34" charset="0"/>
                <a:ea typeface="Trebuchet MS" pitchFamily="34" charset="-122"/>
                <a:cs typeface="Trebuchet MS" pitchFamily="34" charset="-120"/>
              </a:rPr>
              <a:t>USD 1.330 / mes</a:t>
            </a:r>
          </a:p>
        </p:txBody>
      </p:sp>
      <p:sp>
        <p:nvSpPr>
          <p:cNvPr id="12" name="card valor">
            <a:extLst>
              <a:ext uri="{C183D7F6-B498-43B3-948B-1728B52AA6E4}">
                <adec:decorative xmlns:adec="http://schemas.microsoft.com/office/drawing/2017/decorative" val="1"/>
              </a:ext>
            </a:extLst>
          </p:cNvPr>
          <p:cNvSpPr/>
          <p:nvPr/>
        </p:nvSpPr>
        <p:spPr>
          <a:xfrm>
            <a:off x="685800" y="2820000"/>
            <a:ext cx="5240000" cy="12000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3" name="Text valor"/>
          <p:cNvSpPr/>
          <p:nvPr/>
        </p:nvSpPr>
        <p:spPr>
          <a:xfrm>
            <a:off x="925800" y="2940000"/>
            <a:ext cx="4760000" cy="960000"/>
          </a:xfrm>
          <a:prstGeom prst="rect">
            <a:avLst/>
          </a:prstGeom>
          <a:noFill/>
          <a:ln/>
        </p:spPr>
        <p:txBody>
          <a:bodyPr wrap="square" lIns="0" tIns="0" rIns="0" bIns="0" rtlCol="0" anchor="t"/>
          <a:lstStyle/>
          <a:p>
            <a:pPr marL="0" indent="0" algn="l">
              <a:buNone/>
            </a:pPr>
            <a:r>
              <a:rPr lang="es-419" sz="1050" b="1" kern="0" spc="150" noProof="0">
                <a:solidFill>
                  <a:srgbClr val="ED1C29"/>
                </a:solidFill>
                <a:latin typeface="Trebuchet MS" pitchFamily="34" charset="0"/>
                <a:ea typeface="Trebuchet MS" pitchFamily="34" charset="-122"/>
                <a:cs typeface="Trebuchet MS" pitchFamily="34" charset="-120"/>
              </a:rPr>
              <a:t>VALOR ECONÓMICO DE LA CAPACIDAD</a:t>
            </a:r>
          </a:p>
          <a:p>
            <a:pPr marL="0" indent="0" algn="l">
              <a:spcBef>
                <a:spcPts val="600"/>
              </a:spcBef>
              <a:buNone/>
            </a:pPr>
            <a:r>
              <a:rPr lang="es-419" sz="1700" b="1" noProof="0">
                <a:solidFill>
                  <a:srgbClr val="211915"/>
                </a:solidFill>
                <a:latin typeface="Trebuchet MS" pitchFamily="34" charset="0"/>
                <a:ea typeface="Trebuchet MS" pitchFamily="34" charset="-122"/>
                <a:cs typeface="Trebuchet MS" pitchFamily="34" charset="-120"/>
              </a:rPr>
              <a:t>≈ COP 95 mil – 140 mil / hora</a:t>
            </a:r>
          </a:p>
          <a:p>
            <a:pPr marL="0" indent="0" algn="l">
              <a:spcBef>
                <a:spcPts val="400"/>
              </a:spcBef>
              <a:buNone/>
            </a:pPr>
            <a:r>
              <a:rPr lang="es-419" sz="900" noProof="0">
                <a:solidFill>
                  <a:srgbClr val="6B615C"/>
                </a:solidFill>
                <a:latin typeface="Calibri" pitchFamily="34" charset="0"/>
                <a:ea typeface="Calibri" pitchFamily="34" charset="-122"/>
                <a:cs typeface="Calibri" pitchFamily="34" charset="-120"/>
              </a:rPr>
              <a:t>Valor estimado de una hora de capacidad de desarrollo, calculado a partir de rangos agregados de tarifas internas de referencia.</a:t>
            </a:r>
          </a:p>
        </p:txBody>
      </p:sp>
      <p:sp>
        <p:nvSpPr>
          <p:cNvPr id="14" name="card exec">
            <a:extLst>
              <a:ext uri="{C183D7F6-B498-43B3-948B-1728B52AA6E4}">
                <adec:decorative xmlns:adec="http://schemas.microsoft.com/office/drawing/2017/decorative" val="1"/>
              </a:ext>
            </a:extLst>
          </p:cNvPr>
          <p:cNvSpPr/>
          <p:nvPr/>
        </p:nvSpPr>
        <p:spPr>
          <a:xfrm>
            <a:off x="685800" y="4100000"/>
            <a:ext cx="5240000" cy="1250000"/>
          </a:xfrm>
          <a:prstGeom prst="rect">
            <a:avLst/>
          </a:prstGeom>
          <a:solidFill>
            <a:srgbClr val="FCE7E8"/>
          </a:solidFill>
          <a:ln w="12700">
            <a:solidFill>
              <a:srgbClr val="F3C9CC"/>
            </a:solidFill>
            <a:prstDash val="solid"/>
          </a:ln>
        </p:spPr>
        <p:txBody>
          <a:bodyPr/>
          <a:lstStyle/>
          <a:p>
            <a:endParaRPr lang="es-419" noProof="0"/>
          </a:p>
        </p:txBody>
      </p:sp>
      <p:sp>
        <p:nvSpPr>
          <p:cNvPr id="15" name="Text exec">
            <a:extLst>
              <a:ext uri="{C183D7F6-B498-43B3-948B-1728B52AA6E4}">
                <adec:decorative xmlns:adec="http://schemas.microsoft.com/office/drawing/2017/decorative" val="1"/>
              </a:ext>
            </a:extLst>
          </p:cNvPr>
          <p:cNvSpPr/>
          <p:nvPr/>
        </p:nvSpPr>
        <p:spPr>
          <a:xfrm>
            <a:off x="925800" y="4220000"/>
            <a:ext cx="4760000" cy="1010000"/>
          </a:xfrm>
          <a:prstGeom prst="rect">
            <a:avLst/>
          </a:prstGeom>
          <a:noFill/>
          <a:ln/>
        </p:spPr>
        <p:txBody>
          <a:bodyPr wrap="square" lIns="0" tIns="0" rIns="0" bIns="0" rtlCol="0" anchor="t"/>
          <a:lstStyle/>
          <a:p>
            <a:pPr marL="0" indent="0" algn="l">
              <a:buNone/>
            </a:pPr>
            <a:r>
              <a:rPr lang="es-419" sz="1000" b="1" kern="0" spc="150" noProof="0">
                <a:solidFill>
                  <a:srgbClr val="BE121C"/>
                </a:solidFill>
                <a:latin typeface="Trebuchet MS" pitchFamily="34" charset="0"/>
                <a:ea typeface="Trebuchet MS" pitchFamily="34" charset="-122"/>
                <a:cs typeface="Trebuchet MS" pitchFamily="34" charset="-120"/>
              </a:rPr>
              <a:t>MENSAJE EJECUTIVO</a:t>
            </a:r>
          </a:p>
          <a:p>
            <a:pPr marL="0" indent="0" algn="l">
              <a:spcBef>
                <a:spcPts val="500"/>
              </a:spcBef>
              <a:buNone/>
            </a:pPr>
            <a:r>
              <a:rPr lang="es-419" sz="900" noProof="0">
                <a:solidFill>
                  <a:srgbClr val="211915"/>
                </a:solidFill>
                <a:latin typeface="Calibri" pitchFamily="34" charset="0"/>
                <a:ea typeface="Calibri" pitchFamily="34" charset="-122"/>
                <a:cs typeface="Calibri" pitchFamily="34" charset="-120"/>
              </a:rPr>
              <a:t>El beneficio no depende de realizar migraciones todos los meses. Las horas liberadas pueden provenir de cualquier actividad de desarrollo asistida por Copilot: generación de código, pruebas, refactorización, documentación, análisis, corrección de errores, desarrollos desde cero o modernización tecnológica.</a:t>
            </a:r>
          </a:p>
        </p:txBody>
      </p:sp>
      <p:sp>
        <p:nvSpPr>
          <p:cNvPr id="16" name="Text ai credits"/>
          <p:cNvSpPr/>
          <p:nvPr/>
        </p:nvSpPr>
        <p:spPr>
          <a:xfrm>
            <a:off x="685800" y="5470000"/>
            <a:ext cx="5240000" cy="820000"/>
          </a:xfrm>
          <a:prstGeom prst="rect">
            <a:avLst/>
          </a:prstGeom>
          <a:noFill/>
          <a:ln/>
        </p:spPr>
        <p:txBody>
          <a:bodyPr wrap="square" lIns="0" tIns="0" rIns="0" bIns="0" rtlCol="0" anchor="t"/>
          <a:lstStyle/>
          <a:p>
            <a:pPr marL="0" indent="0" algn="l">
              <a:buNone/>
            </a:pPr>
            <a:r>
              <a:rPr lang="es-419" sz="800" b="1" kern="0" spc="150" noProof="0">
                <a:solidFill>
                  <a:srgbClr val="9C938D"/>
                </a:solidFill>
                <a:latin typeface="Calibri" pitchFamily="34" charset="0"/>
                <a:ea typeface="Calibri" pitchFamily="34" charset="-122"/>
                <a:cs typeface="Calibri" pitchFamily="34" charset="-120"/>
              </a:rPr>
              <a:t>AI CREDITS</a:t>
            </a:r>
          </a:p>
          <a:p>
            <a:pPr marL="0" indent="0" algn="l">
              <a:spcBef>
                <a:spcPts val="300"/>
              </a:spcBef>
              <a:buNone/>
            </a:pPr>
            <a:r>
              <a:rPr lang="es-419" sz="800" noProof="0">
                <a:solidFill>
                  <a:srgbClr val="6B615C"/>
                </a:solidFill>
                <a:latin typeface="Calibri" pitchFamily="34" charset="0"/>
                <a:ea typeface="Calibri" pitchFamily="34" charset="-122"/>
                <a:cs typeface="Calibri" pitchFamily="34" charset="-120"/>
              </a:rPr>
              <a:t>El consumo de AI Credits será administrado mediante el pool incluido y controles presupuestales. Su seguimiento pertenece al modelo de gobierno de la solución, no al cálculo del beneficio por productividad.</a:t>
            </a:r>
          </a:p>
        </p:txBody>
      </p:sp>
      <p:sp>
        <p:nvSpPr>
          <p:cNvPr id="20" name="hero card">
            <a:extLst>
              <a:ext uri="{C183D7F6-B498-43B3-948B-1728B52AA6E4}">
                <adec:decorative xmlns:adec="http://schemas.microsoft.com/office/drawing/2017/decorative" val="1"/>
              </a:ext>
            </a:extLst>
          </p:cNvPr>
          <p:cNvSpPr/>
          <p:nvPr/>
        </p:nvSpPr>
        <p:spPr>
          <a:xfrm>
            <a:off x="6200120" y="1600000"/>
            <a:ext cx="5303032" cy="1740000"/>
          </a:xfrm>
          <a:prstGeom prst="rect">
            <a:avLst/>
          </a:prstGeom>
          <a:solidFill>
            <a:srgbClr val="ED1C29"/>
          </a:solidFill>
          <a:ln/>
          <a:effectLst>
            <a:outerShdw blurRad="114300" dist="38100" dir="5400000" algn="bl" rotWithShape="0">
              <a:srgbClr val="6B615C">
                <a:alpha val="12000"/>
              </a:srgbClr>
            </a:outerShdw>
          </a:effectLst>
        </p:spPr>
        <p:txBody>
          <a:bodyPr/>
          <a:lstStyle/>
          <a:p>
            <a:endParaRPr lang="es-419" noProof="0"/>
          </a:p>
        </p:txBody>
      </p:sp>
      <p:sp>
        <p:nvSpPr>
          <p:cNvPr id="21" name="Text hero">
            <a:extLst>
              <a:ext uri="{C183D7F6-B498-43B3-948B-1728B52AA6E4}">
                <adec:decorative xmlns:adec="http://schemas.microsoft.com/office/drawing/2017/decorative" val="1"/>
              </a:ext>
            </a:extLst>
          </p:cNvPr>
          <p:cNvSpPr/>
          <p:nvPr/>
        </p:nvSpPr>
        <p:spPr>
          <a:xfrm>
            <a:off x="6440120" y="1720000"/>
            <a:ext cx="4823032" cy="1500000"/>
          </a:xfrm>
          <a:prstGeom prst="rect">
            <a:avLst/>
          </a:prstGeom>
          <a:noFill/>
          <a:ln/>
        </p:spPr>
        <p:txBody>
          <a:bodyPr wrap="square" lIns="0" tIns="0" rIns="0" bIns="0" rtlCol="0" anchor="t"/>
          <a:lstStyle/>
          <a:p>
            <a:pPr marL="0" indent="0" algn="l">
              <a:buNone/>
            </a:pPr>
            <a:r>
              <a:rPr lang="es-419" sz="1100" b="1" kern="0" spc="200" noProof="0">
                <a:solidFill>
                  <a:srgbClr val="FFFFFF"/>
                </a:solidFill>
                <a:latin typeface="Trebuchet MS" pitchFamily="34" charset="0"/>
                <a:ea typeface="Trebuchet MS" pitchFamily="34" charset="-122"/>
                <a:cs typeface="Trebuchet MS" pitchFamily="34" charset="-120"/>
              </a:rPr>
              <a:t>PUNTO DE EQUILIBRIO</a:t>
            </a:r>
          </a:p>
          <a:p>
            <a:pPr marL="0" indent="0" algn="l">
              <a:spcBef>
                <a:spcPts val="500"/>
              </a:spcBef>
              <a:buNone/>
            </a:pPr>
            <a:r>
              <a:rPr lang="es-419" sz="2400" b="1" noProof="0">
                <a:solidFill>
                  <a:srgbClr val="FFFFFF"/>
                </a:solidFill>
                <a:latin typeface="Trebuchet MS" pitchFamily="34" charset="0"/>
                <a:ea typeface="Trebuchet MS" pitchFamily="34" charset="-122"/>
                <a:cs typeface="Trebuchet MS" pitchFamily="34" charset="-120"/>
              </a:rPr>
              <a:t>≈ 30 – 45 horas liberadas / mes</a:t>
            </a:r>
          </a:p>
          <a:p>
            <a:pPr marL="0" indent="0" algn="l">
              <a:spcBef>
                <a:spcPts val="500"/>
              </a:spcBef>
              <a:buNone/>
            </a:pPr>
            <a:r>
              <a:rPr lang="es-419" sz="1000" noProof="0">
                <a:solidFill>
                  <a:srgbClr val="FBE0E2"/>
                </a:solidFill>
                <a:latin typeface="Calibri" pitchFamily="34" charset="0"/>
                <a:ea typeface="Calibri" pitchFamily="34" charset="-122"/>
                <a:cs typeface="Calibri" pitchFamily="34" charset="-120"/>
              </a:rPr>
              <a:t>Punto de equilibrio aproximado: entre 30 y 45 horas de capacidad de desarrollo liberadas al mes, sujeto al valor hora de referencia y a la tasa de cambio.</a:t>
            </a:r>
          </a:p>
          <a:p>
            <a:pPr marL="0" indent="0" algn="l">
              <a:spcBef>
                <a:spcPts val="400"/>
              </a:spcBef>
              <a:buNone/>
            </a:pPr>
            <a:r>
              <a:rPr lang="es-419" sz="1100" b="1" noProof="0">
                <a:solidFill>
                  <a:srgbClr val="FFFFFF"/>
                </a:solidFill>
                <a:latin typeface="Calibri" pitchFamily="34" charset="0"/>
                <a:ea typeface="Calibri" pitchFamily="34" charset="-122"/>
                <a:cs typeface="Calibri" pitchFamily="34" charset="-120"/>
              </a:rPr>
              <a:t>Equivale a menos de 40 minutos por desarrollador al mes.</a:t>
            </a:r>
          </a:p>
          <a:p>
            <a:pPr marL="0" indent="0" algn="l">
              <a:spcBef>
                <a:spcPts val="400"/>
              </a:spcBef>
              <a:buNone/>
            </a:pPr>
            <a:r>
              <a:rPr lang="es-419" sz="800" i="1" noProof="0">
                <a:solidFill>
                  <a:srgbClr val="FBE0E2"/>
                </a:solidFill>
                <a:latin typeface="Calibri" pitchFamily="34" charset="0"/>
                <a:ea typeface="Calibri" pitchFamily="34" charset="-122"/>
                <a:cs typeface="Calibri" pitchFamily="34" charset="-120"/>
              </a:rPr>
              <a:t>El cálculo utiliza el costo mensual del licenciamiento expresado en USD y un rango agregado de valor hora expresado en COP; por lo tanto, el punto de equilibrio puede variar según la tasa de cambio.</a:t>
            </a:r>
          </a:p>
        </p:txBody>
      </p:sp>
      <p:sp>
        <p:nvSpPr>
          <p:cNvPr id="22" name="sens card">
            <a:extLst>
              <a:ext uri="{C183D7F6-B498-43B3-948B-1728B52AA6E4}">
                <adec:decorative xmlns:adec="http://schemas.microsoft.com/office/drawing/2017/decorative" val="1"/>
              </a:ext>
            </a:extLst>
          </p:cNvPr>
          <p:cNvSpPr/>
          <p:nvPr/>
        </p:nvSpPr>
        <p:spPr>
          <a:xfrm>
            <a:off x="6200120" y="3420000"/>
            <a:ext cx="5303032" cy="15600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a:p>
        </p:txBody>
      </p:sp>
      <p:sp>
        <p:nvSpPr>
          <p:cNvPr id="23" name="Text sens"/>
          <p:cNvSpPr/>
          <p:nvPr/>
        </p:nvSpPr>
        <p:spPr>
          <a:xfrm>
            <a:off x="6440120" y="3540000"/>
            <a:ext cx="4823032" cy="1320000"/>
          </a:xfrm>
          <a:prstGeom prst="rect">
            <a:avLst/>
          </a:prstGeom>
          <a:noFill/>
          <a:ln/>
        </p:spPr>
        <p:txBody>
          <a:bodyPr wrap="square" lIns="0" tIns="0" rIns="0" bIns="0" rtlCol="0" anchor="t"/>
          <a:lstStyle/>
          <a:p>
            <a:pPr marL="0" indent="0" algn="l">
              <a:buNone/>
            </a:pPr>
            <a:r>
              <a:rPr lang="es-419" sz="1050" b="1" kern="0" spc="150" noProof="0">
                <a:solidFill>
                  <a:srgbClr val="ED1C29"/>
                </a:solidFill>
                <a:latin typeface="Trebuchet MS" pitchFamily="34" charset="0"/>
                <a:ea typeface="Trebuchet MS" pitchFamily="34" charset="-122"/>
                <a:cs typeface="Trebuchet MS" pitchFamily="34" charset="-120"/>
              </a:rPr>
              <a:t>ESCENARIOS DE SENSIBILIDAD</a:t>
            </a:r>
          </a:p>
          <a:p>
            <a:pPr marL="0" indent="0" algn="l">
              <a:spcBef>
                <a:spcPts val="500"/>
              </a:spcBef>
              <a:buNone/>
            </a:pPr>
            <a:r>
              <a:rPr lang="es-419" sz="1050" b="1" noProof="0">
                <a:solidFill>
                  <a:srgbClr val="9C938D"/>
                </a:solidFill>
                <a:latin typeface="Trebuchet MS" pitchFamily="34" charset="0"/>
                <a:ea typeface="Trebuchet MS" pitchFamily="34" charset="-122"/>
                <a:cs typeface="Trebuchet MS" pitchFamily="34" charset="-120"/>
              </a:rPr>
              <a:t>25 h / mes  </a:t>
            </a:r>
            <a:r>
              <a:rPr lang="es-419" sz="1000" noProof="0">
                <a:solidFill>
                  <a:srgbClr val="6B615C"/>
                </a:solidFill>
                <a:latin typeface="Calibri" pitchFamily="34" charset="0"/>
                <a:ea typeface="Calibri" pitchFamily="34" charset="-122"/>
                <a:cs typeface="Calibri" pitchFamily="34" charset="-120"/>
              </a:rPr>
              <a:t>·  Por debajo del punto de equilibrio</a:t>
            </a:r>
          </a:p>
          <a:p>
            <a:pPr marL="0" indent="0" algn="l">
              <a:spcBef>
                <a:spcPts val="300"/>
              </a:spcBef>
              <a:buNone/>
            </a:pPr>
            <a:r>
              <a:rPr lang="es-419" sz="1050" b="1" noProof="0">
                <a:solidFill>
                  <a:srgbClr val="ED1C29"/>
                </a:solidFill>
                <a:latin typeface="Trebuchet MS" pitchFamily="34" charset="0"/>
                <a:ea typeface="Trebuchet MS" pitchFamily="34" charset="-122"/>
                <a:cs typeface="Trebuchet MS" pitchFamily="34" charset="-120"/>
              </a:rPr>
              <a:t>50 h / mes  </a:t>
            </a:r>
            <a:r>
              <a:rPr lang="es-419" sz="1000" noProof="0">
                <a:solidFill>
                  <a:srgbClr val="211915"/>
                </a:solidFill>
                <a:latin typeface="Calibri" pitchFamily="34" charset="0"/>
                <a:ea typeface="Calibri" pitchFamily="34" charset="-122"/>
                <a:cs typeface="Calibri" pitchFamily="34" charset="-120"/>
              </a:rPr>
              <a:t>·  ROI positivo aprox.: 10 % – 60 %</a:t>
            </a:r>
          </a:p>
          <a:p>
            <a:pPr marL="0" indent="0" algn="l">
              <a:spcBef>
                <a:spcPts val="300"/>
              </a:spcBef>
              <a:buNone/>
            </a:pPr>
            <a:r>
              <a:rPr lang="es-419" sz="1050" b="1" noProof="0">
                <a:solidFill>
                  <a:srgbClr val="ED1C29"/>
                </a:solidFill>
                <a:latin typeface="Trebuchet MS" pitchFamily="34" charset="0"/>
                <a:ea typeface="Trebuchet MS" pitchFamily="34" charset="-122"/>
                <a:cs typeface="Trebuchet MS" pitchFamily="34" charset="-120"/>
              </a:rPr>
              <a:t>100 h / mes  </a:t>
            </a:r>
            <a:r>
              <a:rPr lang="es-419" sz="1000" noProof="0">
                <a:solidFill>
                  <a:srgbClr val="211915"/>
                </a:solidFill>
                <a:latin typeface="Calibri" pitchFamily="34" charset="0"/>
                <a:ea typeface="Calibri" pitchFamily="34" charset="-122"/>
                <a:cs typeface="Calibri" pitchFamily="34" charset="-120"/>
              </a:rPr>
              <a:t>·  ROI aprox.: 120 % – 220 %</a:t>
            </a:r>
          </a:p>
          <a:p>
            <a:pPr marL="0" indent="0" algn="l">
              <a:spcBef>
                <a:spcPts val="300"/>
              </a:spcBef>
              <a:buNone/>
            </a:pPr>
            <a:r>
              <a:rPr lang="es-419" sz="1050" b="1" noProof="0">
                <a:solidFill>
                  <a:srgbClr val="ED1C29"/>
                </a:solidFill>
                <a:latin typeface="Trebuchet MS" pitchFamily="34" charset="0"/>
                <a:ea typeface="Trebuchet MS" pitchFamily="34" charset="-122"/>
                <a:cs typeface="Trebuchet MS" pitchFamily="34" charset="-120"/>
              </a:rPr>
              <a:t>200 h / mes  </a:t>
            </a:r>
            <a:r>
              <a:rPr lang="es-419" sz="1000" noProof="0">
                <a:solidFill>
                  <a:srgbClr val="211915"/>
                </a:solidFill>
                <a:latin typeface="Calibri" pitchFamily="34" charset="0"/>
                <a:ea typeface="Calibri" pitchFamily="34" charset="-122"/>
                <a:cs typeface="Calibri" pitchFamily="34" charset="-120"/>
              </a:rPr>
              <a:t>·  ROI aprox.: 340 % – 540 %</a:t>
            </a:r>
          </a:p>
          <a:p>
            <a:pPr marL="0" indent="0" algn="l">
              <a:spcBef>
                <a:spcPts val="400"/>
              </a:spcBef>
              <a:buNone/>
            </a:pPr>
            <a:r>
              <a:rPr lang="es-419" sz="800" i="1" noProof="0">
                <a:solidFill>
                  <a:srgbClr val="9C938D"/>
                </a:solidFill>
                <a:latin typeface="Calibri" pitchFamily="34" charset="0"/>
                <a:ea typeface="Calibri" pitchFamily="34" charset="-122"/>
                <a:cs typeface="Calibri" pitchFamily="34" charset="-120"/>
              </a:rPr>
              <a:t>Escenarios ilustrativos. El ROI real dependerá de las horas efectivamente liberadas por el uso de IA. Escenarios aproximados sujetos al valor hora de referencia y a la tasa de cambio utilizada.</a:t>
            </a:r>
          </a:p>
        </p:txBody>
      </p:sp>
      <p:sp>
        <p:nvSpPr>
          <p:cNvPr id="24" name="Text metodologica">
            <a:extLst>
              <a:ext uri="{C183D7F6-B498-43B3-948B-1728B52AA6E4}">
                <adec:decorative xmlns:adec="http://schemas.microsoft.com/office/drawing/2017/decorative" val="1"/>
              </a:ext>
            </a:extLst>
          </p:cNvPr>
          <p:cNvSpPr/>
          <p:nvPr/>
        </p:nvSpPr>
        <p:spPr>
          <a:xfrm>
            <a:off x="6200120" y="5060000"/>
            <a:ext cx="5303032" cy="1230000"/>
          </a:xfrm>
          <a:prstGeom prst="rect">
            <a:avLst/>
          </a:prstGeom>
          <a:noFill/>
          <a:ln/>
        </p:spPr>
        <p:txBody>
          <a:bodyPr wrap="square" lIns="0" tIns="0" rIns="0" bIns="0" rtlCol="0" anchor="t"/>
          <a:lstStyle/>
          <a:p>
            <a:pPr marL="0" indent="0" algn="l">
              <a:buNone/>
            </a:pPr>
            <a:r>
              <a:rPr lang="es-419" sz="800" b="1" kern="0" spc="150" noProof="0">
                <a:solidFill>
                  <a:srgbClr val="9C938D"/>
                </a:solidFill>
                <a:latin typeface="Calibri" pitchFamily="34" charset="0"/>
                <a:ea typeface="Calibri" pitchFamily="34" charset="-122"/>
                <a:cs typeface="Calibri" pitchFamily="34" charset="-120"/>
              </a:rPr>
              <a:t>NOTA METODOLÓGICA</a:t>
            </a:r>
          </a:p>
          <a:p>
            <a:pPr marL="0" indent="0" algn="l">
              <a:spcBef>
                <a:spcPts val="300"/>
              </a:spcBef>
              <a:buNone/>
            </a:pPr>
            <a:r>
              <a:rPr lang="es-419" sz="800" noProof="0">
                <a:solidFill>
                  <a:srgbClr val="6B615C"/>
                </a:solidFill>
                <a:latin typeface="Calibri" pitchFamily="34" charset="0"/>
                <a:ea typeface="Calibri" pitchFamily="34" charset="-122"/>
                <a:cs typeface="Calibri" pitchFamily="34" charset="-120"/>
              </a:rPr>
              <a:t>Este análisis estima el valor económico de la capacidad de desarrollo liberada. No representa necesariamente ahorro directo de caja. El punto de equilibrio compara el costo mensual del licenciamiento con el valor de las horas de desarrollo que pueden destinarse a otras actividades.</a:t>
            </a:r>
          </a:p>
        </p:txBody>
      </p:sp>
      <p:sp>
        <p:nvSpPr>
          <p:cNvPr id="40" name="Text 38"/>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dirty="0">
                <a:solidFill>
                  <a:srgbClr val="211915"/>
                </a:solidFill>
                <a:latin typeface="Calibri" pitchFamily="34" charset="0"/>
                <a:ea typeface="Calibri" pitchFamily="34" charset="-122"/>
                <a:cs typeface="Calibri" pitchFamily="34" charset="-120"/>
              </a:rPr>
              <a:t>Tuya</a:t>
            </a:r>
            <a:r>
              <a:rPr lang="es-419" sz="850" noProof="0" dirty="0">
                <a:solidFill>
                  <a:srgbClr val="9C938D"/>
                </a:solidFill>
                <a:latin typeface="Calibri" pitchFamily="34" charset="0"/>
                <a:ea typeface="Calibri" pitchFamily="34" charset="-122"/>
                <a:cs typeface="Calibri" pitchFamily="34" charset="-120"/>
              </a:rPr>
              <a:t>   ·   GitHub </a:t>
            </a:r>
            <a:r>
              <a:rPr lang="es-419" sz="850" noProof="0" dirty="0" err="1">
                <a:solidFill>
                  <a:srgbClr val="9C938D"/>
                </a:solidFill>
                <a:latin typeface="Calibri" pitchFamily="34" charset="0"/>
                <a:ea typeface="Calibri" pitchFamily="34" charset="-122"/>
                <a:cs typeface="Calibri" pitchFamily="34" charset="-120"/>
              </a:rPr>
              <a:t>Copilot</a:t>
            </a:r>
            <a:r>
              <a:rPr lang="es-419" sz="850" noProof="0" dirty="0">
                <a:solidFill>
                  <a:srgbClr val="9C938D"/>
                </a:solidFill>
                <a:latin typeface="Calibri" pitchFamily="34" charset="0"/>
                <a:ea typeface="Calibri" pitchFamily="34" charset="-122"/>
                <a:cs typeface="Calibri" pitchFamily="34" charset="-120"/>
              </a:rPr>
              <a:t> - Caso de negocio</a:t>
            </a:r>
            <a:endParaRPr lang="es-419" sz="850" noProof="0" dirty="0"/>
          </a:p>
        </p:txBody>
      </p:sp>
      <p:sp>
        <p:nvSpPr>
          <p:cNvPr id="41" name="Text 39"/>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dirty="0">
                <a:solidFill>
                  <a:srgbClr val="ED1C29"/>
                </a:solidFill>
                <a:latin typeface="Trebuchet MS" pitchFamily="34" charset="0"/>
                <a:ea typeface="Trebuchet MS" pitchFamily="34" charset="-122"/>
                <a:cs typeface="Trebuchet MS" pitchFamily="34" charset="-120"/>
              </a:rPr>
              <a:t>07</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extLst>
      <p:ext uri="{BB962C8B-B14F-4D97-AF65-F5344CB8AC3E}">
        <p14:creationId xmlns:p14="http://schemas.microsoft.com/office/powerpoint/2010/main" val="557892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ED1C29"/>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dirty="0">
                <a:solidFill>
                  <a:srgbClr val="ED1C29"/>
                </a:solidFill>
                <a:latin typeface="Trebuchet MS" pitchFamily="34" charset="0"/>
                <a:ea typeface="Trebuchet MS" pitchFamily="34" charset="-122"/>
                <a:cs typeface="Trebuchet MS" pitchFamily="34" charset="-120"/>
              </a:rPr>
              <a:t>GOBIERNO Y CONTROL DEL CONSUMO</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dirty="0">
                <a:solidFill>
                  <a:srgbClr val="211915"/>
                </a:solidFill>
                <a:latin typeface="Trebuchet MS" pitchFamily="34" charset="0"/>
                <a:ea typeface="Trebuchet MS" pitchFamily="34" charset="-122"/>
                <a:cs typeface="Trebuchet MS" pitchFamily="34" charset="-120"/>
              </a:rPr>
              <a:t>Cómo se puede gobernar y controlar el consumo</a:t>
            </a:r>
            <a:endParaRPr lang="es-419" sz="2700" noProof="0" dirty="0"/>
          </a:p>
        </p:txBody>
      </p:sp>
      <p:sp>
        <p:nvSpPr>
          <p:cNvPr id="5" name="level">
            <a:extLst>
              <a:ext uri="{C183D7F6-B498-43B3-948B-1728B52AA6E4}">
                <adec:decorative xmlns:adec="http://schemas.microsoft.com/office/drawing/2017/decorative" val="1"/>
              </a:ext>
            </a:extLst>
          </p:cNvPr>
          <p:cNvSpPr/>
          <p:nvPr/>
        </p:nvSpPr>
        <p:spPr>
          <a:xfrm>
            <a:off x="685800" y="1282930"/>
            <a:ext cx="6583680" cy="747522"/>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6" name="level tag">
            <a:extLst>
              <a:ext uri="{C183D7F6-B498-43B3-948B-1728B52AA6E4}">
                <adec:decorative xmlns:adec="http://schemas.microsoft.com/office/drawing/2017/decorative" val="1"/>
              </a:ext>
            </a:extLst>
          </p:cNvPr>
          <p:cNvSpPr/>
          <p:nvPr/>
        </p:nvSpPr>
        <p:spPr>
          <a:xfrm>
            <a:off x="685800" y="1282930"/>
            <a:ext cx="1965960" cy="747522"/>
          </a:xfrm>
          <a:prstGeom prst="rect">
            <a:avLst/>
          </a:prstGeom>
          <a:solidFill>
            <a:srgbClr val="ED1C29"/>
          </a:solidFill>
          <a:ln/>
        </p:spPr>
        <p:txBody>
          <a:bodyPr/>
          <a:lstStyle/>
          <a:p>
            <a:endParaRPr lang="es-419" noProof="0" dirty="0"/>
          </a:p>
        </p:txBody>
      </p:sp>
      <p:sp>
        <p:nvSpPr>
          <p:cNvPr id="7" name="Text 5"/>
          <p:cNvSpPr/>
          <p:nvPr/>
        </p:nvSpPr>
        <p:spPr>
          <a:xfrm>
            <a:off x="813816" y="1282930"/>
            <a:ext cx="1737360" cy="747522"/>
          </a:xfrm>
          <a:prstGeom prst="rect">
            <a:avLst/>
          </a:prstGeom>
          <a:noFill/>
          <a:ln/>
        </p:spPr>
        <p:txBody>
          <a:bodyPr wrap="square" lIns="0" tIns="0" rIns="0" bIns="0" rtlCol="0" anchor="ctr"/>
          <a:lstStyle/>
          <a:p>
            <a:pPr marL="0" indent="0" algn="l">
              <a:buNone/>
            </a:pPr>
            <a:r>
              <a:rPr lang="es-419" sz="1250" b="1" noProof="0" dirty="0">
                <a:solidFill>
                  <a:srgbClr val="FFFFFF"/>
                </a:solidFill>
                <a:latin typeface="Trebuchet MS" pitchFamily="34" charset="0"/>
                <a:ea typeface="Trebuchet MS" pitchFamily="34" charset="-122"/>
                <a:cs typeface="Trebuchet MS" pitchFamily="34" charset="-120"/>
              </a:rPr>
              <a:t>USUARIO</a:t>
            </a:r>
            <a:endParaRPr lang="es-419" sz="1250" noProof="0" dirty="0"/>
          </a:p>
        </p:txBody>
      </p:sp>
      <p:sp>
        <p:nvSpPr>
          <p:cNvPr id="8" name="Text 6"/>
          <p:cNvSpPr/>
          <p:nvPr/>
        </p:nvSpPr>
        <p:spPr>
          <a:xfrm>
            <a:off x="2807208" y="1337794"/>
            <a:ext cx="4297680" cy="637794"/>
          </a:xfrm>
          <a:prstGeom prst="rect">
            <a:avLst/>
          </a:prstGeom>
          <a:noFill/>
          <a:ln/>
        </p:spPr>
        <p:txBody>
          <a:bodyPr wrap="square" lIns="0" tIns="0" rIns="0" bIns="0" rtlCol="0" anchor="ctr"/>
          <a:lstStyle/>
          <a:p>
            <a:pPr marL="0" indent="0" algn="l">
              <a:buNone/>
            </a:pPr>
            <a:r>
              <a:rPr lang="es-419" sz="1050" noProof="0" dirty="0">
                <a:solidFill>
                  <a:srgbClr val="4A423D"/>
                </a:solidFill>
                <a:latin typeface="Calibri" pitchFamily="34" charset="0"/>
                <a:ea typeface="Calibri" pitchFamily="34" charset="-122"/>
                <a:cs typeface="Calibri" pitchFamily="34" charset="-120"/>
              </a:rPr>
              <a:t>Presupuesto individual </a:t>
            </a:r>
            <a:r>
              <a:rPr lang="es-419" sz="1050" noProof="0">
                <a:solidFill>
                  <a:srgbClr val="4A423D"/>
                </a:solidFill>
                <a:latin typeface="Calibri" pitchFamily="34" charset="0"/>
                <a:ea typeface="Calibri" pitchFamily="34" charset="-122"/>
                <a:cs typeface="Calibri" pitchFamily="34" charset="-120"/>
              </a:rPr>
              <a:t>que limita </a:t>
            </a:r>
            <a:r>
              <a:rPr lang="es-419" sz="1050" noProof="0" dirty="0">
                <a:solidFill>
                  <a:srgbClr val="4A423D"/>
                </a:solidFill>
                <a:latin typeface="Calibri" pitchFamily="34" charset="0"/>
                <a:ea typeface="Calibri" pitchFamily="34" charset="-122"/>
                <a:cs typeface="Calibri" pitchFamily="34" charset="-120"/>
              </a:rPr>
              <a:t>el consumo </a:t>
            </a:r>
            <a:r>
              <a:rPr lang="es-419" sz="1050" noProof="0">
                <a:solidFill>
                  <a:srgbClr val="4A423D"/>
                </a:solidFill>
                <a:latin typeface="Calibri" pitchFamily="34" charset="0"/>
                <a:ea typeface="Calibri" pitchFamily="34" charset="-122"/>
                <a:cs typeface="Calibri" pitchFamily="34" charset="-120"/>
              </a:rPr>
              <a:t>máximo permitido por </a:t>
            </a:r>
            <a:r>
              <a:rPr lang="es-419" sz="1050" noProof="0" dirty="0">
                <a:solidFill>
                  <a:srgbClr val="4A423D"/>
                </a:solidFill>
                <a:latin typeface="Calibri" pitchFamily="34" charset="0"/>
                <a:ea typeface="Calibri" pitchFamily="34" charset="-122"/>
                <a:cs typeface="Calibri" pitchFamily="34" charset="-120"/>
              </a:rPr>
              <a:t>usuario</a:t>
            </a:r>
            <a:r>
              <a:rPr lang="es-419" sz="1050" noProof="0">
                <a:solidFill>
                  <a:srgbClr val="4A423D"/>
                </a:solidFill>
                <a:latin typeface="Calibri" pitchFamily="34" charset="0"/>
                <a:ea typeface="Calibri" pitchFamily="34" charset="-122"/>
                <a:cs typeface="Calibri" pitchFamily="34" charset="-120"/>
              </a:rPr>
              <a:t> durante el ciclo de facturación</a:t>
            </a:r>
            <a:r>
              <a:rPr lang="es-419" sz="1050" noProof="0" dirty="0">
                <a:solidFill>
                  <a:srgbClr val="4A423D"/>
                </a:solidFill>
                <a:latin typeface="Calibri" pitchFamily="34" charset="0"/>
                <a:ea typeface="Calibri" pitchFamily="34" charset="-122"/>
                <a:cs typeface="Calibri" pitchFamily="34" charset="-120"/>
              </a:rPr>
              <a:t>.</a:t>
            </a:r>
            <a:endParaRPr lang="es-419" sz="1050" noProof="0" dirty="0"/>
          </a:p>
        </p:txBody>
      </p:sp>
      <p:sp>
        <p:nvSpPr>
          <p:cNvPr id="9" name="flow connector">
            <a:extLst>
              <a:ext uri="{C183D7F6-B498-43B3-948B-1728B52AA6E4}">
                <adec:decorative xmlns:adec="http://schemas.microsoft.com/office/drawing/2017/decorative" val="1"/>
              </a:ext>
            </a:extLst>
          </p:cNvPr>
          <p:cNvSpPr/>
          <p:nvPr/>
        </p:nvSpPr>
        <p:spPr>
          <a:xfrm rot="5400000">
            <a:off x="1600200" y="2070079"/>
            <a:ext cx="256032" cy="219456"/>
          </a:xfrm>
          <a:prstGeom prst="chevron">
            <a:avLst/>
          </a:prstGeom>
          <a:solidFill>
            <a:srgbClr val="ED1C29"/>
          </a:solidFill>
          <a:ln/>
        </p:spPr>
        <p:txBody>
          <a:bodyPr/>
          <a:lstStyle/>
          <a:p>
            <a:endParaRPr lang="es-419" noProof="0" dirty="0"/>
          </a:p>
        </p:txBody>
      </p:sp>
      <p:sp>
        <p:nvSpPr>
          <p:cNvPr id="10" name="level">
            <a:extLst>
              <a:ext uri="{C183D7F6-B498-43B3-948B-1728B52AA6E4}">
                <adec:decorative xmlns:adec="http://schemas.microsoft.com/office/drawing/2017/decorative" val="1"/>
              </a:ext>
            </a:extLst>
          </p:cNvPr>
          <p:cNvSpPr/>
          <p:nvPr/>
        </p:nvSpPr>
        <p:spPr>
          <a:xfrm>
            <a:off x="685800" y="2336086"/>
            <a:ext cx="6583680" cy="747522"/>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1" name="level tag">
            <a:extLst>
              <a:ext uri="{C183D7F6-B498-43B3-948B-1728B52AA6E4}">
                <adec:decorative xmlns:adec="http://schemas.microsoft.com/office/drawing/2017/decorative" val="1"/>
              </a:ext>
            </a:extLst>
          </p:cNvPr>
          <p:cNvSpPr/>
          <p:nvPr/>
        </p:nvSpPr>
        <p:spPr>
          <a:xfrm>
            <a:off x="685800" y="2336086"/>
            <a:ext cx="1965960" cy="747522"/>
          </a:xfrm>
          <a:prstGeom prst="rect">
            <a:avLst/>
          </a:prstGeom>
          <a:solidFill>
            <a:srgbClr val="FCE7E8"/>
          </a:solidFill>
          <a:ln/>
        </p:spPr>
        <p:txBody>
          <a:bodyPr/>
          <a:lstStyle/>
          <a:p>
            <a:endParaRPr lang="es-419" noProof="0" dirty="0"/>
          </a:p>
        </p:txBody>
      </p:sp>
      <p:sp>
        <p:nvSpPr>
          <p:cNvPr id="12" name="Text 10"/>
          <p:cNvSpPr/>
          <p:nvPr/>
        </p:nvSpPr>
        <p:spPr>
          <a:xfrm>
            <a:off x="813816" y="2336086"/>
            <a:ext cx="1737360" cy="747522"/>
          </a:xfrm>
          <a:prstGeom prst="rect">
            <a:avLst/>
          </a:prstGeom>
          <a:noFill/>
          <a:ln/>
        </p:spPr>
        <p:txBody>
          <a:bodyPr wrap="square" lIns="0" tIns="0" rIns="0" bIns="0" rtlCol="0" anchor="ctr"/>
          <a:lstStyle/>
          <a:p>
            <a:pPr marL="0" indent="0" algn="l">
              <a:buNone/>
            </a:pPr>
            <a:r>
              <a:rPr lang="es-419" sz="1250" b="1" noProof="0" dirty="0">
                <a:solidFill>
                  <a:srgbClr val="BE121C"/>
                </a:solidFill>
                <a:latin typeface="Trebuchet MS" pitchFamily="34" charset="0"/>
                <a:ea typeface="Trebuchet MS" pitchFamily="34" charset="-122"/>
                <a:cs typeface="Trebuchet MS" pitchFamily="34" charset="-120"/>
              </a:rPr>
              <a:t>ORGANIZACIÓN</a:t>
            </a:r>
            <a:endParaRPr lang="es-419" sz="1250" noProof="0" dirty="0"/>
          </a:p>
        </p:txBody>
      </p:sp>
      <p:sp>
        <p:nvSpPr>
          <p:cNvPr id="13" name="Text 11"/>
          <p:cNvSpPr/>
          <p:nvPr/>
        </p:nvSpPr>
        <p:spPr>
          <a:xfrm>
            <a:off x="2807208" y="2390950"/>
            <a:ext cx="4297680" cy="637794"/>
          </a:xfrm>
          <a:prstGeom prst="rect">
            <a:avLst/>
          </a:prstGeom>
          <a:noFill/>
          <a:ln/>
        </p:spPr>
        <p:txBody>
          <a:bodyPr wrap="square" lIns="0" tIns="0" rIns="0" bIns="0" rtlCol="0" anchor="ctr"/>
          <a:lstStyle/>
          <a:p>
            <a:pPr marL="0" indent="0" algn="l">
              <a:buNone/>
            </a:pPr>
            <a:r>
              <a:rPr lang="es-419" sz="1050" noProof="0">
                <a:solidFill>
                  <a:srgbClr val="4A423D"/>
                </a:solidFill>
                <a:latin typeface="Calibri" pitchFamily="34" charset="0"/>
                <a:ea typeface="Calibri" pitchFamily="34" charset="-122"/>
                <a:cs typeface="Calibri" pitchFamily="34" charset="-120"/>
              </a:rPr>
              <a:t>Control del consumo y </a:t>
            </a:r>
            <a:r>
              <a:rPr lang="es-419" sz="1050" noProof="0" dirty="0">
                <a:solidFill>
                  <a:srgbClr val="4A423D"/>
                </a:solidFill>
                <a:latin typeface="Calibri" pitchFamily="34" charset="0"/>
                <a:ea typeface="Calibri" pitchFamily="34" charset="-122"/>
                <a:cs typeface="Calibri" pitchFamily="34" charset="-120"/>
              </a:rPr>
              <a:t>de </a:t>
            </a:r>
            <a:r>
              <a:rPr lang="es-419" sz="1050" noProof="0">
                <a:solidFill>
                  <a:srgbClr val="4A423D"/>
                </a:solidFill>
                <a:latin typeface="Calibri" pitchFamily="34" charset="0"/>
                <a:ea typeface="Calibri" pitchFamily="34" charset="-122"/>
                <a:cs typeface="Calibri" pitchFamily="34" charset="-120"/>
              </a:rPr>
              <a:t>los cargos medidos asociados a la organización</a:t>
            </a:r>
            <a:r>
              <a:rPr lang="es-419" sz="1050" noProof="0" dirty="0">
                <a:solidFill>
                  <a:srgbClr val="4A423D"/>
                </a:solidFill>
                <a:latin typeface="Calibri" pitchFamily="34" charset="0"/>
                <a:ea typeface="Calibri" pitchFamily="34" charset="-122"/>
                <a:cs typeface="Calibri" pitchFamily="34" charset="-120"/>
              </a:rPr>
              <a:t>.</a:t>
            </a:r>
            <a:endParaRPr lang="es-419" sz="1050" noProof="0" dirty="0"/>
          </a:p>
        </p:txBody>
      </p:sp>
      <p:sp>
        <p:nvSpPr>
          <p:cNvPr id="14" name="flow connector">
            <a:extLst>
              <a:ext uri="{C183D7F6-B498-43B3-948B-1728B52AA6E4}">
                <adec:decorative xmlns:adec="http://schemas.microsoft.com/office/drawing/2017/decorative" val="1"/>
              </a:ext>
            </a:extLst>
          </p:cNvPr>
          <p:cNvSpPr/>
          <p:nvPr/>
        </p:nvSpPr>
        <p:spPr>
          <a:xfrm rot="5400000">
            <a:off x="1600200" y="3123231"/>
            <a:ext cx="256032" cy="219456"/>
          </a:xfrm>
          <a:prstGeom prst="chevron">
            <a:avLst/>
          </a:prstGeom>
          <a:solidFill>
            <a:srgbClr val="ED1C29"/>
          </a:solidFill>
          <a:ln/>
        </p:spPr>
        <p:txBody>
          <a:bodyPr/>
          <a:lstStyle/>
          <a:p>
            <a:endParaRPr lang="es-419" noProof="0" dirty="0"/>
          </a:p>
        </p:txBody>
      </p:sp>
      <p:sp>
        <p:nvSpPr>
          <p:cNvPr id="15" name="level">
            <a:extLst>
              <a:ext uri="{C183D7F6-B498-43B3-948B-1728B52AA6E4}">
                <adec:decorative xmlns:adec="http://schemas.microsoft.com/office/drawing/2017/decorative" val="1"/>
              </a:ext>
            </a:extLst>
          </p:cNvPr>
          <p:cNvSpPr/>
          <p:nvPr/>
        </p:nvSpPr>
        <p:spPr>
          <a:xfrm>
            <a:off x="685800" y="3368458"/>
            <a:ext cx="6583680" cy="747522"/>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6" name="level tag">
            <a:extLst>
              <a:ext uri="{C183D7F6-B498-43B3-948B-1728B52AA6E4}">
                <adec:decorative xmlns:adec="http://schemas.microsoft.com/office/drawing/2017/decorative" val="1"/>
              </a:ext>
            </a:extLst>
          </p:cNvPr>
          <p:cNvSpPr/>
          <p:nvPr/>
        </p:nvSpPr>
        <p:spPr>
          <a:xfrm>
            <a:off x="685800" y="3368458"/>
            <a:ext cx="1965960" cy="747522"/>
          </a:xfrm>
          <a:prstGeom prst="rect">
            <a:avLst/>
          </a:prstGeom>
          <a:solidFill>
            <a:srgbClr val="FCE7E8"/>
          </a:solidFill>
          <a:ln/>
        </p:spPr>
        <p:txBody>
          <a:bodyPr/>
          <a:lstStyle/>
          <a:p>
            <a:endParaRPr lang="es-419" noProof="0" dirty="0"/>
          </a:p>
        </p:txBody>
      </p:sp>
      <p:sp>
        <p:nvSpPr>
          <p:cNvPr id="17" name="Text 15"/>
          <p:cNvSpPr/>
          <p:nvPr/>
        </p:nvSpPr>
        <p:spPr>
          <a:xfrm>
            <a:off x="813816" y="3368458"/>
            <a:ext cx="1737360" cy="747522"/>
          </a:xfrm>
          <a:prstGeom prst="rect">
            <a:avLst/>
          </a:prstGeom>
          <a:noFill/>
          <a:ln/>
        </p:spPr>
        <p:txBody>
          <a:bodyPr wrap="square" lIns="0" tIns="0" rIns="0" bIns="0" rtlCol="0" anchor="ctr"/>
          <a:lstStyle/>
          <a:p>
            <a:pPr marL="0" indent="0" algn="l">
              <a:buNone/>
            </a:pPr>
            <a:r>
              <a:rPr lang="es-419" sz="1250" b="1" noProof="0" dirty="0">
                <a:solidFill>
                  <a:srgbClr val="BE121C"/>
                </a:solidFill>
                <a:latin typeface="Trebuchet MS" pitchFamily="34" charset="0"/>
                <a:ea typeface="Trebuchet MS" pitchFamily="34" charset="-122"/>
                <a:cs typeface="Trebuchet MS" pitchFamily="34" charset="-120"/>
              </a:rPr>
              <a:t>COST CENTER</a:t>
            </a:r>
            <a:endParaRPr lang="es-419" sz="1250" noProof="0" dirty="0"/>
          </a:p>
        </p:txBody>
      </p:sp>
      <p:sp>
        <p:nvSpPr>
          <p:cNvPr id="18" name="Text 16"/>
          <p:cNvSpPr/>
          <p:nvPr/>
        </p:nvSpPr>
        <p:spPr>
          <a:xfrm>
            <a:off x="2807208" y="3423322"/>
            <a:ext cx="4297680" cy="637794"/>
          </a:xfrm>
          <a:prstGeom prst="rect">
            <a:avLst/>
          </a:prstGeom>
          <a:noFill/>
          <a:ln/>
        </p:spPr>
        <p:txBody>
          <a:bodyPr wrap="square" lIns="0" tIns="0" rIns="0" bIns="0" rtlCol="0" anchor="ctr"/>
          <a:lstStyle/>
          <a:p>
            <a:pPr marL="0" indent="0" algn="l">
              <a:buNone/>
            </a:pPr>
            <a:r>
              <a:rPr lang="es-419" sz="1050" noProof="0">
                <a:solidFill>
                  <a:srgbClr val="4A423D"/>
                </a:solidFill>
                <a:latin typeface="Calibri" pitchFamily="34" charset="0"/>
                <a:ea typeface="Calibri" pitchFamily="34" charset="-122"/>
                <a:cs typeface="Calibri" pitchFamily="34" charset="-120"/>
              </a:rPr>
              <a:t>Permite establecer controles y presupuestos para </a:t>
            </a:r>
            <a:r>
              <a:rPr lang="es-419" sz="1050" noProof="0" dirty="0">
                <a:solidFill>
                  <a:srgbClr val="4A423D"/>
                </a:solidFill>
                <a:latin typeface="Calibri" pitchFamily="34" charset="0"/>
                <a:ea typeface="Calibri" pitchFamily="34" charset="-122"/>
                <a:cs typeface="Calibri" pitchFamily="34" charset="-120"/>
              </a:rPr>
              <a:t>grupos</a:t>
            </a:r>
            <a:r>
              <a:rPr lang="es-419" sz="1050" noProof="0">
                <a:solidFill>
                  <a:srgbClr val="4A423D"/>
                </a:solidFill>
                <a:latin typeface="Calibri" pitchFamily="34" charset="0"/>
                <a:ea typeface="Calibri" pitchFamily="34" charset="-122"/>
                <a:cs typeface="Calibri" pitchFamily="34" charset="-120"/>
              </a:rPr>
              <a:t> determinados</a:t>
            </a:r>
            <a:r>
              <a:rPr lang="es-419" sz="1050" noProof="0" dirty="0">
                <a:solidFill>
                  <a:srgbClr val="4A423D"/>
                </a:solidFill>
                <a:latin typeface="Calibri" pitchFamily="34" charset="0"/>
                <a:ea typeface="Calibri" pitchFamily="34" charset="-122"/>
                <a:cs typeface="Calibri" pitchFamily="34" charset="-120"/>
              </a:rPr>
              <a:t> de usuarios.</a:t>
            </a:r>
            <a:endParaRPr lang="es-419" sz="1050" noProof="0" dirty="0"/>
          </a:p>
        </p:txBody>
      </p:sp>
      <p:sp>
        <p:nvSpPr>
          <p:cNvPr id="19" name="flow connector">
            <a:extLst>
              <a:ext uri="{C183D7F6-B498-43B3-948B-1728B52AA6E4}">
                <adec:decorative xmlns:adec="http://schemas.microsoft.com/office/drawing/2017/decorative" val="1"/>
              </a:ext>
            </a:extLst>
          </p:cNvPr>
          <p:cNvSpPr/>
          <p:nvPr/>
        </p:nvSpPr>
        <p:spPr>
          <a:xfrm rot="5400000">
            <a:off x="1600200" y="4134819"/>
            <a:ext cx="256032" cy="219456"/>
          </a:xfrm>
          <a:prstGeom prst="chevron">
            <a:avLst/>
          </a:prstGeom>
          <a:solidFill>
            <a:srgbClr val="ED1C29"/>
          </a:solidFill>
          <a:ln/>
        </p:spPr>
        <p:txBody>
          <a:bodyPr/>
          <a:lstStyle/>
          <a:p>
            <a:endParaRPr lang="es-419" noProof="0" dirty="0"/>
          </a:p>
        </p:txBody>
      </p:sp>
      <p:sp>
        <p:nvSpPr>
          <p:cNvPr id="20" name="level">
            <a:extLst>
              <a:ext uri="{C183D7F6-B498-43B3-948B-1728B52AA6E4}">
                <adec:decorative xmlns:adec="http://schemas.microsoft.com/office/drawing/2017/decorative" val="1"/>
              </a:ext>
            </a:extLst>
          </p:cNvPr>
          <p:cNvSpPr/>
          <p:nvPr/>
        </p:nvSpPr>
        <p:spPr>
          <a:xfrm>
            <a:off x="685800" y="4386972"/>
            <a:ext cx="6583680" cy="747522"/>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1" name="level tag">
            <a:extLst>
              <a:ext uri="{C183D7F6-B498-43B3-948B-1728B52AA6E4}">
                <adec:decorative xmlns:adec="http://schemas.microsoft.com/office/drawing/2017/decorative" val="1"/>
              </a:ext>
            </a:extLst>
          </p:cNvPr>
          <p:cNvSpPr/>
          <p:nvPr/>
        </p:nvSpPr>
        <p:spPr>
          <a:xfrm>
            <a:off x="685800" y="4386972"/>
            <a:ext cx="1965960" cy="747522"/>
          </a:xfrm>
          <a:prstGeom prst="rect">
            <a:avLst/>
          </a:prstGeom>
          <a:solidFill>
            <a:srgbClr val="FCE7E8"/>
          </a:solidFill>
          <a:ln/>
        </p:spPr>
        <p:txBody>
          <a:bodyPr/>
          <a:lstStyle/>
          <a:p>
            <a:endParaRPr lang="es-419" noProof="0" dirty="0"/>
          </a:p>
        </p:txBody>
      </p:sp>
      <p:sp>
        <p:nvSpPr>
          <p:cNvPr id="22" name="Text 20"/>
          <p:cNvSpPr/>
          <p:nvPr/>
        </p:nvSpPr>
        <p:spPr>
          <a:xfrm>
            <a:off x="813816" y="4386972"/>
            <a:ext cx="1737360" cy="747522"/>
          </a:xfrm>
          <a:prstGeom prst="rect">
            <a:avLst/>
          </a:prstGeom>
          <a:noFill/>
          <a:ln/>
        </p:spPr>
        <p:txBody>
          <a:bodyPr wrap="square" lIns="0" tIns="0" rIns="0" bIns="0" rtlCol="0" anchor="ctr"/>
          <a:lstStyle/>
          <a:p>
            <a:pPr marL="0" indent="0" algn="l">
              <a:buNone/>
            </a:pPr>
            <a:r>
              <a:rPr lang="es-419" sz="1250" b="1" noProof="0" dirty="0">
                <a:solidFill>
                  <a:srgbClr val="BE121C"/>
                </a:solidFill>
                <a:latin typeface="Trebuchet MS" pitchFamily="34" charset="0"/>
                <a:ea typeface="Trebuchet MS" pitchFamily="34" charset="-122"/>
                <a:cs typeface="Trebuchet MS" pitchFamily="34" charset="-120"/>
              </a:rPr>
              <a:t>ENTERPRISE</a:t>
            </a:r>
            <a:endParaRPr lang="es-419" sz="1250" noProof="0" dirty="0"/>
          </a:p>
        </p:txBody>
      </p:sp>
      <p:sp>
        <p:nvSpPr>
          <p:cNvPr id="23" name="Text 21"/>
          <p:cNvSpPr/>
          <p:nvPr/>
        </p:nvSpPr>
        <p:spPr>
          <a:xfrm>
            <a:off x="2807208" y="4441836"/>
            <a:ext cx="4297680" cy="637794"/>
          </a:xfrm>
          <a:prstGeom prst="rect">
            <a:avLst/>
          </a:prstGeom>
          <a:noFill/>
          <a:ln/>
        </p:spPr>
        <p:txBody>
          <a:bodyPr wrap="square" lIns="0" tIns="0" rIns="0" bIns="0" rtlCol="0" anchor="ctr"/>
          <a:lstStyle/>
          <a:p>
            <a:pPr marL="0" indent="0" algn="l">
              <a:buNone/>
            </a:pPr>
            <a:r>
              <a:rPr lang="es-419" sz="1050" noProof="0" dirty="0" err="1">
                <a:solidFill>
                  <a:srgbClr val="4A423D"/>
                </a:solidFill>
                <a:latin typeface="Calibri" pitchFamily="34" charset="0"/>
                <a:ea typeface="Calibri" pitchFamily="34" charset="-122"/>
                <a:cs typeface="Calibri" pitchFamily="34" charset="-120"/>
              </a:rPr>
              <a:t>Spending</a:t>
            </a:r>
            <a:r>
              <a:rPr lang="es-419" sz="1050" noProof="0" err="1">
                <a:solidFill>
                  <a:srgbClr val="4A423D"/>
                </a:solidFill>
                <a:latin typeface="Calibri" pitchFamily="34" charset="0"/>
                <a:ea typeface="Calibri" pitchFamily="34" charset="-122"/>
                <a:cs typeface="Calibri" pitchFamily="34" charset="-120"/>
              </a:rPr>
              <a:t> limit global para controlar cargos medidos una vez agotado el pool compartido.</a:t>
            </a:r>
            <a:r>
              <a:rPr lang="es-419" sz="1050" noProof="0">
                <a:solidFill>
                  <a:srgbClr val="4A423D"/>
                </a:solidFill>
                <a:latin typeface="Calibri" pitchFamily="34" charset="0"/>
                <a:ea typeface="Calibri" pitchFamily="34" charset="-122"/>
                <a:cs typeface="Calibri" pitchFamily="34" charset="-120"/>
              </a:rPr>
              <a:t> </a:t>
            </a:r>
            <a:endParaRPr lang="es-419" sz="1050" noProof="0" dirty="0"/>
          </a:p>
        </p:txBody>
      </p:sp>
      <p:sp>
        <p:nvSpPr>
          <p:cNvPr id="24" name="card">
            <a:extLst>
              <a:ext uri="{C183D7F6-B498-43B3-948B-1728B52AA6E4}">
                <adec:decorative xmlns:adec="http://schemas.microsoft.com/office/drawing/2017/decorative" val="1"/>
              </a:ext>
            </a:extLst>
          </p:cNvPr>
          <p:cNvSpPr/>
          <p:nvPr/>
        </p:nvSpPr>
        <p:spPr>
          <a:xfrm>
            <a:off x="7571232" y="1691640"/>
            <a:ext cx="3931920" cy="3429000"/>
          </a:xfrm>
          <a:prstGeom prst="rect">
            <a:avLst/>
          </a:prstGeom>
          <a:solidFill>
            <a:srgbClr val="F4F1EF"/>
          </a:solidFill>
          <a:ln w="12700">
            <a:solidFill>
              <a:srgbClr val="E7E1DE"/>
            </a:solidFill>
            <a:prstDash val="solid"/>
          </a:ln>
        </p:spPr>
        <p:txBody>
          <a:bodyPr/>
          <a:lstStyle/>
          <a:p>
            <a:endParaRPr lang="es-419" noProof="0" dirty="0"/>
          </a:p>
        </p:txBody>
      </p:sp>
      <p:sp>
        <p:nvSpPr>
          <p:cNvPr id="25" name="Text 23"/>
          <p:cNvSpPr/>
          <p:nvPr/>
        </p:nvSpPr>
        <p:spPr>
          <a:xfrm>
            <a:off x="7827264" y="1883664"/>
            <a:ext cx="3419856" cy="274320"/>
          </a:xfrm>
          <a:prstGeom prst="rect">
            <a:avLst/>
          </a:prstGeom>
          <a:noFill/>
          <a:ln/>
        </p:spPr>
        <p:txBody>
          <a:bodyPr wrap="square" lIns="0" tIns="0" rIns="0" bIns="0" rtlCol="0" anchor="ctr"/>
          <a:lstStyle/>
          <a:p>
            <a:pPr marL="0" indent="0">
              <a:buNone/>
            </a:pPr>
            <a:r>
              <a:rPr lang="es-419" sz="1150" b="1" kern="0" spc="100" noProof="0" dirty="0">
                <a:solidFill>
                  <a:srgbClr val="211915"/>
                </a:solidFill>
                <a:latin typeface="Trebuchet MS" pitchFamily="34" charset="0"/>
                <a:ea typeface="Trebuchet MS" pitchFamily="34" charset="-122"/>
                <a:cs typeface="Trebuchet MS" pitchFamily="34" charset="-120"/>
              </a:rPr>
              <a:t>PARA ANÁLISIS INTERNO</a:t>
            </a:r>
            <a:endParaRPr lang="es-419" sz="1150" noProof="0" dirty="0"/>
          </a:p>
        </p:txBody>
      </p:sp>
      <p:sp>
        <p:nvSpPr>
          <p:cNvPr id="26" name="Text 24"/>
          <p:cNvSpPr/>
          <p:nvPr/>
        </p:nvSpPr>
        <p:spPr>
          <a:xfrm>
            <a:off x="7827264" y="2176272"/>
            <a:ext cx="3419856" cy="457200"/>
          </a:xfrm>
          <a:prstGeom prst="rect">
            <a:avLst/>
          </a:prstGeom>
          <a:noFill/>
          <a:ln/>
        </p:spPr>
        <p:txBody>
          <a:bodyPr wrap="square" lIns="0" tIns="0" rIns="0" bIns="0" rtlCol="0" anchor="ctr"/>
          <a:lstStyle/>
          <a:p>
            <a:pPr marL="0" indent="0">
              <a:buNone/>
            </a:pPr>
            <a:r>
              <a:rPr lang="es-419" sz="1000" i="1" noProof="0" dirty="0">
                <a:solidFill>
                  <a:srgbClr val="7A716B"/>
                </a:solidFill>
                <a:latin typeface="Calibri" pitchFamily="34" charset="0"/>
                <a:ea typeface="Calibri" pitchFamily="34" charset="-122"/>
                <a:cs typeface="Calibri" pitchFamily="34" charset="-120"/>
              </a:rPr>
              <a:t>Capacidades disponibles a evaluar y configurar - aún no definidas.</a:t>
            </a:r>
            <a:endParaRPr lang="es-419" sz="1000" noProof="0" dirty="0"/>
          </a:p>
        </p:txBody>
      </p:sp>
      <p:sp>
        <p:nvSpPr>
          <p:cNvPr id="27" name="card">
            <a:extLst>
              <a:ext uri="{C183D7F6-B498-43B3-948B-1728B52AA6E4}">
                <adec:decorative xmlns:adec="http://schemas.microsoft.com/office/drawing/2017/decorative" val="1"/>
              </a:ext>
            </a:extLst>
          </p:cNvPr>
          <p:cNvSpPr/>
          <p:nvPr/>
        </p:nvSpPr>
        <p:spPr>
          <a:xfrm>
            <a:off x="7808976" y="2600000"/>
            <a:ext cx="3456432" cy="4572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8" name="bullet">
            <a:extLst>
              <a:ext uri="{C183D7F6-B498-43B3-948B-1728B52AA6E4}">
                <adec:decorative xmlns:adec="http://schemas.microsoft.com/office/drawing/2017/decorative" val="1"/>
              </a:ext>
            </a:extLst>
          </p:cNvPr>
          <p:cNvSpPr/>
          <p:nvPr/>
        </p:nvSpPr>
        <p:spPr>
          <a:xfrm>
            <a:off x="7955280" y="2760000"/>
            <a:ext cx="128016" cy="128016"/>
          </a:xfrm>
          <a:prstGeom prst="ellipse">
            <a:avLst/>
          </a:prstGeom>
          <a:solidFill>
            <a:srgbClr val="ED1C29"/>
          </a:solidFill>
          <a:ln/>
        </p:spPr>
        <p:txBody>
          <a:bodyPr/>
          <a:lstStyle/>
          <a:p>
            <a:endParaRPr lang="es-419" noProof="0" dirty="0"/>
          </a:p>
        </p:txBody>
      </p:sp>
      <p:sp>
        <p:nvSpPr>
          <p:cNvPr id="29" name="Text 27"/>
          <p:cNvSpPr/>
          <p:nvPr/>
        </p:nvSpPr>
        <p:spPr>
          <a:xfrm>
            <a:off x="8193024" y="2600000"/>
            <a:ext cx="3035808" cy="457200"/>
          </a:xfrm>
          <a:prstGeom prst="rect">
            <a:avLst/>
          </a:prstGeom>
          <a:noFill/>
          <a:ln/>
        </p:spPr>
        <p:txBody>
          <a:bodyPr wrap="square" lIns="0" tIns="0" rIns="0" bIns="0" rtlCol="0" anchor="ctr"/>
          <a:lstStyle/>
          <a:p>
            <a:pPr marL="0" indent="0" algn="l">
              <a:buNone/>
            </a:pPr>
            <a:r>
              <a:rPr lang="es-419" sz="680" b="1" noProof="0">
                <a:solidFill>
                  <a:srgbClr val="211915"/>
                </a:solidFill>
                <a:latin typeface="Calibri" pitchFamily="34" charset="0"/>
                <a:ea typeface="Calibri" pitchFamily="34" charset="-122"/>
                <a:cs typeface="Calibri" pitchFamily="34" charset="-120"/>
              </a:rPr>
              <a:t>GitHub recomienda configurar el presupuesto universal de usuario de forma que permita aprovechar el pool compartido y establecer excepciones para usuarios con necesidades superiores.</a:t>
            </a:r>
            <a:endParaRPr lang="es-419" sz="680" noProof="0"/>
          </a:p>
        </p:txBody>
      </p:sp>
      <p:sp>
        <p:nvSpPr>
          <p:cNvPr id="30" name="card">
            <a:extLst>
              <a:ext uri="{C183D7F6-B498-43B3-948B-1728B52AA6E4}">
                <adec:decorative xmlns:adec="http://schemas.microsoft.com/office/drawing/2017/decorative" val="1"/>
              </a:ext>
            </a:extLst>
          </p:cNvPr>
          <p:cNvSpPr/>
          <p:nvPr/>
        </p:nvSpPr>
        <p:spPr>
          <a:xfrm>
            <a:off x="7808976" y="3260000"/>
            <a:ext cx="3456432" cy="4572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31" name="bullet">
            <a:extLst>
              <a:ext uri="{C183D7F6-B498-43B3-948B-1728B52AA6E4}">
                <adec:decorative xmlns:adec="http://schemas.microsoft.com/office/drawing/2017/decorative" val="1"/>
              </a:ext>
            </a:extLst>
          </p:cNvPr>
          <p:cNvSpPr/>
          <p:nvPr/>
        </p:nvSpPr>
        <p:spPr>
          <a:xfrm>
            <a:off x="7955280" y="3420000"/>
            <a:ext cx="128016" cy="128016"/>
          </a:xfrm>
          <a:prstGeom prst="ellipse">
            <a:avLst/>
          </a:prstGeom>
          <a:solidFill>
            <a:srgbClr val="ED1C29"/>
          </a:solidFill>
          <a:ln/>
        </p:spPr>
        <p:txBody>
          <a:bodyPr/>
          <a:lstStyle/>
          <a:p>
            <a:endParaRPr lang="es-419" noProof="0" dirty="0"/>
          </a:p>
        </p:txBody>
      </p:sp>
      <p:sp>
        <p:nvSpPr>
          <p:cNvPr id="32" name="Text 30"/>
          <p:cNvSpPr/>
          <p:nvPr/>
        </p:nvSpPr>
        <p:spPr>
          <a:xfrm>
            <a:off x="8193024" y="3260000"/>
            <a:ext cx="3035808" cy="457200"/>
          </a:xfrm>
          <a:prstGeom prst="rect">
            <a:avLst/>
          </a:prstGeom>
          <a:noFill/>
          <a:ln/>
        </p:spPr>
        <p:txBody>
          <a:bodyPr wrap="square" lIns="0" tIns="0" rIns="0" bIns="0" rtlCol="0" anchor="ctr"/>
          <a:lstStyle/>
          <a:p>
            <a:pPr marL="0" indent="0" algn="l">
              <a:buNone/>
            </a:pPr>
            <a:r>
              <a:rPr lang="es-419" sz="680" b="1" noProof="0" dirty="0">
                <a:solidFill>
                  <a:srgbClr val="211915"/>
                </a:solidFill>
                <a:latin typeface="Calibri" pitchFamily="34" charset="0"/>
                <a:ea typeface="Calibri" pitchFamily="34" charset="-122"/>
                <a:cs typeface="Calibri" pitchFamily="34" charset="-120"/>
              </a:rPr>
              <a:t>Los presupuestos a nivel de usuario funcionan siempre como límite efectivo: al agotarse, el usuario queda bloqueado aunque aún exista capacidad en el pool compartido.</a:t>
            </a:r>
            <a:endParaRPr lang="es-419" sz="680" noProof="0" dirty="0"/>
          </a:p>
        </p:txBody>
      </p:sp>
      <p:sp>
        <p:nvSpPr>
          <p:cNvPr id="33" name="card">
            <a:extLst>
              <a:ext uri="{C183D7F6-B498-43B3-948B-1728B52AA6E4}">
                <adec:decorative xmlns:adec="http://schemas.microsoft.com/office/drawing/2017/decorative" val="1"/>
              </a:ext>
            </a:extLst>
          </p:cNvPr>
          <p:cNvSpPr/>
          <p:nvPr/>
        </p:nvSpPr>
        <p:spPr>
          <a:xfrm>
            <a:off x="7808976" y="3900000"/>
            <a:ext cx="3456432" cy="4572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34" name="bullet">
            <a:extLst>
              <a:ext uri="{C183D7F6-B498-43B3-948B-1728B52AA6E4}">
                <adec:decorative xmlns:adec="http://schemas.microsoft.com/office/drawing/2017/decorative" val="1"/>
              </a:ext>
            </a:extLst>
          </p:cNvPr>
          <p:cNvSpPr/>
          <p:nvPr/>
        </p:nvSpPr>
        <p:spPr>
          <a:xfrm>
            <a:off x="7955280" y="4060000"/>
            <a:ext cx="128016" cy="128016"/>
          </a:xfrm>
          <a:prstGeom prst="ellipse">
            <a:avLst/>
          </a:prstGeom>
          <a:solidFill>
            <a:srgbClr val="ED1C29"/>
          </a:solidFill>
          <a:ln/>
        </p:spPr>
        <p:txBody>
          <a:bodyPr/>
          <a:lstStyle/>
          <a:p>
            <a:endParaRPr lang="es-419" noProof="0" dirty="0"/>
          </a:p>
        </p:txBody>
      </p:sp>
      <p:sp>
        <p:nvSpPr>
          <p:cNvPr id="35" name="Text 33"/>
          <p:cNvSpPr/>
          <p:nvPr/>
        </p:nvSpPr>
        <p:spPr>
          <a:xfrm>
            <a:off x="8193024" y="3900000"/>
            <a:ext cx="3035808" cy="457200"/>
          </a:xfrm>
          <a:prstGeom prst="rect">
            <a:avLst/>
          </a:prstGeom>
          <a:noFill/>
          <a:ln/>
        </p:spPr>
        <p:txBody>
          <a:bodyPr wrap="square" lIns="0" tIns="0" rIns="0" bIns="0" rtlCol="0" anchor="ctr"/>
          <a:lstStyle/>
          <a:p>
            <a:pPr marL="0" indent="0" algn="l">
              <a:buNone/>
            </a:pPr>
            <a:r>
              <a:rPr lang="es-419" sz="680" b="1" noProof="0" dirty="0">
                <a:solidFill>
                  <a:srgbClr val="211915"/>
                </a:solidFill>
                <a:latin typeface="Calibri" pitchFamily="34" charset="0"/>
                <a:ea typeface="Calibri" pitchFamily="34" charset="-122"/>
                <a:cs typeface="Calibri" pitchFamily="34" charset="-120"/>
              </a:rPr>
              <a:t>Organización, </a:t>
            </a:r>
            <a:r>
              <a:rPr lang="es-419" sz="680" b="1" noProof="0" dirty="0" err="1">
                <a:solidFill>
                  <a:srgbClr val="211915"/>
                </a:solidFill>
                <a:latin typeface="Calibri" pitchFamily="34" charset="0"/>
                <a:ea typeface="Calibri" pitchFamily="34" charset="-122"/>
                <a:cs typeface="Calibri" pitchFamily="34" charset="-120"/>
              </a:rPr>
              <a:t>cost</a:t>
            </a:r>
            <a:r>
              <a:rPr lang="es-419" sz="680" b="1" noProof="0" dirty="0">
                <a:solidFill>
                  <a:srgbClr val="211915"/>
                </a:solidFill>
                <a:latin typeface="Calibri" pitchFamily="34" charset="0"/>
                <a:ea typeface="Calibri" pitchFamily="34" charset="-122"/>
                <a:cs typeface="Calibri" pitchFamily="34" charset="-120"/>
              </a:rPr>
              <a:t> center y </a:t>
            </a:r>
            <a:r>
              <a:rPr lang="es-419" sz="680" b="1" noProof="0" dirty="0" err="1">
                <a:solidFill>
                  <a:srgbClr val="211915"/>
                </a:solidFill>
                <a:latin typeface="Calibri" pitchFamily="34" charset="0"/>
                <a:ea typeface="Calibri" pitchFamily="34" charset="-122"/>
                <a:cs typeface="Calibri" pitchFamily="34" charset="-120"/>
              </a:rPr>
              <a:t>enterprise</a:t>
            </a:r>
            <a:r>
              <a:rPr lang="es-419" sz="680" b="1" noProof="0" dirty="0">
                <a:solidFill>
                  <a:srgbClr val="211915"/>
                </a:solidFill>
                <a:latin typeface="Calibri" pitchFamily="34" charset="0"/>
                <a:ea typeface="Calibri" pitchFamily="34" charset="-122"/>
                <a:cs typeface="Calibri" pitchFamily="34" charset="-120"/>
              </a:rPr>
              <a:t> controlan principalmente el consumo medido después de agotar el pool compartido. Para que detengan el consumo debe habilitarse 'Stop </a:t>
            </a:r>
            <a:r>
              <a:rPr lang="es-419" sz="680" b="1" noProof="0" dirty="0" err="1">
                <a:solidFill>
                  <a:srgbClr val="211915"/>
                </a:solidFill>
                <a:latin typeface="Calibri" pitchFamily="34" charset="0"/>
                <a:ea typeface="Calibri" pitchFamily="34" charset="-122"/>
                <a:cs typeface="Calibri" pitchFamily="34" charset="-120"/>
              </a:rPr>
              <a:t>usage</a:t>
            </a:r>
            <a:r>
              <a:rPr lang="es-419" sz="680" b="1" noProof="0" dirty="0">
                <a:solidFill>
                  <a:srgbClr val="211915"/>
                </a:solidFill>
                <a:latin typeface="Calibri" pitchFamily="34" charset="0"/>
                <a:ea typeface="Calibri" pitchFamily="34" charset="-122"/>
                <a:cs typeface="Calibri" pitchFamily="34" charset="-120"/>
              </a:rPr>
              <a:t> </a:t>
            </a:r>
            <a:r>
              <a:rPr lang="es-419" sz="680" b="1" noProof="0" dirty="0" err="1">
                <a:solidFill>
                  <a:srgbClr val="211915"/>
                </a:solidFill>
                <a:latin typeface="Calibri" pitchFamily="34" charset="0"/>
                <a:ea typeface="Calibri" pitchFamily="34" charset="-122"/>
                <a:cs typeface="Calibri" pitchFamily="34" charset="-120"/>
              </a:rPr>
              <a:t>when</a:t>
            </a:r>
            <a:r>
              <a:rPr lang="es-419" sz="680" b="1" noProof="0" dirty="0">
                <a:solidFill>
                  <a:srgbClr val="211915"/>
                </a:solidFill>
                <a:latin typeface="Calibri" pitchFamily="34" charset="0"/>
                <a:ea typeface="Calibri" pitchFamily="34" charset="-122"/>
                <a:cs typeface="Calibri" pitchFamily="34" charset="-120"/>
              </a:rPr>
              <a:t> </a:t>
            </a:r>
            <a:r>
              <a:rPr lang="es-419" sz="680" b="1" noProof="0" dirty="0" err="1">
                <a:solidFill>
                  <a:srgbClr val="211915"/>
                </a:solidFill>
                <a:latin typeface="Calibri" pitchFamily="34" charset="0"/>
                <a:ea typeface="Calibri" pitchFamily="34" charset="-122"/>
                <a:cs typeface="Calibri" pitchFamily="34" charset="-120"/>
              </a:rPr>
              <a:t>budget</a:t>
            </a:r>
            <a:r>
              <a:rPr lang="es-419" sz="680" b="1" noProof="0" dirty="0">
                <a:solidFill>
                  <a:srgbClr val="211915"/>
                </a:solidFill>
                <a:latin typeface="Calibri" pitchFamily="34" charset="0"/>
                <a:ea typeface="Calibri" pitchFamily="34" charset="-122"/>
                <a:cs typeface="Calibri" pitchFamily="34" charset="-120"/>
              </a:rPr>
              <a:t> </a:t>
            </a:r>
            <a:r>
              <a:rPr lang="es-419" sz="680" b="1" noProof="0" dirty="0" err="1">
                <a:solidFill>
                  <a:srgbClr val="211915"/>
                </a:solidFill>
                <a:latin typeface="Calibri" pitchFamily="34" charset="0"/>
                <a:ea typeface="Calibri" pitchFamily="34" charset="-122"/>
                <a:cs typeface="Calibri" pitchFamily="34" charset="-120"/>
              </a:rPr>
              <a:t>limit</a:t>
            </a:r>
            <a:r>
              <a:rPr lang="es-419" sz="680" b="1" noProof="0" dirty="0">
                <a:solidFill>
                  <a:srgbClr val="211915"/>
                </a:solidFill>
                <a:latin typeface="Calibri" pitchFamily="34" charset="0"/>
                <a:ea typeface="Calibri" pitchFamily="34" charset="-122"/>
                <a:cs typeface="Calibri" pitchFamily="34" charset="-120"/>
              </a:rPr>
              <a:t> </a:t>
            </a:r>
            <a:r>
              <a:rPr lang="es-419" sz="680" b="1" noProof="0" dirty="0" err="1">
                <a:solidFill>
                  <a:srgbClr val="211915"/>
                </a:solidFill>
                <a:latin typeface="Calibri" pitchFamily="34" charset="0"/>
                <a:ea typeface="Calibri" pitchFamily="34" charset="-122"/>
                <a:cs typeface="Calibri" pitchFamily="34" charset="-120"/>
              </a:rPr>
              <a:t>is</a:t>
            </a:r>
            <a:r>
              <a:rPr lang="es-419" sz="680" b="1" noProof="0" dirty="0">
                <a:solidFill>
                  <a:srgbClr val="211915"/>
                </a:solidFill>
                <a:latin typeface="Calibri" pitchFamily="34" charset="0"/>
                <a:ea typeface="Calibri" pitchFamily="34" charset="-122"/>
                <a:cs typeface="Calibri" pitchFamily="34" charset="-120"/>
              </a:rPr>
              <a:t> </a:t>
            </a:r>
            <a:r>
              <a:rPr lang="es-419" sz="680" b="1" noProof="0" dirty="0" err="1">
                <a:solidFill>
                  <a:srgbClr val="211915"/>
                </a:solidFill>
                <a:latin typeface="Calibri" pitchFamily="34" charset="0"/>
                <a:ea typeface="Calibri" pitchFamily="34" charset="-122"/>
                <a:cs typeface="Calibri" pitchFamily="34" charset="-120"/>
              </a:rPr>
              <a:t>reached</a:t>
            </a:r>
            <a:r>
              <a:rPr lang="es-419" sz="680" b="1" noProof="0" dirty="0">
                <a:solidFill>
                  <a:srgbClr val="211915"/>
                </a:solidFill>
                <a:latin typeface="Calibri" pitchFamily="34" charset="0"/>
                <a:ea typeface="Calibri" pitchFamily="34" charset="-122"/>
                <a:cs typeface="Calibri" pitchFamily="34" charset="-120"/>
              </a:rPr>
              <a:t>'; si no, el límite funciona como alerta y los cargos pueden continuar acumulándose.</a:t>
            </a:r>
            <a:endParaRPr lang="es-419" sz="680" noProof="0" dirty="0"/>
          </a:p>
        </p:txBody>
      </p:sp>
      <p:sp>
        <p:nvSpPr>
          <p:cNvPr id="36" name="card">
            <a:extLst>
              <a:ext uri="{C183D7F6-B498-43B3-948B-1728B52AA6E4}">
                <adec:decorative xmlns:adec="http://schemas.microsoft.com/office/drawing/2017/decorative" val="1"/>
              </a:ext>
            </a:extLst>
          </p:cNvPr>
          <p:cNvSpPr/>
          <p:nvPr/>
        </p:nvSpPr>
        <p:spPr>
          <a:xfrm>
            <a:off x="7808976" y="4453128"/>
            <a:ext cx="3456432" cy="4572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37" name="bullet">
            <a:extLst>
              <a:ext uri="{C183D7F6-B498-43B3-948B-1728B52AA6E4}">
                <adec:decorative xmlns:adec="http://schemas.microsoft.com/office/drawing/2017/decorative" val="1"/>
              </a:ext>
            </a:extLst>
          </p:cNvPr>
          <p:cNvSpPr/>
          <p:nvPr/>
        </p:nvSpPr>
        <p:spPr>
          <a:xfrm>
            <a:off x="7955280" y="4617720"/>
            <a:ext cx="128016" cy="128016"/>
          </a:xfrm>
          <a:prstGeom prst="ellipse">
            <a:avLst/>
          </a:prstGeom>
          <a:solidFill>
            <a:srgbClr val="ED1C29"/>
          </a:solidFill>
          <a:ln/>
        </p:spPr>
        <p:txBody>
          <a:bodyPr/>
          <a:lstStyle/>
          <a:p>
            <a:endParaRPr lang="es-419" noProof="0" dirty="0"/>
          </a:p>
        </p:txBody>
      </p:sp>
      <p:sp>
        <p:nvSpPr>
          <p:cNvPr id="38" name="Text 36"/>
          <p:cNvSpPr/>
          <p:nvPr/>
        </p:nvSpPr>
        <p:spPr>
          <a:xfrm>
            <a:off x="8193024" y="4481972"/>
            <a:ext cx="3035808" cy="457200"/>
          </a:xfrm>
          <a:prstGeom prst="rect">
            <a:avLst/>
          </a:prstGeom>
          <a:noFill/>
          <a:ln/>
        </p:spPr>
        <p:txBody>
          <a:bodyPr wrap="square" lIns="0" tIns="0" rIns="0" bIns="0" rtlCol="0" anchor="ctr"/>
          <a:lstStyle/>
          <a:p>
            <a:pPr marL="0" indent="0" algn="l">
              <a:buNone/>
            </a:pPr>
            <a:r>
              <a:rPr lang="es-419" sz="680" b="1" noProof="0" dirty="0">
                <a:solidFill>
                  <a:srgbClr val="211915"/>
                </a:solidFill>
                <a:latin typeface="Calibri" pitchFamily="34" charset="0"/>
                <a:ea typeface="Calibri" pitchFamily="34" charset="-122"/>
                <a:cs typeface="Calibri" pitchFamily="34" charset="-120"/>
              </a:rPr>
              <a:t>Para que exista consumo adicional facturable también debe estar habilitada la política 'AI </a:t>
            </a:r>
            <a:r>
              <a:rPr lang="es-419" sz="680" b="1" noProof="0" dirty="0" err="1">
                <a:solidFill>
                  <a:srgbClr val="211915"/>
                </a:solidFill>
                <a:latin typeface="Calibri" pitchFamily="34" charset="0"/>
                <a:ea typeface="Calibri" pitchFamily="34" charset="-122"/>
                <a:cs typeface="Calibri" pitchFamily="34" charset="-120"/>
              </a:rPr>
              <a:t>credit</a:t>
            </a:r>
            <a:r>
              <a:rPr lang="es-419" sz="680" b="1" noProof="0" dirty="0">
                <a:solidFill>
                  <a:srgbClr val="211915"/>
                </a:solidFill>
                <a:latin typeface="Calibri" pitchFamily="34" charset="0"/>
                <a:ea typeface="Calibri" pitchFamily="34" charset="-122"/>
                <a:cs typeface="Calibri" pitchFamily="34" charset="-120"/>
              </a:rPr>
              <a:t> </a:t>
            </a:r>
            <a:r>
              <a:rPr lang="es-419" sz="680" b="1" noProof="0" dirty="0" err="1">
                <a:solidFill>
                  <a:srgbClr val="211915"/>
                </a:solidFill>
                <a:latin typeface="Calibri" pitchFamily="34" charset="0"/>
                <a:ea typeface="Calibri" pitchFamily="34" charset="-122"/>
                <a:cs typeface="Calibri" pitchFamily="34" charset="-120"/>
              </a:rPr>
              <a:t>paid</a:t>
            </a:r>
            <a:r>
              <a:rPr lang="es-419" sz="680" b="1" noProof="0" dirty="0">
                <a:solidFill>
                  <a:srgbClr val="211915"/>
                </a:solidFill>
                <a:latin typeface="Calibri" pitchFamily="34" charset="0"/>
                <a:ea typeface="Calibri" pitchFamily="34" charset="-122"/>
                <a:cs typeface="Calibri" pitchFamily="34" charset="-120"/>
              </a:rPr>
              <a:t> </a:t>
            </a:r>
            <a:r>
              <a:rPr lang="es-419" sz="680" b="1" noProof="0" dirty="0" err="1">
                <a:solidFill>
                  <a:srgbClr val="211915"/>
                </a:solidFill>
                <a:latin typeface="Calibri" pitchFamily="34" charset="0"/>
                <a:ea typeface="Calibri" pitchFamily="34" charset="-122"/>
                <a:cs typeface="Calibri" pitchFamily="34" charset="-120"/>
              </a:rPr>
              <a:t>usage</a:t>
            </a:r>
            <a:r>
              <a:rPr lang="es-419" sz="680" b="1" noProof="0" dirty="0">
                <a:solidFill>
                  <a:srgbClr val="211915"/>
                </a:solidFill>
                <a:latin typeface="Calibri" pitchFamily="34" charset="0"/>
                <a:ea typeface="Calibri" pitchFamily="34" charset="-122"/>
                <a:cs typeface="Calibri" pitchFamily="34" charset="-120"/>
              </a:rPr>
              <a:t>'. Si esta política permanece deshabilitada, el uso sujeto a AI </a:t>
            </a:r>
            <a:r>
              <a:rPr lang="es-419" sz="680" b="1" noProof="0" dirty="0" err="1">
                <a:solidFill>
                  <a:srgbClr val="211915"/>
                </a:solidFill>
                <a:latin typeface="Calibri" pitchFamily="34" charset="0"/>
                <a:ea typeface="Calibri" pitchFamily="34" charset="-122"/>
                <a:cs typeface="Calibri" pitchFamily="34" charset="-120"/>
              </a:rPr>
              <a:t>Credits</a:t>
            </a:r>
            <a:r>
              <a:rPr lang="es-419" sz="680" b="1" noProof="0" dirty="0">
                <a:solidFill>
                  <a:srgbClr val="211915"/>
                </a:solidFill>
                <a:latin typeface="Calibri" pitchFamily="34" charset="0"/>
                <a:ea typeface="Calibri" pitchFamily="34" charset="-122"/>
                <a:cs typeface="Calibri" pitchFamily="34" charset="-120"/>
              </a:rPr>
              <a:t> se bloquea cuando se agota el pool compartido.</a:t>
            </a:r>
            <a:endParaRPr lang="es-419" sz="680" noProof="0" dirty="0"/>
          </a:p>
        </p:txBody>
      </p:sp>
      <p:sp>
        <p:nvSpPr>
          <p:cNvPr id="39" name="cycle">
            <a:extLst>
              <a:ext uri="{C183D7F6-B498-43B3-948B-1728B52AA6E4}">
                <adec:decorative xmlns:adec="http://schemas.microsoft.com/office/drawing/2017/decorative" val="1"/>
              </a:ext>
            </a:extLst>
          </p:cNvPr>
          <p:cNvSpPr/>
          <p:nvPr/>
        </p:nvSpPr>
        <p:spPr>
          <a:xfrm>
            <a:off x="685800" y="5413248"/>
            <a:ext cx="2327148" cy="658368"/>
          </a:xfrm>
          <a:prstGeom prst="rect">
            <a:avLst/>
          </a:prstGeom>
          <a:solidFill>
            <a:srgbClr val="F4F1EF"/>
          </a:solidFill>
          <a:ln w="12700">
            <a:solidFill>
              <a:srgbClr val="E4DAD6"/>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40" name="Text 38"/>
          <p:cNvSpPr/>
          <p:nvPr/>
        </p:nvSpPr>
        <p:spPr>
          <a:xfrm>
            <a:off x="685800" y="5413248"/>
            <a:ext cx="2327148" cy="658368"/>
          </a:xfrm>
          <a:prstGeom prst="rect">
            <a:avLst/>
          </a:prstGeom>
          <a:noFill/>
          <a:ln/>
        </p:spPr>
        <p:txBody>
          <a:bodyPr wrap="square" lIns="0" tIns="0" rIns="0" bIns="0" rtlCol="0" anchor="ctr"/>
          <a:lstStyle/>
          <a:p>
            <a:pPr marL="0" indent="0" algn="ctr">
              <a:buNone/>
            </a:pPr>
            <a:r>
              <a:rPr lang="es-419" sz="1300" b="1" kern="0" spc="100" noProof="0" dirty="0">
                <a:solidFill>
                  <a:srgbClr val="211915"/>
                </a:solidFill>
                <a:latin typeface="Trebuchet MS" pitchFamily="34" charset="0"/>
                <a:ea typeface="Trebuchet MS" pitchFamily="34" charset="-122"/>
                <a:cs typeface="Trebuchet MS" pitchFamily="34" charset="-120"/>
              </a:rPr>
              <a:t>MONITOREAR</a:t>
            </a:r>
            <a:endParaRPr lang="es-419" sz="1300" noProof="0" dirty="0"/>
          </a:p>
        </p:txBody>
      </p:sp>
      <p:sp>
        <p:nvSpPr>
          <p:cNvPr id="41" name="flow connector">
            <a:extLst>
              <a:ext uri="{C183D7F6-B498-43B3-948B-1728B52AA6E4}">
                <adec:decorative xmlns:adec="http://schemas.microsoft.com/office/drawing/2017/decorative" val="1"/>
              </a:ext>
            </a:extLst>
          </p:cNvPr>
          <p:cNvSpPr/>
          <p:nvPr/>
        </p:nvSpPr>
        <p:spPr>
          <a:xfrm>
            <a:off x="3108960" y="5605272"/>
            <a:ext cx="310896" cy="274320"/>
          </a:xfrm>
          <a:prstGeom prst="chevron">
            <a:avLst/>
          </a:prstGeom>
          <a:solidFill>
            <a:srgbClr val="ED1C29"/>
          </a:solidFill>
          <a:ln/>
        </p:spPr>
        <p:txBody>
          <a:bodyPr/>
          <a:lstStyle/>
          <a:p>
            <a:endParaRPr lang="es-419" noProof="0" dirty="0"/>
          </a:p>
        </p:txBody>
      </p:sp>
      <p:sp>
        <p:nvSpPr>
          <p:cNvPr id="42" name="cycle">
            <a:extLst>
              <a:ext uri="{C183D7F6-B498-43B3-948B-1728B52AA6E4}">
                <adec:decorative xmlns:adec="http://schemas.microsoft.com/office/drawing/2017/decorative" val="1"/>
              </a:ext>
            </a:extLst>
          </p:cNvPr>
          <p:cNvSpPr/>
          <p:nvPr/>
        </p:nvSpPr>
        <p:spPr>
          <a:xfrm>
            <a:off x="3515868" y="5413248"/>
            <a:ext cx="2327148" cy="658368"/>
          </a:xfrm>
          <a:prstGeom prst="rect">
            <a:avLst/>
          </a:prstGeom>
          <a:solidFill>
            <a:srgbClr val="F4F1EF"/>
          </a:solidFill>
          <a:ln w="12700">
            <a:solidFill>
              <a:srgbClr val="E4DAD6"/>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43" name="Text 41"/>
          <p:cNvSpPr/>
          <p:nvPr/>
        </p:nvSpPr>
        <p:spPr>
          <a:xfrm>
            <a:off x="3515868" y="5413248"/>
            <a:ext cx="2327148" cy="658368"/>
          </a:xfrm>
          <a:prstGeom prst="rect">
            <a:avLst/>
          </a:prstGeom>
          <a:noFill/>
          <a:ln/>
        </p:spPr>
        <p:txBody>
          <a:bodyPr wrap="square" lIns="0" tIns="0" rIns="0" bIns="0" rtlCol="0" anchor="ctr"/>
          <a:lstStyle/>
          <a:p>
            <a:pPr marL="0" indent="0" algn="ctr">
              <a:buNone/>
            </a:pPr>
            <a:r>
              <a:rPr lang="es-419" sz="1300" b="1" kern="0" spc="100" noProof="0" dirty="0">
                <a:solidFill>
                  <a:srgbClr val="211915"/>
                </a:solidFill>
                <a:latin typeface="Trebuchet MS" pitchFamily="34" charset="0"/>
                <a:ea typeface="Trebuchet MS" pitchFamily="34" charset="-122"/>
                <a:cs typeface="Trebuchet MS" pitchFamily="34" charset="-120"/>
              </a:rPr>
              <a:t>ALERTAR</a:t>
            </a:r>
            <a:endParaRPr lang="es-419" sz="1300" noProof="0" dirty="0"/>
          </a:p>
        </p:txBody>
      </p:sp>
      <p:sp>
        <p:nvSpPr>
          <p:cNvPr id="44" name="flow connector">
            <a:extLst>
              <a:ext uri="{C183D7F6-B498-43B3-948B-1728B52AA6E4}">
                <adec:decorative xmlns:adec="http://schemas.microsoft.com/office/drawing/2017/decorative" val="1"/>
              </a:ext>
            </a:extLst>
          </p:cNvPr>
          <p:cNvSpPr/>
          <p:nvPr/>
        </p:nvSpPr>
        <p:spPr>
          <a:xfrm>
            <a:off x="5939028" y="5605272"/>
            <a:ext cx="310896" cy="274320"/>
          </a:xfrm>
          <a:prstGeom prst="chevron">
            <a:avLst/>
          </a:prstGeom>
          <a:solidFill>
            <a:srgbClr val="ED1C29"/>
          </a:solidFill>
          <a:ln/>
        </p:spPr>
        <p:txBody>
          <a:bodyPr/>
          <a:lstStyle/>
          <a:p>
            <a:endParaRPr lang="es-419" noProof="0" dirty="0"/>
          </a:p>
        </p:txBody>
      </p:sp>
      <p:sp>
        <p:nvSpPr>
          <p:cNvPr id="45" name="cycle">
            <a:extLst>
              <a:ext uri="{C183D7F6-B498-43B3-948B-1728B52AA6E4}">
                <adec:decorative xmlns:adec="http://schemas.microsoft.com/office/drawing/2017/decorative" val="1"/>
              </a:ext>
            </a:extLst>
          </p:cNvPr>
          <p:cNvSpPr/>
          <p:nvPr/>
        </p:nvSpPr>
        <p:spPr>
          <a:xfrm>
            <a:off x="6345936" y="5413248"/>
            <a:ext cx="2327148" cy="658368"/>
          </a:xfrm>
          <a:prstGeom prst="rect">
            <a:avLst/>
          </a:prstGeom>
          <a:solidFill>
            <a:srgbClr val="F4F1EF"/>
          </a:solidFill>
          <a:ln w="12700">
            <a:solidFill>
              <a:srgbClr val="E4DAD6"/>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46" name="Text 44"/>
          <p:cNvSpPr/>
          <p:nvPr/>
        </p:nvSpPr>
        <p:spPr>
          <a:xfrm>
            <a:off x="6345936" y="5413248"/>
            <a:ext cx="2327148" cy="658368"/>
          </a:xfrm>
          <a:prstGeom prst="rect">
            <a:avLst/>
          </a:prstGeom>
          <a:noFill/>
          <a:ln/>
        </p:spPr>
        <p:txBody>
          <a:bodyPr wrap="square" lIns="0" tIns="0" rIns="0" bIns="0" rtlCol="0" anchor="ctr"/>
          <a:lstStyle/>
          <a:p>
            <a:pPr marL="0" indent="0" algn="ctr">
              <a:buNone/>
            </a:pPr>
            <a:r>
              <a:rPr lang="es-419" sz="1300" b="1" kern="0" spc="100" noProof="0" dirty="0">
                <a:solidFill>
                  <a:srgbClr val="211915"/>
                </a:solidFill>
                <a:latin typeface="Trebuchet MS" pitchFamily="34" charset="0"/>
                <a:ea typeface="Trebuchet MS" pitchFamily="34" charset="-122"/>
                <a:cs typeface="Trebuchet MS" pitchFamily="34" charset="-120"/>
              </a:rPr>
              <a:t>LIMITAR</a:t>
            </a:r>
            <a:endParaRPr lang="es-419" sz="1300" noProof="0" dirty="0"/>
          </a:p>
        </p:txBody>
      </p:sp>
      <p:sp>
        <p:nvSpPr>
          <p:cNvPr id="47" name="flow connector">
            <a:extLst>
              <a:ext uri="{C183D7F6-B498-43B3-948B-1728B52AA6E4}">
                <adec:decorative xmlns:adec="http://schemas.microsoft.com/office/drawing/2017/decorative" val="1"/>
              </a:ext>
            </a:extLst>
          </p:cNvPr>
          <p:cNvSpPr/>
          <p:nvPr/>
        </p:nvSpPr>
        <p:spPr>
          <a:xfrm>
            <a:off x="8769096" y="5605272"/>
            <a:ext cx="310896" cy="274320"/>
          </a:xfrm>
          <a:prstGeom prst="chevron">
            <a:avLst/>
          </a:prstGeom>
          <a:solidFill>
            <a:srgbClr val="ED1C29"/>
          </a:solidFill>
          <a:ln/>
        </p:spPr>
        <p:txBody>
          <a:bodyPr/>
          <a:lstStyle/>
          <a:p>
            <a:endParaRPr lang="es-419" noProof="0" dirty="0"/>
          </a:p>
        </p:txBody>
      </p:sp>
      <p:sp>
        <p:nvSpPr>
          <p:cNvPr id="48" name="cycle">
            <a:extLst>
              <a:ext uri="{C183D7F6-B498-43B3-948B-1728B52AA6E4}">
                <adec:decorative xmlns:adec="http://schemas.microsoft.com/office/drawing/2017/decorative" val="1"/>
              </a:ext>
            </a:extLst>
          </p:cNvPr>
          <p:cNvSpPr/>
          <p:nvPr/>
        </p:nvSpPr>
        <p:spPr>
          <a:xfrm>
            <a:off x="9176004" y="5413248"/>
            <a:ext cx="2327148" cy="658368"/>
          </a:xfrm>
          <a:prstGeom prst="rect">
            <a:avLst/>
          </a:prstGeom>
          <a:solidFill>
            <a:srgbClr val="F4F1EF"/>
          </a:solidFill>
          <a:ln w="12700">
            <a:solidFill>
              <a:srgbClr val="E4DAD6"/>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49" name="Text 47"/>
          <p:cNvSpPr/>
          <p:nvPr/>
        </p:nvSpPr>
        <p:spPr>
          <a:xfrm>
            <a:off x="9176004" y="5413248"/>
            <a:ext cx="2327148" cy="658368"/>
          </a:xfrm>
          <a:prstGeom prst="rect">
            <a:avLst/>
          </a:prstGeom>
          <a:noFill/>
          <a:ln/>
        </p:spPr>
        <p:txBody>
          <a:bodyPr wrap="square" lIns="0" tIns="0" rIns="0" bIns="0" rtlCol="0" anchor="ctr"/>
          <a:lstStyle/>
          <a:p>
            <a:pPr marL="0" indent="0" algn="ctr">
              <a:buNone/>
            </a:pPr>
            <a:r>
              <a:rPr lang="es-419" sz="1300" b="1" kern="0" spc="100" noProof="0" dirty="0">
                <a:solidFill>
                  <a:srgbClr val="211915"/>
                </a:solidFill>
                <a:latin typeface="Trebuchet MS" pitchFamily="34" charset="0"/>
                <a:ea typeface="Trebuchet MS" pitchFamily="34" charset="-122"/>
                <a:cs typeface="Trebuchet MS" pitchFamily="34" charset="-120"/>
              </a:rPr>
              <a:t>AJUSTAR</a:t>
            </a:r>
            <a:endParaRPr lang="es-419" sz="1300" noProof="0" dirty="0"/>
          </a:p>
        </p:txBody>
      </p:sp>
      <p:sp>
        <p:nvSpPr>
          <p:cNvPr id="50" name="Text 48"/>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dirty="0">
                <a:solidFill>
                  <a:srgbClr val="211915"/>
                </a:solidFill>
                <a:latin typeface="Calibri" pitchFamily="34" charset="0"/>
                <a:ea typeface="Calibri" pitchFamily="34" charset="-122"/>
                <a:cs typeface="Calibri" pitchFamily="34" charset="-120"/>
              </a:rPr>
              <a:t>Tuya</a:t>
            </a:r>
            <a:r>
              <a:rPr lang="es-419" sz="850" noProof="0" dirty="0">
                <a:solidFill>
                  <a:srgbClr val="9C938D"/>
                </a:solidFill>
                <a:latin typeface="Calibri" pitchFamily="34" charset="0"/>
                <a:ea typeface="Calibri" pitchFamily="34" charset="-122"/>
                <a:cs typeface="Calibri" pitchFamily="34" charset="-120"/>
              </a:rPr>
              <a:t>   ·   GitHub </a:t>
            </a:r>
            <a:r>
              <a:rPr lang="es-419" sz="850" noProof="0" dirty="0" err="1">
                <a:solidFill>
                  <a:srgbClr val="9C938D"/>
                </a:solidFill>
                <a:latin typeface="Calibri" pitchFamily="34" charset="0"/>
                <a:ea typeface="Calibri" pitchFamily="34" charset="-122"/>
                <a:cs typeface="Calibri" pitchFamily="34" charset="-120"/>
              </a:rPr>
              <a:t>Copilot</a:t>
            </a:r>
            <a:r>
              <a:rPr lang="es-419" sz="850" noProof="0" dirty="0">
                <a:solidFill>
                  <a:srgbClr val="9C938D"/>
                </a:solidFill>
                <a:latin typeface="Calibri" pitchFamily="34" charset="0"/>
                <a:ea typeface="Calibri" pitchFamily="34" charset="-122"/>
                <a:cs typeface="Calibri" pitchFamily="34" charset="-120"/>
              </a:rPr>
              <a:t> - Resultados de la Prueba de Concepto</a:t>
            </a:r>
            <a:endParaRPr lang="es-419" sz="850" noProof="0" dirty="0"/>
          </a:p>
        </p:txBody>
      </p:sp>
      <p:sp>
        <p:nvSpPr>
          <p:cNvPr id="51" name="Text 49"/>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dirty="0">
                <a:solidFill>
                  <a:srgbClr val="ED1C29"/>
                </a:solidFill>
                <a:latin typeface="Trebuchet MS" pitchFamily="34" charset="0"/>
                <a:ea typeface="Trebuchet MS" pitchFamily="34" charset="-122"/>
                <a:cs typeface="Trebuchet MS" pitchFamily="34" charset="-120"/>
              </a:rPr>
              <a:t>08</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ED1C29"/>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dirty="0">
                <a:solidFill>
                  <a:srgbClr val="ED1C29"/>
                </a:solidFill>
                <a:latin typeface="Trebuchet MS" pitchFamily="34" charset="0"/>
                <a:ea typeface="Trebuchet MS" pitchFamily="34" charset="-122"/>
                <a:cs typeface="Trebuchet MS" pitchFamily="34" charset="-120"/>
              </a:rPr>
              <a:t>MODELO DE ADMINISTRACIÓN PROPUESTO</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dirty="0">
                <a:solidFill>
                  <a:srgbClr val="211915"/>
                </a:solidFill>
                <a:latin typeface="Trebuchet MS" pitchFamily="34" charset="0"/>
                <a:ea typeface="Trebuchet MS" pitchFamily="34" charset="-122"/>
                <a:cs typeface="Trebuchet MS" pitchFamily="34" charset="-120"/>
              </a:rPr>
              <a:t>Cómo se administra </a:t>
            </a:r>
            <a:r>
              <a:rPr lang="es-419" sz="2700" b="1" noProof="0" dirty="0" err="1">
                <a:solidFill>
                  <a:srgbClr val="211915"/>
                </a:solidFill>
                <a:latin typeface="Trebuchet MS" pitchFamily="34" charset="0"/>
                <a:ea typeface="Trebuchet MS" pitchFamily="34" charset="-122"/>
                <a:cs typeface="Trebuchet MS" pitchFamily="34" charset="-120"/>
              </a:rPr>
              <a:t>Copilot</a:t>
            </a:r>
            <a:r>
              <a:rPr lang="es-419" sz="2700" b="1" noProof="0" dirty="0">
                <a:solidFill>
                  <a:srgbClr val="211915"/>
                </a:solidFill>
                <a:latin typeface="Trebuchet MS" pitchFamily="34" charset="0"/>
                <a:ea typeface="Trebuchet MS" pitchFamily="34" charset="-122"/>
                <a:cs typeface="Trebuchet MS" pitchFamily="34" charset="-120"/>
              </a:rPr>
              <a:t> de forma central</a:t>
            </a:r>
            <a:endParaRPr lang="es-419" sz="2700" noProof="0" dirty="0"/>
          </a:p>
        </p:txBody>
      </p:sp>
      <p:sp>
        <p:nvSpPr>
          <p:cNvPr id="5" name="stage">
            <a:extLst>
              <a:ext uri="{C183D7F6-B498-43B3-948B-1728B52AA6E4}">
                <adec:decorative xmlns:adec="http://schemas.microsoft.com/office/drawing/2017/decorative" val="1"/>
              </a:ext>
            </a:extLst>
          </p:cNvPr>
          <p:cNvSpPr/>
          <p:nvPr/>
        </p:nvSpPr>
        <p:spPr>
          <a:xfrm>
            <a:off x="685800" y="1310641"/>
            <a:ext cx="4617720" cy="658368"/>
          </a:xfrm>
          <a:prstGeom prst="rect">
            <a:avLst/>
          </a:prstGeom>
          <a:solidFill>
            <a:srgbClr val="ED1C29"/>
          </a:solidFill>
          <a:ln w="12700">
            <a:solidFill>
              <a:srgbClr val="ED1C29"/>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6" name="Text 4"/>
          <p:cNvSpPr/>
          <p:nvPr/>
        </p:nvSpPr>
        <p:spPr>
          <a:xfrm>
            <a:off x="886968" y="1310641"/>
            <a:ext cx="4215384" cy="658368"/>
          </a:xfrm>
          <a:prstGeom prst="rect">
            <a:avLst/>
          </a:prstGeom>
          <a:noFill/>
          <a:ln/>
        </p:spPr>
        <p:txBody>
          <a:bodyPr wrap="square" lIns="0" tIns="0" rIns="0" bIns="0" rtlCol="0" anchor="ctr"/>
          <a:lstStyle/>
          <a:p>
            <a:pPr marL="0" indent="0" algn="ctr">
              <a:buNone/>
            </a:pPr>
            <a:r>
              <a:rPr lang="es-419" sz="1250" b="1" noProof="0" dirty="0">
                <a:solidFill>
                  <a:srgbClr val="FFFFFF"/>
                </a:solidFill>
                <a:latin typeface="Trebuchet MS" pitchFamily="34" charset="0"/>
                <a:ea typeface="Trebuchet MS" pitchFamily="34" charset="-122"/>
                <a:cs typeface="Trebuchet MS" pitchFamily="34" charset="-120"/>
              </a:rPr>
              <a:t>GitHub </a:t>
            </a:r>
            <a:r>
              <a:rPr lang="es-419" sz="1250" b="1" noProof="0" dirty="0" err="1">
                <a:solidFill>
                  <a:srgbClr val="FFFFFF"/>
                </a:solidFill>
                <a:latin typeface="Trebuchet MS" pitchFamily="34" charset="0"/>
                <a:ea typeface="Trebuchet MS" pitchFamily="34" charset="-122"/>
                <a:cs typeface="Trebuchet MS" pitchFamily="34" charset="-120"/>
              </a:rPr>
              <a:t>Copilot</a:t>
            </a:r>
            <a:r>
              <a:rPr lang="es-419" sz="1250" b="1" noProof="0" dirty="0">
                <a:solidFill>
                  <a:srgbClr val="FFFFFF"/>
                </a:solidFill>
                <a:latin typeface="Trebuchet MS" pitchFamily="34" charset="0"/>
                <a:ea typeface="Trebuchet MS" pitchFamily="34" charset="-122"/>
                <a:cs typeface="Trebuchet MS" pitchFamily="34" charset="-120"/>
              </a:rPr>
              <a:t> Enterprise / Business</a:t>
            </a:r>
            <a:endParaRPr lang="es-419" sz="1250" noProof="0" dirty="0"/>
          </a:p>
        </p:txBody>
      </p:sp>
      <p:sp>
        <p:nvSpPr>
          <p:cNvPr id="7" name="flow connector">
            <a:extLst>
              <a:ext uri="{C183D7F6-B498-43B3-948B-1728B52AA6E4}">
                <adec:decorative xmlns:adec="http://schemas.microsoft.com/office/drawing/2017/decorative" val="1"/>
              </a:ext>
            </a:extLst>
          </p:cNvPr>
          <p:cNvSpPr/>
          <p:nvPr/>
        </p:nvSpPr>
        <p:spPr>
          <a:xfrm rot="5400000">
            <a:off x="2866644" y="2005864"/>
            <a:ext cx="256032" cy="237744"/>
          </a:xfrm>
          <a:prstGeom prst="chevron">
            <a:avLst/>
          </a:prstGeom>
          <a:solidFill>
            <a:srgbClr val="ED1C29"/>
          </a:solidFill>
          <a:ln/>
        </p:spPr>
        <p:txBody>
          <a:bodyPr/>
          <a:lstStyle/>
          <a:p>
            <a:endParaRPr lang="es-419" noProof="0" dirty="0"/>
          </a:p>
        </p:txBody>
      </p:sp>
      <p:sp>
        <p:nvSpPr>
          <p:cNvPr id="8" name="stage">
            <a:extLst>
              <a:ext uri="{C183D7F6-B498-43B3-948B-1728B52AA6E4}">
                <adec:decorative xmlns:adec="http://schemas.microsoft.com/office/drawing/2017/decorative" val="1"/>
              </a:ext>
            </a:extLst>
          </p:cNvPr>
          <p:cNvSpPr/>
          <p:nvPr/>
        </p:nvSpPr>
        <p:spPr>
          <a:xfrm>
            <a:off x="685800" y="2283507"/>
            <a:ext cx="4617720" cy="658368"/>
          </a:xfrm>
          <a:prstGeom prst="rect">
            <a:avLst/>
          </a:prstGeom>
          <a:solidFill>
            <a:srgbClr val="F4F1EF"/>
          </a:solidFill>
          <a:ln w="12700">
            <a:solidFill>
              <a:srgbClr val="E4DAD6"/>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9" name="Text 7"/>
          <p:cNvSpPr/>
          <p:nvPr/>
        </p:nvSpPr>
        <p:spPr>
          <a:xfrm>
            <a:off x="886968" y="2283507"/>
            <a:ext cx="4215384" cy="658368"/>
          </a:xfrm>
          <a:prstGeom prst="rect">
            <a:avLst/>
          </a:prstGeom>
          <a:noFill/>
          <a:ln/>
        </p:spPr>
        <p:txBody>
          <a:bodyPr wrap="square" lIns="0" tIns="0" rIns="0" bIns="0" rtlCol="0" anchor="ctr"/>
          <a:lstStyle/>
          <a:p>
            <a:pPr marL="0" indent="0" algn="ctr">
              <a:buNone/>
            </a:pPr>
            <a:r>
              <a:rPr lang="es-419" sz="1250" b="1" noProof="0" dirty="0">
                <a:solidFill>
                  <a:srgbClr val="211915"/>
                </a:solidFill>
                <a:latin typeface="Trebuchet MS" pitchFamily="34" charset="0"/>
                <a:ea typeface="Trebuchet MS" pitchFamily="34" charset="-122"/>
                <a:cs typeface="Trebuchet MS" pitchFamily="34" charset="-120"/>
              </a:rPr>
              <a:t>Administración central</a:t>
            </a:r>
            <a:endParaRPr lang="es-419" sz="1250" noProof="0" dirty="0"/>
          </a:p>
        </p:txBody>
      </p:sp>
      <p:sp>
        <p:nvSpPr>
          <p:cNvPr id="10" name="flow connector">
            <a:extLst>
              <a:ext uri="{C183D7F6-B498-43B3-948B-1728B52AA6E4}">
                <adec:decorative xmlns:adec="http://schemas.microsoft.com/office/drawing/2017/decorative" val="1"/>
              </a:ext>
            </a:extLst>
          </p:cNvPr>
          <p:cNvSpPr/>
          <p:nvPr/>
        </p:nvSpPr>
        <p:spPr>
          <a:xfrm rot="5400000">
            <a:off x="2866644" y="2951018"/>
            <a:ext cx="256032" cy="237744"/>
          </a:xfrm>
          <a:prstGeom prst="chevron">
            <a:avLst/>
          </a:prstGeom>
          <a:solidFill>
            <a:srgbClr val="ED1C29"/>
          </a:solidFill>
          <a:ln/>
        </p:spPr>
        <p:txBody>
          <a:bodyPr/>
          <a:lstStyle/>
          <a:p>
            <a:endParaRPr lang="es-419" noProof="0" dirty="0"/>
          </a:p>
        </p:txBody>
      </p:sp>
      <p:sp>
        <p:nvSpPr>
          <p:cNvPr id="11" name="stage">
            <a:extLst>
              <a:ext uri="{C183D7F6-B498-43B3-948B-1728B52AA6E4}">
                <adec:decorative xmlns:adec="http://schemas.microsoft.com/office/drawing/2017/decorative" val="1"/>
              </a:ext>
            </a:extLst>
          </p:cNvPr>
          <p:cNvSpPr/>
          <p:nvPr/>
        </p:nvSpPr>
        <p:spPr>
          <a:xfrm>
            <a:off x="685800" y="3235591"/>
            <a:ext cx="4617720" cy="658368"/>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2" name="Text 10"/>
          <p:cNvSpPr/>
          <p:nvPr/>
        </p:nvSpPr>
        <p:spPr>
          <a:xfrm>
            <a:off x="886968" y="3235591"/>
            <a:ext cx="4215384" cy="658368"/>
          </a:xfrm>
          <a:prstGeom prst="rect">
            <a:avLst/>
          </a:prstGeom>
          <a:noFill/>
          <a:ln/>
        </p:spPr>
        <p:txBody>
          <a:bodyPr wrap="square" lIns="0" tIns="0" rIns="0" bIns="0" rtlCol="0" anchor="ctr"/>
          <a:lstStyle/>
          <a:p>
            <a:pPr marL="0" indent="0" algn="ctr">
              <a:buNone/>
            </a:pPr>
            <a:r>
              <a:rPr lang="es-419" sz="1100" b="1" noProof="0" dirty="0">
                <a:solidFill>
                  <a:srgbClr val="211915"/>
                </a:solidFill>
                <a:latin typeface="Trebuchet MS" pitchFamily="34" charset="0"/>
                <a:ea typeface="Trebuchet MS" pitchFamily="34" charset="-122"/>
                <a:cs typeface="Trebuchet MS" pitchFamily="34" charset="-120"/>
              </a:rPr>
              <a:t>Licencias · Políticas · Modelos · Agentes · Presupuestos</a:t>
            </a:r>
            <a:endParaRPr lang="es-419" sz="1100" noProof="0" dirty="0"/>
          </a:p>
        </p:txBody>
      </p:sp>
      <p:sp>
        <p:nvSpPr>
          <p:cNvPr id="13" name="flow connector">
            <a:extLst>
              <a:ext uri="{C183D7F6-B498-43B3-948B-1728B52AA6E4}">
                <adec:decorative xmlns:adec="http://schemas.microsoft.com/office/drawing/2017/decorative" val="1"/>
              </a:ext>
            </a:extLst>
          </p:cNvPr>
          <p:cNvSpPr/>
          <p:nvPr/>
        </p:nvSpPr>
        <p:spPr>
          <a:xfrm rot="5400000">
            <a:off x="2866644" y="3910031"/>
            <a:ext cx="256032" cy="237744"/>
          </a:xfrm>
          <a:prstGeom prst="chevron">
            <a:avLst/>
          </a:prstGeom>
          <a:solidFill>
            <a:srgbClr val="ED1C29"/>
          </a:solidFill>
          <a:ln/>
        </p:spPr>
        <p:txBody>
          <a:bodyPr/>
          <a:lstStyle/>
          <a:p>
            <a:endParaRPr lang="es-419" noProof="0" dirty="0"/>
          </a:p>
        </p:txBody>
      </p:sp>
      <p:sp>
        <p:nvSpPr>
          <p:cNvPr id="14" name="stage">
            <a:extLst>
              <a:ext uri="{C183D7F6-B498-43B3-948B-1728B52AA6E4}">
                <adec:decorative xmlns:adec="http://schemas.microsoft.com/office/drawing/2017/decorative" val="1"/>
              </a:ext>
            </a:extLst>
          </p:cNvPr>
          <p:cNvSpPr/>
          <p:nvPr/>
        </p:nvSpPr>
        <p:spPr>
          <a:xfrm>
            <a:off x="685800" y="4187676"/>
            <a:ext cx="4617720" cy="658368"/>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5" name="Text 13"/>
          <p:cNvSpPr/>
          <p:nvPr/>
        </p:nvSpPr>
        <p:spPr>
          <a:xfrm>
            <a:off x="886968" y="4187676"/>
            <a:ext cx="4215384" cy="658368"/>
          </a:xfrm>
          <a:prstGeom prst="rect">
            <a:avLst/>
          </a:prstGeom>
          <a:noFill/>
          <a:ln/>
        </p:spPr>
        <p:txBody>
          <a:bodyPr wrap="square" lIns="0" tIns="0" rIns="0" bIns="0" rtlCol="0" anchor="ctr"/>
          <a:lstStyle/>
          <a:p>
            <a:pPr marL="0" indent="0" algn="ctr">
              <a:buNone/>
            </a:pPr>
            <a:r>
              <a:rPr lang="es-419" sz="1250" b="1" noProof="0">
                <a:solidFill>
                  <a:srgbClr val="211915"/>
                </a:solidFill>
                <a:latin typeface="Trebuchet MS" pitchFamily="34" charset="0"/>
                <a:ea typeface="Trebuchet MS" pitchFamily="34" charset="-122"/>
                <a:cs typeface="Trebuchet MS" pitchFamily="34" charset="-120"/>
              </a:rPr>
              <a:t>Consumo</a:t>
            </a:r>
            <a:r>
              <a:rPr lang="es-419" sz="1250" b="1" noProof="0" dirty="0">
                <a:solidFill>
                  <a:srgbClr val="211915"/>
                </a:solidFill>
                <a:latin typeface="Trebuchet MS" pitchFamily="34" charset="0"/>
                <a:ea typeface="Trebuchet MS" pitchFamily="34" charset="-122"/>
                <a:cs typeface="Trebuchet MS" pitchFamily="34" charset="-120"/>
              </a:rPr>
              <a:t> y monitoreo</a:t>
            </a:r>
            <a:endParaRPr lang="es-419" sz="1250" noProof="0" dirty="0"/>
          </a:p>
        </p:txBody>
      </p:sp>
      <p:sp>
        <p:nvSpPr>
          <p:cNvPr id="16" name="flow connector">
            <a:extLst>
              <a:ext uri="{C183D7F6-B498-43B3-948B-1728B52AA6E4}">
                <adec:decorative xmlns:adec="http://schemas.microsoft.com/office/drawing/2017/decorative" val="1"/>
              </a:ext>
            </a:extLst>
          </p:cNvPr>
          <p:cNvSpPr/>
          <p:nvPr/>
        </p:nvSpPr>
        <p:spPr>
          <a:xfrm rot="5400000">
            <a:off x="2866644" y="4869042"/>
            <a:ext cx="256032" cy="237744"/>
          </a:xfrm>
          <a:prstGeom prst="chevron">
            <a:avLst/>
          </a:prstGeom>
          <a:solidFill>
            <a:srgbClr val="ED1C29"/>
          </a:solidFill>
          <a:ln/>
        </p:spPr>
        <p:txBody>
          <a:bodyPr/>
          <a:lstStyle/>
          <a:p>
            <a:endParaRPr lang="es-419" noProof="0" dirty="0"/>
          </a:p>
        </p:txBody>
      </p:sp>
      <p:sp>
        <p:nvSpPr>
          <p:cNvPr id="17" name="stage">
            <a:extLst>
              <a:ext uri="{C183D7F6-B498-43B3-948B-1728B52AA6E4}">
                <adec:decorative xmlns:adec="http://schemas.microsoft.com/office/drawing/2017/decorative" val="1"/>
              </a:ext>
            </a:extLst>
          </p:cNvPr>
          <p:cNvSpPr/>
          <p:nvPr/>
        </p:nvSpPr>
        <p:spPr>
          <a:xfrm>
            <a:off x="685800" y="5132831"/>
            <a:ext cx="4617720" cy="658368"/>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8" name="Text 16"/>
          <p:cNvSpPr/>
          <p:nvPr/>
        </p:nvSpPr>
        <p:spPr>
          <a:xfrm>
            <a:off x="886968" y="5132831"/>
            <a:ext cx="4215384" cy="658368"/>
          </a:xfrm>
          <a:prstGeom prst="rect">
            <a:avLst/>
          </a:prstGeom>
          <a:noFill/>
          <a:ln/>
        </p:spPr>
        <p:txBody>
          <a:bodyPr wrap="square" lIns="0" tIns="0" rIns="0" bIns="0" rtlCol="0" anchor="ctr"/>
          <a:lstStyle/>
          <a:p>
            <a:pPr marL="0" indent="0" algn="ctr">
              <a:buNone/>
            </a:pPr>
            <a:r>
              <a:rPr lang="es-419" sz="1250" b="1" noProof="0" dirty="0">
                <a:solidFill>
                  <a:srgbClr val="211915"/>
                </a:solidFill>
                <a:latin typeface="Trebuchet MS" pitchFamily="34" charset="0"/>
                <a:ea typeface="Trebuchet MS" pitchFamily="34" charset="-122"/>
                <a:cs typeface="Trebuchet MS" pitchFamily="34" charset="-120"/>
              </a:rPr>
              <a:t>Equipos de desarrollo</a:t>
            </a:r>
            <a:endParaRPr lang="es-419" sz="1250" noProof="0" dirty="0"/>
          </a:p>
        </p:txBody>
      </p:sp>
      <p:sp>
        <p:nvSpPr>
          <p:cNvPr id="19" name="Text 17"/>
          <p:cNvSpPr/>
          <p:nvPr/>
        </p:nvSpPr>
        <p:spPr>
          <a:xfrm>
            <a:off x="5806440" y="1664208"/>
            <a:ext cx="5696712" cy="274320"/>
          </a:xfrm>
          <a:prstGeom prst="rect">
            <a:avLst/>
          </a:prstGeom>
          <a:noFill/>
          <a:ln/>
        </p:spPr>
        <p:txBody>
          <a:bodyPr wrap="square" lIns="0" tIns="0" rIns="0" bIns="0" rtlCol="0" anchor="ctr"/>
          <a:lstStyle/>
          <a:p>
            <a:pPr marL="0" indent="0">
              <a:buNone/>
            </a:pPr>
            <a:r>
              <a:rPr lang="es-419" sz="1150" b="1" kern="0" spc="200" noProof="0" dirty="0">
                <a:solidFill>
                  <a:srgbClr val="7A716B"/>
                </a:solidFill>
                <a:latin typeface="Trebuchet MS" pitchFamily="34" charset="0"/>
                <a:ea typeface="Trebuchet MS" pitchFamily="34" charset="-122"/>
                <a:cs typeface="Trebuchet MS" pitchFamily="34" charset="-120"/>
              </a:rPr>
              <a:t>CAPACIDADES DISPONIBLES</a:t>
            </a:r>
            <a:endParaRPr lang="es-419" sz="1150" noProof="0" dirty="0"/>
          </a:p>
        </p:txBody>
      </p:sp>
      <p:sp>
        <p:nvSpPr>
          <p:cNvPr id="20" name="card">
            <a:extLst>
              <a:ext uri="{C183D7F6-B498-43B3-948B-1728B52AA6E4}">
                <adec:decorative xmlns:adec="http://schemas.microsoft.com/office/drawing/2017/decorative" val="1"/>
              </a:ext>
            </a:extLst>
          </p:cNvPr>
          <p:cNvSpPr/>
          <p:nvPr/>
        </p:nvSpPr>
        <p:spPr>
          <a:xfrm>
            <a:off x="5806440" y="2011680"/>
            <a:ext cx="1776984" cy="603504"/>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1" name="accent">
            <a:extLst>
              <a:ext uri="{C183D7F6-B498-43B3-948B-1728B52AA6E4}">
                <adec:decorative xmlns:adec="http://schemas.microsoft.com/office/drawing/2017/decorative" val="1"/>
              </a:ext>
            </a:extLst>
          </p:cNvPr>
          <p:cNvSpPr/>
          <p:nvPr/>
        </p:nvSpPr>
        <p:spPr>
          <a:xfrm>
            <a:off x="5806440" y="2011680"/>
            <a:ext cx="73152" cy="603504"/>
          </a:xfrm>
          <a:prstGeom prst="rect">
            <a:avLst/>
          </a:prstGeom>
          <a:solidFill>
            <a:srgbClr val="ED1C29"/>
          </a:solidFill>
          <a:ln/>
        </p:spPr>
        <p:txBody>
          <a:bodyPr/>
          <a:lstStyle/>
          <a:p>
            <a:endParaRPr lang="es-419" noProof="0" dirty="0"/>
          </a:p>
        </p:txBody>
      </p:sp>
      <p:sp>
        <p:nvSpPr>
          <p:cNvPr id="22" name="Text 20"/>
          <p:cNvSpPr/>
          <p:nvPr/>
        </p:nvSpPr>
        <p:spPr>
          <a:xfrm>
            <a:off x="5989320" y="2011680"/>
            <a:ext cx="1502664" cy="603504"/>
          </a:xfrm>
          <a:prstGeom prst="rect">
            <a:avLst/>
          </a:prstGeom>
          <a:noFill/>
          <a:ln/>
        </p:spPr>
        <p:txBody>
          <a:bodyPr wrap="square" lIns="0" tIns="0" rIns="0" bIns="0" rtlCol="0" anchor="ctr"/>
          <a:lstStyle/>
          <a:p>
            <a:pPr marL="0" indent="0" algn="l">
              <a:buNone/>
            </a:pPr>
            <a:r>
              <a:rPr lang="es-419" sz="1050" b="1" noProof="0" dirty="0">
                <a:solidFill>
                  <a:srgbClr val="211915"/>
                </a:solidFill>
                <a:latin typeface="Calibri" pitchFamily="34" charset="0"/>
                <a:ea typeface="Calibri" pitchFamily="34" charset="-122"/>
                <a:cs typeface="Calibri" pitchFamily="34" charset="-120"/>
              </a:rPr>
              <a:t>Administración de </a:t>
            </a:r>
            <a:r>
              <a:rPr lang="es-419" sz="1050" b="1" noProof="0" dirty="0" err="1">
                <a:solidFill>
                  <a:srgbClr val="211915"/>
                </a:solidFill>
                <a:latin typeface="Calibri" pitchFamily="34" charset="0"/>
                <a:ea typeface="Calibri" pitchFamily="34" charset="-122"/>
                <a:cs typeface="Calibri" pitchFamily="34" charset="-120"/>
              </a:rPr>
              <a:t>seats</a:t>
            </a:r>
            <a:endParaRPr lang="es-419" sz="1050" noProof="0" dirty="0"/>
          </a:p>
        </p:txBody>
      </p:sp>
      <p:sp>
        <p:nvSpPr>
          <p:cNvPr id="23" name="card">
            <a:extLst>
              <a:ext uri="{C183D7F6-B498-43B3-948B-1728B52AA6E4}">
                <adec:decorative xmlns:adec="http://schemas.microsoft.com/office/drawing/2017/decorative" val="1"/>
              </a:ext>
            </a:extLst>
          </p:cNvPr>
          <p:cNvSpPr/>
          <p:nvPr/>
        </p:nvSpPr>
        <p:spPr>
          <a:xfrm>
            <a:off x="7766304" y="2011680"/>
            <a:ext cx="1776984" cy="603504"/>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4" name="accent">
            <a:extLst>
              <a:ext uri="{C183D7F6-B498-43B3-948B-1728B52AA6E4}">
                <adec:decorative xmlns:adec="http://schemas.microsoft.com/office/drawing/2017/decorative" val="1"/>
              </a:ext>
            </a:extLst>
          </p:cNvPr>
          <p:cNvSpPr/>
          <p:nvPr/>
        </p:nvSpPr>
        <p:spPr>
          <a:xfrm>
            <a:off x="7766304" y="2011680"/>
            <a:ext cx="73152" cy="603504"/>
          </a:xfrm>
          <a:prstGeom prst="rect">
            <a:avLst/>
          </a:prstGeom>
          <a:solidFill>
            <a:srgbClr val="ED1C29"/>
          </a:solidFill>
          <a:ln/>
        </p:spPr>
        <p:txBody>
          <a:bodyPr/>
          <a:lstStyle/>
          <a:p>
            <a:endParaRPr lang="es-419" noProof="0" dirty="0"/>
          </a:p>
        </p:txBody>
      </p:sp>
      <p:sp>
        <p:nvSpPr>
          <p:cNvPr id="25" name="Text 23"/>
          <p:cNvSpPr/>
          <p:nvPr/>
        </p:nvSpPr>
        <p:spPr>
          <a:xfrm>
            <a:off x="7949184" y="2011680"/>
            <a:ext cx="1502664" cy="603504"/>
          </a:xfrm>
          <a:prstGeom prst="rect">
            <a:avLst/>
          </a:prstGeom>
          <a:noFill/>
          <a:ln/>
        </p:spPr>
        <p:txBody>
          <a:bodyPr wrap="square" lIns="0" tIns="0" rIns="0" bIns="0" rtlCol="0" anchor="ctr"/>
          <a:lstStyle/>
          <a:p>
            <a:pPr marL="0" indent="0" algn="l">
              <a:buNone/>
            </a:pPr>
            <a:r>
              <a:rPr lang="es-419" sz="1050" b="1" noProof="0" dirty="0">
                <a:solidFill>
                  <a:srgbClr val="211915"/>
                </a:solidFill>
                <a:latin typeface="Calibri" pitchFamily="34" charset="0"/>
                <a:ea typeface="Calibri" pitchFamily="34" charset="-122"/>
                <a:cs typeface="Calibri" pitchFamily="34" charset="-120"/>
              </a:rPr>
              <a:t>Políticas Enterprise</a:t>
            </a:r>
            <a:endParaRPr lang="es-419" sz="1050" noProof="0" dirty="0"/>
          </a:p>
        </p:txBody>
      </p:sp>
      <p:sp>
        <p:nvSpPr>
          <p:cNvPr id="26" name="card">
            <a:extLst>
              <a:ext uri="{C183D7F6-B498-43B3-948B-1728B52AA6E4}">
                <adec:decorative xmlns:adec="http://schemas.microsoft.com/office/drawing/2017/decorative" val="1"/>
              </a:ext>
            </a:extLst>
          </p:cNvPr>
          <p:cNvSpPr/>
          <p:nvPr/>
        </p:nvSpPr>
        <p:spPr>
          <a:xfrm>
            <a:off x="9726168" y="2011680"/>
            <a:ext cx="1776984" cy="603504"/>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27" name="accent">
            <a:extLst>
              <a:ext uri="{C183D7F6-B498-43B3-948B-1728B52AA6E4}">
                <adec:decorative xmlns:adec="http://schemas.microsoft.com/office/drawing/2017/decorative" val="1"/>
              </a:ext>
            </a:extLst>
          </p:cNvPr>
          <p:cNvSpPr/>
          <p:nvPr/>
        </p:nvSpPr>
        <p:spPr>
          <a:xfrm>
            <a:off x="9726168" y="2011680"/>
            <a:ext cx="73152" cy="603504"/>
          </a:xfrm>
          <a:prstGeom prst="rect">
            <a:avLst/>
          </a:prstGeom>
          <a:solidFill>
            <a:srgbClr val="ED1C29"/>
          </a:solidFill>
          <a:ln/>
        </p:spPr>
        <p:txBody>
          <a:bodyPr/>
          <a:lstStyle/>
          <a:p>
            <a:endParaRPr lang="es-419" noProof="0" dirty="0"/>
          </a:p>
        </p:txBody>
      </p:sp>
      <p:sp>
        <p:nvSpPr>
          <p:cNvPr id="28" name="Text 26"/>
          <p:cNvSpPr/>
          <p:nvPr/>
        </p:nvSpPr>
        <p:spPr>
          <a:xfrm>
            <a:off x="9909048" y="2011680"/>
            <a:ext cx="1502664" cy="603504"/>
          </a:xfrm>
          <a:prstGeom prst="rect">
            <a:avLst/>
          </a:prstGeom>
          <a:noFill/>
          <a:ln/>
        </p:spPr>
        <p:txBody>
          <a:bodyPr wrap="square" lIns="0" tIns="0" rIns="0" bIns="0" rtlCol="0" anchor="ctr"/>
          <a:lstStyle/>
          <a:p>
            <a:pPr marL="0" indent="0" algn="l">
              <a:buNone/>
            </a:pPr>
            <a:r>
              <a:rPr lang="es-419" sz="1050" b="1" noProof="0" dirty="0">
                <a:solidFill>
                  <a:srgbClr val="211915"/>
                </a:solidFill>
                <a:latin typeface="Calibri" pitchFamily="34" charset="0"/>
                <a:ea typeface="Calibri" pitchFamily="34" charset="-122"/>
                <a:cs typeface="Calibri" pitchFamily="34" charset="-120"/>
              </a:rPr>
              <a:t>Políticas </a:t>
            </a:r>
            <a:r>
              <a:rPr lang="es-419" sz="1050" b="1" noProof="0" dirty="0" err="1">
                <a:solidFill>
                  <a:srgbClr val="211915"/>
                </a:solidFill>
                <a:latin typeface="Calibri" pitchFamily="34" charset="0"/>
                <a:ea typeface="Calibri" pitchFamily="34" charset="-122"/>
                <a:cs typeface="Calibri" pitchFamily="34" charset="-120"/>
              </a:rPr>
              <a:t>Organization</a:t>
            </a:r>
            <a:endParaRPr lang="es-419" sz="1050" noProof="0" dirty="0"/>
          </a:p>
        </p:txBody>
      </p:sp>
      <p:sp>
        <p:nvSpPr>
          <p:cNvPr id="29" name="card">
            <a:extLst>
              <a:ext uri="{C183D7F6-B498-43B3-948B-1728B52AA6E4}">
                <adec:decorative xmlns:adec="http://schemas.microsoft.com/office/drawing/2017/decorative" val="1"/>
              </a:ext>
            </a:extLst>
          </p:cNvPr>
          <p:cNvSpPr/>
          <p:nvPr/>
        </p:nvSpPr>
        <p:spPr>
          <a:xfrm>
            <a:off x="5806440" y="2779776"/>
            <a:ext cx="1776984" cy="603504"/>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30" name="accent">
            <a:extLst>
              <a:ext uri="{C183D7F6-B498-43B3-948B-1728B52AA6E4}">
                <adec:decorative xmlns:adec="http://schemas.microsoft.com/office/drawing/2017/decorative" val="1"/>
              </a:ext>
            </a:extLst>
          </p:cNvPr>
          <p:cNvSpPr/>
          <p:nvPr/>
        </p:nvSpPr>
        <p:spPr>
          <a:xfrm>
            <a:off x="5806440" y="2779776"/>
            <a:ext cx="73152" cy="603504"/>
          </a:xfrm>
          <a:prstGeom prst="rect">
            <a:avLst/>
          </a:prstGeom>
          <a:solidFill>
            <a:srgbClr val="ED1C29"/>
          </a:solidFill>
          <a:ln/>
        </p:spPr>
        <p:txBody>
          <a:bodyPr/>
          <a:lstStyle/>
          <a:p>
            <a:endParaRPr lang="es-419" noProof="0" dirty="0"/>
          </a:p>
        </p:txBody>
      </p:sp>
      <p:sp>
        <p:nvSpPr>
          <p:cNvPr id="31" name="Text 29"/>
          <p:cNvSpPr/>
          <p:nvPr/>
        </p:nvSpPr>
        <p:spPr>
          <a:xfrm>
            <a:off x="5989320" y="2779776"/>
            <a:ext cx="1502664" cy="603504"/>
          </a:xfrm>
          <a:prstGeom prst="rect">
            <a:avLst/>
          </a:prstGeom>
          <a:noFill/>
          <a:ln/>
        </p:spPr>
        <p:txBody>
          <a:bodyPr wrap="square" lIns="0" tIns="0" rIns="0" bIns="0" rtlCol="0" anchor="ctr"/>
          <a:lstStyle/>
          <a:p>
            <a:pPr marL="0" indent="0" algn="l">
              <a:buNone/>
            </a:pPr>
            <a:r>
              <a:rPr lang="es-419" sz="1050" b="1" noProof="0" dirty="0">
                <a:solidFill>
                  <a:srgbClr val="211915"/>
                </a:solidFill>
                <a:latin typeface="Calibri" pitchFamily="34" charset="0"/>
                <a:ea typeface="Calibri" pitchFamily="34" charset="-122"/>
                <a:cs typeface="Calibri" pitchFamily="34" charset="-120"/>
              </a:rPr>
              <a:t>Administración de modelos</a:t>
            </a:r>
            <a:endParaRPr lang="es-419" sz="1050" noProof="0" dirty="0"/>
          </a:p>
        </p:txBody>
      </p:sp>
      <p:sp>
        <p:nvSpPr>
          <p:cNvPr id="32" name="card">
            <a:extLst>
              <a:ext uri="{C183D7F6-B498-43B3-948B-1728B52AA6E4}">
                <adec:decorative xmlns:adec="http://schemas.microsoft.com/office/drawing/2017/decorative" val="1"/>
              </a:ext>
            </a:extLst>
          </p:cNvPr>
          <p:cNvSpPr/>
          <p:nvPr/>
        </p:nvSpPr>
        <p:spPr>
          <a:xfrm>
            <a:off x="7766304" y="2779776"/>
            <a:ext cx="1776984" cy="603504"/>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33" name="accent">
            <a:extLst>
              <a:ext uri="{C183D7F6-B498-43B3-948B-1728B52AA6E4}">
                <adec:decorative xmlns:adec="http://schemas.microsoft.com/office/drawing/2017/decorative" val="1"/>
              </a:ext>
            </a:extLst>
          </p:cNvPr>
          <p:cNvSpPr/>
          <p:nvPr/>
        </p:nvSpPr>
        <p:spPr>
          <a:xfrm>
            <a:off x="7766304" y="2779776"/>
            <a:ext cx="73152" cy="603504"/>
          </a:xfrm>
          <a:prstGeom prst="rect">
            <a:avLst/>
          </a:prstGeom>
          <a:solidFill>
            <a:srgbClr val="ED1C29"/>
          </a:solidFill>
          <a:ln/>
        </p:spPr>
        <p:txBody>
          <a:bodyPr/>
          <a:lstStyle/>
          <a:p>
            <a:endParaRPr lang="es-419" noProof="0" dirty="0"/>
          </a:p>
        </p:txBody>
      </p:sp>
      <p:sp>
        <p:nvSpPr>
          <p:cNvPr id="34" name="Text 32"/>
          <p:cNvSpPr/>
          <p:nvPr/>
        </p:nvSpPr>
        <p:spPr>
          <a:xfrm>
            <a:off x="7949184" y="2779776"/>
            <a:ext cx="1502664" cy="603504"/>
          </a:xfrm>
          <a:prstGeom prst="rect">
            <a:avLst/>
          </a:prstGeom>
          <a:noFill/>
          <a:ln/>
        </p:spPr>
        <p:txBody>
          <a:bodyPr wrap="square" lIns="0" tIns="0" rIns="0" bIns="0" rtlCol="0" anchor="ctr"/>
          <a:lstStyle/>
          <a:p>
            <a:pPr marL="0" indent="0" algn="l">
              <a:buNone/>
            </a:pPr>
            <a:r>
              <a:rPr lang="es-419" sz="1050" b="1" noProof="0" dirty="0">
                <a:solidFill>
                  <a:srgbClr val="211915"/>
                </a:solidFill>
                <a:latin typeface="Calibri" pitchFamily="34" charset="0"/>
                <a:ea typeface="Calibri" pitchFamily="34" charset="-122"/>
                <a:cs typeface="Calibri" pitchFamily="34" charset="-120"/>
              </a:rPr>
              <a:t>Administración de agentes</a:t>
            </a:r>
            <a:endParaRPr lang="es-419" sz="1050" noProof="0" dirty="0"/>
          </a:p>
        </p:txBody>
      </p:sp>
      <p:sp>
        <p:nvSpPr>
          <p:cNvPr id="35" name="card">
            <a:extLst>
              <a:ext uri="{C183D7F6-B498-43B3-948B-1728B52AA6E4}">
                <adec:decorative xmlns:adec="http://schemas.microsoft.com/office/drawing/2017/decorative" val="1"/>
              </a:ext>
            </a:extLst>
          </p:cNvPr>
          <p:cNvSpPr/>
          <p:nvPr/>
        </p:nvSpPr>
        <p:spPr>
          <a:xfrm>
            <a:off x="9726168" y="2779776"/>
            <a:ext cx="1776984" cy="603504"/>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36" name="accent">
            <a:extLst>
              <a:ext uri="{C183D7F6-B498-43B3-948B-1728B52AA6E4}">
                <adec:decorative xmlns:adec="http://schemas.microsoft.com/office/drawing/2017/decorative" val="1"/>
              </a:ext>
            </a:extLst>
          </p:cNvPr>
          <p:cNvSpPr/>
          <p:nvPr/>
        </p:nvSpPr>
        <p:spPr>
          <a:xfrm>
            <a:off x="9726168" y="2779776"/>
            <a:ext cx="73152" cy="603504"/>
          </a:xfrm>
          <a:prstGeom prst="rect">
            <a:avLst/>
          </a:prstGeom>
          <a:solidFill>
            <a:srgbClr val="ED1C29"/>
          </a:solidFill>
          <a:ln/>
        </p:spPr>
        <p:txBody>
          <a:bodyPr/>
          <a:lstStyle/>
          <a:p>
            <a:endParaRPr lang="es-419" noProof="0" dirty="0"/>
          </a:p>
        </p:txBody>
      </p:sp>
      <p:sp>
        <p:nvSpPr>
          <p:cNvPr id="37" name="Text 35"/>
          <p:cNvSpPr/>
          <p:nvPr/>
        </p:nvSpPr>
        <p:spPr>
          <a:xfrm>
            <a:off x="9909048" y="2779776"/>
            <a:ext cx="1502664" cy="603504"/>
          </a:xfrm>
          <a:prstGeom prst="rect">
            <a:avLst/>
          </a:prstGeom>
          <a:noFill/>
          <a:ln/>
        </p:spPr>
        <p:txBody>
          <a:bodyPr wrap="square" lIns="0" tIns="0" rIns="0" bIns="0" rtlCol="0" anchor="ctr"/>
          <a:lstStyle/>
          <a:p>
            <a:pPr marL="0" indent="0" algn="l">
              <a:buNone/>
            </a:pPr>
            <a:r>
              <a:rPr lang="es-419" sz="1050" b="1" noProof="0" dirty="0">
                <a:solidFill>
                  <a:srgbClr val="211915"/>
                </a:solidFill>
                <a:latin typeface="Calibri" pitchFamily="34" charset="0"/>
                <a:ea typeface="Calibri" pitchFamily="34" charset="-122"/>
                <a:cs typeface="Calibri" pitchFamily="34" charset="-120"/>
              </a:rPr>
              <a:t>Monitoreo de consumo de AI </a:t>
            </a:r>
            <a:r>
              <a:rPr lang="es-419" sz="1050" b="1" noProof="0" dirty="0" err="1">
                <a:solidFill>
                  <a:srgbClr val="211915"/>
                </a:solidFill>
                <a:latin typeface="Calibri" pitchFamily="34" charset="0"/>
                <a:ea typeface="Calibri" pitchFamily="34" charset="-122"/>
                <a:cs typeface="Calibri" pitchFamily="34" charset="-120"/>
              </a:rPr>
              <a:t>Credits</a:t>
            </a:r>
            <a:endParaRPr lang="es-419" sz="1050" noProof="0" dirty="0"/>
          </a:p>
        </p:txBody>
      </p:sp>
      <p:sp>
        <p:nvSpPr>
          <p:cNvPr id="38" name="card">
            <a:extLst>
              <a:ext uri="{C183D7F6-B498-43B3-948B-1728B52AA6E4}">
                <adec:decorative xmlns:adec="http://schemas.microsoft.com/office/drawing/2017/decorative" val="1"/>
              </a:ext>
            </a:extLst>
          </p:cNvPr>
          <p:cNvSpPr/>
          <p:nvPr/>
        </p:nvSpPr>
        <p:spPr>
          <a:xfrm>
            <a:off x="5806440" y="3547872"/>
            <a:ext cx="1776984" cy="603504"/>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39" name="accent">
            <a:extLst>
              <a:ext uri="{C183D7F6-B498-43B3-948B-1728B52AA6E4}">
                <adec:decorative xmlns:adec="http://schemas.microsoft.com/office/drawing/2017/decorative" val="1"/>
              </a:ext>
            </a:extLst>
          </p:cNvPr>
          <p:cNvSpPr/>
          <p:nvPr/>
        </p:nvSpPr>
        <p:spPr>
          <a:xfrm>
            <a:off x="5806440" y="3547872"/>
            <a:ext cx="73152" cy="603504"/>
          </a:xfrm>
          <a:prstGeom prst="rect">
            <a:avLst/>
          </a:prstGeom>
          <a:solidFill>
            <a:srgbClr val="ED1C29"/>
          </a:solidFill>
          <a:ln/>
        </p:spPr>
        <p:txBody>
          <a:bodyPr/>
          <a:lstStyle/>
          <a:p>
            <a:endParaRPr lang="es-419" noProof="0" dirty="0"/>
          </a:p>
        </p:txBody>
      </p:sp>
      <p:sp>
        <p:nvSpPr>
          <p:cNvPr id="40" name="Text 38"/>
          <p:cNvSpPr/>
          <p:nvPr/>
        </p:nvSpPr>
        <p:spPr>
          <a:xfrm>
            <a:off x="5989320" y="3547872"/>
            <a:ext cx="1502664" cy="603504"/>
          </a:xfrm>
          <a:prstGeom prst="rect">
            <a:avLst/>
          </a:prstGeom>
          <a:noFill/>
          <a:ln/>
        </p:spPr>
        <p:txBody>
          <a:bodyPr wrap="square" lIns="0" tIns="0" rIns="0" bIns="0" rtlCol="0" anchor="ctr"/>
          <a:lstStyle/>
          <a:p>
            <a:pPr marL="0" indent="0" algn="l">
              <a:buNone/>
            </a:pPr>
            <a:r>
              <a:rPr lang="es-419" sz="1050" b="1" noProof="0" dirty="0">
                <a:solidFill>
                  <a:srgbClr val="211915"/>
                </a:solidFill>
                <a:latin typeface="Calibri" pitchFamily="34" charset="0"/>
                <a:ea typeface="Calibri" pitchFamily="34" charset="-122"/>
                <a:cs typeface="Calibri" pitchFamily="34" charset="-120"/>
              </a:rPr>
              <a:t>Reportes/API de consumo y facturación</a:t>
            </a:r>
            <a:endParaRPr lang="es-419" sz="1050" noProof="0" dirty="0"/>
          </a:p>
        </p:txBody>
      </p:sp>
      <p:sp>
        <p:nvSpPr>
          <p:cNvPr id="41" name="card">
            <a:extLst>
              <a:ext uri="{C183D7F6-B498-43B3-948B-1728B52AA6E4}">
                <adec:decorative xmlns:adec="http://schemas.microsoft.com/office/drawing/2017/decorative" val="1"/>
              </a:ext>
            </a:extLst>
          </p:cNvPr>
          <p:cNvSpPr/>
          <p:nvPr/>
        </p:nvSpPr>
        <p:spPr>
          <a:xfrm>
            <a:off x="7766304" y="3547872"/>
            <a:ext cx="1776984" cy="603504"/>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42" name="accent">
            <a:extLst>
              <a:ext uri="{C183D7F6-B498-43B3-948B-1728B52AA6E4}">
                <adec:decorative xmlns:adec="http://schemas.microsoft.com/office/drawing/2017/decorative" val="1"/>
              </a:ext>
            </a:extLst>
          </p:cNvPr>
          <p:cNvSpPr/>
          <p:nvPr/>
        </p:nvSpPr>
        <p:spPr>
          <a:xfrm>
            <a:off x="7766304" y="3547872"/>
            <a:ext cx="73152" cy="603504"/>
          </a:xfrm>
          <a:prstGeom prst="rect">
            <a:avLst/>
          </a:prstGeom>
          <a:solidFill>
            <a:srgbClr val="ED1C29"/>
          </a:solidFill>
          <a:ln/>
        </p:spPr>
        <p:txBody>
          <a:bodyPr/>
          <a:lstStyle/>
          <a:p>
            <a:endParaRPr lang="es-419" noProof="0" dirty="0"/>
          </a:p>
        </p:txBody>
      </p:sp>
      <p:sp>
        <p:nvSpPr>
          <p:cNvPr id="43" name="Text 41"/>
          <p:cNvSpPr/>
          <p:nvPr/>
        </p:nvSpPr>
        <p:spPr>
          <a:xfrm>
            <a:off x="7949184" y="3547872"/>
            <a:ext cx="1502664" cy="603504"/>
          </a:xfrm>
          <a:prstGeom prst="rect">
            <a:avLst/>
          </a:prstGeom>
          <a:noFill/>
          <a:ln/>
        </p:spPr>
        <p:txBody>
          <a:bodyPr wrap="square" lIns="0" tIns="0" rIns="0" bIns="0" rtlCol="0" anchor="ctr"/>
          <a:lstStyle/>
          <a:p>
            <a:pPr marL="0" indent="0" algn="l">
              <a:buNone/>
            </a:pPr>
            <a:r>
              <a:rPr lang="es-419" sz="1050" b="1" noProof="0" dirty="0">
                <a:solidFill>
                  <a:srgbClr val="211915"/>
                </a:solidFill>
                <a:latin typeface="Calibri" pitchFamily="34" charset="0"/>
                <a:ea typeface="Calibri" pitchFamily="34" charset="-122"/>
                <a:cs typeface="Calibri" pitchFamily="34" charset="-120"/>
              </a:rPr>
              <a:t>Información de facturación</a:t>
            </a:r>
            <a:endParaRPr lang="es-419" sz="1050" noProof="0" dirty="0"/>
          </a:p>
        </p:txBody>
      </p:sp>
      <p:sp>
        <p:nvSpPr>
          <p:cNvPr id="44" name="card">
            <a:extLst>
              <a:ext uri="{C183D7F6-B498-43B3-948B-1728B52AA6E4}">
                <adec:decorative xmlns:adec="http://schemas.microsoft.com/office/drawing/2017/decorative" val="1"/>
              </a:ext>
            </a:extLst>
          </p:cNvPr>
          <p:cNvSpPr/>
          <p:nvPr/>
        </p:nvSpPr>
        <p:spPr>
          <a:xfrm>
            <a:off x="9726168" y="3547872"/>
            <a:ext cx="1776984" cy="603504"/>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45" name="accent">
            <a:extLst>
              <a:ext uri="{C183D7F6-B498-43B3-948B-1728B52AA6E4}">
                <adec:decorative xmlns:adec="http://schemas.microsoft.com/office/drawing/2017/decorative" val="1"/>
              </a:ext>
            </a:extLst>
          </p:cNvPr>
          <p:cNvSpPr/>
          <p:nvPr/>
        </p:nvSpPr>
        <p:spPr>
          <a:xfrm>
            <a:off x="9726168" y="3547872"/>
            <a:ext cx="73152" cy="603504"/>
          </a:xfrm>
          <a:prstGeom prst="rect">
            <a:avLst/>
          </a:prstGeom>
          <a:solidFill>
            <a:srgbClr val="ED1C29"/>
          </a:solidFill>
          <a:ln/>
        </p:spPr>
        <p:txBody>
          <a:bodyPr/>
          <a:lstStyle/>
          <a:p>
            <a:endParaRPr lang="es-419" noProof="0" dirty="0"/>
          </a:p>
        </p:txBody>
      </p:sp>
      <p:sp>
        <p:nvSpPr>
          <p:cNvPr id="46" name="Text 44"/>
          <p:cNvSpPr/>
          <p:nvPr/>
        </p:nvSpPr>
        <p:spPr>
          <a:xfrm>
            <a:off x="9909048" y="3547872"/>
            <a:ext cx="1502664" cy="603504"/>
          </a:xfrm>
          <a:prstGeom prst="rect">
            <a:avLst/>
          </a:prstGeom>
          <a:noFill/>
          <a:ln/>
        </p:spPr>
        <p:txBody>
          <a:bodyPr wrap="square" lIns="0" tIns="0" rIns="0" bIns="0" rtlCol="0" anchor="ctr"/>
          <a:lstStyle/>
          <a:p>
            <a:pPr marL="0" indent="0" algn="l">
              <a:buNone/>
            </a:pPr>
            <a:r>
              <a:rPr lang="es-419" sz="1050" b="1" noProof="0" dirty="0">
                <a:solidFill>
                  <a:srgbClr val="211915"/>
                </a:solidFill>
                <a:latin typeface="Calibri" pitchFamily="34" charset="0"/>
                <a:ea typeface="Calibri" pitchFamily="34" charset="-122"/>
                <a:cs typeface="Calibri" pitchFamily="34" charset="-120"/>
              </a:rPr>
              <a:t>Audit logs</a:t>
            </a:r>
            <a:endParaRPr lang="es-419" sz="1050" noProof="0" dirty="0"/>
          </a:p>
        </p:txBody>
      </p:sp>
      <p:sp>
        <p:nvSpPr>
          <p:cNvPr id="47" name="card">
            <a:extLst>
              <a:ext uri="{C183D7F6-B498-43B3-948B-1728B52AA6E4}">
                <adec:decorative xmlns:adec="http://schemas.microsoft.com/office/drawing/2017/decorative" val="1"/>
              </a:ext>
            </a:extLst>
          </p:cNvPr>
          <p:cNvSpPr/>
          <p:nvPr/>
        </p:nvSpPr>
        <p:spPr>
          <a:xfrm>
            <a:off x="5806440" y="4526280"/>
            <a:ext cx="5696712" cy="1417320"/>
          </a:xfrm>
          <a:prstGeom prst="rect">
            <a:avLst/>
          </a:prstGeom>
          <a:solidFill>
            <a:srgbClr val="FCE7E8"/>
          </a:solidFill>
          <a:ln w="12700">
            <a:solidFill>
              <a:srgbClr val="F3C9CC"/>
            </a:solidFill>
            <a:prstDash val="solid"/>
          </a:ln>
        </p:spPr>
        <p:txBody>
          <a:bodyPr/>
          <a:lstStyle/>
          <a:p>
            <a:endParaRPr lang="es-419" noProof="0" dirty="0"/>
          </a:p>
        </p:txBody>
      </p:sp>
      <p:sp>
        <p:nvSpPr>
          <p:cNvPr id="48" name="Text 46"/>
          <p:cNvSpPr/>
          <p:nvPr/>
        </p:nvSpPr>
        <p:spPr>
          <a:xfrm>
            <a:off x="6062472" y="4672584"/>
            <a:ext cx="5184648" cy="274320"/>
          </a:xfrm>
          <a:prstGeom prst="rect">
            <a:avLst/>
          </a:prstGeom>
          <a:noFill/>
          <a:ln/>
        </p:spPr>
        <p:txBody>
          <a:bodyPr wrap="square" lIns="0" tIns="0" rIns="0" bIns="0" rtlCol="0" anchor="ctr"/>
          <a:lstStyle/>
          <a:p>
            <a:pPr marL="0" indent="0">
              <a:buNone/>
            </a:pPr>
            <a:r>
              <a:rPr lang="es-419" sz="1100" b="1" kern="0" spc="100" noProof="0" dirty="0">
                <a:solidFill>
                  <a:srgbClr val="BE121C"/>
                </a:solidFill>
                <a:latin typeface="Trebuchet MS" pitchFamily="34" charset="0"/>
                <a:ea typeface="Trebuchet MS" pitchFamily="34" charset="-122"/>
                <a:cs typeface="Trebuchet MS" pitchFamily="34" charset="-120"/>
              </a:rPr>
              <a:t>PENDIENTES PARA DEFINICIÓN INTERNA</a:t>
            </a:r>
            <a:endParaRPr lang="es-419" sz="1100" noProof="0" dirty="0"/>
          </a:p>
        </p:txBody>
      </p:sp>
      <p:sp>
        <p:nvSpPr>
          <p:cNvPr id="49" name="Text 47"/>
          <p:cNvSpPr/>
          <p:nvPr/>
        </p:nvSpPr>
        <p:spPr>
          <a:xfrm>
            <a:off x="6062472" y="4983480"/>
            <a:ext cx="2500884" cy="292608"/>
          </a:xfrm>
          <a:prstGeom prst="rect">
            <a:avLst/>
          </a:prstGeom>
          <a:noFill/>
          <a:ln/>
        </p:spPr>
        <p:txBody>
          <a:bodyPr wrap="square" lIns="0" tIns="0" rIns="0" bIns="0" rtlCol="0" anchor="ctr"/>
          <a:lstStyle/>
          <a:p>
            <a:pPr marL="0" indent="0" algn="l">
              <a:buNone/>
            </a:pPr>
            <a:r>
              <a:rPr lang="es-419" sz="980" noProof="0" dirty="0">
                <a:solidFill>
                  <a:srgbClr val="4A423D"/>
                </a:solidFill>
                <a:latin typeface="Calibri" pitchFamily="34" charset="0"/>
                <a:ea typeface="Calibri" pitchFamily="34" charset="-122"/>
                <a:cs typeface="Calibri" pitchFamily="34" charset="-120"/>
              </a:rPr>
              <a:t>Administración de usuarios y licencias:  </a:t>
            </a:r>
            <a:r>
              <a:rPr lang="es-419" sz="980" b="1" noProof="0" dirty="0">
                <a:solidFill>
                  <a:srgbClr val="BE121C"/>
                </a:solidFill>
                <a:latin typeface="Calibri" pitchFamily="34" charset="0"/>
                <a:ea typeface="Calibri" pitchFamily="34" charset="-122"/>
                <a:cs typeface="Calibri" pitchFamily="34" charset="-120"/>
              </a:rPr>
              <a:t>SMT y Accesos</a:t>
            </a:r>
            <a:endParaRPr lang="es-419" sz="980" noProof="0" dirty="0"/>
          </a:p>
        </p:txBody>
      </p:sp>
      <p:sp>
        <p:nvSpPr>
          <p:cNvPr id="50" name="Text 48"/>
          <p:cNvSpPr/>
          <p:nvPr/>
        </p:nvSpPr>
        <p:spPr>
          <a:xfrm>
            <a:off x="8654796" y="4983480"/>
            <a:ext cx="2500884" cy="292608"/>
          </a:xfrm>
          <a:prstGeom prst="rect">
            <a:avLst/>
          </a:prstGeom>
          <a:noFill/>
          <a:ln/>
        </p:spPr>
        <p:txBody>
          <a:bodyPr wrap="square" lIns="0" tIns="0" rIns="0" bIns="0" rtlCol="0" anchor="ctr"/>
          <a:lstStyle/>
          <a:p>
            <a:pPr marL="0" indent="0" algn="l">
              <a:buNone/>
            </a:pPr>
            <a:r>
              <a:rPr lang="es-419" sz="980" noProof="0" dirty="0">
                <a:solidFill>
                  <a:srgbClr val="4A423D"/>
                </a:solidFill>
                <a:latin typeface="Calibri" pitchFamily="34" charset="0"/>
                <a:ea typeface="Calibri" pitchFamily="34" charset="-122"/>
                <a:cs typeface="Calibri" pitchFamily="34" charset="-120"/>
              </a:rPr>
              <a:t>Aprovisionamiento en consola:  </a:t>
            </a:r>
            <a:r>
              <a:rPr lang="es-419" sz="980" b="1" noProof="0" dirty="0">
                <a:solidFill>
                  <a:srgbClr val="BE121C"/>
                </a:solidFill>
                <a:latin typeface="Calibri" pitchFamily="34" charset="0"/>
                <a:ea typeface="Calibri" pitchFamily="34" charset="-122"/>
                <a:cs typeface="Calibri" pitchFamily="34" charset="-120"/>
              </a:rPr>
              <a:t>Equipo de Accesos</a:t>
            </a:r>
            <a:endParaRPr lang="es-419" sz="980" noProof="0" dirty="0"/>
          </a:p>
        </p:txBody>
      </p:sp>
      <p:sp>
        <p:nvSpPr>
          <p:cNvPr id="51" name="Text 49"/>
          <p:cNvSpPr/>
          <p:nvPr/>
        </p:nvSpPr>
        <p:spPr>
          <a:xfrm>
            <a:off x="6062472" y="5294376"/>
            <a:ext cx="2500884" cy="292608"/>
          </a:xfrm>
          <a:prstGeom prst="rect">
            <a:avLst/>
          </a:prstGeom>
          <a:noFill/>
          <a:ln/>
        </p:spPr>
        <p:txBody>
          <a:bodyPr wrap="square" lIns="0" tIns="0" rIns="0" bIns="0" rtlCol="0" anchor="ctr"/>
          <a:lstStyle/>
          <a:p>
            <a:pPr marL="0" indent="0" algn="l">
              <a:buNone/>
            </a:pPr>
            <a:r>
              <a:rPr lang="es-419" sz="980" noProof="0" dirty="0">
                <a:solidFill>
                  <a:srgbClr val="4A423D"/>
                </a:solidFill>
                <a:latin typeface="Calibri" pitchFamily="34" charset="0"/>
                <a:ea typeface="Calibri" pitchFamily="34" charset="-122"/>
                <a:cs typeface="Calibri" pitchFamily="34" charset="-120"/>
              </a:rPr>
              <a:t>Administración de consumo y excepciones:  </a:t>
            </a:r>
            <a:r>
              <a:rPr lang="es-419" sz="980" b="1" noProof="0" dirty="0">
                <a:solidFill>
                  <a:srgbClr val="BE121C"/>
                </a:solidFill>
                <a:latin typeface="Calibri" pitchFamily="34" charset="0"/>
                <a:ea typeface="Calibri" pitchFamily="34" charset="-122"/>
                <a:cs typeface="Calibri" pitchFamily="34" charset="-120"/>
              </a:rPr>
              <a:t>Ingeniería</a:t>
            </a:r>
            <a:endParaRPr lang="es-419" sz="980" noProof="0" dirty="0"/>
          </a:p>
        </p:txBody>
      </p:sp>
      <p:sp>
        <p:nvSpPr>
          <p:cNvPr id="52" name="Text 50"/>
          <p:cNvSpPr/>
          <p:nvPr/>
        </p:nvSpPr>
        <p:spPr>
          <a:xfrm>
            <a:off x="6062472" y="5605272"/>
            <a:ext cx="5093208" cy="292608"/>
          </a:xfrm>
          <a:prstGeom prst="rect">
            <a:avLst/>
          </a:prstGeom>
          <a:noFill/>
          <a:ln/>
        </p:spPr>
        <p:txBody>
          <a:bodyPr wrap="square" lIns="0" tIns="0" rIns="0" bIns="0" rtlCol="0" anchor="ctr"/>
          <a:lstStyle/>
          <a:p>
            <a:r>
              <a:rPr lang="es-419" sz="980" noProof="0" dirty="0">
                <a:solidFill>
                  <a:srgbClr val="4A423D"/>
                </a:solidFill>
                <a:latin typeface="Calibri" pitchFamily="34" charset="0"/>
                <a:ea typeface="Calibri" pitchFamily="34" charset="-122"/>
                <a:cs typeface="Calibri" pitchFamily="34" charset="-120"/>
              </a:rPr>
              <a:t>Gobierno y periodicidad de seguimiento: </a:t>
            </a:r>
            <a:r>
              <a:rPr lang="es-419" sz="980" b="1" dirty="0">
                <a:solidFill>
                  <a:srgbClr val="BE121C"/>
                </a:solidFill>
                <a:latin typeface="Calibri" pitchFamily="34" charset="0"/>
                <a:ea typeface="Calibri" pitchFamily="34" charset="-122"/>
                <a:cs typeface="Calibri" pitchFamily="34" charset="-120"/>
              </a:rPr>
              <a:t>Ingeniería</a:t>
            </a:r>
            <a:endParaRPr lang="es-419" sz="980" noProof="0" dirty="0"/>
          </a:p>
        </p:txBody>
      </p:sp>
      <p:sp>
        <p:nvSpPr>
          <p:cNvPr id="53" name="Text 51"/>
          <p:cNvSpPr/>
          <p:nvPr/>
        </p:nvSpPr>
        <p:spPr>
          <a:xfrm>
            <a:off x="6062472" y="5605272"/>
            <a:ext cx="2500884" cy="292608"/>
          </a:xfrm>
          <a:prstGeom prst="rect">
            <a:avLst/>
          </a:prstGeom>
          <a:noFill/>
          <a:ln/>
        </p:spPr>
        <p:txBody>
          <a:bodyPr wrap="square" lIns="0" tIns="0" rIns="0" bIns="0" rtlCol="0" anchor="ctr"/>
          <a:lstStyle/>
          <a:p>
            <a:pPr marL="0" indent="0" algn="l">
              <a:buNone/>
            </a:pPr>
            <a:endParaRPr lang="es-419" sz="980" noProof="0" dirty="0"/>
          </a:p>
        </p:txBody>
      </p:sp>
      <p:sp>
        <p:nvSpPr>
          <p:cNvPr id="54" name="Text 52"/>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dirty="0">
                <a:solidFill>
                  <a:srgbClr val="211915"/>
                </a:solidFill>
                <a:latin typeface="Calibri" pitchFamily="34" charset="0"/>
                <a:ea typeface="Calibri" pitchFamily="34" charset="-122"/>
                <a:cs typeface="Calibri" pitchFamily="34" charset="-120"/>
              </a:rPr>
              <a:t>Tuya</a:t>
            </a:r>
            <a:r>
              <a:rPr lang="es-419" sz="850" noProof="0" dirty="0">
                <a:solidFill>
                  <a:srgbClr val="9C938D"/>
                </a:solidFill>
                <a:latin typeface="Calibri" pitchFamily="34" charset="0"/>
                <a:ea typeface="Calibri" pitchFamily="34" charset="-122"/>
                <a:cs typeface="Calibri" pitchFamily="34" charset="-120"/>
              </a:rPr>
              <a:t>   ·   GitHub </a:t>
            </a:r>
            <a:r>
              <a:rPr lang="es-419" sz="850" noProof="0" dirty="0" err="1">
                <a:solidFill>
                  <a:srgbClr val="9C938D"/>
                </a:solidFill>
                <a:latin typeface="Calibri" pitchFamily="34" charset="0"/>
                <a:ea typeface="Calibri" pitchFamily="34" charset="-122"/>
                <a:cs typeface="Calibri" pitchFamily="34" charset="-120"/>
              </a:rPr>
              <a:t>Copilot</a:t>
            </a:r>
            <a:r>
              <a:rPr lang="es-419" sz="850" noProof="0" dirty="0">
                <a:solidFill>
                  <a:srgbClr val="9C938D"/>
                </a:solidFill>
                <a:latin typeface="Calibri" pitchFamily="34" charset="0"/>
                <a:ea typeface="Calibri" pitchFamily="34" charset="-122"/>
                <a:cs typeface="Calibri" pitchFamily="34" charset="-120"/>
              </a:rPr>
              <a:t> - Resultados de la Prueba de Concepto</a:t>
            </a:r>
            <a:endParaRPr lang="es-419" sz="850" noProof="0" dirty="0"/>
          </a:p>
        </p:txBody>
      </p:sp>
      <p:sp>
        <p:nvSpPr>
          <p:cNvPr id="55" name="Text 53"/>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dirty="0">
                <a:solidFill>
                  <a:srgbClr val="ED1C29"/>
                </a:solidFill>
                <a:latin typeface="Trebuchet MS" pitchFamily="34" charset="0"/>
                <a:ea typeface="Trebuchet MS" pitchFamily="34" charset="-122"/>
                <a:cs typeface="Trebuchet MS" pitchFamily="34" charset="-120"/>
              </a:rPr>
              <a:t>09</a:t>
            </a:r>
            <a:endParaRPr lang="es-419" sz="900" noProof="0" dirty="0"/>
          </a:p>
        </p:txBody>
      </p:sp>
      <p:sp>
        <p:nvSpPr>
          <p:cNvPr id="56" name="Text 54"/>
          <p:cNvSpPr/>
          <p:nvPr/>
        </p:nvSpPr>
        <p:spPr>
          <a:xfrm>
            <a:off x="685800" y="5983778"/>
            <a:ext cx="4617720" cy="502920"/>
          </a:xfrm>
          <a:prstGeom prst="rect">
            <a:avLst/>
          </a:prstGeom>
          <a:noFill/>
          <a:ln/>
        </p:spPr>
        <p:txBody>
          <a:bodyPr wrap="square" lIns="0" tIns="0" rIns="0" bIns="0" rtlCol="0" anchor="t"/>
          <a:lstStyle/>
          <a:p>
            <a:pPr marL="0" indent="0" algn="l">
              <a:buNone/>
            </a:pPr>
            <a:r>
              <a:rPr lang="es-419" sz="860" i="1" noProof="0" dirty="0">
                <a:solidFill>
                  <a:srgbClr val="7A716B"/>
                </a:solidFill>
                <a:latin typeface="Calibri" pitchFamily="34" charset="0"/>
                <a:ea typeface="Calibri" pitchFamily="34" charset="-122"/>
                <a:cs typeface="Calibri" pitchFamily="34" charset="-120"/>
              </a:rPr>
              <a:t>La asignación </a:t>
            </a:r>
            <a:r>
              <a:rPr lang="es-419" sz="860" i="1" noProof="0">
                <a:solidFill>
                  <a:srgbClr val="7A716B"/>
                </a:solidFill>
                <a:latin typeface="Calibri" pitchFamily="34" charset="0"/>
                <a:ea typeface="Calibri" pitchFamily="34" charset="-122"/>
                <a:cs typeface="Calibri" pitchFamily="34" charset="-120"/>
              </a:rPr>
              <a:t>y administración </a:t>
            </a:r>
            <a:r>
              <a:rPr lang="es-419" sz="860" i="1" noProof="0" dirty="0">
                <a:solidFill>
                  <a:srgbClr val="7A716B"/>
                </a:solidFill>
                <a:latin typeface="Calibri" pitchFamily="34" charset="0"/>
                <a:ea typeface="Calibri" pitchFamily="34" charset="-122"/>
                <a:cs typeface="Calibri" pitchFamily="34" charset="-120"/>
              </a:rPr>
              <a:t>de </a:t>
            </a:r>
            <a:r>
              <a:rPr lang="es-419" sz="860" i="1" noProof="0">
                <a:solidFill>
                  <a:srgbClr val="7A716B"/>
                </a:solidFill>
                <a:latin typeface="Calibri" pitchFamily="34" charset="0"/>
                <a:ea typeface="Calibri" pitchFamily="34" charset="-122"/>
                <a:cs typeface="Calibri" pitchFamily="34" charset="-120"/>
              </a:rPr>
              <a:t>licencias </a:t>
            </a:r>
            <a:r>
              <a:rPr lang="es-419" sz="860" i="1" noProof="0" dirty="0">
                <a:solidFill>
                  <a:srgbClr val="7A716B"/>
                </a:solidFill>
                <a:latin typeface="Calibri" pitchFamily="34" charset="0"/>
                <a:ea typeface="Calibri" pitchFamily="34" charset="-122"/>
                <a:cs typeface="Calibri" pitchFamily="34" charset="-120"/>
              </a:rPr>
              <a:t>se gestiona </a:t>
            </a:r>
            <a:r>
              <a:rPr lang="es-419" sz="860" i="1" noProof="0">
                <a:solidFill>
                  <a:srgbClr val="7A716B"/>
                </a:solidFill>
                <a:latin typeface="Calibri" pitchFamily="34" charset="0"/>
                <a:ea typeface="Calibri" pitchFamily="34" charset="-122"/>
                <a:cs typeface="Calibri" pitchFamily="34" charset="-120"/>
              </a:rPr>
              <a:t>de forma centralizada </a:t>
            </a:r>
            <a:r>
              <a:rPr lang="es-419" sz="860" i="1" noProof="0" dirty="0">
                <a:solidFill>
                  <a:srgbClr val="7A716B"/>
                </a:solidFill>
                <a:latin typeface="Calibri" pitchFamily="34" charset="0"/>
                <a:ea typeface="Calibri" pitchFamily="34" charset="-122"/>
                <a:cs typeface="Calibri" pitchFamily="34" charset="-120"/>
              </a:rPr>
              <a:t>desde </a:t>
            </a:r>
            <a:r>
              <a:rPr lang="es-419" sz="860" i="1" noProof="0">
                <a:solidFill>
                  <a:srgbClr val="7A716B"/>
                </a:solidFill>
                <a:latin typeface="Calibri" pitchFamily="34" charset="0"/>
                <a:ea typeface="Calibri" pitchFamily="34" charset="-122"/>
                <a:cs typeface="Calibri" pitchFamily="34" charset="-120"/>
              </a:rPr>
              <a:t>GitHub </a:t>
            </a:r>
            <a:r>
              <a:rPr lang="es-419" sz="860" i="1" noProof="0" dirty="0">
                <a:solidFill>
                  <a:srgbClr val="7A716B"/>
                </a:solidFill>
                <a:latin typeface="Calibri" pitchFamily="34" charset="0"/>
                <a:ea typeface="Calibri" pitchFamily="34" charset="-122"/>
                <a:cs typeface="Calibri" pitchFamily="34" charset="-120"/>
              </a:rPr>
              <a:t>y </a:t>
            </a:r>
            <a:r>
              <a:rPr lang="es-419" sz="860" i="1" noProof="0">
                <a:solidFill>
                  <a:srgbClr val="7A716B"/>
                </a:solidFill>
                <a:latin typeface="Calibri" pitchFamily="34" charset="0"/>
                <a:ea typeface="Calibri" pitchFamily="34" charset="-122"/>
                <a:cs typeface="Calibri" pitchFamily="34" charset="-120"/>
              </a:rPr>
              <a:t>puede complementarse mediante sus APIs administrativas.</a:t>
            </a:r>
            <a:endParaRPr lang="es-419" sz="86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85800" y="402336"/>
            <a:ext cx="146304" cy="146304"/>
          </a:xfrm>
          <a:prstGeom prst="rect">
            <a:avLst/>
          </a:prstGeom>
          <a:solidFill>
            <a:srgbClr val="ED1C29"/>
          </a:solidFill>
          <a:ln/>
        </p:spPr>
        <p:txBody>
          <a:bodyPr/>
          <a:lstStyle/>
          <a:p>
            <a:endParaRPr lang="es-419" noProof="0" dirty="0"/>
          </a:p>
        </p:txBody>
      </p:sp>
      <p:sp>
        <p:nvSpPr>
          <p:cNvPr id="3" name="Text 1"/>
          <p:cNvSpPr/>
          <p:nvPr/>
        </p:nvSpPr>
        <p:spPr>
          <a:xfrm>
            <a:off x="932688" y="310896"/>
            <a:ext cx="9601200" cy="310896"/>
          </a:xfrm>
          <a:prstGeom prst="rect">
            <a:avLst/>
          </a:prstGeom>
          <a:noFill/>
          <a:ln/>
        </p:spPr>
        <p:txBody>
          <a:bodyPr wrap="square" lIns="0" tIns="0" rIns="0" bIns="0" rtlCol="0" anchor="ctr"/>
          <a:lstStyle/>
          <a:p>
            <a:pPr marL="0" indent="0" algn="l">
              <a:buNone/>
            </a:pPr>
            <a:r>
              <a:rPr lang="es-419" sz="1150" b="1" kern="0" spc="200" noProof="0" dirty="0">
                <a:solidFill>
                  <a:srgbClr val="ED1C29"/>
                </a:solidFill>
                <a:latin typeface="Trebuchet MS" pitchFamily="34" charset="0"/>
                <a:ea typeface="Trebuchet MS" pitchFamily="34" charset="-122"/>
                <a:cs typeface="Trebuchet MS" pitchFamily="34" charset="-120"/>
              </a:rPr>
              <a:t>CONCLUSIONES Y SIGUIENTES PASOS</a:t>
            </a:r>
            <a:endParaRPr lang="es-419" sz="1150" noProof="0" dirty="0"/>
          </a:p>
        </p:txBody>
      </p:sp>
      <p:sp>
        <p:nvSpPr>
          <p:cNvPr id="4" name="Text 0"/>
          <p:cNvSpPr>
            <a:spLocks noGrp="1"/>
          </p:cNvSpPr>
          <p:nvPr>
            <p:ph type="title" idx="100" hasCustomPrompt="1"/>
          </p:nvPr>
        </p:nvSpPr>
        <p:spPr>
          <a:xfrm>
            <a:off x="685800" y="658368"/>
            <a:ext cx="10789920" cy="822960"/>
          </a:xfrm>
          <a:prstGeom prst="rect">
            <a:avLst/>
          </a:prstGeom>
          <a:noFill/>
          <a:ln/>
        </p:spPr>
        <p:txBody>
          <a:bodyPr wrap="square" lIns="0" tIns="0" rIns="0" bIns="0" rtlCol="0" anchor="t"/>
          <a:lstStyle/>
          <a:p>
            <a:pPr marL="0" indent="0" algn="l">
              <a:buNone/>
            </a:pPr>
            <a:r>
              <a:rPr lang="es-419" sz="2700" b="1" noProof="0" dirty="0">
                <a:solidFill>
                  <a:srgbClr val="211915"/>
                </a:solidFill>
                <a:latin typeface="Trebuchet MS" pitchFamily="34" charset="0"/>
                <a:ea typeface="Trebuchet MS" pitchFamily="34" charset="-122"/>
                <a:cs typeface="Trebuchet MS" pitchFamily="34" charset="-120"/>
              </a:rPr>
              <a:t>Qué observamos y qué falta decidir</a:t>
            </a:r>
            <a:endParaRPr lang="es-419" sz="2700" noProof="0" dirty="0"/>
          </a:p>
        </p:txBody>
      </p:sp>
      <p:sp>
        <p:nvSpPr>
          <p:cNvPr id="5" name="card">
            <a:extLst>
              <a:ext uri="{C183D7F6-B498-43B3-948B-1728B52AA6E4}">
                <adec:decorative xmlns:adec="http://schemas.microsoft.com/office/drawing/2017/decorative" val="1"/>
              </a:ext>
            </a:extLst>
          </p:cNvPr>
          <p:cNvSpPr/>
          <p:nvPr/>
        </p:nvSpPr>
        <p:spPr>
          <a:xfrm>
            <a:off x="685800" y="1691640"/>
            <a:ext cx="3566160" cy="34290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6" name="top accent">
            <a:extLst>
              <a:ext uri="{C183D7F6-B498-43B3-948B-1728B52AA6E4}">
                <adec:decorative xmlns:adec="http://schemas.microsoft.com/office/drawing/2017/decorative" val="1"/>
              </a:ext>
            </a:extLst>
          </p:cNvPr>
          <p:cNvSpPr/>
          <p:nvPr/>
        </p:nvSpPr>
        <p:spPr>
          <a:xfrm>
            <a:off x="685800" y="1691640"/>
            <a:ext cx="3566160" cy="91440"/>
          </a:xfrm>
          <a:prstGeom prst="rect">
            <a:avLst/>
          </a:prstGeom>
          <a:solidFill>
            <a:srgbClr val="ED1C29"/>
          </a:solidFill>
          <a:ln/>
        </p:spPr>
        <p:txBody>
          <a:bodyPr/>
          <a:lstStyle/>
          <a:p>
            <a:endParaRPr lang="es-419" noProof="0" dirty="0"/>
          </a:p>
        </p:txBody>
      </p:sp>
      <p:sp>
        <p:nvSpPr>
          <p:cNvPr id="7" name="Text 5"/>
          <p:cNvSpPr/>
          <p:nvPr/>
        </p:nvSpPr>
        <p:spPr>
          <a:xfrm>
            <a:off x="905256" y="1929384"/>
            <a:ext cx="3127248" cy="310896"/>
          </a:xfrm>
          <a:prstGeom prst="rect">
            <a:avLst/>
          </a:prstGeom>
          <a:noFill/>
          <a:ln/>
        </p:spPr>
        <p:txBody>
          <a:bodyPr wrap="square" lIns="0" tIns="0" rIns="0" bIns="0" rtlCol="0" anchor="ctr"/>
          <a:lstStyle/>
          <a:p>
            <a:pPr marL="0" indent="0">
              <a:buNone/>
            </a:pPr>
            <a:r>
              <a:rPr lang="es-419" sz="1250" b="1" kern="0" spc="100" noProof="0" dirty="0">
                <a:solidFill>
                  <a:srgbClr val="211915"/>
                </a:solidFill>
                <a:latin typeface="Trebuchet MS" pitchFamily="34" charset="0"/>
                <a:ea typeface="Trebuchet MS" pitchFamily="34" charset="-122"/>
                <a:cs typeface="Trebuchet MS" pitchFamily="34" charset="-120"/>
              </a:rPr>
              <a:t>1 · VALOR OBSERVADO</a:t>
            </a:r>
            <a:endParaRPr lang="es-419" sz="1250" noProof="0" dirty="0"/>
          </a:p>
        </p:txBody>
      </p:sp>
      <p:sp>
        <p:nvSpPr>
          <p:cNvPr id="8" name="Text 6"/>
          <p:cNvSpPr/>
          <p:nvPr/>
        </p:nvSpPr>
        <p:spPr>
          <a:xfrm>
            <a:off x="905256" y="2350008"/>
            <a:ext cx="3127248" cy="237744"/>
          </a:xfrm>
          <a:prstGeom prst="rect">
            <a:avLst/>
          </a:prstGeom>
          <a:noFill/>
          <a:ln/>
        </p:spPr>
        <p:txBody>
          <a:bodyPr wrap="square" lIns="0" tIns="0" rIns="0" bIns="0" rtlCol="0" anchor="ctr"/>
          <a:lstStyle/>
          <a:p>
            <a:pPr marL="0" indent="0">
              <a:buNone/>
            </a:pPr>
            <a:r>
              <a:rPr lang="es-419" sz="880" b="1" kern="0" spc="100" noProof="0" dirty="0">
                <a:solidFill>
                  <a:srgbClr val="ED1C29"/>
                </a:solidFill>
                <a:latin typeface="Calibri" pitchFamily="34" charset="0"/>
                <a:ea typeface="Calibri" pitchFamily="34" charset="-122"/>
                <a:cs typeface="Calibri" pitchFamily="34" charset="-120"/>
              </a:rPr>
              <a:t>PRODUCTIVIDAD</a:t>
            </a:r>
            <a:endParaRPr lang="es-419" sz="880" noProof="0" dirty="0"/>
          </a:p>
        </p:txBody>
      </p:sp>
      <p:sp>
        <p:nvSpPr>
          <p:cNvPr id="9" name="Text 7"/>
          <p:cNvSpPr/>
          <p:nvPr/>
        </p:nvSpPr>
        <p:spPr>
          <a:xfrm>
            <a:off x="905256" y="2569464"/>
            <a:ext cx="3127248" cy="624840"/>
          </a:xfrm>
          <a:prstGeom prst="rect">
            <a:avLst/>
          </a:prstGeom>
          <a:noFill/>
          <a:ln/>
        </p:spPr>
        <p:txBody>
          <a:bodyPr wrap="square" lIns="0" tIns="0" rIns="0" bIns="0" rtlCol="0" anchor="t"/>
          <a:lstStyle/>
          <a:p>
            <a:pPr marL="0" indent="0">
              <a:buNone/>
            </a:pPr>
            <a:r>
              <a:rPr lang="es-419" sz="900" noProof="0">
                <a:solidFill>
                  <a:srgbClr val="4A423D"/>
                </a:solidFill>
                <a:latin typeface="Calibri" pitchFamily="34" charset="0"/>
                <a:ea typeface="Calibri" pitchFamily="34" charset="-122"/>
                <a:cs typeface="Calibri" pitchFamily="34" charset="-120"/>
              </a:rPr>
              <a:t>Reducción agregada estimada del 95,4 % frente al juicio experto: 50 horas estimadas ejecutadas en 2 horas y 18 minutos en 5 casos con medición completa.</a:t>
            </a:r>
            <a:endParaRPr lang="es-419" sz="900" noProof="0"/>
          </a:p>
        </p:txBody>
      </p:sp>
      <p:sp>
        <p:nvSpPr>
          <p:cNvPr id="10" name="Text 8"/>
          <p:cNvSpPr/>
          <p:nvPr/>
        </p:nvSpPr>
        <p:spPr>
          <a:xfrm>
            <a:off x="905256" y="3249168"/>
            <a:ext cx="3127248" cy="237744"/>
          </a:xfrm>
          <a:prstGeom prst="rect">
            <a:avLst/>
          </a:prstGeom>
          <a:noFill/>
          <a:ln/>
        </p:spPr>
        <p:txBody>
          <a:bodyPr wrap="square" lIns="0" tIns="0" rIns="0" bIns="0" rtlCol="0" anchor="ctr"/>
          <a:lstStyle/>
          <a:p>
            <a:pPr marL="0" indent="0">
              <a:buNone/>
            </a:pPr>
            <a:r>
              <a:rPr lang="es-419" sz="880" b="1" kern="0" spc="100" noProof="0" dirty="0">
                <a:solidFill>
                  <a:srgbClr val="ED1C29"/>
                </a:solidFill>
                <a:latin typeface="Calibri" pitchFamily="34" charset="0"/>
                <a:ea typeface="Calibri" pitchFamily="34" charset="-122"/>
                <a:cs typeface="Calibri" pitchFamily="34" charset="-120"/>
              </a:rPr>
              <a:t>CALIDAD</a:t>
            </a:r>
            <a:endParaRPr lang="es-419" sz="880" noProof="0" dirty="0"/>
          </a:p>
        </p:txBody>
      </p:sp>
      <p:sp>
        <p:nvSpPr>
          <p:cNvPr id="11" name="Text 9"/>
          <p:cNvSpPr/>
          <p:nvPr/>
        </p:nvSpPr>
        <p:spPr>
          <a:xfrm>
            <a:off x="905256" y="3468624"/>
            <a:ext cx="3127248" cy="624840"/>
          </a:xfrm>
          <a:prstGeom prst="rect">
            <a:avLst/>
          </a:prstGeom>
          <a:noFill/>
          <a:ln/>
        </p:spPr>
        <p:txBody>
          <a:bodyPr wrap="square" lIns="0" tIns="0" rIns="0" bIns="0" rtlCol="0" anchor="t"/>
          <a:lstStyle/>
          <a:p>
            <a:pPr marL="0" indent="0">
              <a:buNone/>
            </a:pPr>
            <a:r>
              <a:rPr lang="es-419" sz="1050" noProof="0" dirty="0">
                <a:solidFill>
                  <a:srgbClr val="4A423D"/>
                </a:solidFill>
                <a:latin typeface="Calibri" pitchFamily="34" charset="0"/>
                <a:ea typeface="Calibri" pitchFamily="34" charset="-122"/>
                <a:cs typeface="Calibri" pitchFamily="34" charset="-120"/>
              </a:rPr>
              <a:t>El código requirió pocas correcciones, la validación se completa con las pruebas funcionales pendientes.</a:t>
            </a:r>
            <a:endParaRPr lang="es-419" sz="1050" noProof="0" dirty="0"/>
          </a:p>
        </p:txBody>
      </p:sp>
      <p:sp>
        <p:nvSpPr>
          <p:cNvPr id="12" name="Text 10"/>
          <p:cNvSpPr/>
          <p:nvPr/>
        </p:nvSpPr>
        <p:spPr>
          <a:xfrm>
            <a:off x="905256" y="4148328"/>
            <a:ext cx="3127248" cy="237744"/>
          </a:xfrm>
          <a:prstGeom prst="rect">
            <a:avLst/>
          </a:prstGeom>
          <a:noFill/>
          <a:ln/>
        </p:spPr>
        <p:txBody>
          <a:bodyPr wrap="square" lIns="0" tIns="0" rIns="0" bIns="0" rtlCol="0" anchor="ctr"/>
          <a:lstStyle/>
          <a:p>
            <a:pPr marL="0" indent="0">
              <a:buNone/>
            </a:pPr>
            <a:r>
              <a:rPr lang="es-419" sz="880" b="1" kern="0" spc="100" noProof="0" dirty="0">
                <a:solidFill>
                  <a:srgbClr val="ED1C29"/>
                </a:solidFill>
                <a:latin typeface="Calibri" pitchFamily="34" charset="0"/>
                <a:ea typeface="Calibri" pitchFamily="34" charset="-122"/>
                <a:cs typeface="Calibri" pitchFamily="34" charset="-120"/>
              </a:rPr>
              <a:t>EXPERIENCIA DEL DESARROLLADOR</a:t>
            </a:r>
            <a:endParaRPr lang="es-419" sz="880" noProof="0" dirty="0"/>
          </a:p>
        </p:txBody>
      </p:sp>
      <p:sp>
        <p:nvSpPr>
          <p:cNvPr id="13" name="Text 11"/>
          <p:cNvSpPr/>
          <p:nvPr/>
        </p:nvSpPr>
        <p:spPr>
          <a:xfrm>
            <a:off x="905256" y="4367784"/>
            <a:ext cx="3127248" cy="624840"/>
          </a:xfrm>
          <a:prstGeom prst="rect">
            <a:avLst/>
          </a:prstGeom>
          <a:noFill/>
          <a:ln/>
        </p:spPr>
        <p:txBody>
          <a:bodyPr wrap="square" lIns="0" tIns="0" rIns="0" bIns="0" rtlCol="0" anchor="t"/>
          <a:lstStyle/>
          <a:p>
            <a:pPr marL="0" indent="0">
              <a:buNone/>
            </a:pPr>
            <a:r>
              <a:rPr lang="es-419" sz="1050" noProof="0" dirty="0">
                <a:solidFill>
                  <a:srgbClr val="4A423D"/>
                </a:solidFill>
                <a:latin typeface="Calibri" pitchFamily="34" charset="0"/>
                <a:ea typeface="Calibri" pitchFamily="34" charset="-122"/>
                <a:cs typeface="Calibri" pitchFamily="34" charset="-120"/>
              </a:rPr>
              <a:t>Los participantes percibieron una aceleración clara y menor esfuerzo para migrar a .NET 10.</a:t>
            </a:r>
            <a:endParaRPr lang="es-419" sz="1050" noProof="0" dirty="0"/>
          </a:p>
        </p:txBody>
      </p:sp>
      <p:sp>
        <p:nvSpPr>
          <p:cNvPr id="14" name="card">
            <a:extLst>
              <a:ext uri="{C183D7F6-B498-43B3-948B-1728B52AA6E4}">
                <adec:decorative xmlns:adec="http://schemas.microsoft.com/office/drawing/2017/decorative" val="1"/>
              </a:ext>
            </a:extLst>
          </p:cNvPr>
          <p:cNvSpPr/>
          <p:nvPr/>
        </p:nvSpPr>
        <p:spPr>
          <a:xfrm>
            <a:off x="4498848" y="1691640"/>
            <a:ext cx="3566160" cy="34290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15" name="top accent">
            <a:extLst>
              <a:ext uri="{C183D7F6-B498-43B3-948B-1728B52AA6E4}">
                <adec:decorative xmlns:adec="http://schemas.microsoft.com/office/drawing/2017/decorative" val="1"/>
              </a:ext>
            </a:extLst>
          </p:cNvPr>
          <p:cNvSpPr/>
          <p:nvPr/>
        </p:nvSpPr>
        <p:spPr>
          <a:xfrm>
            <a:off x="4498848" y="1691640"/>
            <a:ext cx="3566160" cy="91440"/>
          </a:xfrm>
          <a:prstGeom prst="rect">
            <a:avLst/>
          </a:prstGeom>
          <a:solidFill>
            <a:srgbClr val="ED1C29"/>
          </a:solidFill>
          <a:ln/>
        </p:spPr>
        <p:txBody>
          <a:bodyPr/>
          <a:lstStyle/>
          <a:p>
            <a:endParaRPr lang="es-419" noProof="0" dirty="0"/>
          </a:p>
        </p:txBody>
      </p:sp>
      <p:sp>
        <p:nvSpPr>
          <p:cNvPr id="16" name="Text 14"/>
          <p:cNvSpPr/>
          <p:nvPr/>
        </p:nvSpPr>
        <p:spPr>
          <a:xfrm>
            <a:off x="4718304" y="1929384"/>
            <a:ext cx="3127248" cy="310896"/>
          </a:xfrm>
          <a:prstGeom prst="rect">
            <a:avLst/>
          </a:prstGeom>
          <a:noFill/>
          <a:ln/>
        </p:spPr>
        <p:txBody>
          <a:bodyPr wrap="square" lIns="0" tIns="0" rIns="0" bIns="0" rtlCol="0" anchor="ctr"/>
          <a:lstStyle/>
          <a:p>
            <a:pPr marL="0" indent="0">
              <a:buNone/>
            </a:pPr>
            <a:r>
              <a:rPr lang="es-419" sz="1250" b="1" kern="0" spc="100" noProof="0" dirty="0">
                <a:solidFill>
                  <a:srgbClr val="211915"/>
                </a:solidFill>
                <a:latin typeface="Trebuchet MS" pitchFamily="34" charset="0"/>
                <a:ea typeface="Trebuchet MS" pitchFamily="34" charset="-122"/>
                <a:cs typeface="Trebuchet MS" pitchFamily="34" charset="-120"/>
              </a:rPr>
              <a:t>2 · CONSIDERACIONES</a:t>
            </a:r>
            <a:endParaRPr lang="es-419" sz="1250" noProof="0" dirty="0"/>
          </a:p>
        </p:txBody>
      </p:sp>
      <p:sp>
        <p:nvSpPr>
          <p:cNvPr id="17" name="Text 15"/>
          <p:cNvSpPr/>
          <p:nvPr/>
        </p:nvSpPr>
        <p:spPr>
          <a:xfrm>
            <a:off x="4718304" y="2350008"/>
            <a:ext cx="3127248" cy="237744"/>
          </a:xfrm>
          <a:prstGeom prst="rect">
            <a:avLst/>
          </a:prstGeom>
          <a:noFill/>
          <a:ln/>
        </p:spPr>
        <p:txBody>
          <a:bodyPr wrap="square" lIns="0" tIns="0" rIns="0" bIns="0" rtlCol="0" anchor="ctr"/>
          <a:lstStyle/>
          <a:p>
            <a:pPr marL="0" indent="0">
              <a:buNone/>
            </a:pPr>
            <a:r>
              <a:rPr lang="es-419" sz="880" b="1" kern="0" spc="100" noProof="0" dirty="0">
                <a:solidFill>
                  <a:srgbClr val="ED1C29"/>
                </a:solidFill>
                <a:latin typeface="Calibri" pitchFamily="34" charset="0"/>
                <a:ea typeface="Calibri" pitchFamily="34" charset="-122"/>
                <a:cs typeface="Calibri" pitchFamily="34" charset="-120"/>
              </a:rPr>
              <a:t>CONSUMO</a:t>
            </a:r>
            <a:endParaRPr lang="es-419" sz="880" noProof="0" dirty="0"/>
          </a:p>
        </p:txBody>
      </p:sp>
      <p:sp>
        <p:nvSpPr>
          <p:cNvPr id="18" name="Text 16"/>
          <p:cNvSpPr/>
          <p:nvPr/>
        </p:nvSpPr>
        <p:spPr>
          <a:xfrm>
            <a:off x="4718304" y="2569464"/>
            <a:ext cx="3127248" cy="400050"/>
          </a:xfrm>
          <a:prstGeom prst="rect">
            <a:avLst/>
          </a:prstGeom>
          <a:noFill/>
          <a:ln/>
        </p:spPr>
        <p:txBody>
          <a:bodyPr wrap="square" lIns="0" tIns="0" rIns="0" bIns="0" rtlCol="0" anchor="t"/>
          <a:lstStyle/>
          <a:p>
            <a:pPr marL="0" indent="0">
              <a:buNone/>
            </a:pPr>
            <a:r>
              <a:rPr lang="es-419" sz="1050" noProof="0" dirty="0">
                <a:solidFill>
                  <a:srgbClr val="4A423D"/>
                </a:solidFill>
                <a:latin typeface="Calibri" pitchFamily="34" charset="0"/>
                <a:ea typeface="Calibri" pitchFamily="34" charset="-122"/>
                <a:cs typeface="Calibri" pitchFamily="34" charset="-120"/>
              </a:rPr>
              <a:t>≈ 566 AI </a:t>
            </a:r>
            <a:r>
              <a:rPr lang="es-419" sz="1050" noProof="0" dirty="0" err="1">
                <a:solidFill>
                  <a:srgbClr val="4A423D"/>
                </a:solidFill>
                <a:latin typeface="Calibri" pitchFamily="34" charset="0"/>
                <a:ea typeface="Calibri" pitchFamily="34" charset="-122"/>
                <a:cs typeface="Calibri" pitchFamily="34" charset="-120"/>
              </a:rPr>
              <a:t>Credits</a:t>
            </a:r>
            <a:r>
              <a:rPr lang="es-419" sz="1050" noProof="0" dirty="0">
                <a:solidFill>
                  <a:srgbClr val="4A423D"/>
                </a:solidFill>
                <a:latin typeface="Calibri" pitchFamily="34" charset="0"/>
                <a:ea typeface="Calibri" pitchFamily="34" charset="-122"/>
                <a:cs typeface="Calibri" pitchFamily="34" charset="-120"/>
              </a:rPr>
              <a:t> por migración (29,8 % de 1.900; rango 20–50 %).</a:t>
            </a:r>
            <a:endParaRPr lang="es-419" sz="1050" noProof="0" dirty="0"/>
          </a:p>
        </p:txBody>
      </p:sp>
      <p:sp>
        <p:nvSpPr>
          <p:cNvPr id="19" name="Text 17"/>
          <p:cNvSpPr/>
          <p:nvPr/>
        </p:nvSpPr>
        <p:spPr>
          <a:xfrm>
            <a:off x="4718304" y="3024378"/>
            <a:ext cx="3127248" cy="237744"/>
          </a:xfrm>
          <a:prstGeom prst="rect">
            <a:avLst/>
          </a:prstGeom>
          <a:noFill/>
          <a:ln/>
        </p:spPr>
        <p:txBody>
          <a:bodyPr wrap="square" lIns="0" tIns="0" rIns="0" bIns="0" rtlCol="0" anchor="ctr"/>
          <a:lstStyle/>
          <a:p>
            <a:pPr marL="0" indent="0">
              <a:buNone/>
            </a:pPr>
            <a:r>
              <a:rPr lang="es-419" sz="880" b="1" kern="0" spc="100" noProof="0" dirty="0">
                <a:solidFill>
                  <a:srgbClr val="ED1C29"/>
                </a:solidFill>
                <a:latin typeface="Calibri" pitchFamily="34" charset="0"/>
                <a:ea typeface="Calibri" pitchFamily="34" charset="-122"/>
                <a:cs typeface="Calibri" pitchFamily="34" charset="-120"/>
              </a:rPr>
              <a:t>COSTOS</a:t>
            </a:r>
            <a:endParaRPr lang="es-419" sz="880" noProof="0" dirty="0"/>
          </a:p>
        </p:txBody>
      </p:sp>
      <p:sp>
        <p:nvSpPr>
          <p:cNvPr id="20" name="Text 18"/>
          <p:cNvSpPr/>
          <p:nvPr/>
        </p:nvSpPr>
        <p:spPr>
          <a:xfrm>
            <a:off x="4718304" y="3243834"/>
            <a:ext cx="3127248" cy="400050"/>
          </a:xfrm>
          <a:prstGeom prst="rect">
            <a:avLst/>
          </a:prstGeom>
          <a:noFill/>
          <a:ln/>
        </p:spPr>
        <p:txBody>
          <a:bodyPr wrap="square" lIns="0" tIns="0" rIns="0" bIns="0" rtlCol="0" anchor="t"/>
          <a:lstStyle/>
          <a:p>
            <a:pPr marL="0" indent="0">
              <a:buNone/>
            </a:pPr>
            <a:r>
              <a:rPr lang="es-419" sz="1050" noProof="0" dirty="0">
                <a:solidFill>
                  <a:srgbClr val="4A423D"/>
                </a:solidFill>
                <a:latin typeface="Calibri" pitchFamily="34" charset="0"/>
                <a:ea typeface="Calibri" pitchFamily="34" charset="-122"/>
                <a:cs typeface="Calibri" pitchFamily="34" charset="-120"/>
              </a:rPr>
              <a:t>70 licencias Business: USD 1.330/mes y USD 15.960/año.</a:t>
            </a:r>
            <a:endParaRPr lang="es-419" sz="1050" noProof="0" dirty="0"/>
          </a:p>
        </p:txBody>
      </p:sp>
      <p:sp>
        <p:nvSpPr>
          <p:cNvPr id="21" name="Text 19"/>
          <p:cNvSpPr/>
          <p:nvPr/>
        </p:nvSpPr>
        <p:spPr>
          <a:xfrm>
            <a:off x="4718304" y="3698748"/>
            <a:ext cx="3127248" cy="237744"/>
          </a:xfrm>
          <a:prstGeom prst="rect">
            <a:avLst/>
          </a:prstGeom>
          <a:noFill/>
          <a:ln/>
        </p:spPr>
        <p:txBody>
          <a:bodyPr wrap="square" lIns="0" tIns="0" rIns="0" bIns="0" rtlCol="0" anchor="ctr"/>
          <a:lstStyle/>
          <a:p>
            <a:pPr marL="0" indent="0">
              <a:buNone/>
            </a:pPr>
            <a:r>
              <a:rPr lang="es-419" sz="880" b="1" kern="0" spc="100" noProof="0" dirty="0">
                <a:solidFill>
                  <a:srgbClr val="ED1C29"/>
                </a:solidFill>
                <a:latin typeface="Calibri" pitchFamily="34" charset="0"/>
                <a:ea typeface="Calibri" pitchFamily="34" charset="-122"/>
                <a:cs typeface="Calibri" pitchFamily="34" charset="-120"/>
              </a:rPr>
              <a:t>GOBIERNO</a:t>
            </a:r>
            <a:endParaRPr lang="es-419" sz="880" noProof="0" dirty="0"/>
          </a:p>
        </p:txBody>
      </p:sp>
      <p:sp>
        <p:nvSpPr>
          <p:cNvPr id="22" name="Text 20"/>
          <p:cNvSpPr/>
          <p:nvPr/>
        </p:nvSpPr>
        <p:spPr>
          <a:xfrm>
            <a:off x="4718304" y="3918204"/>
            <a:ext cx="3127248" cy="400050"/>
          </a:xfrm>
          <a:prstGeom prst="rect">
            <a:avLst/>
          </a:prstGeom>
          <a:noFill/>
          <a:ln/>
        </p:spPr>
        <p:txBody>
          <a:bodyPr wrap="square" lIns="0" tIns="0" rIns="0" bIns="0" rtlCol="0" anchor="t"/>
          <a:lstStyle/>
          <a:p>
            <a:pPr marL="0" indent="0">
              <a:buNone/>
            </a:pPr>
            <a:r>
              <a:rPr lang="es-419" sz="1050" noProof="0" dirty="0">
                <a:solidFill>
                  <a:srgbClr val="4A423D"/>
                </a:solidFill>
                <a:latin typeface="Calibri" pitchFamily="34" charset="0"/>
                <a:ea typeface="Calibri" pitchFamily="34" charset="-122"/>
                <a:cs typeface="Calibri" pitchFamily="34" charset="-120"/>
              </a:rPr>
              <a:t>Presupuestos </a:t>
            </a:r>
            <a:r>
              <a:rPr lang="es-419" sz="1050" noProof="0">
                <a:solidFill>
                  <a:srgbClr val="4A423D"/>
                </a:solidFill>
                <a:latin typeface="Calibri" pitchFamily="34" charset="0"/>
                <a:ea typeface="Calibri" pitchFamily="34" charset="-122"/>
                <a:cs typeface="Calibri" pitchFamily="34" charset="-120"/>
              </a:rPr>
              <a:t>y límites configurables; </a:t>
            </a:r>
            <a:r>
              <a:rPr lang="es-419" sz="1050" noProof="0" dirty="0">
                <a:solidFill>
                  <a:srgbClr val="4A423D"/>
                </a:solidFill>
                <a:latin typeface="Calibri" pitchFamily="34" charset="0"/>
                <a:ea typeface="Calibri" pitchFamily="34" charset="-122"/>
                <a:cs typeface="Calibri" pitchFamily="34" charset="-120"/>
              </a:rPr>
              <a:t>SMT/Accesos </a:t>
            </a:r>
            <a:r>
              <a:rPr lang="es-419" sz="1050" noProof="0">
                <a:solidFill>
                  <a:srgbClr val="4A423D"/>
                </a:solidFill>
                <a:latin typeface="Calibri" pitchFamily="34" charset="0"/>
                <a:ea typeface="Calibri" pitchFamily="34" charset="-122"/>
                <a:cs typeface="Calibri" pitchFamily="34" charset="-120"/>
              </a:rPr>
              <a:t>e</a:t>
            </a:r>
            <a:r>
              <a:rPr lang="es-419" sz="1050" noProof="0" dirty="0">
                <a:solidFill>
                  <a:srgbClr val="4A423D"/>
                </a:solidFill>
                <a:latin typeface="Calibri" pitchFamily="34" charset="0"/>
                <a:ea typeface="Calibri" pitchFamily="34" charset="-122"/>
                <a:cs typeface="Calibri" pitchFamily="34" charset="-120"/>
              </a:rPr>
              <a:t> Ingeniería administran.</a:t>
            </a:r>
            <a:endParaRPr lang="es-419" sz="1050" noProof="0" dirty="0"/>
          </a:p>
        </p:txBody>
      </p:sp>
      <p:sp>
        <p:nvSpPr>
          <p:cNvPr id="23" name="Text 21"/>
          <p:cNvSpPr/>
          <p:nvPr/>
        </p:nvSpPr>
        <p:spPr>
          <a:xfrm>
            <a:off x="4718304" y="4373118"/>
            <a:ext cx="3127248" cy="237744"/>
          </a:xfrm>
          <a:prstGeom prst="rect">
            <a:avLst/>
          </a:prstGeom>
          <a:noFill/>
          <a:ln/>
        </p:spPr>
        <p:txBody>
          <a:bodyPr wrap="square" lIns="0" tIns="0" rIns="0" bIns="0" rtlCol="0" anchor="ctr"/>
          <a:lstStyle/>
          <a:p>
            <a:pPr marL="0" indent="0">
              <a:buNone/>
            </a:pPr>
            <a:r>
              <a:rPr lang="es-419" sz="880" b="1" kern="0" spc="100" noProof="0" dirty="0">
                <a:solidFill>
                  <a:srgbClr val="ED1C29"/>
                </a:solidFill>
                <a:latin typeface="Calibri" pitchFamily="34" charset="0"/>
                <a:ea typeface="Calibri" pitchFamily="34" charset="-122"/>
                <a:cs typeface="Calibri" pitchFamily="34" charset="-120"/>
              </a:rPr>
              <a:t>SEGURIDAD</a:t>
            </a:r>
            <a:endParaRPr lang="es-419" sz="880" noProof="0" dirty="0"/>
          </a:p>
        </p:txBody>
      </p:sp>
      <p:sp>
        <p:nvSpPr>
          <p:cNvPr id="24" name="Text 22"/>
          <p:cNvSpPr/>
          <p:nvPr/>
        </p:nvSpPr>
        <p:spPr>
          <a:xfrm>
            <a:off x="4718304" y="4592574"/>
            <a:ext cx="3127248" cy="400050"/>
          </a:xfrm>
          <a:prstGeom prst="rect">
            <a:avLst/>
          </a:prstGeom>
          <a:noFill/>
          <a:ln/>
        </p:spPr>
        <p:txBody>
          <a:bodyPr wrap="square" lIns="0" tIns="0" rIns="0" bIns="0" rtlCol="0" anchor="t"/>
          <a:lstStyle/>
          <a:p>
            <a:pPr marL="0" indent="0">
              <a:buNone/>
            </a:pPr>
            <a:r>
              <a:rPr lang="es-419" sz="1050" noProof="0" dirty="0">
                <a:solidFill>
                  <a:srgbClr val="4A423D"/>
                </a:solidFill>
                <a:latin typeface="Calibri" pitchFamily="34" charset="0"/>
                <a:ea typeface="Calibri" pitchFamily="34" charset="-122"/>
                <a:cs typeface="Calibri" pitchFamily="34" charset="-120"/>
              </a:rPr>
              <a:t>Sin hallazgos </a:t>
            </a:r>
            <a:r>
              <a:rPr lang="es-419" sz="1050" noProof="0">
                <a:solidFill>
                  <a:srgbClr val="4A423D"/>
                </a:solidFill>
                <a:latin typeface="Calibri" pitchFamily="34" charset="0"/>
                <a:ea typeface="Calibri" pitchFamily="34" charset="-122"/>
                <a:cs typeface="Calibri" pitchFamily="34" charset="-120"/>
              </a:rPr>
              <a:t>relevantes reportados por Veracode</a:t>
            </a:r>
            <a:r>
              <a:rPr lang="es-419" sz="1050" noProof="0" dirty="0">
                <a:solidFill>
                  <a:srgbClr val="4A423D"/>
                </a:solidFill>
                <a:latin typeface="Calibri" pitchFamily="34" charset="0"/>
                <a:ea typeface="Calibri" pitchFamily="34" charset="-122"/>
                <a:cs typeface="Calibri" pitchFamily="34" charset="-120"/>
              </a:rPr>
              <a:t> ni </a:t>
            </a:r>
            <a:r>
              <a:rPr lang="es-419" sz="1050" noProof="0">
                <a:solidFill>
                  <a:srgbClr val="4A423D"/>
                </a:solidFill>
                <a:latin typeface="Calibri" pitchFamily="34" charset="0"/>
                <a:ea typeface="Calibri" pitchFamily="34" charset="-122"/>
                <a:cs typeface="Calibri" pitchFamily="34" charset="-120"/>
              </a:rPr>
              <a:t>SonarCloud durante la etapa evaluada;</a:t>
            </a:r>
            <a:r>
              <a:rPr lang="es-419" sz="1050" noProof="0" dirty="0">
                <a:solidFill>
                  <a:srgbClr val="4A423D"/>
                </a:solidFill>
                <a:latin typeface="Calibri" pitchFamily="34" charset="0"/>
                <a:ea typeface="Calibri" pitchFamily="34" charset="-122"/>
                <a:cs typeface="Calibri" pitchFamily="34" charset="-120"/>
              </a:rPr>
              <a:t> pruebas funcionales pendientes.</a:t>
            </a:r>
            <a:endParaRPr lang="es-419" sz="1050" noProof="0" dirty="0"/>
          </a:p>
        </p:txBody>
      </p:sp>
      <p:sp>
        <p:nvSpPr>
          <p:cNvPr id="25" name="decision">
            <a:extLst>
              <a:ext uri="{C183D7F6-B498-43B3-948B-1728B52AA6E4}">
                <adec:decorative xmlns:adec="http://schemas.microsoft.com/office/drawing/2017/decorative" val="1"/>
              </a:ext>
            </a:extLst>
          </p:cNvPr>
          <p:cNvSpPr/>
          <p:nvPr/>
        </p:nvSpPr>
        <p:spPr>
          <a:xfrm>
            <a:off x="8311896" y="1691640"/>
            <a:ext cx="3493008" cy="3429000"/>
          </a:xfrm>
          <a:prstGeom prst="rect">
            <a:avLst/>
          </a:prstGeom>
          <a:solidFill>
            <a:srgbClr val="FFFFFF"/>
          </a:solidFill>
          <a:ln w="12700">
            <a:solidFill>
              <a:srgbClr val="E7E1DE"/>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60" name="accent top"/>
          <p:cNvSpPr/>
          <p:nvPr/>
        </p:nvSpPr>
        <p:spPr>
          <a:xfrm>
            <a:off x="8311896" y="1691640"/>
            <a:ext cx="3493008" cy="91440"/>
          </a:xfrm>
          <a:prstGeom prst="rect">
            <a:avLst/>
          </a:prstGeom>
          <a:solidFill>
            <a:srgbClr val="ED1C29"/>
          </a:solidFill>
          <a:ln/>
        </p:spPr>
        <p:txBody>
          <a:bodyPr/>
          <a:lstStyle/>
          <a:p>
            <a:endParaRPr lang="es-419" noProof="0" dirty="0"/>
          </a:p>
        </p:txBody>
      </p:sp>
      <p:sp>
        <p:nvSpPr>
          <p:cNvPr id="26" name="Text 24"/>
          <p:cNvSpPr/>
          <p:nvPr/>
        </p:nvSpPr>
        <p:spPr>
          <a:xfrm>
            <a:off x="8531352" y="1911096"/>
            <a:ext cx="3054096" cy="292608"/>
          </a:xfrm>
          <a:prstGeom prst="rect">
            <a:avLst/>
          </a:prstGeom>
          <a:noFill/>
          <a:ln/>
        </p:spPr>
        <p:txBody>
          <a:bodyPr wrap="square" lIns="0" tIns="0" rIns="0" bIns="0" rtlCol="0" anchor="ctr"/>
          <a:lstStyle/>
          <a:p>
            <a:pPr marL="0" indent="0">
              <a:buNone/>
            </a:pPr>
            <a:r>
              <a:rPr lang="es-419" sz="1250" b="1" kern="0" spc="100" noProof="0" dirty="0">
                <a:solidFill>
                  <a:srgbClr val="ED1C29"/>
                </a:solidFill>
                <a:latin typeface="Trebuchet MS" pitchFamily="34" charset="0"/>
                <a:ea typeface="Trebuchet MS" pitchFamily="34" charset="-122"/>
                <a:cs typeface="Trebuchet MS" pitchFamily="34" charset="-120"/>
              </a:rPr>
              <a:t>3 · SIGUIENTE DECISIÓN</a:t>
            </a:r>
            <a:endParaRPr lang="es-419" sz="1250" noProof="0" dirty="0"/>
          </a:p>
        </p:txBody>
      </p:sp>
      <p:sp>
        <p:nvSpPr>
          <p:cNvPr id="27" name="step badge">
            <a:extLst>
              <a:ext uri="{C183D7F6-B498-43B3-948B-1728B52AA6E4}">
                <adec:decorative xmlns:adec="http://schemas.microsoft.com/office/drawing/2017/decorative" val="1"/>
              </a:ext>
            </a:extLst>
          </p:cNvPr>
          <p:cNvSpPr/>
          <p:nvPr/>
        </p:nvSpPr>
        <p:spPr>
          <a:xfrm>
            <a:off x="8549640" y="2340864"/>
            <a:ext cx="237744" cy="237744"/>
          </a:xfrm>
          <a:prstGeom prst="ellipse">
            <a:avLst/>
          </a:prstGeom>
          <a:solidFill>
            <a:srgbClr val="ED1C29"/>
          </a:solidFill>
          <a:ln/>
        </p:spPr>
        <p:txBody>
          <a:bodyPr/>
          <a:lstStyle/>
          <a:p>
            <a:endParaRPr lang="es-419" noProof="0" dirty="0"/>
          </a:p>
        </p:txBody>
      </p:sp>
      <p:sp>
        <p:nvSpPr>
          <p:cNvPr id="28" name="Text 26"/>
          <p:cNvSpPr/>
          <p:nvPr/>
        </p:nvSpPr>
        <p:spPr>
          <a:xfrm>
            <a:off x="8549640" y="2340864"/>
            <a:ext cx="237744" cy="237744"/>
          </a:xfrm>
          <a:prstGeom prst="rect">
            <a:avLst/>
          </a:prstGeom>
          <a:noFill/>
          <a:ln/>
        </p:spPr>
        <p:txBody>
          <a:bodyPr wrap="square" lIns="0" tIns="0" rIns="0" bIns="0" rtlCol="0" anchor="ctr"/>
          <a:lstStyle/>
          <a:p>
            <a:pPr marL="0" indent="0" algn="ctr">
              <a:buNone/>
            </a:pPr>
            <a:r>
              <a:rPr lang="es-419" sz="1000" b="1" noProof="0" dirty="0">
                <a:solidFill>
                  <a:srgbClr val="FFFFFF"/>
                </a:solidFill>
                <a:latin typeface="Trebuchet MS" pitchFamily="34" charset="0"/>
                <a:ea typeface="Trebuchet MS" pitchFamily="34" charset="-122"/>
                <a:cs typeface="Trebuchet MS" pitchFamily="34" charset="-120"/>
              </a:rPr>
              <a:t>1</a:t>
            </a:r>
            <a:endParaRPr lang="es-419" sz="1000" noProof="0" dirty="0"/>
          </a:p>
        </p:txBody>
      </p:sp>
      <p:sp>
        <p:nvSpPr>
          <p:cNvPr id="29" name="Text 27"/>
          <p:cNvSpPr/>
          <p:nvPr/>
        </p:nvSpPr>
        <p:spPr>
          <a:xfrm>
            <a:off x="8897112" y="2313432"/>
            <a:ext cx="2706624" cy="310896"/>
          </a:xfrm>
          <a:prstGeom prst="rect">
            <a:avLst/>
          </a:prstGeom>
          <a:noFill/>
          <a:ln/>
        </p:spPr>
        <p:txBody>
          <a:bodyPr wrap="square" lIns="0" tIns="0" rIns="0" bIns="0" rtlCol="0" anchor="ctr"/>
          <a:lstStyle/>
          <a:p>
            <a:pPr marL="0" indent="0" algn="l">
              <a:buNone/>
            </a:pPr>
            <a:r>
              <a:rPr lang="es-419" sz="1100" noProof="0" dirty="0">
                <a:solidFill>
                  <a:srgbClr val="4A423D"/>
                </a:solidFill>
                <a:latin typeface="Calibri" pitchFamily="34" charset="0"/>
                <a:ea typeface="Calibri" pitchFamily="34" charset="-122"/>
                <a:cs typeface="Calibri" pitchFamily="34" charset="-120"/>
              </a:rPr>
              <a:t>Completar medición de PoC</a:t>
            </a:r>
            <a:endParaRPr lang="es-419" sz="1100" noProof="0" dirty="0"/>
          </a:p>
        </p:txBody>
      </p:sp>
      <p:sp>
        <p:nvSpPr>
          <p:cNvPr id="30" name="step badge">
            <a:extLst>
              <a:ext uri="{C183D7F6-B498-43B3-948B-1728B52AA6E4}">
                <adec:decorative xmlns:adec="http://schemas.microsoft.com/office/drawing/2017/decorative" val="1"/>
              </a:ext>
            </a:extLst>
          </p:cNvPr>
          <p:cNvSpPr/>
          <p:nvPr/>
        </p:nvSpPr>
        <p:spPr>
          <a:xfrm>
            <a:off x="8549640" y="2784348"/>
            <a:ext cx="237744" cy="237744"/>
          </a:xfrm>
          <a:prstGeom prst="ellipse">
            <a:avLst/>
          </a:prstGeom>
          <a:solidFill>
            <a:srgbClr val="ED1C29"/>
          </a:solidFill>
          <a:ln/>
        </p:spPr>
        <p:txBody>
          <a:bodyPr/>
          <a:lstStyle/>
          <a:p>
            <a:endParaRPr lang="es-419" noProof="0" dirty="0"/>
          </a:p>
        </p:txBody>
      </p:sp>
      <p:sp>
        <p:nvSpPr>
          <p:cNvPr id="31" name="Text 29"/>
          <p:cNvSpPr/>
          <p:nvPr/>
        </p:nvSpPr>
        <p:spPr>
          <a:xfrm>
            <a:off x="8549640" y="2784348"/>
            <a:ext cx="237744" cy="237744"/>
          </a:xfrm>
          <a:prstGeom prst="rect">
            <a:avLst/>
          </a:prstGeom>
          <a:noFill/>
          <a:ln/>
        </p:spPr>
        <p:txBody>
          <a:bodyPr wrap="square" lIns="0" tIns="0" rIns="0" bIns="0" rtlCol="0" anchor="ctr"/>
          <a:lstStyle/>
          <a:p>
            <a:pPr marL="0" indent="0" algn="ctr">
              <a:buNone/>
            </a:pPr>
            <a:r>
              <a:rPr lang="es-419" sz="1000" b="1" noProof="0" dirty="0">
                <a:solidFill>
                  <a:srgbClr val="FFFFFF"/>
                </a:solidFill>
                <a:latin typeface="Trebuchet MS" pitchFamily="34" charset="0"/>
                <a:ea typeface="Trebuchet MS" pitchFamily="34" charset="-122"/>
                <a:cs typeface="Trebuchet MS" pitchFamily="34" charset="-120"/>
              </a:rPr>
              <a:t>2</a:t>
            </a:r>
            <a:endParaRPr lang="es-419" sz="1000" noProof="0" dirty="0"/>
          </a:p>
        </p:txBody>
      </p:sp>
      <p:sp>
        <p:nvSpPr>
          <p:cNvPr id="32" name="Text 30"/>
          <p:cNvSpPr/>
          <p:nvPr/>
        </p:nvSpPr>
        <p:spPr>
          <a:xfrm>
            <a:off x="8897112" y="2756916"/>
            <a:ext cx="2706624" cy="310896"/>
          </a:xfrm>
          <a:prstGeom prst="rect">
            <a:avLst/>
          </a:prstGeom>
          <a:noFill/>
          <a:ln/>
        </p:spPr>
        <p:txBody>
          <a:bodyPr wrap="square" lIns="0" tIns="0" rIns="0" bIns="0" rtlCol="0" anchor="ctr"/>
          <a:lstStyle/>
          <a:p>
            <a:pPr marL="0" indent="0" algn="l">
              <a:buNone/>
            </a:pPr>
            <a:r>
              <a:rPr lang="es-419" sz="1100" noProof="0" dirty="0">
                <a:solidFill>
                  <a:srgbClr val="4A423D"/>
                </a:solidFill>
                <a:latin typeface="Calibri" pitchFamily="34" charset="0"/>
                <a:ea typeface="Calibri" pitchFamily="34" charset="-122"/>
                <a:cs typeface="Calibri" pitchFamily="34" charset="-120"/>
              </a:rPr>
              <a:t>Validar consumo</a:t>
            </a:r>
            <a:endParaRPr lang="es-419" sz="1100" noProof="0" dirty="0"/>
          </a:p>
        </p:txBody>
      </p:sp>
      <p:sp>
        <p:nvSpPr>
          <p:cNvPr id="33" name="step badge">
            <a:extLst>
              <a:ext uri="{C183D7F6-B498-43B3-948B-1728B52AA6E4}">
                <adec:decorative xmlns:adec="http://schemas.microsoft.com/office/drawing/2017/decorative" val="1"/>
              </a:ext>
            </a:extLst>
          </p:cNvPr>
          <p:cNvSpPr/>
          <p:nvPr/>
        </p:nvSpPr>
        <p:spPr>
          <a:xfrm>
            <a:off x="8549640" y="3227832"/>
            <a:ext cx="237744" cy="237744"/>
          </a:xfrm>
          <a:prstGeom prst="ellipse">
            <a:avLst/>
          </a:prstGeom>
          <a:solidFill>
            <a:srgbClr val="ED1C29"/>
          </a:solidFill>
          <a:ln/>
        </p:spPr>
        <p:txBody>
          <a:bodyPr/>
          <a:lstStyle/>
          <a:p>
            <a:endParaRPr lang="es-419" noProof="0" dirty="0"/>
          </a:p>
        </p:txBody>
      </p:sp>
      <p:sp>
        <p:nvSpPr>
          <p:cNvPr id="34" name="Text 32"/>
          <p:cNvSpPr/>
          <p:nvPr/>
        </p:nvSpPr>
        <p:spPr>
          <a:xfrm>
            <a:off x="8549640" y="3227832"/>
            <a:ext cx="237744" cy="237744"/>
          </a:xfrm>
          <a:prstGeom prst="rect">
            <a:avLst/>
          </a:prstGeom>
          <a:noFill/>
          <a:ln/>
        </p:spPr>
        <p:txBody>
          <a:bodyPr wrap="square" lIns="0" tIns="0" rIns="0" bIns="0" rtlCol="0" anchor="ctr"/>
          <a:lstStyle/>
          <a:p>
            <a:pPr marL="0" indent="0" algn="ctr">
              <a:buNone/>
            </a:pPr>
            <a:r>
              <a:rPr lang="es-419" sz="1000" b="1" noProof="0" dirty="0">
                <a:solidFill>
                  <a:srgbClr val="FFFFFF"/>
                </a:solidFill>
                <a:latin typeface="Trebuchet MS" pitchFamily="34" charset="0"/>
                <a:ea typeface="Trebuchet MS" pitchFamily="34" charset="-122"/>
                <a:cs typeface="Trebuchet MS" pitchFamily="34" charset="-120"/>
              </a:rPr>
              <a:t>3</a:t>
            </a:r>
            <a:endParaRPr lang="es-419" sz="1000" noProof="0" dirty="0"/>
          </a:p>
        </p:txBody>
      </p:sp>
      <p:sp>
        <p:nvSpPr>
          <p:cNvPr id="35" name="Text 33"/>
          <p:cNvSpPr/>
          <p:nvPr/>
        </p:nvSpPr>
        <p:spPr>
          <a:xfrm>
            <a:off x="8897112" y="3200400"/>
            <a:ext cx="2706624" cy="310896"/>
          </a:xfrm>
          <a:prstGeom prst="rect">
            <a:avLst/>
          </a:prstGeom>
          <a:noFill/>
          <a:ln/>
        </p:spPr>
        <p:txBody>
          <a:bodyPr wrap="square" lIns="0" tIns="0" rIns="0" bIns="0" rtlCol="0" anchor="ctr"/>
          <a:lstStyle/>
          <a:p>
            <a:pPr marL="0" indent="0" algn="l">
              <a:buNone/>
            </a:pPr>
            <a:r>
              <a:rPr lang="es-419" sz="1100" noProof="0" dirty="0">
                <a:solidFill>
                  <a:srgbClr val="4A423D"/>
                </a:solidFill>
                <a:latin typeface="Calibri" pitchFamily="34" charset="0"/>
                <a:ea typeface="Calibri" pitchFamily="34" charset="-122"/>
                <a:cs typeface="Calibri" pitchFamily="34" charset="-120"/>
              </a:rPr>
              <a:t>Definir gobierno y límites</a:t>
            </a:r>
            <a:endParaRPr lang="es-419" sz="1100" noProof="0" dirty="0"/>
          </a:p>
        </p:txBody>
      </p:sp>
      <p:sp>
        <p:nvSpPr>
          <p:cNvPr id="36" name="step badge">
            <a:extLst>
              <a:ext uri="{C183D7F6-B498-43B3-948B-1728B52AA6E4}">
                <adec:decorative xmlns:adec="http://schemas.microsoft.com/office/drawing/2017/decorative" val="1"/>
              </a:ext>
            </a:extLst>
          </p:cNvPr>
          <p:cNvSpPr/>
          <p:nvPr/>
        </p:nvSpPr>
        <p:spPr>
          <a:xfrm>
            <a:off x="8549640" y="3671316"/>
            <a:ext cx="237744" cy="237744"/>
          </a:xfrm>
          <a:prstGeom prst="ellipse">
            <a:avLst/>
          </a:prstGeom>
          <a:solidFill>
            <a:srgbClr val="ED1C29"/>
          </a:solidFill>
          <a:ln/>
        </p:spPr>
        <p:txBody>
          <a:bodyPr/>
          <a:lstStyle/>
          <a:p>
            <a:endParaRPr lang="es-419" noProof="0" dirty="0"/>
          </a:p>
        </p:txBody>
      </p:sp>
      <p:sp>
        <p:nvSpPr>
          <p:cNvPr id="37" name="Text 35"/>
          <p:cNvSpPr/>
          <p:nvPr/>
        </p:nvSpPr>
        <p:spPr>
          <a:xfrm>
            <a:off x="8549640" y="3671316"/>
            <a:ext cx="237744" cy="237744"/>
          </a:xfrm>
          <a:prstGeom prst="rect">
            <a:avLst/>
          </a:prstGeom>
          <a:noFill/>
          <a:ln/>
        </p:spPr>
        <p:txBody>
          <a:bodyPr wrap="square" lIns="0" tIns="0" rIns="0" bIns="0" rtlCol="0" anchor="ctr"/>
          <a:lstStyle/>
          <a:p>
            <a:pPr marL="0" indent="0" algn="ctr">
              <a:buNone/>
            </a:pPr>
            <a:r>
              <a:rPr lang="es-419" sz="1000" b="1" noProof="0" dirty="0">
                <a:solidFill>
                  <a:srgbClr val="FFFFFF"/>
                </a:solidFill>
                <a:latin typeface="Trebuchet MS" pitchFamily="34" charset="0"/>
                <a:ea typeface="Trebuchet MS" pitchFamily="34" charset="-122"/>
                <a:cs typeface="Trebuchet MS" pitchFamily="34" charset="-120"/>
              </a:rPr>
              <a:t>4</a:t>
            </a:r>
            <a:endParaRPr lang="es-419" sz="1000" noProof="0" dirty="0"/>
          </a:p>
        </p:txBody>
      </p:sp>
      <p:sp>
        <p:nvSpPr>
          <p:cNvPr id="38" name="Text 36"/>
          <p:cNvSpPr/>
          <p:nvPr/>
        </p:nvSpPr>
        <p:spPr>
          <a:xfrm>
            <a:off x="8897112" y="3643884"/>
            <a:ext cx="2706624" cy="310896"/>
          </a:xfrm>
          <a:prstGeom prst="rect">
            <a:avLst/>
          </a:prstGeom>
          <a:noFill/>
          <a:ln/>
        </p:spPr>
        <p:txBody>
          <a:bodyPr wrap="square" lIns="0" tIns="0" rIns="0" bIns="0" rtlCol="0" anchor="ctr"/>
          <a:lstStyle/>
          <a:p>
            <a:pPr marL="0" indent="0" algn="l">
              <a:buNone/>
            </a:pPr>
            <a:r>
              <a:rPr lang="es-419" sz="1100" noProof="0" dirty="0">
                <a:solidFill>
                  <a:srgbClr val="4A423D"/>
                </a:solidFill>
                <a:latin typeface="Calibri" pitchFamily="34" charset="0"/>
                <a:ea typeface="Calibri" pitchFamily="34" charset="-122"/>
                <a:cs typeface="Calibri" pitchFamily="34" charset="-120"/>
              </a:rPr>
              <a:t>Alinear con responsables</a:t>
            </a:r>
            <a:endParaRPr lang="es-419" sz="1100" noProof="0" dirty="0"/>
          </a:p>
        </p:txBody>
      </p:sp>
      <p:sp>
        <p:nvSpPr>
          <p:cNvPr id="39" name="step badge">
            <a:extLst>
              <a:ext uri="{C183D7F6-B498-43B3-948B-1728B52AA6E4}">
                <adec:decorative xmlns:adec="http://schemas.microsoft.com/office/drawing/2017/decorative" val="1"/>
              </a:ext>
            </a:extLst>
          </p:cNvPr>
          <p:cNvSpPr/>
          <p:nvPr/>
        </p:nvSpPr>
        <p:spPr>
          <a:xfrm>
            <a:off x="8549640" y="4114800"/>
            <a:ext cx="237744" cy="237744"/>
          </a:xfrm>
          <a:prstGeom prst="ellipse">
            <a:avLst/>
          </a:prstGeom>
          <a:solidFill>
            <a:srgbClr val="ED1C29"/>
          </a:solidFill>
          <a:ln/>
        </p:spPr>
        <p:txBody>
          <a:bodyPr/>
          <a:lstStyle/>
          <a:p>
            <a:endParaRPr lang="es-419" noProof="0" dirty="0"/>
          </a:p>
        </p:txBody>
      </p:sp>
      <p:sp>
        <p:nvSpPr>
          <p:cNvPr id="40" name="Text 38"/>
          <p:cNvSpPr/>
          <p:nvPr/>
        </p:nvSpPr>
        <p:spPr>
          <a:xfrm>
            <a:off x="8549640" y="4114800"/>
            <a:ext cx="237744" cy="237744"/>
          </a:xfrm>
          <a:prstGeom prst="rect">
            <a:avLst/>
          </a:prstGeom>
          <a:noFill/>
          <a:ln/>
        </p:spPr>
        <p:txBody>
          <a:bodyPr wrap="square" lIns="0" tIns="0" rIns="0" bIns="0" rtlCol="0" anchor="ctr"/>
          <a:lstStyle/>
          <a:p>
            <a:pPr marL="0" indent="0" algn="ctr">
              <a:buNone/>
            </a:pPr>
            <a:r>
              <a:rPr lang="es-419" sz="1000" b="1" noProof="0" dirty="0">
                <a:solidFill>
                  <a:srgbClr val="FFFFFF"/>
                </a:solidFill>
                <a:latin typeface="Trebuchet MS" pitchFamily="34" charset="0"/>
                <a:ea typeface="Trebuchet MS" pitchFamily="34" charset="-122"/>
                <a:cs typeface="Trebuchet MS" pitchFamily="34" charset="-120"/>
              </a:rPr>
              <a:t>5</a:t>
            </a:r>
            <a:endParaRPr lang="es-419" sz="1000" noProof="0" dirty="0"/>
          </a:p>
        </p:txBody>
      </p:sp>
      <p:sp>
        <p:nvSpPr>
          <p:cNvPr id="41" name="Text 39"/>
          <p:cNvSpPr/>
          <p:nvPr/>
        </p:nvSpPr>
        <p:spPr>
          <a:xfrm>
            <a:off x="8897112" y="4087368"/>
            <a:ext cx="2706624" cy="310896"/>
          </a:xfrm>
          <a:prstGeom prst="rect">
            <a:avLst/>
          </a:prstGeom>
          <a:noFill/>
          <a:ln/>
        </p:spPr>
        <p:txBody>
          <a:bodyPr wrap="square" lIns="0" tIns="0" rIns="0" bIns="0" rtlCol="0" anchor="ctr"/>
          <a:lstStyle/>
          <a:p>
            <a:pPr marL="0" indent="0" algn="l">
              <a:buNone/>
            </a:pPr>
            <a:r>
              <a:rPr lang="es-419" sz="1100" noProof="0" dirty="0">
                <a:solidFill>
                  <a:srgbClr val="4A423D"/>
                </a:solidFill>
                <a:latin typeface="Calibri" pitchFamily="34" charset="0"/>
                <a:ea typeface="Calibri" pitchFamily="34" charset="-122"/>
                <a:cs typeface="Calibri" pitchFamily="34" charset="-120"/>
              </a:rPr>
              <a:t>Determinar cantidad de licencias</a:t>
            </a:r>
            <a:endParaRPr lang="es-419" sz="1100" noProof="0" dirty="0"/>
          </a:p>
        </p:txBody>
      </p:sp>
      <p:sp>
        <p:nvSpPr>
          <p:cNvPr id="42" name="step badge">
            <a:extLst>
              <a:ext uri="{C183D7F6-B498-43B3-948B-1728B52AA6E4}">
                <adec:decorative xmlns:adec="http://schemas.microsoft.com/office/drawing/2017/decorative" val="1"/>
              </a:ext>
            </a:extLst>
          </p:cNvPr>
          <p:cNvSpPr/>
          <p:nvPr/>
        </p:nvSpPr>
        <p:spPr>
          <a:xfrm>
            <a:off x="8549640" y="4558284"/>
            <a:ext cx="237744" cy="237744"/>
          </a:xfrm>
          <a:prstGeom prst="ellipse">
            <a:avLst/>
          </a:prstGeom>
          <a:solidFill>
            <a:srgbClr val="ED1C29"/>
          </a:solidFill>
          <a:ln/>
        </p:spPr>
        <p:txBody>
          <a:bodyPr/>
          <a:lstStyle/>
          <a:p>
            <a:endParaRPr lang="es-419" noProof="0" dirty="0"/>
          </a:p>
        </p:txBody>
      </p:sp>
      <p:sp>
        <p:nvSpPr>
          <p:cNvPr id="43" name="Text 41"/>
          <p:cNvSpPr/>
          <p:nvPr/>
        </p:nvSpPr>
        <p:spPr>
          <a:xfrm>
            <a:off x="8549640" y="4558284"/>
            <a:ext cx="237744" cy="237744"/>
          </a:xfrm>
          <a:prstGeom prst="rect">
            <a:avLst/>
          </a:prstGeom>
          <a:noFill/>
          <a:ln/>
        </p:spPr>
        <p:txBody>
          <a:bodyPr wrap="square" lIns="0" tIns="0" rIns="0" bIns="0" rtlCol="0" anchor="ctr"/>
          <a:lstStyle/>
          <a:p>
            <a:pPr marL="0" indent="0" algn="ctr">
              <a:buNone/>
            </a:pPr>
            <a:r>
              <a:rPr lang="es-419" sz="1000" b="1" noProof="0" dirty="0">
                <a:solidFill>
                  <a:srgbClr val="FFFFFF"/>
                </a:solidFill>
                <a:latin typeface="Trebuchet MS" pitchFamily="34" charset="0"/>
                <a:ea typeface="Trebuchet MS" pitchFamily="34" charset="-122"/>
                <a:cs typeface="Trebuchet MS" pitchFamily="34" charset="-120"/>
              </a:rPr>
              <a:t>6</a:t>
            </a:r>
            <a:endParaRPr lang="es-419" sz="1000" noProof="0" dirty="0"/>
          </a:p>
        </p:txBody>
      </p:sp>
      <p:sp>
        <p:nvSpPr>
          <p:cNvPr id="44" name="Text 42"/>
          <p:cNvSpPr/>
          <p:nvPr/>
        </p:nvSpPr>
        <p:spPr>
          <a:xfrm>
            <a:off x="8897112" y="4530852"/>
            <a:ext cx="2706624" cy="310896"/>
          </a:xfrm>
          <a:prstGeom prst="rect">
            <a:avLst/>
          </a:prstGeom>
          <a:noFill/>
          <a:ln/>
        </p:spPr>
        <p:txBody>
          <a:bodyPr wrap="square" lIns="0" tIns="0" rIns="0" bIns="0" rtlCol="0" anchor="ctr"/>
          <a:lstStyle/>
          <a:p>
            <a:pPr marL="0" indent="0" algn="l">
              <a:buNone/>
            </a:pPr>
            <a:r>
              <a:rPr lang="es-419" sz="1100" b="1" noProof="0" dirty="0">
                <a:solidFill>
                  <a:srgbClr val="211915"/>
                </a:solidFill>
                <a:latin typeface="Calibri" pitchFamily="34" charset="0"/>
                <a:ea typeface="Calibri" pitchFamily="34" charset="-122"/>
                <a:cs typeface="Calibri" pitchFamily="34" charset="-120"/>
              </a:rPr>
              <a:t>Decidir escalamiento</a:t>
            </a:r>
            <a:endParaRPr lang="es-419" sz="1100" noProof="0" dirty="0"/>
          </a:p>
        </p:txBody>
      </p:sp>
      <p:sp>
        <p:nvSpPr>
          <p:cNvPr id="45" name="message">
            <a:extLst>
              <a:ext uri="{C183D7F6-B498-43B3-948B-1728B52AA6E4}">
                <adec:decorative xmlns:adec="http://schemas.microsoft.com/office/drawing/2017/decorative" val="1"/>
              </a:ext>
            </a:extLst>
          </p:cNvPr>
          <p:cNvSpPr/>
          <p:nvPr/>
        </p:nvSpPr>
        <p:spPr>
          <a:xfrm>
            <a:off x="685800" y="5349240"/>
            <a:ext cx="10817352" cy="841248"/>
          </a:xfrm>
          <a:prstGeom prst="rect">
            <a:avLst/>
          </a:prstGeom>
          <a:solidFill>
            <a:srgbClr val="ED1C29"/>
          </a:solidFill>
          <a:ln w="12700">
            <a:solidFill>
              <a:srgbClr val="ED1C29"/>
            </a:solidFill>
            <a:prstDash val="solid"/>
          </a:ln>
          <a:effectLst>
            <a:outerShdw blurRad="114300" dist="38100" dir="5400000" algn="bl" rotWithShape="0">
              <a:srgbClr val="6B615C">
                <a:alpha val="9000"/>
              </a:srgbClr>
            </a:outerShdw>
          </a:effectLst>
        </p:spPr>
        <p:txBody>
          <a:bodyPr/>
          <a:lstStyle/>
          <a:p>
            <a:endParaRPr lang="es-419" noProof="0" dirty="0"/>
          </a:p>
        </p:txBody>
      </p:sp>
      <p:sp>
        <p:nvSpPr>
          <p:cNvPr id="46" name="Text 44"/>
          <p:cNvSpPr/>
          <p:nvPr/>
        </p:nvSpPr>
        <p:spPr>
          <a:xfrm>
            <a:off x="1005840" y="5349240"/>
            <a:ext cx="10177272" cy="841248"/>
          </a:xfrm>
          <a:prstGeom prst="rect">
            <a:avLst/>
          </a:prstGeom>
          <a:noFill/>
          <a:ln/>
        </p:spPr>
        <p:txBody>
          <a:bodyPr wrap="square" lIns="0" tIns="0" rIns="0" bIns="0" rtlCol="0" anchor="ctr"/>
          <a:lstStyle/>
          <a:p>
            <a:pPr marL="0" indent="0" algn="ctr">
              <a:buNone/>
            </a:pPr>
            <a:r>
              <a:rPr lang="es-419" sz="1450" b="1" noProof="0" dirty="0">
                <a:solidFill>
                  <a:srgbClr val="FFFFFF"/>
                </a:solidFill>
                <a:latin typeface="Trebuchet MS" pitchFamily="34" charset="0"/>
                <a:ea typeface="Trebuchet MS" pitchFamily="34" charset="-122"/>
                <a:cs typeface="Trebuchet MS" pitchFamily="34" charset="-120"/>
              </a:rPr>
              <a:t>La decisión de escalamiento debe considerar simultáneamente productividad, consumo, costo y capacidad de gobierno.</a:t>
            </a:r>
            <a:endParaRPr lang="es-419" sz="1450" noProof="0" dirty="0"/>
          </a:p>
        </p:txBody>
      </p:sp>
      <p:sp>
        <p:nvSpPr>
          <p:cNvPr id="47" name="Text 45"/>
          <p:cNvSpPr/>
          <p:nvPr/>
        </p:nvSpPr>
        <p:spPr>
          <a:xfrm>
            <a:off x="685800" y="6437376"/>
            <a:ext cx="8686800" cy="292608"/>
          </a:xfrm>
          <a:prstGeom prst="rect">
            <a:avLst/>
          </a:prstGeom>
          <a:noFill/>
          <a:ln/>
        </p:spPr>
        <p:txBody>
          <a:bodyPr wrap="square" lIns="0" tIns="0" rIns="0" bIns="0" rtlCol="0" anchor="ctr"/>
          <a:lstStyle/>
          <a:p>
            <a:pPr marL="0" indent="0" algn="l">
              <a:buNone/>
            </a:pPr>
            <a:r>
              <a:rPr lang="es-419" sz="850" b="1" noProof="0" dirty="0">
                <a:solidFill>
                  <a:srgbClr val="211915"/>
                </a:solidFill>
                <a:latin typeface="Calibri" pitchFamily="34" charset="0"/>
                <a:ea typeface="Calibri" pitchFamily="34" charset="-122"/>
                <a:cs typeface="Calibri" pitchFamily="34" charset="-120"/>
              </a:rPr>
              <a:t>Tuya</a:t>
            </a:r>
            <a:r>
              <a:rPr lang="es-419" sz="850" noProof="0" dirty="0">
                <a:solidFill>
                  <a:srgbClr val="9C938D"/>
                </a:solidFill>
                <a:latin typeface="Calibri" pitchFamily="34" charset="0"/>
                <a:ea typeface="Calibri" pitchFamily="34" charset="-122"/>
                <a:cs typeface="Calibri" pitchFamily="34" charset="-120"/>
              </a:rPr>
              <a:t>   ·   GitHub </a:t>
            </a:r>
            <a:r>
              <a:rPr lang="es-419" sz="850" noProof="0" dirty="0" err="1">
                <a:solidFill>
                  <a:srgbClr val="9C938D"/>
                </a:solidFill>
                <a:latin typeface="Calibri" pitchFamily="34" charset="0"/>
                <a:ea typeface="Calibri" pitchFamily="34" charset="-122"/>
                <a:cs typeface="Calibri" pitchFamily="34" charset="-120"/>
              </a:rPr>
              <a:t>Copilot</a:t>
            </a:r>
            <a:r>
              <a:rPr lang="es-419" sz="850" noProof="0" dirty="0">
                <a:solidFill>
                  <a:srgbClr val="9C938D"/>
                </a:solidFill>
                <a:latin typeface="Calibri" pitchFamily="34" charset="0"/>
                <a:ea typeface="Calibri" pitchFamily="34" charset="-122"/>
                <a:cs typeface="Calibri" pitchFamily="34" charset="-120"/>
              </a:rPr>
              <a:t> - Resultados de la Prueba de Concepto</a:t>
            </a:r>
            <a:endParaRPr lang="es-419" sz="850" noProof="0" dirty="0"/>
          </a:p>
        </p:txBody>
      </p:sp>
      <p:sp>
        <p:nvSpPr>
          <p:cNvPr id="48" name="Text 46"/>
          <p:cNvSpPr/>
          <p:nvPr/>
        </p:nvSpPr>
        <p:spPr>
          <a:xfrm>
            <a:off x="10972800" y="6437376"/>
            <a:ext cx="530352" cy="292608"/>
          </a:xfrm>
          <a:prstGeom prst="rect">
            <a:avLst/>
          </a:prstGeom>
          <a:noFill/>
          <a:ln/>
        </p:spPr>
        <p:txBody>
          <a:bodyPr wrap="square" lIns="0" tIns="0" rIns="0" bIns="0" rtlCol="0" anchor="ctr"/>
          <a:lstStyle/>
          <a:p>
            <a:pPr marL="0" indent="0" algn="r">
              <a:buNone/>
            </a:pPr>
            <a:r>
              <a:rPr lang="es-419" sz="900" b="1" noProof="0" dirty="0">
                <a:solidFill>
                  <a:srgbClr val="ED1C29"/>
                </a:solidFill>
                <a:latin typeface="Trebuchet MS" pitchFamily="34" charset="0"/>
                <a:ea typeface="Trebuchet MS" pitchFamily="34" charset="-122"/>
                <a:cs typeface="Trebuchet MS" pitchFamily="34" charset="-120"/>
              </a:rPr>
              <a:t>10</a:t>
            </a:r>
            <a:endParaRPr lang="es-419" sz="900" noProof="0" dirty="0"/>
          </a:p>
        </p:txBody>
      </p:sp>
      <p:pic>
        <p:nvPicPr>
          <p:cNvPr id="950" name="Logo Tuya"/>
          <p:cNvPicPr>
            <a:picLocks noChangeAspect="1"/>
          </p:cNvPicPr>
          <p:nvPr/>
        </p:nvPicPr>
        <p:blipFill>
          <a:blip r:embed="rId3"/>
          <a:stretch>
            <a:fillRect/>
          </a:stretch>
        </p:blipFill>
        <p:spPr>
          <a:xfrm>
            <a:off x="11152200" y="321276"/>
            <a:ext cx="640080" cy="320040"/>
          </a:xfrm>
          <a:prstGeom prst="rect">
            <a:avLst/>
          </a:prstGeom>
        </p:spPr>
      </p:pic>
    </p:spTree>
  </p:cSld>
  <p:clrMapOvr>
    <a:masterClrMapping/>
  </p:clrMapOvr>
</p:sld>
</file>

<file path=ppt/theme/theme1.xml><?xml version="1.0" encoding="utf-8"?>
<a:theme xmlns:a="http://schemas.openxmlformats.org/drawingml/2006/main" name="Office Theme">
  <a:themeElements>
    <a:clrScheme name="TUYA Colombia">
      <a:dk1>
        <a:sysClr val="windowText" lastClr="000000"/>
      </a:dk1>
      <a:lt1>
        <a:sysClr val="window" lastClr="FFFFFF"/>
      </a:lt1>
      <a:dk2>
        <a:srgbClr val="211915"/>
      </a:dk2>
      <a:lt2>
        <a:srgbClr val="F3F1F0"/>
      </a:lt2>
      <a:accent1>
        <a:srgbClr val="ED1C29"/>
      </a:accent1>
      <a:accent2>
        <a:srgbClr val="211915"/>
      </a:accent2>
      <a:accent3>
        <a:srgbClr val="7A7A7A"/>
      </a:accent3>
      <a:accent4>
        <a:srgbClr val="77C3CD"/>
      </a:accent4>
      <a:accent5>
        <a:srgbClr val="9CCB49"/>
      </a:accent5>
      <a:accent6>
        <a:srgbClr val="C9E4DC"/>
      </a:accent6>
      <a:hlink>
        <a:srgbClr val="ED1C29"/>
      </a:hlink>
      <a:folHlink>
        <a:srgbClr val="B71C2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TUYA Colombia">
      <a:dk1>
        <a:sysClr val="windowText" lastClr="000000"/>
      </a:dk1>
      <a:lt1>
        <a:sysClr val="window" lastClr="FFFFFF"/>
      </a:lt1>
      <a:dk2>
        <a:srgbClr val="211915"/>
      </a:dk2>
      <a:lt2>
        <a:srgbClr val="F3F1F0"/>
      </a:lt2>
      <a:accent1>
        <a:srgbClr val="ED1C29"/>
      </a:accent1>
      <a:accent2>
        <a:srgbClr val="211915"/>
      </a:accent2>
      <a:accent3>
        <a:srgbClr val="7A7A7A"/>
      </a:accent3>
      <a:accent4>
        <a:srgbClr val="77C3CD"/>
      </a:accent4>
      <a:accent5>
        <a:srgbClr val="9CCB49"/>
      </a:accent5>
      <a:accent6>
        <a:srgbClr val="C9E4DC"/>
      </a:accent6>
      <a:hlink>
        <a:srgbClr val="ED1C29"/>
      </a:hlink>
      <a:folHlink>
        <a:srgbClr val="B71C2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479</TotalTime>
  <Words>1947</Words>
  <Application>Microsoft Office PowerPoint</Application>
  <PresentationFormat>Panorámica</PresentationFormat>
  <Paragraphs>243</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Trebuchet MS</vt:lpstr>
      <vt:lpstr>Office Theme</vt:lpstr>
      <vt:lpstr>GitHub Copilot Resultados de la Prueba de Concepto</vt:lpstr>
      <vt:lpstr>Qué evaluamos y bajo qué condiciones</vt:lpstr>
      <vt:lpstr>Cómo evaluamos el impacto de GitHub Copilot</vt:lpstr>
      <vt:lpstr>Qué resultados obtuvimos</vt:lpstr>
      <vt:lpstr>Cuánto consumimos y cómo se factura hoy</vt:lpstr>
      <vt:lpstr>Inversión base para 70 desarrolladores</vt:lpstr>
      <vt:lpstr>Punto de equilibrio de la inversión</vt:lpstr>
      <vt:lpstr>Cómo se puede gobernar y controlar el consumo</vt:lpstr>
      <vt:lpstr>Cómo se administra Copilot de forma central</vt:lpstr>
      <vt:lpstr>Qué observamos y qué falta decidir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Ricardo Andres Leyva</dc:creator>
  <cp:lastModifiedBy>Ricardo Andres Leyva</cp:lastModifiedBy>
  <cp:revision>10</cp:revision>
  <dcterms:created xsi:type="dcterms:W3CDTF">2026-07-21T13:52:08Z</dcterms:created>
  <dcterms:modified xsi:type="dcterms:W3CDTF">2026-07-22T00:49:00Z</dcterms:modified>
</cp:coreProperties>
</file>