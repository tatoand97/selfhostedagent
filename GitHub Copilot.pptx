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6" r:id="rId8"/>
    <p:sldId id="262" r:id="rId9"/>
    <p:sldId id="263" r:id="rId10"/>
    <p:sldId id="264"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94660"/>
  </p:normalViewPr>
  <p:slideViewPr>
    <p:cSldViewPr snapToGrid="0">
      <p:cViewPr varScale="1">
        <p:scale>
          <a:sx n="138" d="100"/>
          <a:sy n="138" d="100"/>
        </p:scale>
        <p:origin x="150" y="3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‹Nº›</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9"/>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85800" y="658368"/>
            <a:ext cx="10789920" cy="822960"/>
          </a:xfrm>
          <a:prstGeom prst="rect">
            <a:avLst/>
          </a:prstGeom>
          <a:noFill/>
          <a:ln/>
        </p:spPr>
        <p:txBody>
          <a:bodyPr wrap="square" rtlCol="0"/>
          <a:lstStyle>
            <a:lvl1pPr marL="0" indent="0">
              <a:buNone/>
              <a:defRPr lang="en-US" dirty="0"/>
            </a:lvl1pPr>
          </a:lstStyle>
          <a:p>
            <a:pPr marL="0" indent="0">
              <a:buNone/>
            </a:pPr>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00000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77240" y="2331720"/>
            <a:ext cx="7680960" cy="1737360"/>
          </a:xfrm>
          <a:prstGeom prst="rect">
            <a:avLst/>
          </a:prstGeom>
          <a:noFill/>
          <a:ln/>
        </p:spPr>
        <p:txBody>
          <a:bodyPr wrap="square" rtlCol="0"/>
          <a:lstStyle>
            <a:lvl1pPr marL="0" indent="0">
              <a:buNone/>
              <a:defRPr lang="en-US" dirty="0"/>
            </a:lvl1pPr>
          </a:lstStyle>
          <a:p>
            <a:pPr marL="0" indent="0">
              <a:buNone/>
            </a:pPr>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3080320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Roboto Condensed"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Roboto Condensed"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Roboto Condensed"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Roboto Condensed"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Roboto Condensed"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Roboto Condensed"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Roboto Condensed"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Roboto Condensed"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Roboto Condensed"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3FE0"/>
        </a:solidFill>
        <a:effectLst/>
      </p:bgPr>
    </p:bg>
    <p:spTree>
      <p:nvGrpSpPr>
        <p:cNvPr id="1" name=""/>
        <p:cNvGrpSpPr/>
        <p:nvPr/>
      </p:nvGrpSpPr>
      <p:grpSpPr>
        <a:xfrm>
          <a:off x="0" y="0"/>
          <a:ext cx="0" cy="0"/>
          <a:chOff x="0" y="0"/>
          <a:chExt cx="0" cy="0"/>
        </a:xfrm>
      </p:grpSpPr>
      <p:sp>
        <p:nvSpPr>
          <p:cNvPr id="4" name="Text 2"/>
          <p:cNvSpPr/>
          <p:nvPr/>
        </p:nvSpPr>
        <p:spPr>
          <a:xfrm>
            <a:off x="822960" y="1847088"/>
            <a:ext cx="7315200" cy="329184"/>
          </a:xfrm>
          <a:prstGeom prst="rect">
            <a:avLst/>
          </a:prstGeom>
          <a:noFill/>
          <a:ln/>
        </p:spPr>
        <p:txBody>
          <a:bodyPr wrap="square" lIns="0" tIns="0" rIns="0" bIns="0" rtlCol="0" anchor="ctr"/>
          <a:lstStyle/>
          <a:p>
            <a:pPr marL="0" indent="0" algn="l">
              <a:buNone/>
            </a:pPr>
            <a:r>
              <a:rPr lang="es-419" sz="1250" b="1" kern="0" spc="300" noProof="0">
                <a:solidFill>
                  <a:srgbClr val="FFFFFF"/>
                </a:solidFill>
                <a:latin typeface="Roboto Condensed Medium" pitchFamily="34" charset="0"/>
                <a:ea typeface="Roboto Condensed Medium" pitchFamily="34" charset="-122"/>
                <a:cs typeface="Roboto Condensed Medium" pitchFamily="34" charset="-120"/>
              </a:rPr>
              <a:t>PRUEBA DE CONCEPTO  ·  2026</a:t>
            </a:r>
            <a:endParaRPr lang="es-419" sz="1250" noProof="0" dirty="0"/>
          </a:p>
        </p:txBody>
      </p:sp>
      <p:sp>
        <p:nvSpPr>
          <p:cNvPr id="5" name="Text 0"/>
          <p:cNvSpPr>
            <a:spLocks noGrp="1"/>
          </p:cNvSpPr>
          <p:nvPr>
            <p:ph type="title" idx="100" hasCustomPrompt="1"/>
          </p:nvPr>
        </p:nvSpPr>
        <p:spPr>
          <a:xfrm>
            <a:off x="777240" y="2331720"/>
            <a:ext cx="7680960" cy="1737360"/>
          </a:xfrm>
          <a:prstGeom prst="rect">
            <a:avLst/>
          </a:prstGeom>
          <a:noFill/>
          <a:ln/>
        </p:spPr>
        <p:txBody>
          <a:bodyPr wrap="square" lIns="0" tIns="0" rIns="0" bIns="0" rtlCol="0" anchor="ctr"/>
          <a:lstStyle/>
          <a:p>
            <a:pPr marL="0" indent="0" algn="l">
              <a:buNone/>
            </a:pPr>
            <a:r>
              <a:rPr lang="es-419" sz="3100" b="1" noProof="0">
                <a:solidFill>
                  <a:srgbClr val="FFFFFF"/>
                </a:solidFill>
                <a:latin typeface="Roboto Condensed Medium" pitchFamily="34" charset="0"/>
                <a:ea typeface="Roboto Condensed Medium" pitchFamily="34" charset="-122"/>
                <a:cs typeface="Roboto Condensed Medium" pitchFamily="34" charset="-120"/>
              </a:rPr>
              <a:t>GitHub </a:t>
            </a:r>
            <a:r>
              <a:rPr lang="es-419" sz="3100" b="1" noProof="0" err="1">
                <a:solidFill>
                  <a:srgbClr val="FFFFFF"/>
                </a:solidFill>
                <a:latin typeface="Roboto Condensed Medium" pitchFamily="34" charset="0"/>
                <a:ea typeface="Roboto Condensed Medium" pitchFamily="34" charset="-122"/>
                <a:cs typeface="Roboto Condensed Medium" pitchFamily="34" charset="-120"/>
              </a:rPr>
              <a:t>Copilot</a:t>
            </a:r>
            <a:endParaRPr lang="es-419" sz="3100" noProof="0" dirty="0"/>
          </a:p>
          <a:p>
            <a:pPr marL="0" indent="0" algn="l">
              <a:buNone/>
            </a:pPr>
            <a:r>
              <a:rPr lang="es-419" sz="3100" b="1" noProof="0">
                <a:solidFill>
                  <a:srgbClr val="FFFFFF"/>
                </a:solidFill>
                <a:latin typeface="Roboto Condensed Medium" pitchFamily="34" charset="0"/>
                <a:ea typeface="Roboto Condensed Medium" pitchFamily="34" charset="-122"/>
                <a:cs typeface="Roboto Condensed Medium" pitchFamily="34" charset="-120"/>
              </a:rPr>
              <a:t>Resultados de la Prueba de Concepto</a:t>
            </a:r>
            <a:endParaRPr lang="es-419" sz="3100" noProof="0" dirty="0"/>
          </a:p>
        </p:txBody>
      </p:sp>
      <p:sp>
        <p:nvSpPr>
          <p:cNvPr id="6" name="accent">
            <a:extLst>
              <a:ext uri="{C183D7F6-B498-43B3-948B-1728B52AA6E4}">
                <adec:decorative xmlns:adec="http://schemas.microsoft.com/office/drawing/2017/decorative" val="1"/>
              </a:ext>
            </a:extLst>
          </p:cNvPr>
          <p:cNvSpPr/>
          <p:nvPr/>
        </p:nvSpPr>
        <p:spPr>
          <a:xfrm>
            <a:off x="822960" y="4224528"/>
            <a:ext cx="1051560" cy="54864"/>
          </a:xfrm>
          <a:prstGeom prst="rect">
            <a:avLst/>
          </a:prstGeom>
          <a:solidFill>
            <a:srgbClr val="FFFFFF"/>
          </a:solidFill>
          <a:ln/>
        </p:spPr>
        <p:txBody>
          <a:bodyPr/>
          <a:lstStyle/>
          <a:p>
            <a:endParaRPr lang="es-419" noProof="0" dirty="0"/>
          </a:p>
        </p:txBody>
      </p:sp>
      <p:sp>
        <p:nvSpPr>
          <p:cNvPr id="7" name="Text 5"/>
          <p:cNvSpPr/>
          <p:nvPr/>
        </p:nvSpPr>
        <p:spPr>
          <a:xfrm>
            <a:off x="804672" y="4407408"/>
            <a:ext cx="7498080" cy="457200"/>
          </a:xfrm>
          <a:prstGeom prst="rect">
            <a:avLst/>
          </a:prstGeom>
          <a:noFill/>
          <a:ln/>
        </p:spPr>
        <p:txBody>
          <a:bodyPr wrap="square" lIns="0" tIns="0" rIns="0" bIns="0" rtlCol="0" anchor="ctr"/>
          <a:lstStyle/>
          <a:p>
            <a:pPr marL="0" indent="0" algn="l">
              <a:buNone/>
            </a:pPr>
            <a:r>
              <a:rPr lang="es-419" sz="1550" noProof="0">
                <a:solidFill>
                  <a:srgbClr val="E6E8EF"/>
                </a:solidFill>
                <a:latin typeface="Roboto Condensed" pitchFamily="34" charset="0"/>
                <a:ea typeface="Roboto Condensed" pitchFamily="34" charset="-122"/>
                <a:cs typeface="Roboto Condensed" pitchFamily="34" charset="-120"/>
              </a:rPr>
              <a:t>Productividad, consumo, gobierno y caso de negocio</a:t>
            </a:r>
            <a:endParaRPr lang="es-419" sz="1550" noProof="0" dirty="0"/>
          </a:p>
        </p:txBody>
      </p:sp>
      <p:sp>
        <p:nvSpPr>
          <p:cNvPr id="8" name="Text 6"/>
          <p:cNvSpPr/>
          <p:nvPr/>
        </p:nvSpPr>
        <p:spPr>
          <a:xfrm>
            <a:off x="804672" y="5138928"/>
            <a:ext cx="8229600" cy="365760"/>
          </a:xfrm>
          <a:prstGeom prst="rect">
            <a:avLst/>
          </a:prstGeom>
          <a:noFill/>
          <a:ln/>
        </p:spPr>
        <p:txBody>
          <a:bodyPr wrap="square" lIns="0" tIns="0" rIns="0" bIns="0" rtlCol="0" anchor="ctr"/>
          <a:lstStyle/>
          <a:p>
            <a:pPr marL="0" indent="0" algn="l">
              <a:buNone/>
            </a:pPr>
            <a:r>
              <a:rPr lang="es-419" sz="1250" b="1" noProof="0" dirty="0">
                <a:solidFill>
                  <a:srgbClr val="FFFFFF"/>
                </a:solidFill>
                <a:latin typeface="Roboto Condensed" pitchFamily="34" charset="0"/>
                <a:ea typeface="Roboto Condensed" pitchFamily="34" charset="-122"/>
                <a:cs typeface="Roboto Condensed" pitchFamily="34" charset="-120"/>
              </a:rPr>
              <a:t>Tuya</a:t>
            </a:r>
            <a:r>
              <a:rPr lang="es-419" sz="1250" b="1" dirty="0">
                <a:solidFill>
                  <a:srgbClr val="AEB2BA"/>
                </a:solidFill>
                <a:latin typeface="Roboto Condensed" pitchFamily="34" charset="0"/>
                <a:ea typeface="Roboto Condensed" pitchFamily="34" charset="-122"/>
                <a:cs typeface="Roboto Condensed" pitchFamily="34" charset="-120"/>
              </a:rPr>
              <a:t>     </a:t>
            </a:r>
            <a:r>
              <a:rPr lang="es-419" sz="1250" dirty="0" err="1">
                <a:solidFill>
                  <a:srgbClr val="AEB2BA"/>
                </a:solidFill>
                <a:latin typeface="Roboto Condensed" pitchFamily="34" charset="0"/>
                <a:ea typeface="Roboto Condensed" pitchFamily="34" charset="-122"/>
                <a:cs typeface="Roboto Condensed" pitchFamily="34" charset="-120"/>
              </a:rPr>
              <a:t>CoE</a:t>
            </a:r>
            <a:r>
              <a:rPr lang="es-419" sz="1250" dirty="0">
                <a:solidFill>
                  <a:srgbClr val="AEB2BA"/>
                </a:solidFill>
                <a:latin typeface="Roboto Condensed" pitchFamily="34" charset="0"/>
                <a:ea typeface="Roboto Condensed" pitchFamily="34" charset="-122"/>
                <a:cs typeface="Roboto Condensed" pitchFamily="34" charset="-120"/>
              </a:rPr>
              <a:t> de </a:t>
            </a:r>
            <a:r>
              <a:rPr lang="es-419" sz="1250" noProof="0" dirty="0">
                <a:solidFill>
                  <a:srgbClr val="AEB2BA"/>
                </a:solidFill>
                <a:latin typeface="Roboto Condensed" pitchFamily="34" charset="0"/>
                <a:ea typeface="Roboto Condensed" pitchFamily="34" charset="-122"/>
                <a:cs typeface="Roboto Condensed" pitchFamily="34" charset="-120"/>
              </a:rPr>
              <a:t>Ingeniería de Software</a:t>
            </a:r>
            <a:endParaRPr lang="es-419" sz="1250" noProof="0" dirty="0"/>
          </a:p>
        </p:txBody>
      </p:sp>
      <p:sp>
        <p:nvSpPr>
          <p:cNvPr id="9" name="Text 7"/>
          <p:cNvSpPr/>
          <p:nvPr/>
        </p:nvSpPr>
        <p:spPr>
          <a:xfrm>
            <a:off x="8778240" y="6272784"/>
            <a:ext cx="2880360" cy="310896"/>
          </a:xfrm>
          <a:prstGeom prst="rect">
            <a:avLst/>
          </a:prstGeom>
          <a:noFill/>
          <a:ln/>
        </p:spPr>
        <p:txBody>
          <a:bodyPr wrap="square" lIns="0" tIns="0" rIns="0" bIns="0" rtlCol="0" anchor="ctr"/>
          <a:lstStyle/>
          <a:p>
            <a:pPr marL="0" indent="0" algn="r">
              <a:buNone/>
            </a:pPr>
            <a:r>
              <a:rPr lang="es-419" sz="1000" b="1" noProof="0">
                <a:solidFill>
                  <a:srgbClr val="DCE0FA"/>
                </a:solidFill>
                <a:latin typeface="Roboto Condensed Medium" pitchFamily="34" charset="0"/>
                <a:ea typeface="Roboto Condensed Medium" pitchFamily="34" charset="-122"/>
                <a:cs typeface="Roboto Condensed Medium" pitchFamily="34" charset="-120"/>
              </a:rPr>
              <a:t>GitHub  ·  GitHub </a:t>
            </a:r>
            <a:r>
              <a:rPr lang="es-419" sz="1000" b="1" noProof="0" err="1">
                <a:solidFill>
                  <a:srgbClr val="DCE0FA"/>
                </a:solidFill>
                <a:latin typeface="Roboto Condensed Medium" pitchFamily="34" charset="0"/>
                <a:ea typeface="Roboto Condensed Medium" pitchFamily="34" charset="-122"/>
                <a:cs typeface="Roboto Condensed Medium" pitchFamily="34" charset="-120"/>
              </a:rPr>
              <a:t>Copilot</a:t>
            </a:r>
            <a:endParaRPr lang="es-419" sz="1000" noProof="0" dirty="0"/>
          </a:p>
        </p:txBody>
      </p:sp>
      <p:sp>
        <p:nvSpPr>
          <p:cNvPr id="20" name="Logo Card"/>
          <p:cNvSpPr/>
          <p:nvPr/>
        </p:nvSpPr>
        <p:spPr>
          <a:xfrm>
            <a:off x="822960" y="470000"/>
            <a:ext cx="2438400" cy="1280160"/>
          </a:xfrm>
          <a:prstGeom prst="roundRect">
            <a:avLst>
              <a:gd name="adj" fmla="val 8000"/>
            </a:avLst>
          </a:prstGeom>
          <a:solidFill>
            <a:srgbClr val="2A3FE0"/>
          </a:solidFill>
          <a:ln>
            <a:noFill/>
          </a:ln>
        </p:spPr>
        <p:txBody>
          <a:bodyPr/>
          <a:lstStyle/>
          <a:p>
            <a:endParaRPr lang="es-419" noProof="0" dirty="0"/>
          </a:p>
        </p:txBody>
      </p:sp>
      <p:pic>
        <p:nvPicPr>
          <p:cNvPr id="10" name="Imagen 9" descr="Tuya vive una profunda transformación digital y de modelos de negocio | SAS">
            <a:extLst>
              <a:ext uri="{FF2B5EF4-FFF2-40B4-BE49-F238E27FC236}">
                <a16:creationId xmlns:a16="http://schemas.microsoft.com/office/drawing/2014/main" id="{11AD2E69-6247-1811-BE1D-8D98DF4D578A}"/>
              </a:ext>
            </a:extLst>
          </p:cNvPr>
          <p:cNvPicPr>
            <a:picLocks noChangeAspect="1"/>
          </p:cNvPicPr>
          <p:nvPr/>
        </p:nvPicPr>
        <p:blipFill>
          <a:blip r:embed="rId3"/>
          <a:stretch>
            <a:fillRect/>
          </a:stretch>
        </p:blipFill>
        <p:spPr>
          <a:xfrm>
            <a:off x="1142160" y="660080"/>
            <a:ext cx="1800000" cy="9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mark">
            <a:extLst>
              <a:ext uri="{C183D7F6-B498-43B3-948B-1728B52AA6E4}">
                <adec:decorative xmlns:adec="http://schemas.microsoft.com/office/drawing/2017/decorative" val="1"/>
              </a:ext>
            </a:extLst>
          </p:cNvPr>
          <p:cNvSpPr/>
          <p:nvPr/>
        </p:nvSpPr>
        <p:spPr>
          <a:xfrm>
            <a:off x="685800" y="402336"/>
            <a:ext cx="146304" cy="146304"/>
          </a:xfrm>
          <a:prstGeom prst="rect">
            <a:avLst/>
          </a:prstGeom>
          <a:solidFill>
            <a:srgbClr val="2A3FE0"/>
          </a:solidFill>
          <a:ln/>
        </p:spPr>
        <p:txBody>
          <a:bodyPr/>
          <a:lstStyle/>
          <a:p>
            <a:endParaRPr lang="es-419" noProof="0" dirty="0"/>
          </a:p>
        </p:txBody>
      </p:sp>
      <p:sp>
        <p:nvSpPr>
          <p:cNvPr id="3" name="Text 1"/>
          <p:cNvSpPr/>
          <p:nvPr/>
        </p:nvSpPr>
        <p:spPr>
          <a:xfrm>
            <a:off x="932688" y="310896"/>
            <a:ext cx="9601200" cy="310896"/>
          </a:xfrm>
          <a:prstGeom prst="rect">
            <a:avLst/>
          </a:prstGeom>
          <a:noFill/>
          <a:ln/>
        </p:spPr>
        <p:txBody>
          <a:bodyPr wrap="square" lIns="0" tIns="0" rIns="0" bIns="0" rtlCol="0" anchor="ctr"/>
          <a:lstStyle/>
          <a:p>
            <a:pPr marL="0" indent="0" algn="l">
              <a:buNone/>
            </a:pPr>
            <a:r>
              <a:rPr lang="es-419" sz="1150" b="1" kern="0" spc="200" noProof="0">
                <a:solidFill>
                  <a:srgbClr val="2A3FE0"/>
                </a:solidFill>
                <a:latin typeface="Roboto Condensed Medium" pitchFamily="34" charset="0"/>
                <a:ea typeface="Roboto Condensed Medium" pitchFamily="34" charset="-122"/>
                <a:cs typeface="Roboto Condensed Medium" pitchFamily="34" charset="-120"/>
              </a:rPr>
              <a:t>OBJETIVO Y ALCANCE DE LA POC</a:t>
            </a:r>
            <a:endParaRPr lang="es-419" sz="1150" noProof="0" dirty="0"/>
          </a:p>
        </p:txBody>
      </p:sp>
      <p:sp>
        <p:nvSpPr>
          <p:cNvPr id="4" name="Text 0"/>
          <p:cNvSpPr>
            <a:spLocks noGrp="1"/>
          </p:cNvSpPr>
          <p:nvPr>
            <p:ph type="title" idx="100" hasCustomPrompt="1"/>
          </p:nvPr>
        </p:nvSpPr>
        <p:spPr>
          <a:xfrm>
            <a:off x="685800" y="658368"/>
            <a:ext cx="10789920" cy="822960"/>
          </a:xfrm>
          <a:prstGeom prst="rect">
            <a:avLst/>
          </a:prstGeom>
          <a:noFill/>
          <a:ln/>
        </p:spPr>
        <p:txBody>
          <a:bodyPr wrap="square" lIns="0" tIns="0" rIns="0" bIns="0" rtlCol="0" anchor="t"/>
          <a:lstStyle/>
          <a:p>
            <a:pPr marL="0" indent="0" algn="l">
              <a:buNone/>
            </a:pPr>
            <a:r>
              <a:rPr lang="es-419" sz="2700" b="1" noProof="0">
                <a:solidFill>
                  <a:srgbClr val="000000"/>
                </a:solidFill>
                <a:latin typeface="Roboto Condensed Medium" pitchFamily="34" charset="0"/>
                <a:ea typeface="Roboto Condensed Medium" pitchFamily="34" charset="-122"/>
                <a:cs typeface="Roboto Condensed Medium" pitchFamily="34" charset="-120"/>
              </a:rPr>
              <a:t>Qué evaluamos y bajo qué condiciones</a:t>
            </a:r>
            <a:endParaRPr lang="es-419" sz="2700" noProof="0" dirty="0"/>
          </a:p>
        </p:txBody>
      </p:sp>
      <p:sp>
        <p:nvSpPr>
          <p:cNvPr id="5" name="objetivo">
            <a:extLst>
              <a:ext uri="{C183D7F6-B498-43B3-948B-1728B52AA6E4}">
                <adec:decorative xmlns:adec="http://schemas.microsoft.com/office/drawing/2017/decorative" val="1"/>
              </a:ext>
            </a:extLst>
          </p:cNvPr>
          <p:cNvSpPr/>
          <p:nvPr/>
        </p:nvSpPr>
        <p:spPr>
          <a:xfrm>
            <a:off x="685800" y="1627632"/>
            <a:ext cx="10817352" cy="932688"/>
          </a:xfrm>
          <a:prstGeom prst="rect">
            <a:avLst/>
          </a:prstGeom>
          <a:solidFill>
            <a:srgbClr val="E7EAFC"/>
          </a:solidFill>
          <a:ln w="12700">
            <a:solidFill>
              <a:srgbClr val="CBD2F7"/>
            </a:solidFill>
            <a:prstDash val="solid"/>
          </a:ln>
        </p:spPr>
        <p:txBody>
          <a:bodyPr/>
          <a:lstStyle/>
          <a:p>
            <a:endParaRPr lang="es-419" noProof="0" dirty="0"/>
          </a:p>
        </p:txBody>
      </p:sp>
      <p:sp>
        <p:nvSpPr>
          <p:cNvPr id="6" name="accent">
            <a:extLst>
              <a:ext uri="{C183D7F6-B498-43B3-948B-1728B52AA6E4}">
                <adec:decorative xmlns:adec="http://schemas.microsoft.com/office/drawing/2017/decorative" val="1"/>
              </a:ext>
            </a:extLst>
          </p:cNvPr>
          <p:cNvSpPr/>
          <p:nvPr/>
        </p:nvSpPr>
        <p:spPr>
          <a:xfrm>
            <a:off x="685800" y="1627632"/>
            <a:ext cx="82296" cy="932688"/>
          </a:xfrm>
          <a:prstGeom prst="rect">
            <a:avLst/>
          </a:prstGeom>
          <a:solidFill>
            <a:srgbClr val="2A3FE0"/>
          </a:solidFill>
          <a:ln/>
        </p:spPr>
        <p:txBody>
          <a:bodyPr/>
          <a:lstStyle/>
          <a:p>
            <a:endParaRPr lang="es-419" noProof="0" dirty="0"/>
          </a:p>
        </p:txBody>
      </p:sp>
      <p:sp>
        <p:nvSpPr>
          <p:cNvPr id="7" name="Text 5"/>
          <p:cNvSpPr/>
          <p:nvPr/>
        </p:nvSpPr>
        <p:spPr>
          <a:xfrm>
            <a:off x="960120" y="1627632"/>
            <a:ext cx="10332720" cy="932688"/>
          </a:xfrm>
          <a:prstGeom prst="rect">
            <a:avLst/>
          </a:prstGeom>
          <a:noFill/>
          <a:ln/>
        </p:spPr>
        <p:txBody>
          <a:bodyPr wrap="square" lIns="0" tIns="0" rIns="0" bIns="0" rtlCol="0" anchor="ctr"/>
          <a:lstStyle/>
          <a:p>
            <a:pPr marL="0" indent="0" algn="l">
              <a:buNone/>
            </a:pPr>
            <a:r>
              <a:rPr lang="es-419" sz="1100" b="1" noProof="0" dirty="0">
                <a:solidFill>
                  <a:srgbClr val="2A3FE0"/>
                </a:solidFill>
                <a:latin typeface="Roboto Condensed Medium" pitchFamily="34" charset="0"/>
                <a:ea typeface="Roboto Condensed Medium" pitchFamily="34" charset="-122"/>
                <a:cs typeface="Roboto Condensed Medium" pitchFamily="34" charset="-120"/>
              </a:rPr>
              <a:t>OBJETIVO   </a:t>
            </a:r>
            <a:r>
              <a:rPr lang="es-419" sz="1350" noProof="0" dirty="0">
                <a:solidFill>
                  <a:srgbClr val="000000"/>
                </a:solidFill>
                <a:latin typeface="Roboto Condensed" pitchFamily="34" charset="0"/>
                <a:ea typeface="Roboto Condensed" pitchFamily="34" charset="-122"/>
                <a:cs typeface="Roboto Condensed" pitchFamily="34" charset="-120"/>
              </a:rPr>
              <a:t>Evaluar el impacto de GitHub </a:t>
            </a:r>
            <a:r>
              <a:rPr lang="es-419" sz="1350" noProof="0" dirty="0" err="1">
                <a:solidFill>
                  <a:srgbClr val="000000"/>
                </a:solidFill>
                <a:latin typeface="Roboto Condensed" pitchFamily="34" charset="0"/>
                <a:ea typeface="Roboto Condensed" pitchFamily="34" charset="-122"/>
                <a:cs typeface="Roboto Condensed" pitchFamily="34" charset="-120"/>
              </a:rPr>
              <a:t>Copilot</a:t>
            </a:r>
            <a:r>
              <a:rPr lang="es-419" sz="1350" noProof="0" dirty="0">
                <a:solidFill>
                  <a:srgbClr val="000000"/>
                </a:solidFill>
                <a:latin typeface="Roboto Condensed" pitchFamily="34" charset="0"/>
                <a:ea typeface="Roboto Condensed" pitchFamily="34" charset="-122"/>
                <a:cs typeface="Roboto Condensed" pitchFamily="34" charset="-120"/>
              </a:rPr>
              <a:t> en actividades de desarrollo seleccionadas y obtener evidencia para determinar su viabilidad técnica, operativa y económica.</a:t>
            </a:r>
            <a:endParaRPr lang="es-419" sz="1100" noProof="0" dirty="0"/>
          </a:p>
        </p:txBody>
      </p:sp>
      <p:sp>
        <p:nvSpPr>
          <p:cNvPr id="8" name="Text 6"/>
          <p:cNvSpPr/>
          <p:nvPr/>
        </p:nvSpPr>
        <p:spPr>
          <a:xfrm>
            <a:off x="685800" y="2816352"/>
            <a:ext cx="10058400" cy="274320"/>
          </a:xfrm>
          <a:prstGeom prst="rect">
            <a:avLst/>
          </a:prstGeom>
          <a:noFill/>
          <a:ln/>
        </p:spPr>
        <p:txBody>
          <a:bodyPr wrap="square" lIns="0" tIns="0" rIns="0" bIns="0" rtlCol="0" anchor="ctr"/>
          <a:lstStyle/>
          <a:p>
            <a:pPr marL="0" indent="0">
              <a:buNone/>
            </a:pPr>
            <a:r>
              <a:rPr lang="es-419" sz="1100" b="1" kern="0" spc="200" noProof="0">
                <a:solidFill>
                  <a:srgbClr val="6E7278"/>
                </a:solidFill>
                <a:latin typeface="Roboto Condensed Medium" pitchFamily="34" charset="0"/>
                <a:ea typeface="Roboto Condensed Medium" pitchFamily="34" charset="-122"/>
                <a:cs typeface="Roboto Condensed Medium" pitchFamily="34" charset="-120"/>
              </a:rPr>
              <a:t>ALCANCE DE LA EVALUACIÓN</a:t>
            </a:r>
            <a:endParaRPr lang="es-419" sz="1100" noProof="0" dirty="0"/>
          </a:p>
        </p:txBody>
      </p:sp>
      <p:sp>
        <p:nvSpPr>
          <p:cNvPr id="9" name="card">
            <a:extLst>
              <a:ext uri="{C183D7F6-B498-43B3-948B-1728B52AA6E4}">
                <adec:decorative xmlns:adec="http://schemas.microsoft.com/office/drawing/2017/decorative" val="1"/>
              </a:ext>
            </a:extLst>
          </p:cNvPr>
          <p:cNvSpPr/>
          <p:nvPr/>
        </p:nvSpPr>
        <p:spPr>
          <a:xfrm>
            <a:off x="685800" y="3200400"/>
            <a:ext cx="1958645" cy="2331720"/>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10" name="top accent">
            <a:extLst>
              <a:ext uri="{C183D7F6-B498-43B3-948B-1728B52AA6E4}">
                <adec:decorative xmlns:adec="http://schemas.microsoft.com/office/drawing/2017/decorative" val="1"/>
              </a:ext>
            </a:extLst>
          </p:cNvPr>
          <p:cNvSpPr/>
          <p:nvPr/>
        </p:nvSpPr>
        <p:spPr>
          <a:xfrm>
            <a:off x="685800" y="3200400"/>
            <a:ext cx="1958645" cy="100584"/>
          </a:xfrm>
          <a:prstGeom prst="rect">
            <a:avLst/>
          </a:prstGeom>
          <a:solidFill>
            <a:srgbClr val="2A3FE0"/>
          </a:solidFill>
          <a:ln/>
        </p:spPr>
        <p:txBody>
          <a:bodyPr/>
          <a:lstStyle/>
          <a:p>
            <a:endParaRPr lang="es-419" noProof="0" dirty="0"/>
          </a:p>
        </p:txBody>
      </p:sp>
      <p:sp>
        <p:nvSpPr>
          <p:cNvPr id="11" name="Text 9"/>
          <p:cNvSpPr/>
          <p:nvPr/>
        </p:nvSpPr>
        <p:spPr>
          <a:xfrm>
            <a:off x="850392" y="3456432"/>
            <a:ext cx="1629461" cy="457200"/>
          </a:xfrm>
          <a:prstGeom prst="rect">
            <a:avLst/>
          </a:prstGeom>
          <a:noFill/>
          <a:ln/>
        </p:spPr>
        <p:txBody>
          <a:bodyPr wrap="square" lIns="0" tIns="0" rIns="0" bIns="0" rtlCol="0" anchor="ctr"/>
          <a:lstStyle/>
          <a:p>
            <a:pPr marL="0" indent="0" algn="l">
              <a:buNone/>
            </a:pPr>
            <a:r>
              <a:rPr lang="es-419" sz="2000" b="1" noProof="0">
                <a:solidFill>
                  <a:srgbClr val="2A3FE0"/>
                </a:solidFill>
                <a:latin typeface="Roboto Condensed Medium" pitchFamily="34" charset="0"/>
                <a:ea typeface="Roboto Condensed Medium" pitchFamily="34" charset="-122"/>
                <a:cs typeface="Roboto Condensed Medium" pitchFamily="34" charset="-120"/>
              </a:rPr>
              <a:t>01</a:t>
            </a:r>
            <a:endParaRPr lang="es-419" sz="2000" noProof="0" dirty="0"/>
          </a:p>
        </p:txBody>
      </p:sp>
      <p:sp>
        <p:nvSpPr>
          <p:cNvPr id="12" name="Text 10"/>
          <p:cNvSpPr/>
          <p:nvPr/>
        </p:nvSpPr>
        <p:spPr>
          <a:xfrm>
            <a:off x="850392" y="4041648"/>
            <a:ext cx="1629461" cy="640080"/>
          </a:xfrm>
          <a:prstGeom prst="rect">
            <a:avLst/>
          </a:prstGeom>
          <a:noFill/>
          <a:ln/>
        </p:spPr>
        <p:txBody>
          <a:bodyPr wrap="square" lIns="0" tIns="0" rIns="0" bIns="0" rtlCol="0" anchor="t"/>
          <a:lstStyle/>
          <a:p>
            <a:pPr marL="0" indent="0" algn="l">
              <a:buNone/>
            </a:pPr>
            <a:r>
              <a:rPr lang="es-419" sz="1300" b="1" noProof="0">
                <a:solidFill>
                  <a:srgbClr val="000000"/>
                </a:solidFill>
                <a:latin typeface="Roboto Condensed Medium" pitchFamily="34" charset="0"/>
                <a:ea typeface="Roboto Condensed Medium" pitchFamily="34" charset="-122"/>
                <a:cs typeface="Roboto Condensed Medium" pitchFamily="34" charset="-120"/>
              </a:rPr>
              <a:t>Casos evaluados</a:t>
            </a:r>
            <a:endParaRPr lang="es-419" sz="1300" noProof="0" dirty="0"/>
          </a:p>
        </p:txBody>
      </p:sp>
      <p:sp>
        <p:nvSpPr>
          <p:cNvPr id="13" name="Text 11"/>
          <p:cNvSpPr/>
          <p:nvPr/>
        </p:nvSpPr>
        <p:spPr>
          <a:xfrm>
            <a:off x="850392" y="4681728"/>
            <a:ext cx="1629461" cy="731520"/>
          </a:xfrm>
          <a:prstGeom prst="rect">
            <a:avLst/>
          </a:prstGeom>
          <a:noFill/>
          <a:ln/>
        </p:spPr>
        <p:txBody>
          <a:bodyPr wrap="square" lIns="0" tIns="0" rIns="0" bIns="0" rtlCol="0" anchor="t"/>
          <a:lstStyle/>
          <a:p>
            <a:pPr marL="0" indent="0" algn="l">
              <a:buNone/>
            </a:pPr>
            <a:r>
              <a:rPr lang="es-419" sz="950" i="1" noProof="0">
                <a:solidFill>
                  <a:srgbClr val="2A3FE0"/>
                </a:solidFill>
                <a:latin typeface="Roboto Condensed" pitchFamily="34" charset="0"/>
                <a:ea typeface="Roboto Condensed" pitchFamily="34" charset="-122"/>
                <a:cs typeface="Roboto Condensed" pitchFamily="34" charset="-120"/>
              </a:rPr>
              <a:t>Migración de apps .NET a .NET 10 (desde .NET Core 3.1 hasta .NET 8), con la estructura, estándares y prácticas de Tuya.</a:t>
            </a:r>
            <a:endParaRPr lang="es-419" sz="1150" noProof="0" dirty="0"/>
          </a:p>
        </p:txBody>
      </p:sp>
      <p:sp>
        <p:nvSpPr>
          <p:cNvPr id="14" name="card">
            <a:extLst>
              <a:ext uri="{C183D7F6-B498-43B3-948B-1728B52AA6E4}">
                <adec:decorative xmlns:adec="http://schemas.microsoft.com/office/drawing/2017/decorative" val="1"/>
              </a:ext>
            </a:extLst>
          </p:cNvPr>
          <p:cNvSpPr/>
          <p:nvPr/>
        </p:nvSpPr>
        <p:spPr>
          <a:xfrm>
            <a:off x="2900477" y="3200400"/>
            <a:ext cx="1958645" cy="2331720"/>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15" name="top accent">
            <a:extLst>
              <a:ext uri="{C183D7F6-B498-43B3-948B-1728B52AA6E4}">
                <adec:decorative xmlns:adec="http://schemas.microsoft.com/office/drawing/2017/decorative" val="1"/>
              </a:ext>
            </a:extLst>
          </p:cNvPr>
          <p:cNvSpPr/>
          <p:nvPr/>
        </p:nvSpPr>
        <p:spPr>
          <a:xfrm>
            <a:off x="2900477" y="3200400"/>
            <a:ext cx="1958645" cy="100584"/>
          </a:xfrm>
          <a:prstGeom prst="rect">
            <a:avLst/>
          </a:prstGeom>
          <a:solidFill>
            <a:srgbClr val="2A3FE0"/>
          </a:solidFill>
          <a:ln/>
        </p:spPr>
        <p:txBody>
          <a:bodyPr/>
          <a:lstStyle/>
          <a:p>
            <a:endParaRPr lang="es-419" noProof="0" dirty="0"/>
          </a:p>
        </p:txBody>
      </p:sp>
      <p:sp>
        <p:nvSpPr>
          <p:cNvPr id="16" name="Text 14"/>
          <p:cNvSpPr/>
          <p:nvPr/>
        </p:nvSpPr>
        <p:spPr>
          <a:xfrm>
            <a:off x="3065069" y="3456432"/>
            <a:ext cx="1629461" cy="457200"/>
          </a:xfrm>
          <a:prstGeom prst="rect">
            <a:avLst/>
          </a:prstGeom>
          <a:noFill/>
          <a:ln/>
        </p:spPr>
        <p:txBody>
          <a:bodyPr wrap="square" lIns="0" tIns="0" rIns="0" bIns="0" rtlCol="0" anchor="ctr"/>
          <a:lstStyle/>
          <a:p>
            <a:pPr marL="0" indent="0" algn="l">
              <a:buNone/>
            </a:pPr>
            <a:r>
              <a:rPr lang="es-419" sz="2000" b="1" noProof="0">
                <a:solidFill>
                  <a:srgbClr val="2A3FE0"/>
                </a:solidFill>
                <a:latin typeface="Roboto Condensed Medium" pitchFamily="34" charset="0"/>
                <a:ea typeface="Roboto Condensed Medium" pitchFamily="34" charset="-122"/>
                <a:cs typeface="Roboto Condensed Medium" pitchFamily="34" charset="-120"/>
              </a:rPr>
              <a:t>02</a:t>
            </a:r>
            <a:endParaRPr lang="es-419" sz="2000" noProof="0" dirty="0"/>
          </a:p>
        </p:txBody>
      </p:sp>
      <p:sp>
        <p:nvSpPr>
          <p:cNvPr id="17" name="Text 15"/>
          <p:cNvSpPr/>
          <p:nvPr/>
        </p:nvSpPr>
        <p:spPr>
          <a:xfrm>
            <a:off x="3065069" y="4041648"/>
            <a:ext cx="1629461" cy="640080"/>
          </a:xfrm>
          <a:prstGeom prst="rect">
            <a:avLst/>
          </a:prstGeom>
          <a:noFill/>
          <a:ln/>
        </p:spPr>
        <p:txBody>
          <a:bodyPr wrap="square" lIns="0" tIns="0" rIns="0" bIns="0" rtlCol="0" anchor="t"/>
          <a:lstStyle/>
          <a:p>
            <a:pPr marL="0" indent="0" algn="l">
              <a:buNone/>
            </a:pPr>
            <a:r>
              <a:rPr lang="es-419" sz="1300" b="1" noProof="0">
                <a:solidFill>
                  <a:srgbClr val="000000"/>
                </a:solidFill>
                <a:latin typeface="Roboto Condensed Medium" pitchFamily="34" charset="0"/>
                <a:ea typeface="Roboto Condensed Medium" pitchFamily="34" charset="-122"/>
                <a:cs typeface="Roboto Condensed Medium" pitchFamily="34" charset="-120"/>
              </a:rPr>
              <a:t>Participantes</a:t>
            </a:r>
            <a:endParaRPr lang="es-419" sz="1300" noProof="0" dirty="0"/>
          </a:p>
        </p:txBody>
      </p:sp>
      <p:sp>
        <p:nvSpPr>
          <p:cNvPr id="18" name="Text 16"/>
          <p:cNvSpPr/>
          <p:nvPr/>
        </p:nvSpPr>
        <p:spPr>
          <a:xfrm>
            <a:off x="3065069" y="4681728"/>
            <a:ext cx="1629461" cy="731520"/>
          </a:xfrm>
          <a:prstGeom prst="rect">
            <a:avLst/>
          </a:prstGeom>
          <a:noFill/>
          <a:ln/>
        </p:spPr>
        <p:txBody>
          <a:bodyPr wrap="square" lIns="0" tIns="0" rIns="0" bIns="0" rtlCol="0" anchor="t"/>
          <a:lstStyle/>
          <a:p>
            <a:pPr marL="0" indent="0" algn="l">
              <a:buNone/>
            </a:pPr>
            <a:r>
              <a:rPr lang="es-419" sz="1150" i="1" noProof="0">
                <a:solidFill>
                  <a:srgbClr val="2A3FE0"/>
                </a:solidFill>
                <a:latin typeface="Roboto Condensed" pitchFamily="34" charset="0"/>
                <a:ea typeface="Roboto Condensed" pitchFamily="34" charset="-122"/>
                <a:cs typeface="Roboto Condensed" pitchFamily="34" charset="-120"/>
              </a:rPr>
              <a:t>10 desarrolladores.</a:t>
            </a:r>
            <a:endParaRPr lang="es-419" sz="1150" noProof="0" dirty="0"/>
          </a:p>
        </p:txBody>
      </p:sp>
      <p:sp>
        <p:nvSpPr>
          <p:cNvPr id="19" name="card">
            <a:extLst>
              <a:ext uri="{C183D7F6-B498-43B3-948B-1728B52AA6E4}">
                <adec:decorative xmlns:adec="http://schemas.microsoft.com/office/drawing/2017/decorative" val="1"/>
              </a:ext>
            </a:extLst>
          </p:cNvPr>
          <p:cNvSpPr/>
          <p:nvPr/>
        </p:nvSpPr>
        <p:spPr>
          <a:xfrm>
            <a:off x="5115154" y="3200400"/>
            <a:ext cx="1958645" cy="2331720"/>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20" name="top accent">
            <a:extLst>
              <a:ext uri="{C183D7F6-B498-43B3-948B-1728B52AA6E4}">
                <adec:decorative xmlns:adec="http://schemas.microsoft.com/office/drawing/2017/decorative" val="1"/>
              </a:ext>
            </a:extLst>
          </p:cNvPr>
          <p:cNvSpPr/>
          <p:nvPr/>
        </p:nvSpPr>
        <p:spPr>
          <a:xfrm>
            <a:off x="5115154" y="3200400"/>
            <a:ext cx="1958645" cy="100584"/>
          </a:xfrm>
          <a:prstGeom prst="rect">
            <a:avLst/>
          </a:prstGeom>
          <a:solidFill>
            <a:srgbClr val="2A3FE0"/>
          </a:solidFill>
          <a:ln/>
        </p:spPr>
        <p:txBody>
          <a:bodyPr/>
          <a:lstStyle/>
          <a:p>
            <a:endParaRPr lang="es-419" noProof="0" dirty="0"/>
          </a:p>
        </p:txBody>
      </p:sp>
      <p:sp>
        <p:nvSpPr>
          <p:cNvPr id="21" name="Text 19"/>
          <p:cNvSpPr/>
          <p:nvPr/>
        </p:nvSpPr>
        <p:spPr>
          <a:xfrm>
            <a:off x="5279746" y="3456432"/>
            <a:ext cx="1629461" cy="457200"/>
          </a:xfrm>
          <a:prstGeom prst="rect">
            <a:avLst/>
          </a:prstGeom>
          <a:noFill/>
          <a:ln/>
        </p:spPr>
        <p:txBody>
          <a:bodyPr wrap="square" lIns="0" tIns="0" rIns="0" bIns="0" rtlCol="0" anchor="ctr"/>
          <a:lstStyle/>
          <a:p>
            <a:pPr marL="0" indent="0" algn="l">
              <a:buNone/>
            </a:pPr>
            <a:r>
              <a:rPr lang="es-419" sz="2000" b="1" noProof="0">
                <a:solidFill>
                  <a:srgbClr val="2A3FE0"/>
                </a:solidFill>
                <a:latin typeface="Roboto Condensed Medium" pitchFamily="34" charset="0"/>
                <a:ea typeface="Roboto Condensed Medium" pitchFamily="34" charset="-122"/>
                <a:cs typeface="Roboto Condensed Medium" pitchFamily="34" charset="-120"/>
              </a:rPr>
              <a:t>03</a:t>
            </a:r>
            <a:endParaRPr lang="es-419" sz="2000" noProof="0" dirty="0"/>
          </a:p>
        </p:txBody>
      </p:sp>
      <p:sp>
        <p:nvSpPr>
          <p:cNvPr id="22" name="Text 20"/>
          <p:cNvSpPr/>
          <p:nvPr/>
        </p:nvSpPr>
        <p:spPr>
          <a:xfrm>
            <a:off x="5279746" y="4041648"/>
            <a:ext cx="1629461" cy="640080"/>
          </a:xfrm>
          <a:prstGeom prst="rect">
            <a:avLst/>
          </a:prstGeom>
          <a:noFill/>
          <a:ln/>
        </p:spPr>
        <p:txBody>
          <a:bodyPr wrap="square" lIns="0" tIns="0" rIns="0" bIns="0" rtlCol="0" anchor="t"/>
          <a:lstStyle/>
          <a:p>
            <a:pPr marL="0" indent="0" algn="l">
              <a:buNone/>
            </a:pPr>
            <a:r>
              <a:rPr lang="es-419" sz="1300" b="1" noProof="0">
                <a:solidFill>
                  <a:srgbClr val="000000"/>
                </a:solidFill>
                <a:latin typeface="Roboto Condensed Medium" pitchFamily="34" charset="0"/>
                <a:ea typeface="Roboto Condensed Medium" pitchFamily="34" charset="-122"/>
                <a:cs typeface="Roboto Condensed Medium" pitchFamily="34" charset="-120"/>
              </a:rPr>
              <a:t>Tecnologías</a:t>
            </a:r>
            <a:endParaRPr lang="es-419" sz="1300" noProof="0" dirty="0"/>
          </a:p>
        </p:txBody>
      </p:sp>
      <p:sp>
        <p:nvSpPr>
          <p:cNvPr id="23" name="Text 21"/>
          <p:cNvSpPr/>
          <p:nvPr/>
        </p:nvSpPr>
        <p:spPr>
          <a:xfrm>
            <a:off x="5279746" y="4681728"/>
            <a:ext cx="1629461" cy="731520"/>
          </a:xfrm>
          <a:prstGeom prst="rect">
            <a:avLst/>
          </a:prstGeom>
          <a:noFill/>
          <a:ln/>
        </p:spPr>
        <p:txBody>
          <a:bodyPr wrap="square" lIns="0" tIns="0" rIns="0" bIns="0" rtlCol="0" anchor="t"/>
          <a:lstStyle/>
          <a:p>
            <a:pPr marL="0" indent="0" algn="l">
              <a:buNone/>
            </a:pPr>
            <a:r>
              <a:rPr lang="es-419" sz="1150" i="1" noProof="0">
                <a:solidFill>
                  <a:srgbClr val="2A3FE0"/>
                </a:solidFill>
                <a:latin typeface="Roboto Condensed" pitchFamily="34" charset="0"/>
                <a:ea typeface="Roboto Condensed" pitchFamily="34" charset="-122"/>
                <a:cs typeface="Roboto Condensed" pitchFamily="34" charset="-120"/>
              </a:rPr>
              <a:t>.NET, .NET 10, GitHub </a:t>
            </a:r>
            <a:r>
              <a:rPr lang="es-419" sz="1150" i="1" noProof="0" err="1">
                <a:solidFill>
                  <a:srgbClr val="2A3FE0"/>
                </a:solidFill>
                <a:latin typeface="Roboto Condensed" pitchFamily="34" charset="0"/>
                <a:ea typeface="Roboto Condensed" pitchFamily="34" charset="-122"/>
                <a:cs typeface="Roboto Condensed" pitchFamily="34" charset="-120"/>
              </a:rPr>
              <a:t>Copilot</a:t>
            </a:r>
            <a:r>
              <a:rPr lang="es-419" sz="1150" i="1" noProof="0">
                <a:solidFill>
                  <a:srgbClr val="2A3FE0"/>
                </a:solidFill>
                <a:latin typeface="Roboto Condensed" pitchFamily="34" charset="0"/>
                <a:ea typeface="Roboto Condensed" pitchFamily="34" charset="-122"/>
                <a:cs typeface="Roboto Condensed" pitchFamily="34" charset="-120"/>
              </a:rPr>
              <a:t>.</a:t>
            </a:r>
            <a:endParaRPr lang="es-419" sz="1150" noProof="0" dirty="0"/>
          </a:p>
        </p:txBody>
      </p:sp>
      <p:sp>
        <p:nvSpPr>
          <p:cNvPr id="24" name="card">
            <a:extLst>
              <a:ext uri="{C183D7F6-B498-43B3-948B-1728B52AA6E4}">
                <adec:decorative xmlns:adec="http://schemas.microsoft.com/office/drawing/2017/decorative" val="1"/>
              </a:ext>
            </a:extLst>
          </p:cNvPr>
          <p:cNvSpPr/>
          <p:nvPr/>
        </p:nvSpPr>
        <p:spPr>
          <a:xfrm>
            <a:off x="7329830" y="3200400"/>
            <a:ext cx="1958645" cy="2331720"/>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25" name="top accent">
            <a:extLst>
              <a:ext uri="{C183D7F6-B498-43B3-948B-1728B52AA6E4}">
                <adec:decorative xmlns:adec="http://schemas.microsoft.com/office/drawing/2017/decorative" val="1"/>
              </a:ext>
            </a:extLst>
          </p:cNvPr>
          <p:cNvSpPr/>
          <p:nvPr/>
        </p:nvSpPr>
        <p:spPr>
          <a:xfrm>
            <a:off x="7329830" y="3200400"/>
            <a:ext cx="1958645" cy="100584"/>
          </a:xfrm>
          <a:prstGeom prst="rect">
            <a:avLst/>
          </a:prstGeom>
          <a:solidFill>
            <a:srgbClr val="2A3FE0"/>
          </a:solidFill>
          <a:ln/>
        </p:spPr>
        <p:txBody>
          <a:bodyPr/>
          <a:lstStyle/>
          <a:p>
            <a:endParaRPr lang="es-419" noProof="0" dirty="0"/>
          </a:p>
        </p:txBody>
      </p:sp>
      <p:sp>
        <p:nvSpPr>
          <p:cNvPr id="26" name="Text 24"/>
          <p:cNvSpPr/>
          <p:nvPr/>
        </p:nvSpPr>
        <p:spPr>
          <a:xfrm>
            <a:off x="7494422" y="3456432"/>
            <a:ext cx="1629461" cy="457200"/>
          </a:xfrm>
          <a:prstGeom prst="rect">
            <a:avLst/>
          </a:prstGeom>
          <a:noFill/>
          <a:ln/>
        </p:spPr>
        <p:txBody>
          <a:bodyPr wrap="square" lIns="0" tIns="0" rIns="0" bIns="0" rtlCol="0" anchor="ctr"/>
          <a:lstStyle/>
          <a:p>
            <a:pPr marL="0" indent="0" algn="l">
              <a:buNone/>
            </a:pPr>
            <a:r>
              <a:rPr lang="es-419" sz="2000" b="1" noProof="0">
                <a:solidFill>
                  <a:srgbClr val="2A3FE0"/>
                </a:solidFill>
                <a:latin typeface="Roboto Condensed Medium" pitchFamily="34" charset="0"/>
                <a:ea typeface="Roboto Condensed Medium" pitchFamily="34" charset="-122"/>
                <a:cs typeface="Roboto Condensed Medium" pitchFamily="34" charset="-120"/>
              </a:rPr>
              <a:t>04</a:t>
            </a:r>
            <a:endParaRPr lang="es-419" sz="2000" noProof="0" dirty="0"/>
          </a:p>
        </p:txBody>
      </p:sp>
      <p:sp>
        <p:nvSpPr>
          <p:cNvPr id="27" name="Text 25"/>
          <p:cNvSpPr/>
          <p:nvPr/>
        </p:nvSpPr>
        <p:spPr>
          <a:xfrm>
            <a:off x="7494422" y="4041648"/>
            <a:ext cx="1629461" cy="640080"/>
          </a:xfrm>
          <a:prstGeom prst="rect">
            <a:avLst/>
          </a:prstGeom>
          <a:noFill/>
          <a:ln/>
        </p:spPr>
        <p:txBody>
          <a:bodyPr wrap="square" lIns="0" tIns="0" rIns="0" bIns="0" rtlCol="0" anchor="t"/>
          <a:lstStyle/>
          <a:p>
            <a:pPr marL="0" indent="0" algn="l">
              <a:buNone/>
            </a:pPr>
            <a:r>
              <a:rPr lang="es-419" sz="1300" b="1" noProof="0">
                <a:solidFill>
                  <a:srgbClr val="000000"/>
                </a:solidFill>
                <a:latin typeface="Roboto Condensed Medium" pitchFamily="34" charset="0"/>
                <a:ea typeface="Roboto Condensed Medium" pitchFamily="34" charset="-122"/>
                <a:cs typeface="Roboto Condensed Medium" pitchFamily="34" charset="-120"/>
              </a:rPr>
              <a:t>Duración</a:t>
            </a:r>
            <a:endParaRPr lang="es-419" sz="1300" noProof="0" dirty="0"/>
          </a:p>
        </p:txBody>
      </p:sp>
      <p:sp>
        <p:nvSpPr>
          <p:cNvPr id="28" name="Text 26"/>
          <p:cNvSpPr/>
          <p:nvPr/>
        </p:nvSpPr>
        <p:spPr>
          <a:xfrm>
            <a:off x="7494422" y="4681728"/>
            <a:ext cx="1629461" cy="731520"/>
          </a:xfrm>
          <a:prstGeom prst="rect">
            <a:avLst/>
          </a:prstGeom>
          <a:noFill/>
          <a:ln/>
        </p:spPr>
        <p:txBody>
          <a:bodyPr wrap="square" lIns="0" tIns="0" rIns="0" bIns="0" rtlCol="0" anchor="t"/>
          <a:lstStyle/>
          <a:p>
            <a:pPr marL="0" indent="0" algn="l">
              <a:buNone/>
            </a:pPr>
            <a:r>
              <a:rPr lang="es-419" sz="1150" i="1" noProof="0">
                <a:solidFill>
                  <a:srgbClr val="2A3FE0"/>
                </a:solidFill>
                <a:latin typeface="Roboto Condensed" pitchFamily="34" charset="0"/>
                <a:ea typeface="Roboto Condensed" pitchFamily="34" charset="-122"/>
                <a:cs typeface="Roboto Condensed" pitchFamily="34" charset="-120"/>
              </a:rPr>
              <a:t>2 semanas.</a:t>
            </a:r>
            <a:endParaRPr lang="es-419" sz="1150" noProof="0" dirty="0"/>
          </a:p>
        </p:txBody>
      </p:sp>
      <p:sp>
        <p:nvSpPr>
          <p:cNvPr id="29" name="card">
            <a:extLst>
              <a:ext uri="{C183D7F6-B498-43B3-948B-1728B52AA6E4}">
                <adec:decorative xmlns:adec="http://schemas.microsoft.com/office/drawing/2017/decorative" val="1"/>
              </a:ext>
            </a:extLst>
          </p:cNvPr>
          <p:cNvSpPr/>
          <p:nvPr/>
        </p:nvSpPr>
        <p:spPr>
          <a:xfrm>
            <a:off x="9544507" y="3200400"/>
            <a:ext cx="1958645" cy="2331720"/>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30" name="top accent">
            <a:extLst>
              <a:ext uri="{C183D7F6-B498-43B3-948B-1728B52AA6E4}">
                <adec:decorative xmlns:adec="http://schemas.microsoft.com/office/drawing/2017/decorative" val="1"/>
              </a:ext>
            </a:extLst>
          </p:cNvPr>
          <p:cNvSpPr/>
          <p:nvPr/>
        </p:nvSpPr>
        <p:spPr>
          <a:xfrm>
            <a:off x="9544507" y="3200400"/>
            <a:ext cx="1958645" cy="100584"/>
          </a:xfrm>
          <a:prstGeom prst="rect">
            <a:avLst/>
          </a:prstGeom>
          <a:solidFill>
            <a:srgbClr val="2A3FE0"/>
          </a:solidFill>
          <a:ln/>
        </p:spPr>
        <p:txBody>
          <a:bodyPr/>
          <a:lstStyle/>
          <a:p>
            <a:endParaRPr lang="es-419" noProof="0" dirty="0"/>
          </a:p>
        </p:txBody>
      </p:sp>
      <p:sp>
        <p:nvSpPr>
          <p:cNvPr id="31" name="Text 29"/>
          <p:cNvSpPr/>
          <p:nvPr/>
        </p:nvSpPr>
        <p:spPr>
          <a:xfrm>
            <a:off x="9709099" y="3456432"/>
            <a:ext cx="1629461" cy="457200"/>
          </a:xfrm>
          <a:prstGeom prst="rect">
            <a:avLst/>
          </a:prstGeom>
          <a:noFill/>
          <a:ln/>
        </p:spPr>
        <p:txBody>
          <a:bodyPr wrap="square" lIns="0" tIns="0" rIns="0" bIns="0" rtlCol="0" anchor="ctr"/>
          <a:lstStyle/>
          <a:p>
            <a:pPr marL="0" indent="0" algn="l">
              <a:buNone/>
            </a:pPr>
            <a:r>
              <a:rPr lang="es-419" sz="2000" b="1" noProof="0">
                <a:solidFill>
                  <a:srgbClr val="2A3FE0"/>
                </a:solidFill>
                <a:latin typeface="Roboto Condensed Medium" pitchFamily="34" charset="0"/>
                <a:ea typeface="Roboto Condensed Medium" pitchFamily="34" charset="-122"/>
                <a:cs typeface="Roboto Condensed Medium" pitchFamily="34" charset="-120"/>
              </a:rPr>
              <a:t>05</a:t>
            </a:r>
            <a:endParaRPr lang="es-419" sz="2000" noProof="0" dirty="0"/>
          </a:p>
        </p:txBody>
      </p:sp>
      <p:sp>
        <p:nvSpPr>
          <p:cNvPr id="32" name="Text 30"/>
          <p:cNvSpPr/>
          <p:nvPr/>
        </p:nvSpPr>
        <p:spPr>
          <a:xfrm>
            <a:off x="9709099" y="4041648"/>
            <a:ext cx="1629461" cy="640080"/>
          </a:xfrm>
          <a:prstGeom prst="rect">
            <a:avLst/>
          </a:prstGeom>
          <a:noFill/>
          <a:ln/>
        </p:spPr>
        <p:txBody>
          <a:bodyPr wrap="square" lIns="0" tIns="0" rIns="0" bIns="0" rtlCol="0" anchor="t"/>
          <a:lstStyle/>
          <a:p>
            <a:pPr marL="0" indent="0" algn="l">
              <a:buNone/>
            </a:pPr>
            <a:r>
              <a:rPr lang="es-419" sz="1300" b="1" noProof="0">
                <a:solidFill>
                  <a:srgbClr val="000000"/>
                </a:solidFill>
                <a:latin typeface="Roboto Condensed Medium" pitchFamily="34" charset="0"/>
                <a:ea typeface="Roboto Condensed Medium" pitchFamily="34" charset="-122"/>
                <a:cs typeface="Roboto Condensed Medium" pitchFamily="34" charset="-120"/>
              </a:rPr>
              <a:t>Metodología</a:t>
            </a:r>
            <a:endParaRPr lang="es-419" sz="1300" noProof="0" dirty="0"/>
          </a:p>
        </p:txBody>
      </p:sp>
      <p:sp>
        <p:nvSpPr>
          <p:cNvPr id="33" name="Text 31"/>
          <p:cNvSpPr/>
          <p:nvPr/>
        </p:nvSpPr>
        <p:spPr>
          <a:xfrm>
            <a:off x="9709099" y="4681728"/>
            <a:ext cx="1629461" cy="731520"/>
          </a:xfrm>
          <a:prstGeom prst="rect">
            <a:avLst/>
          </a:prstGeom>
          <a:noFill/>
          <a:ln/>
        </p:spPr>
        <p:txBody>
          <a:bodyPr wrap="square" lIns="0" tIns="0" rIns="0" bIns="0" rtlCol="0" anchor="t"/>
          <a:lstStyle/>
          <a:p>
            <a:pPr marL="0" indent="0" algn="l">
              <a:buNone/>
            </a:pPr>
            <a:r>
              <a:rPr lang="es-419" sz="850" i="1" noProof="0">
                <a:solidFill>
                  <a:srgbClr val="2A3FE0"/>
                </a:solidFill>
                <a:latin typeface="Roboto Condensed" pitchFamily="34" charset="0"/>
                <a:ea typeface="Roboto Condensed" pitchFamily="34" charset="-122"/>
                <a:cs typeface="Roboto Condensed" pitchFamily="34" charset="-120"/>
              </a:rPr>
              <a:t>Juicio experto: se estimó el esfuerzo sin IA y luego se ejecutó con </a:t>
            </a:r>
            <a:r>
              <a:rPr lang="es-419" sz="850" i="1" noProof="0" err="1">
                <a:solidFill>
                  <a:srgbClr val="2A3FE0"/>
                </a:solidFill>
                <a:latin typeface="Roboto Condensed" pitchFamily="34" charset="0"/>
                <a:ea typeface="Roboto Condensed" pitchFamily="34" charset="-122"/>
                <a:cs typeface="Roboto Condensed" pitchFamily="34" charset="-120"/>
              </a:rPr>
              <a:t>Copilot</a:t>
            </a:r>
            <a:r>
              <a:rPr lang="es-419" sz="850" i="1" noProof="0">
                <a:solidFill>
                  <a:srgbClr val="2A3FE0"/>
                </a:solidFill>
                <a:latin typeface="Roboto Condensed" pitchFamily="34" charset="0"/>
                <a:ea typeface="Roboto Condensed" pitchFamily="34" charset="-122"/>
                <a:cs typeface="Roboto Condensed" pitchFamily="34" charset="-120"/>
              </a:rPr>
              <a:t>, midiendo tiempo y consumo reales. Sin control manual paralelo.</a:t>
            </a:r>
            <a:endParaRPr lang="es-419" sz="1150" noProof="0" dirty="0"/>
          </a:p>
        </p:txBody>
      </p:sp>
      <p:sp>
        <p:nvSpPr>
          <p:cNvPr id="34" name="Text 32"/>
          <p:cNvSpPr/>
          <p:nvPr/>
        </p:nvSpPr>
        <p:spPr>
          <a:xfrm>
            <a:off x="685800" y="6437376"/>
            <a:ext cx="8686800" cy="292608"/>
          </a:xfrm>
          <a:prstGeom prst="rect">
            <a:avLst/>
          </a:prstGeom>
          <a:noFill/>
          <a:ln/>
        </p:spPr>
        <p:txBody>
          <a:bodyPr wrap="square" lIns="0" tIns="0" rIns="0" bIns="0" rtlCol="0" anchor="ctr"/>
          <a:lstStyle/>
          <a:p>
            <a:pPr marL="0" indent="0" algn="l">
              <a:buNone/>
            </a:pPr>
            <a:r>
              <a:rPr lang="es-419" sz="850" b="1" noProof="0">
                <a:solidFill>
                  <a:srgbClr val="000000"/>
                </a:solidFill>
                <a:latin typeface="Roboto Condensed" pitchFamily="34" charset="0"/>
                <a:ea typeface="Roboto Condensed" pitchFamily="34" charset="-122"/>
                <a:cs typeface="Roboto Condensed" pitchFamily="34" charset="-120"/>
              </a:rPr>
              <a:t>Tuya</a:t>
            </a:r>
            <a:r>
              <a:rPr lang="es-419" sz="850" noProof="0">
                <a:solidFill>
                  <a:srgbClr val="5B6068"/>
                </a:solidFill>
                <a:latin typeface="Roboto Condensed" pitchFamily="34" charset="0"/>
                <a:ea typeface="Roboto Condensed" pitchFamily="34" charset="-122"/>
                <a:cs typeface="Roboto Condensed" pitchFamily="34" charset="-120"/>
              </a:rPr>
              <a:t>   ·   GitHub </a:t>
            </a:r>
            <a:r>
              <a:rPr lang="es-419" sz="850" noProof="0" err="1">
                <a:solidFill>
                  <a:srgbClr val="5B6068"/>
                </a:solidFill>
                <a:latin typeface="Roboto Condensed" pitchFamily="34" charset="0"/>
                <a:ea typeface="Roboto Condensed" pitchFamily="34" charset="-122"/>
                <a:cs typeface="Roboto Condensed" pitchFamily="34" charset="-120"/>
              </a:rPr>
              <a:t>Copilot</a:t>
            </a:r>
            <a:r>
              <a:rPr lang="es-419" sz="850" noProof="0">
                <a:solidFill>
                  <a:srgbClr val="5B6068"/>
                </a:solidFill>
                <a:latin typeface="Roboto Condensed" pitchFamily="34" charset="0"/>
                <a:ea typeface="Roboto Condensed" pitchFamily="34" charset="-122"/>
                <a:cs typeface="Roboto Condensed" pitchFamily="34" charset="-120"/>
              </a:rPr>
              <a:t> - Resultados de la Prueba de Concepto</a:t>
            </a:r>
            <a:endParaRPr lang="es-419" sz="850" noProof="0" dirty="0"/>
          </a:p>
        </p:txBody>
      </p:sp>
      <p:sp>
        <p:nvSpPr>
          <p:cNvPr id="35" name="Text 33"/>
          <p:cNvSpPr/>
          <p:nvPr/>
        </p:nvSpPr>
        <p:spPr>
          <a:xfrm>
            <a:off x="10972800" y="6437376"/>
            <a:ext cx="530352" cy="292608"/>
          </a:xfrm>
          <a:prstGeom prst="rect">
            <a:avLst/>
          </a:prstGeom>
          <a:noFill/>
          <a:ln/>
        </p:spPr>
        <p:txBody>
          <a:bodyPr wrap="square" lIns="0" tIns="0" rIns="0" bIns="0" rtlCol="0" anchor="ctr"/>
          <a:lstStyle/>
          <a:p>
            <a:pPr marL="0" indent="0" algn="r">
              <a:buNone/>
            </a:pPr>
            <a:r>
              <a:rPr lang="es-419" sz="900" b="1" noProof="0">
                <a:solidFill>
                  <a:srgbClr val="2A3FE0"/>
                </a:solidFill>
                <a:latin typeface="Roboto Condensed Medium" pitchFamily="34" charset="0"/>
                <a:ea typeface="Roboto Condensed Medium" pitchFamily="34" charset="-122"/>
                <a:cs typeface="Roboto Condensed Medium" pitchFamily="34" charset="-120"/>
              </a:rPr>
              <a:t>02</a:t>
            </a:r>
            <a:endParaRPr lang="es-419" sz="900" noProof="0" dirty="0"/>
          </a:p>
        </p:txBody>
      </p:sp>
      <p:pic>
        <p:nvPicPr>
          <p:cNvPr id="950" name="Logo Tuya"/>
          <p:cNvPicPr>
            <a:picLocks noChangeAspect="1"/>
          </p:cNvPicPr>
          <p:nvPr/>
        </p:nvPicPr>
        <p:blipFill>
          <a:blip r:embed="rId3"/>
          <a:stretch>
            <a:fillRect/>
          </a:stretch>
        </p:blipFill>
        <p:spPr>
          <a:xfrm>
            <a:off x="11152200" y="321276"/>
            <a:ext cx="640080" cy="3200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mark">
            <a:extLst>
              <a:ext uri="{C183D7F6-B498-43B3-948B-1728B52AA6E4}">
                <adec:decorative xmlns:adec="http://schemas.microsoft.com/office/drawing/2017/decorative" val="1"/>
              </a:ext>
            </a:extLst>
          </p:cNvPr>
          <p:cNvSpPr/>
          <p:nvPr/>
        </p:nvSpPr>
        <p:spPr>
          <a:xfrm>
            <a:off x="685800" y="402336"/>
            <a:ext cx="146304" cy="146304"/>
          </a:xfrm>
          <a:prstGeom prst="rect">
            <a:avLst/>
          </a:prstGeom>
          <a:solidFill>
            <a:srgbClr val="2A3FE0"/>
          </a:solidFill>
          <a:ln/>
        </p:spPr>
        <p:txBody>
          <a:bodyPr/>
          <a:lstStyle/>
          <a:p>
            <a:endParaRPr lang="es-419" noProof="0" dirty="0"/>
          </a:p>
        </p:txBody>
      </p:sp>
      <p:sp>
        <p:nvSpPr>
          <p:cNvPr id="3" name="Text 1"/>
          <p:cNvSpPr/>
          <p:nvPr/>
        </p:nvSpPr>
        <p:spPr>
          <a:xfrm>
            <a:off x="932688" y="310896"/>
            <a:ext cx="9601200" cy="310896"/>
          </a:xfrm>
          <a:prstGeom prst="rect">
            <a:avLst/>
          </a:prstGeom>
          <a:noFill/>
          <a:ln/>
        </p:spPr>
        <p:txBody>
          <a:bodyPr wrap="square" lIns="0" tIns="0" rIns="0" bIns="0" rtlCol="0" anchor="ctr"/>
          <a:lstStyle/>
          <a:p>
            <a:pPr marL="0" indent="0" algn="l">
              <a:buNone/>
            </a:pPr>
            <a:r>
              <a:rPr lang="es-419" sz="1150" b="1" kern="0" spc="200" noProof="0">
                <a:solidFill>
                  <a:srgbClr val="2A3FE0"/>
                </a:solidFill>
                <a:latin typeface="Roboto Condensed Medium" pitchFamily="34" charset="0"/>
                <a:ea typeface="Roboto Condensed Medium" pitchFamily="34" charset="-122"/>
                <a:cs typeface="Roboto Condensed Medium" pitchFamily="34" charset="-120"/>
              </a:rPr>
              <a:t>ESCENARIO EVALUADO</a:t>
            </a:r>
            <a:endParaRPr lang="es-419" sz="1150" noProof="0" dirty="0"/>
          </a:p>
        </p:txBody>
      </p:sp>
      <p:sp>
        <p:nvSpPr>
          <p:cNvPr id="4" name="Text 0"/>
          <p:cNvSpPr>
            <a:spLocks noGrp="1"/>
          </p:cNvSpPr>
          <p:nvPr>
            <p:ph type="title" idx="100" hasCustomPrompt="1"/>
          </p:nvPr>
        </p:nvSpPr>
        <p:spPr>
          <a:xfrm>
            <a:off x="685800" y="658368"/>
            <a:ext cx="10789920" cy="822960"/>
          </a:xfrm>
          <a:prstGeom prst="rect">
            <a:avLst/>
          </a:prstGeom>
          <a:noFill/>
          <a:ln/>
        </p:spPr>
        <p:txBody>
          <a:bodyPr wrap="square" lIns="0" tIns="0" rIns="0" bIns="0" rtlCol="0" anchor="t"/>
          <a:lstStyle/>
          <a:p>
            <a:pPr marL="0" indent="0" algn="l">
              <a:buNone/>
            </a:pPr>
            <a:r>
              <a:rPr lang="es-419" sz="2700" b="1" noProof="0">
                <a:solidFill>
                  <a:srgbClr val="000000"/>
                </a:solidFill>
                <a:latin typeface="Roboto Condensed Medium" pitchFamily="34" charset="0"/>
                <a:ea typeface="Roboto Condensed Medium" pitchFamily="34" charset="-122"/>
                <a:cs typeface="Roboto Condensed Medium" pitchFamily="34" charset="-120"/>
              </a:rPr>
              <a:t>Cómo evaluamos el impacto de GitHub Copilot</a:t>
            </a:r>
            <a:endParaRPr lang="es-419" sz="2700" noProof="0" dirty="0"/>
          </a:p>
        </p:txBody>
      </p:sp>
      <p:sp>
        <p:nvSpPr>
          <p:cNvPr id="5" name="card">
            <a:extLst>
              <a:ext uri="{C183D7F6-B498-43B3-948B-1728B52AA6E4}">
                <adec:decorative xmlns:adec="http://schemas.microsoft.com/office/drawing/2017/decorative" val="1"/>
              </a:ext>
            </a:extLst>
          </p:cNvPr>
          <p:cNvSpPr/>
          <p:nvPr/>
        </p:nvSpPr>
        <p:spPr>
          <a:xfrm>
            <a:off x="685800" y="1664208"/>
            <a:ext cx="1574292" cy="1600200"/>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6" name="step badge">
            <a:extLst>
              <a:ext uri="{C183D7F6-B498-43B3-948B-1728B52AA6E4}">
                <adec:decorative xmlns:adec="http://schemas.microsoft.com/office/drawing/2017/decorative" val="1"/>
              </a:ext>
            </a:extLst>
          </p:cNvPr>
          <p:cNvSpPr/>
          <p:nvPr/>
        </p:nvSpPr>
        <p:spPr>
          <a:xfrm>
            <a:off x="1280922" y="1847088"/>
            <a:ext cx="384048" cy="384048"/>
          </a:xfrm>
          <a:prstGeom prst="ellipse">
            <a:avLst/>
          </a:prstGeom>
          <a:solidFill>
            <a:srgbClr val="E7EAFC"/>
          </a:solidFill>
          <a:ln/>
        </p:spPr>
        <p:txBody>
          <a:bodyPr/>
          <a:lstStyle/>
          <a:p>
            <a:endParaRPr lang="es-419" noProof="0" dirty="0"/>
          </a:p>
        </p:txBody>
      </p:sp>
      <p:sp>
        <p:nvSpPr>
          <p:cNvPr id="7" name="Text 5"/>
          <p:cNvSpPr/>
          <p:nvPr/>
        </p:nvSpPr>
        <p:spPr>
          <a:xfrm>
            <a:off x="1280922" y="1847088"/>
            <a:ext cx="384048" cy="384048"/>
          </a:xfrm>
          <a:prstGeom prst="rect">
            <a:avLst/>
          </a:prstGeom>
          <a:noFill/>
          <a:ln/>
        </p:spPr>
        <p:txBody>
          <a:bodyPr wrap="square" lIns="0" tIns="0" rIns="0" bIns="0" rtlCol="0" anchor="ctr"/>
          <a:lstStyle/>
          <a:p>
            <a:pPr marL="0" indent="0" algn="ctr">
              <a:buNone/>
            </a:pPr>
            <a:r>
              <a:rPr lang="es-419" sz="1400" b="1" noProof="0">
                <a:solidFill>
                  <a:srgbClr val="2A3FE0"/>
                </a:solidFill>
                <a:latin typeface="Roboto Condensed Medium" pitchFamily="34" charset="0"/>
                <a:ea typeface="Roboto Condensed Medium" pitchFamily="34" charset="-122"/>
                <a:cs typeface="Roboto Condensed Medium" pitchFamily="34" charset="-120"/>
              </a:rPr>
              <a:t>1</a:t>
            </a:r>
            <a:endParaRPr lang="es-419" sz="1400" noProof="0" dirty="0"/>
          </a:p>
        </p:txBody>
      </p:sp>
      <p:sp>
        <p:nvSpPr>
          <p:cNvPr id="8" name="Text 6"/>
          <p:cNvSpPr/>
          <p:nvPr/>
        </p:nvSpPr>
        <p:spPr>
          <a:xfrm>
            <a:off x="777240" y="2322576"/>
            <a:ext cx="1391412" cy="950000"/>
          </a:xfrm>
          <a:prstGeom prst="rect">
            <a:avLst/>
          </a:prstGeom>
          <a:noFill/>
          <a:ln/>
        </p:spPr>
        <p:txBody>
          <a:bodyPr wrap="square" lIns="0" tIns="0" rIns="0" bIns="0" rtlCol="0" anchor="t"/>
          <a:lstStyle/>
          <a:p>
            <a:pPr marL="0" indent="0" algn="ctr">
              <a:buNone/>
            </a:pPr>
            <a:r>
              <a:rPr lang="es-419" sz="950" b="1" noProof="0">
                <a:solidFill>
                  <a:srgbClr val="000000"/>
                </a:solidFill>
                <a:latin typeface="Roboto Condensed" pitchFamily="34" charset="0"/>
                <a:ea typeface="Roboto Condensed" pitchFamily="34" charset="-122"/>
                <a:cs typeface="Roboto Condensed" pitchFamily="34" charset="-120"/>
              </a:rPr>
              <a:t>Selección del caso de migración</a:t>
            </a:r>
            <a:endParaRPr lang="es-419" sz="950" noProof="0"/>
          </a:p>
          <a:p>
            <a:pPr marL="0" indent="0" algn="ctr">
              <a:buNone/>
            </a:pPr>
            <a:r>
              <a:rPr lang="es-419" sz="750" noProof="0">
                <a:solidFill>
                  <a:srgbClr val="33373D"/>
                </a:solidFill>
                <a:latin typeface="Roboto Condensed" pitchFamily="34" charset="0"/>
                <a:ea typeface="Roboto Condensed" pitchFamily="34" charset="-122"/>
                <a:cs typeface="Roboto Condensed" pitchFamily="34" charset="-120"/>
              </a:rPr>
              <a:t>Aplicación .NET seleccionada para migración a .NET 10.</a:t>
            </a:r>
            <a:endParaRPr lang="es-419" sz="750" noProof="0"/>
          </a:p>
        </p:txBody>
      </p:sp>
      <p:sp>
        <p:nvSpPr>
          <p:cNvPr id="9" name="flow connector">
            <a:extLst>
              <a:ext uri="{C183D7F6-B498-43B3-948B-1728B52AA6E4}">
                <adec:decorative xmlns:adec="http://schemas.microsoft.com/office/drawing/2017/decorative" val="1"/>
              </a:ext>
            </a:extLst>
          </p:cNvPr>
          <p:cNvSpPr/>
          <p:nvPr/>
        </p:nvSpPr>
        <p:spPr>
          <a:xfrm>
            <a:off x="2241804" y="2235708"/>
            <a:ext cx="310896" cy="274320"/>
          </a:xfrm>
          <a:prstGeom prst="chevron">
            <a:avLst/>
          </a:prstGeom>
          <a:solidFill>
            <a:srgbClr val="2A3FE0"/>
          </a:solidFill>
          <a:ln/>
        </p:spPr>
        <p:txBody>
          <a:bodyPr/>
          <a:lstStyle/>
          <a:p>
            <a:endParaRPr lang="es-419" noProof="0" dirty="0"/>
          </a:p>
        </p:txBody>
      </p:sp>
      <p:sp>
        <p:nvSpPr>
          <p:cNvPr id="10" name="card">
            <a:extLst>
              <a:ext uri="{C183D7F6-B498-43B3-948B-1728B52AA6E4}">
                <adec:decorative xmlns:adec="http://schemas.microsoft.com/office/drawing/2017/decorative" val="1"/>
              </a:ext>
            </a:extLst>
          </p:cNvPr>
          <p:cNvSpPr/>
          <p:nvPr/>
        </p:nvSpPr>
        <p:spPr>
          <a:xfrm>
            <a:off x="2534412" y="1664208"/>
            <a:ext cx="1574292" cy="1600200"/>
          </a:xfrm>
          <a:prstGeom prst="rect">
            <a:avLst/>
          </a:prstGeom>
          <a:solidFill>
            <a:srgbClr val="E7EAFC"/>
          </a:solidFill>
          <a:ln w="19050">
            <a:solidFill>
              <a:srgbClr val="2A3FE0"/>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11" name="step badge">
            <a:extLst>
              <a:ext uri="{C183D7F6-B498-43B3-948B-1728B52AA6E4}">
                <adec:decorative xmlns:adec="http://schemas.microsoft.com/office/drawing/2017/decorative" val="1"/>
              </a:ext>
            </a:extLst>
          </p:cNvPr>
          <p:cNvSpPr/>
          <p:nvPr/>
        </p:nvSpPr>
        <p:spPr>
          <a:xfrm>
            <a:off x="3129534" y="1847088"/>
            <a:ext cx="384048" cy="384048"/>
          </a:xfrm>
          <a:prstGeom prst="ellipse">
            <a:avLst/>
          </a:prstGeom>
          <a:solidFill>
            <a:srgbClr val="E7EAFC"/>
          </a:solidFill>
          <a:ln/>
        </p:spPr>
        <p:txBody>
          <a:bodyPr/>
          <a:lstStyle/>
          <a:p>
            <a:endParaRPr lang="es-419" noProof="0" dirty="0"/>
          </a:p>
        </p:txBody>
      </p:sp>
      <p:sp>
        <p:nvSpPr>
          <p:cNvPr id="12" name="Text 10"/>
          <p:cNvSpPr/>
          <p:nvPr/>
        </p:nvSpPr>
        <p:spPr>
          <a:xfrm>
            <a:off x="3129534" y="1847088"/>
            <a:ext cx="384048" cy="384048"/>
          </a:xfrm>
          <a:prstGeom prst="rect">
            <a:avLst/>
          </a:prstGeom>
          <a:noFill/>
          <a:ln/>
        </p:spPr>
        <p:txBody>
          <a:bodyPr wrap="square" lIns="0" tIns="0" rIns="0" bIns="0" rtlCol="0" anchor="ctr"/>
          <a:lstStyle/>
          <a:p>
            <a:pPr marL="0" indent="0" algn="ctr">
              <a:buNone/>
            </a:pPr>
            <a:r>
              <a:rPr lang="es-419" sz="1400" b="1" noProof="0">
                <a:solidFill>
                  <a:srgbClr val="2A3FE0"/>
                </a:solidFill>
                <a:latin typeface="Roboto Condensed Medium" pitchFamily="34" charset="0"/>
                <a:ea typeface="Roboto Condensed Medium" pitchFamily="34" charset="-122"/>
                <a:cs typeface="Roboto Condensed Medium" pitchFamily="34" charset="-120"/>
              </a:rPr>
              <a:t>2</a:t>
            </a:r>
            <a:endParaRPr lang="es-419" sz="1400" noProof="0" dirty="0"/>
          </a:p>
        </p:txBody>
      </p:sp>
      <p:sp>
        <p:nvSpPr>
          <p:cNvPr id="13" name="Text 11"/>
          <p:cNvSpPr/>
          <p:nvPr/>
        </p:nvSpPr>
        <p:spPr>
          <a:xfrm>
            <a:off x="2625852" y="2322576"/>
            <a:ext cx="1391412" cy="950000"/>
          </a:xfrm>
          <a:prstGeom prst="rect">
            <a:avLst/>
          </a:prstGeom>
          <a:noFill/>
          <a:ln/>
        </p:spPr>
        <p:txBody>
          <a:bodyPr wrap="square" lIns="0" tIns="0" rIns="0" bIns="0" rtlCol="0" anchor="t"/>
          <a:lstStyle/>
          <a:p>
            <a:pPr marL="0" indent="0" algn="ctr">
              <a:buNone/>
            </a:pPr>
            <a:r>
              <a:rPr lang="es-419" sz="950" b="1" noProof="0">
                <a:solidFill>
                  <a:srgbClr val="2A3FE0"/>
                </a:solidFill>
                <a:latin typeface="Roboto Condensed" pitchFamily="34" charset="0"/>
                <a:ea typeface="Roboto Condensed" pitchFamily="34" charset="-122"/>
                <a:cs typeface="Roboto Condensed" pitchFamily="34" charset="-120"/>
              </a:rPr>
              <a:t>Estimación por juicio experto</a:t>
            </a:r>
            <a:endParaRPr lang="es-419" sz="950" noProof="0"/>
          </a:p>
          <a:p>
            <a:pPr marL="0" indent="0" algn="ctr">
              <a:buNone/>
            </a:pPr>
            <a:r>
              <a:rPr lang="es-419" sz="750" b="1" noProof="0">
                <a:solidFill>
                  <a:srgbClr val="000000"/>
                </a:solidFill>
                <a:latin typeface="Roboto Condensed" pitchFamily="34" charset="0"/>
                <a:ea typeface="Roboto Condensed" pitchFamily="34" charset="-122"/>
                <a:cs typeface="Roboto Condensed" pitchFamily="34" charset="-120"/>
              </a:rPr>
              <a:t>Línea base estimada. Esfuerzo esperado sin asistencia de IA.</a:t>
            </a:r>
            <a:endParaRPr lang="es-419" sz="750" noProof="0"/>
          </a:p>
        </p:txBody>
      </p:sp>
      <p:sp>
        <p:nvSpPr>
          <p:cNvPr id="14" name="flow connector">
            <a:extLst>
              <a:ext uri="{C183D7F6-B498-43B3-948B-1728B52AA6E4}">
                <adec:decorative xmlns:adec="http://schemas.microsoft.com/office/drawing/2017/decorative" val="1"/>
              </a:ext>
            </a:extLst>
          </p:cNvPr>
          <p:cNvSpPr/>
          <p:nvPr/>
        </p:nvSpPr>
        <p:spPr>
          <a:xfrm>
            <a:off x="4090416" y="2235708"/>
            <a:ext cx="310896" cy="274320"/>
          </a:xfrm>
          <a:prstGeom prst="chevron">
            <a:avLst/>
          </a:prstGeom>
          <a:solidFill>
            <a:srgbClr val="2A3FE0"/>
          </a:solidFill>
          <a:ln/>
        </p:spPr>
        <p:txBody>
          <a:bodyPr/>
          <a:lstStyle/>
          <a:p>
            <a:endParaRPr lang="es-419" noProof="0" dirty="0"/>
          </a:p>
        </p:txBody>
      </p:sp>
      <p:sp>
        <p:nvSpPr>
          <p:cNvPr id="15" name="step">
            <a:extLst>
              <a:ext uri="{C183D7F6-B498-43B3-948B-1728B52AA6E4}">
                <adec:decorative xmlns:adec="http://schemas.microsoft.com/office/drawing/2017/decorative" val="1"/>
              </a:ext>
            </a:extLst>
          </p:cNvPr>
          <p:cNvSpPr/>
          <p:nvPr/>
        </p:nvSpPr>
        <p:spPr>
          <a:xfrm>
            <a:off x="4383024" y="1664208"/>
            <a:ext cx="1574292" cy="1600200"/>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16" name="step badge">
            <a:extLst>
              <a:ext uri="{C183D7F6-B498-43B3-948B-1728B52AA6E4}">
                <adec:decorative xmlns:adec="http://schemas.microsoft.com/office/drawing/2017/decorative" val="1"/>
              </a:ext>
            </a:extLst>
          </p:cNvPr>
          <p:cNvSpPr/>
          <p:nvPr/>
        </p:nvSpPr>
        <p:spPr>
          <a:xfrm>
            <a:off x="4978146" y="1847088"/>
            <a:ext cx="384048" cy="384048"/>
          </a:xfrm>
          <a:prstGeom prst="ellipse">
            <a:avLst/>
          </a:prstGeom>
          <a:solidFill>
            <a:srgbClr val="E7EAFC"/>
          </a:solidFill>
          <a:ln/>
        </p:spPr>
        <p:txBody>
          <a:bodyPr/>
          <a:lstStyle/>
          <a:p>
            <a:endParaRPr lang="es-419" noProof="0" dirty="0"/>
          </a:p>
        </p:txBody>
      </p:sp>
      <p:sp>
        <p:nvSpPr>
          <p:cNvPr id="17" name="Text 15"/>
          <p:cNvSpPr/>
          <p:nvPr/>
        </p:nvSpPr>
        <p:spPr>
          <a:xfrm>
            <a:off x="4978146" y="1847088"/>
            <a:ext cx="384048" cy="384048"/>
          </a:xfrm>
          <a:prstGeom prst="rect">
            <a:avLst/>
          </a:prstGeom>
          <a:noFill/>
          <a:ln/>
        </p:spPr>
        <p:txBody>
          <a:bodyPr wrap="square" lIns="0" tIns="0" rIns="0" bIns="0" rtlCol="0" anchor="ctr"/>
          <a:lstStyle/>
          <a:p>
            <a:pPr marL="0" indent="0" algn="ctr">
              <a:buNone/>
            </a:pPr>
            <a:r>
              <a:rPr lang="es-419" sz="1400" b="1" noProof="0">
                <a:solidFill>
                  <a:srgbClr val="2A3FE0"/>
                </a:solidFill>
                <a:latin typeface="Roboto Condensed Medium" pitchFamily="34" charset="0"/>
                <a:ea typeface="Roboto Condensed Medium" pitchFamily="34" charset="-122"/>
                <a:cs typeface="Roboto Condensed Medium" pitchFamily="34" charset="-120"/>
              </a:rPr>
              <a:t>3</a:t>
            </a:r>
            <a:endParaRPr lang="es-419" sz="1400" noProof="0" dirty="0"/>
          </a:p>
        </p:txBody>
      </p:sp>
      <p:sp>
        <p:nvSpPr>
          <p:cNvPr id="18" name="Text 16"/>
          <p:cNvSpPr/>
          <p:nvPr/>
        </p:nvSpPr>
        <p:spPr>
          <a:xfrm>
            <a:off x="4474464" y="2322576"/>
            <a:ext cx="1391412" cy="950000"/>
          </a:xfrm>
          <a:prstGeom prst="rect">
            <a:avLst/>
          </a:prstGeom>
          <a:noFill/>
          <a:ln/>
        </p:spPr>
        <p:txBody>
          <a:bodyPr wrap="square" lIns="0" tIns="0" rIns="0" bIns="0" rtlCol="0" anchor="t"/>
          <a:lstStyle/>
          <a:p>
            <a:pPr marL="0" indent="0" algn="ctr">
              <a:buNone/>
            </a:pPr>
            <a:r>
              <a:rPr lang="es-419" sz="950" b="1" noProof="0">
                <a:solidFill>
                  <a:srgbClr val="000000"/>
                </a:solidFill>
                <a:latin typeface="Roboto Condensed" pitchFamily="34" charset="0"/>
                <a:ea typeface="Roboto Condensed" pitchFamily="34" charset="-122"/>
                <a:cs typeface="Roboto Condensed" pitchFamily="34" charset="-120"/>
              </a:rPr>
              <a:t>Incorporación de GitHub </a:t>
            </a:r>
            <a:r>
              <a:rPr lang="es-419" sz="950" b="1" noProof="0" err="1">
                <a:solidFill>
                  <a:srgbClr val="000000"/>
                </a:solidFill>
                <a:latin typeface="Roboto Condensed" pitchFamily="34" charset="0"/>
                <a:ea typeface="Roboto Condensed" pitchFamily="34" charset="-122"/>
                <a:cs typeface="Roboto Condensed" pitchFamily="34" charset="-120"/>
              </a:rPr>
              <a:t>Copilot</a:t>
            </a:r>
            <a:endParaRPr lang="es-419" sz="950" noProof="0"/>
          </a:p>
          <a:p>
            <a:pPr marL="0" indent="0" algn="ctr">
              <a:buNone/>
            </a:pPr>
            <a:r>
              <a:rPr lang="es-419" sz="750" noProof="0">
                <a:solidFill>
                  <a:srgbClr val="33373D"/>
                </a:solidFill>
                <a:latin typeface="Roboto Condensed" pitchFamily="34" charset="0"/>
                <a:ea typeface="Roboto Condensed" pitchFamily="34" charset="-122"/>
                <a:cs typeface="Roboto Condensed" pitchFamily="34" charset="-120"/>
              </a:rPr>
              <a:t>Uso de Copilot dentro del flujo de migración definido.</a:t>
            </a:r>
            <a:endParaRPr lang="es-419" sz="750" noProof="0"/>
          </a:p>
        </p:txBody>
      </p:sp>
      <p:sp>
        <p:nvSpPr>
          <p:cNvPr id="19" name="flow connector">
            <a:extLst>
              <a:ext uri="{C183D7F6-B498-43B3-948B-1728B52AA6E4}">
                <adec:decorative xmlns:adec="http://schemas.microsoft.com/office/drawing/2017/decorative" val="1"/>
              </a:ext>
            </a:extLst>
          </p:cNvPr>
          <p:cNvSpPr/>
          <p:nvPr/>
        </p:nvSpPr>
        <p:spPr>
          <a:xfrm>
            <a:off x="5939028" y="2235708"/>
            <a:ext cx="310896" cy="274320"/>
          </a:xfrm>
          <a:prstGeom prst="chevron">
            <a:avLst/>
          </a:prstGeom>
          <a:solidFill>
            <a:srgbClr val="2A3FE0"/>
          </a:solidFill>
          <a:ln/>
        </p:spPr>
        <p:txBody>
          <a:bodyPr/>
          <a:lstStyle/>
          <a:p>
            <a:endParaRPr lang="es-419" noProof="0" dirty="0"/>
          </a:p>
        </p:txBody>
      </p:sp>
      <p:sp>
        <p:nvSpPr>
          <p:cNvPr id="20" name="step">
            <a:extLst>
              <a:ext uri="{C183D7F6-B498-43B3-948B-1728B52AA6E4}">
                <adec:decorative xmlns:adec="http://schemas.microsoft.com/office/drawing/2017/decorative" val="1"/>
              </a:ext>
            </a:extLst>
          </p:cNvPr>
          <p:cNvSpPr/>
          <p:nvPr/>
        </p:nvSpPr>
        <p:spPr>
          <a:xfrm>
            <a:off x="6231636" y="1664208"/>
            <a:ext cx="1574292" cy="1600200"/>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21" name="step badge">
            <a:extLst>
              <a:ext uri="{C183D7F6-B498-43B3-948B-1728B52AA6E4}">
                <adec:decorative xmlns:adec="http://schemas.microsoft.com/office/drawing/2017/decorative" val="1"/>
              </a:ext>
            </a:extLst>
          </p:cNvPr>
          <p:cNvSpPr/>
          <p:nvPr/>
        </p:nvSpPr>
        <p:spPr>
          <a:xfrm>
            <a:off x="6826758" y="1847088"/>
            <a:ext cx="384048" cy="384048"/>
          </a:xfrm>
          <a:prstGeom prst="ellipse">
            <a:avLst/>
          </a:prstGeom>
          <a:solidFill>
            <a:srgbClr val="E7EAFC"/>
          </a:solidFill>
          <a:ln/>
        </p:spPr>
        <p:txBody>
          <a:bodyPr/>
          <a:lstStyle/>
          <a:p>
            <a:endParaRPr lang="es-419" noProof="0" dirty="0"/>
          </a:p>
        </p:txBody>
      </p:sp>
      <p:sp>
        <p:nvSpPr>
          <p:cNvPr id="22" name="Text 20"/>
          <p:cNvSpPr/>
          <p:nvPr/>
        </p:nvSpPr>
        <p:spPr>
          <a:xfrm>
            <a:off x="6826758" y="1847088"/>
            <a:ext cx="384048" cy="384048"/>
          </a:xfrm>
          <a:prstGeom prst="rect">
            <a:avLst/>
          </a:prstGeom>
          <a:noFill/>
          <a:ln/>
        </p:spPr>
        <p:txBody>
          <a:bodyPr wrap="square" lIns="0" tIns="0" rIns="0" bIns="0" rtlCol="0" anchor="ctr"/>
          <a:lstStyle/>
          <a:p>
            <a:pPr marL="0" indent="0" algn="ctr">
              <a:buNone/>
            </a:pPr>
            <a:r>
              <a:rPr lang="es-419" sz="1400" b="1" noProof="0">
                <a:solidFill>
                  <a:srgbClr val="2A3FE0"/>
                </a:solidFill>
                <a:latin typeface="Roboto Condensed Medium" pitchFamily="34" charset="0"/>
                <a:ea typeface="Roboto Condensed Medium" pitchFamily="34" charset="-122"/>
                <a:cs typeface="Roboto Condensed Medium" pitchFamily="34" charset="-120"/>
              </a:rPr>
              <a:t>4</a:t>
            </a:r>
            <a:endParaRPr lang="es-419" sz="1400" noProof="0" dirty="0"/>
          </a:p>
        </p:txBody>
      </p:sp>
      <p:sp>
        <p:nvSpPr>
          <p:cNvPr id="23" name="Text 21"/>
          <p:cNvSpPr/>
          <p:nvPr/>
        </p:nvSpPr>
        <p:spPr>
          <a:xfrm>
            <a:off x="6323076" y="2322576"/>
            <a:ext cx="1391412" cy="950000"/>
          </a:xfrm>
          <a:prstGeom prst="rect">
            <a:avLst/>
          </a:prstGeom>
          <a:noFill/>
          <a:ln/>
        </p:spPr>
        <p:txBody>
          <a:bodyPr wrap="square" lIns="0" tIns="0" rIns="0" bIns="0" rtlCol="0" anchor="t"/>
          <a:lstStyle/>
          <a:p>
            <a:pPr marL="0" indent="0" algn="ctr">
              <a:buNone/>
            </a:pPr>
            <a:r>
              <a:rPr lang="es-419" sz="950" b="1" noProof="0">
                <a:solidFill>
                  <a:srgbClr val="000000"/>
                </a:solidFill>
                <a:latin typeface="Roboto Condensed" pitchFamily="34" charset="0"/>
                <a:ea typeface="Roboto Condensed" pitchFamily="34" charset="-122"/>
                <a:cs typeface="Roboto Condensed" pitchFamily="34" charset="-120"/>
              </a:rPr>
              <a:t>Ejecución asistida por IA</a:t>
            </a:r>
            <a:endParaRPr lang="es-419" sz="950" noProof="0"/>
          </a:p>
          <a:p>
            <a:pPr marL="0" indent="0" algn="ctr">
              <a:buNone/>
            </a:pPr>
            <a:r>
              <a:rPr lang="es-419" sz="750" noProof="0">
                <a:solidFill>
                  <a:srgbClr val="33373D"/>
                </a:solidFill>
                <a:latin typeface="Roboto Condensed" pitchFamily="34" charset="0"/>
                <a:ea typeface="Roboto Condensed" pitchFamily="34" charset="-122"/>
                <a:cs typeface="Roboto Condensed" pitchFamily="34" charset="-120"/>
              </a:rPr>
              <a:t>Migración hacia .NET 10 aplicando estándares y prácticas de Tuya.</a:t>
            </a:r>
            <a:endParaRPr lang="es-419" sz="750" noProof="0"/>
          </a:p>
        </p:txBody>
      </p:sp>
      <p:sp>
        <p:nvSpPr>
          <p:cNvPr id="24" name="flow connector">
            <a:extLst>
              <a:ext uri="{C183D7F6-B498-43B3-948B-1728B52AA6E4}">
                <adec:decorative xmlns:adec="http://schemas.microsoft.com/office/drawing/2017/decorative" val="1"/>
              </a:ext>
            </a:extLst>
          </p:cNvPr>
          <p:cNvSpPr/>
          <p:nvPr/>
        </p:nvSpPr>
        <p:spPr>
          <a:xfrm>
            <a:off x="7787640" y="2235708"/>
            <a:ext cx="310896" cy="274320"/>
          </a:xfrm>
          <a:prstGeom prst="chevron">
            <a:avLst/>
          </a:prstGeom>
          <a:solidFill>
            <a:srgbClr val="2A3FE0"/>
          </a:solidFill>
          <a:ln/>
        </p:spPr>
        <p:txBody>
          <a:bodyPr/>
          <a:lstStyle/>
          <a:p>
            <a:endParaRPr lang="es-419" noProof="0" dirty="0"/>
          </a:p>
        </p:txBody>
      </p:sp>
      <p:sp>
        <p:nvSpPr>
          <p:cNvPr id="25" name="card">
            <a:extLst>
              <a:ext uri="{C183D7F6-B498-43B3-948B-1728B52AA6E4}">
                <adec:decorative xmlns:adec="http://schemas.microsoft.com/office/drawing/2017/decorative" val="1"/>
              </a:ext>
            </a:extLst>
          </p:cNvPr>
          <p:cNvSpPr/>
          <p:nvPr/>
        </p:nvSpPr>
        <p:spPr>
          <a:xfrm>
            <a:off x="8080248" y="1664208"/>
            <a:ext cx="1574292" cy="1600200"/>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26" name="step badge">
            <a:extLst>
              <a:ext uri="{C183D7F6-B498-43B3-948B-1728B52AA6E4}">
                <adec:decorative xmlns:adec="http://schemas.microsoft.com/office/drawing/2017/decorative" val="1"/>
              </a:ext>
            </a:extLst>
          </p:cNvPr>
          <p:cNvSpPr/>
          <p:nvPr/>
        </p:nvSpPr>
        <p:spPr>
          <a:xfrm>
            <a:off x="8675370" y="1847088"/>
            <a:ext cx="384048" cy="384048"/>
          </a:xfrm>
          <a:prstGeom prst="ellipse">
            <a:avLst/>
          </a:prstGeom>
          <a:solidFill>
            <a:srgbClr val="E7EAFC"/>
          </a:solidFill>
          <a:ln/>
        </p:spPr>
        <p:txBody>
          <a:bodyPr/>
          <a:lstStyle/>
          <a:p>
            <a:endParaRPr lang="es-419" noProof="0" dirty="0"/>
          </a:p>
        </p:txBody>
      </p:sp>
      <p:sp>
        <p:nvSpPr>
          <p:cNvPr id="27" name="Text 25"/>
          <p:cNvSpPr/>
          <p:nvPr/>
        </p:nvSpPr>
        <p:spPr>
          <a:xfrm>
            <a:off x="8675370" y="1847088"/>
            <a:ext cx="384048" cy="384048"/>
          </a:xfrm>
          <a:prstGeom prst="rect">
            <a:avLst/>
          </a:prstGeom>
          <a:noFill/>
          <a:ln/>
        </p:spPr>
        <p:txBody>
          <a:bodyPr wrap="square" lIns="0" tIns="0" rIns="0" bIns="0" rtlCol="0" anchor="ctr"/>
          <a:lstStyle/>
          <a:p>
            <a:pPr marL="0" indent="0" algn="ctr">
              <a:buNone/>
            </a:pPr>
            <a:r>
              <a:rPr lang="es-419" sz="1400" b="1" noProof="0">
                <a:solidFill>
                  <a:srgbClr val="2A3FE0"/>
                </a:solidFill>
                <a:latin typeface="Roboto Condensed Medium" pitchFamily="34" charset="0"/>
                <a:ea typeface="Roboto Condensed Medium" pitchFamily="34" charset="-122"/>
                <a:cs typeface="Roboto Condensed Medium" pitchFamily="34" charset="-120"/>
              </a:rPr>
              <a:t>5</a:t>
            </a:r>
            <a:endParaRPr lang="es-419" sz="1400" noProof="0" dirty="0"/>
          </a:p>
        </p:txBody>
      </p:sp>
      <p:sp>
        <p:nvSpPr>
          <p:cNvPr id="28" name="Text 26"/>
          <p:cNvSpPr/>
          <p:nvPr/>
        </p:nvSpPr>
        <p:spPr>
          <a:xfrm>
            <a:off x="8171688" y="2322576"/>
            <a:ext cx="1391412" cy="950000"/>
          </a:xfrm>
          <a:prstGeom prst="rect">
            <a:avLst/>
          </a:prstGeom>
          <a:noFill/>
          <a:ln/>
        </p:spPr>
        <p:txBody>
          <a:bodyPr wrap="square" lIns="0" tIns="0" rIns="0" bIns="0" rtlCol="0" anchor="t"/>
          <a:lstStyle/>
          <a:p>
            <a:pPr marL="0" indent="0" algn="ctr">
              <a:buNone/>
            </a:pPr>
            <a:r>
              <a:rPr lang="es-419" sz="950" b="1" noProof="0">
                <a:solidFill>
                  <a:srgbClr val="000000"/>
                </a:solidFill>
                <a:latin typeface="Roboto Condensed" pitchFamily="34" charset="0"/>
                <a:ea typeface="Roboto Condensed" pitchFamily="34" charset="-122"/>
                <a:cs typeface="Roboto Condensed" pitchFamily="34" charset="-120"/>
              </a:rPr>
              <a:t>Validación técnica</a:t>
            </a:r>
            <a:endParaRPr lang="es-419" sz="950" noProof="0"/>
          </a:p>
          <a:p>
            <a:pPr marL="0" indent="0" algn="ctr">
              <a:buNone/>
            </a:pPr>
            <a:r>
              <a:rPr lang="es-419" sz="750" noProof="0">
                <a:solidFill>
                  <a:srgbClr val="33373D"/>
                </a:solidFill>
                <a:latin typeface="Roboto Condensed" pitchFamily="34" charset="0"/>
                <a:ea typeface="Roboto Condensed" pitchFamily="34" charset="-122"/>
                <a:cs typeface="Roboto Condensed" pitchFamily="34" charset="-120"/>
              </a:rPr>
              <a:t>Revisión del resultado, correcciones necesarias y análisis técnico.</a:t>
            </a:r>
            <a:endParaRPr lang="es-419" sz="750" noProof="0"/>
          </a:p>
        </p:txBody>
      </p:sp>
      <p:sp>
        <p:nvSpPr>
          <p:cNvPr id="29" name="flow connector">
            <a:extLst>
              <a:ext uri="{C183D7F6-B498-43B3-948B-1728B52AA6E4}">
                <adec:decorative xmlns:adec="http://schemas.microsoft.com/office/drawing/2017/decorative" val="1"/>
              </a:ext>
            </a:extLst>
          </p:cNvPr>
          <p:cNvSpPr/>
          <p:nvPr/>
        </p:nvSpPr>
        <p:spPr>
          <a:xfrm>
            <a:off x="9636252" y="2235708"/>
            <a:ext cx="310896" cy="274320"/>
          </a:xfrm>
          <a:prstGeom prst="chevron">
            <a:avLst/>
          </a:prstGeom>
          <a:solidFill>
            <a:srgbClr val="2A3FE0"/>
          </a:solidFill>
          <a:ln/>
        </p:spPr>
        <p:txBody>
          <a:bodyPr/>
          <a:lstStyle/>
          <a:p>
            <a:endParaRPr lang="es-419" noProof="0" dirty="0"/>
          </a:p>
        </p:txBody>
      </p:sp>
      <p:sp>
        <p:nvSpPr>
          <p:cNvPr id="30" name="card">
            <a:extLst>
              <a:ext uri="{C183D7F6-B498-43B3-948B-1728B52AA6E4}">
                <adec:decorative xmlns:adec="http://schemas.microsoft.com/office/drawing/2017/decorative" val="1"/>
              </a:ext>
            </a:extLst>
          </p:cNvPr>
          <p:cNvSpPr/>
          <p:nvPr/>
        </p:nvSpPr>
        <p:spPr>
          <a:xfrm>
            <a:off x="9928860" y="1664208"/>
            <a:ext cx="1574292" cy="1600200"/>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31" name="step badge">
            <a:extLst>
              <a:ext uri="{C183D7F6-B498-43B3-948B-1728B52AA6E4}">
                <adec:decorative xmlns:adec="http://schemas.microsoft.com/office/drawing/2017/decorative" val="1"/>
              </a:ext>
            </a:extLst>
          </p:cNvPr>
          <p:cNvSpPr/>
          <p:nvPr/>
        </p:nvSpPr>
        <p:spPr>
          <a:xfrm>
            <a:off x="10523982" y="1847088"/>
            <a:ext cx="384048" cy="384048"/>
          </a:xfrm>
          <a:prstGeom prst="ellipse">
            <a:avLst/>
          </a:prstGeom>
          <a:solidFill>
            <a:srgbClr val="E7EAFC"/>
          </a:solidFill>
          <a:ln/>
        </p:spPr>
        <p:txBody>
          <a:bodyPr/>
          <a:lstStyle/>
          <a:p>
            <a:endParaRPr lang="es-419" noProof="0" dirty="0"/>
          </a:p>
        </p:txBody>
      </p:sp>
      <p:sp>
        <p:nvSpPr>
          <p:cNvPr id="32" name="Text 30"/>
          <p:cNvSpPr/>
          <p:nvPr/>
        </p:nvSpPr>
        <p:spPr>
          <a:xfrm>
            <a:off x="10523982" y="1847088"/>
            <a:ext cx="384048" cy="384048"/>
          </a:xfrm>
          <a:prstGeom prst="rect">
            <a:avLst/>
          </a:prstGeom>
          <a:noFill/>
          <a:ln/>
        </p:spPr>
        <p:txBody>
          <a:bodyPr wrap="square" lIns="0" tIns="0" rIns="0" bIns="0" rtlCol="0" anchor="ctr"/>
          <a:lstStyle/>
          <a:p>
            <a:pPr marL="0" indent="0" algn="ctr">
              <a:buNone/>
            </a:pPr>
            <a:r>
              <a:rPr lang="es-419" sz="1400" b="1" noProof="0">
                <a:solidFill>
                  <a:srgbClr val="2A3FE0"/>
                </a:solidFill>
                <a:latin typeface="Roboto Condensed Medium" pitchFamily="34" charset="0"/>
                <a:ea typeface="Roboto Condensed Medium" pitchFamily="34" charset="-122"/>
                <a:cs typeface="Roboto Condensed Medium" pitchFamily="34" charset="-120"/>
              </a:rPr>
              <a:t>6</a:t>
            </a:r>
            <a:endParaRPr lang="es-419" sz="1400" noProof="0" dirty="0"/>
          </a:p>
        </p:txBody>
      </p:sp>
      <p:sp>
        <p:nvSpPr>
          <p:cNvPr id="33" name="Text 31"/>
          <p:cNvSpPr/>
          <p:nvPr/>
        </p:nvSpPr>
        <p:spPr>
          <a:xfrm>
            <a:off x="10020300" y="2322576"/>
            <a:ext cx="1391412" cy="950000"/>
          </a:xfrm>
          <a:prstGeom prst="rect">
            <a:avLst/>
          </a:prstGeom>
          <a:noFill/>
          <a:ln/>
        </p:spPr>
        <p:txBody>
          <a:bodyPr wrap="square" lIns="0" tIns="0" rIns="0" bIns="0" rtlCol="0" anchor="t"/>
          <a:lstStyle/>
          <a:p>
            <a:pPr marL="0" indent="0" algn="ctr">
              <a:buNone/>
            </a:pPr>
            <a:r>
              <a:rPr lang="es-419" sz="950" b="1" noProof="0">
                <a:solidFill>
                  <a:srgbClr val="000000"/>
                </a:solidFill>
                <a:latin typeface="Roboto Condensed" pitchFamily="34" charset="0"/>
                <a:ea typeface="Roboto Condensed" pitchFamily="34" charset="-122"/>
                <a:cs typeface="Roboto Condensed" pitchFamily="34" charset="-120"/>
              </a:rPr>
              <a:t>Medición y comparación</a:t>
            </a:r>
            <a:endParaRPr lang="es-419" sz="950" noProof="0"/>
          </a:p>
          <a:p>
            <a:pPr marL="0" indent="0" algn="ctr">
              <a:buNone/>
            </a:pPr>
            <a:r>
              <a:rPr lang="es-419" sz="750" noProof="0">
                <a:solidFill>
                  <a:srgbClr val="33373D"/>
                </a:solidFill>
                <a:latin typeface="Roboto Condensed" pitchFamily="34" charset="0"/>
                <a:ea typeface="Roboto Condensed" pitchFamily="34" charset="-122"/>
                <a:cs typeface="Roboto Condensed" pitchFamily="34" charset="-120"/>
              </a:rPr>
              <a:t>Tiempo real, consumo y comparación frente a la estimación experta.</a:t>
            </a:r>
            <a:endParaRPr lang="es-419" sz="750" noProof="0"/>
          </a:p>
        </p:txBody>
      </p:sp>
      <p:sp>
        <p:nvSpPr>
          <p:cNvPr id="34" name="Text 32"/>
          <p:cNvSpPr/>
          <p:nvPr/>
        </p:nvSpPr>
        <p:spPr>
          <a:xfrm>
            <a:off x="685800" y="3401568"/>
            <a:ext cx="7315200" cy="274320"/>
          </a:xfrm>
          <a:prstGeom prst="rect">
            <a:avLst/>
          </a:prstGeom>
          <a:noFill/>
          <a:ln/>
        </p:spPr>
        <p:txBody>
          <a:bodyPr wrap="square" lIns="0" tIns="0" rIns="0" bIns="0" rtlCol="0" anchor="ctr"/>
          <a:lstStyle/>
          <a:p>
            <a:pPr marL="0" indent="0">
              <a:buNone/>
            </a:pPr>
            <a:r>
              <a:rPr lang="es-419" sz="1100" b="1" kern="0" spc="200" noProof="0">
                <a:solidFill>
                  <a:srgbClr val="6E7278"/>
                </a:solidFill>
                <a:latin typeface="Roboto Condensed Medium" pitchFamily="34" charset="0"/>
                <a:ea typeface="Roboto Condensed Medium" pitchFamily="34" charset="-122"/>
                <a:cs typeface="Roboto Condensed Medium" pitchFamily="34" charset="-120"/>
              </a:rPr>
              <a:t>ESCENARIOS EVALUADOS</a:t>
            </a:r>
            <a:endParaRPr lang="es-419" sz="1100" noProof="0" dirty="0"/>
          </a:p>
        </p:txBody>
      </p:sp>
      <p:sp>
        <p:nvSpPr>
          <p:cNvPr id="35" name="card">
            <a:extLst>
              <a:ext uri="{C183D7F6-B498-43B3-948B-1728B52AA6E4}">
                <adec:decorative xmlns:adec="http://schemas.microsoft.com/office/drawing/2017/decorative" val="1"/>
              </a:ext>
            </a:extLst>
          </p:cNvPr>
          <p:cNvSpPr/>
          <p:nvPr/>
        </p:nvSpPr>
        <p:spPr>
          <a:xfrm>
            <a:off x="685800" y="3730752"/>
            <a:ext cx="3422904" cy="1051560"/>
          </a:xfrm>
          <a:prstGeom prst="rect">
            <a:avLst/>
          </a:prstGeom>
          <a:solidFill>
            <a:srgbClr val="F5F6FA"/>
          </a:solidFill>
          <a:ln w="12700">
            <a:solidFill>
              <a:srgbClr val="E6E8EF"/>
            </a:solidFill>
            <a:prstDash val="solid"/>
          </a:ln>
        </p:spPr>
        <p:txBody>
          <a:bodyPr/>
          <a:lstStyle/>
          <a:p>
            <a:endParaRPr lang="es-419" noProof="0" dirty="0"/>
          </a:p>
        </p:txBody>
      </p:sp>
      <p:sp>
        <p:nvSpPr>
          <p:cNvPr id="36" name="Text 34"/>
          <p:cNvSpPr/>
          <p:nvPr/>
        </p:nvSpPr>
        <p:spPr>
          <a:xfrm>
            <a:off x="868680" y="3730752"/>
            <a:ext cx="3057144" cy="1051560"/>
          </a:xfrm>
          <a:prstGeom prst="rect">
            <a:avLst/>
          </a:prstGeom>
          <a:noFill/>
          <a:ln/>
        </p:spPr>
        <p:txBody>
          <a:bodyPr wrap="square" lIns="0" tIns="0" rIns="0" bIns="0" rtlCol="0" anchor="ctr"/>
          <a:lstStyle/>
          <a:p>
            <a:pPr marL="0" indent="0" algn="l">
              <a:buNone/>
            </a:pPr>
            <a:r>
              <a:rPr lang="es-419" sz="1400" b="1" noProof="0">
                <a:solidFill>
                  <a:srgbClr val="000000"/>
                </a:solidFill>
                <a:latin typeface="Roboto Condensed Medium" pitchFamily="34" charset="0"/>
                <a:ea typeface="Roboto Condensed Medium" pitchFamily="34" charset="-122"/>
                <a:cs typeface="Roboto Condensed Medium" pitchFamily="34" charset="-120"/>
              </a:rPr>
              <a:t>Migración de aplicaciones </a:t>
            </a:r>
            <a:r>
              <a:rPr lang="es-419" sz="1400" b="1" noProof="0" err="1">
                <a:solidFill>
                  <a:srgbClr val="000000"/>
                </a:solidFill>
                <a:latin typeface="Roboto Condensed Medium" pitchFamily="34" charset="0"/>
                <a:ea typeface="Roboto Condensed Medium" pitchFamily="34" charset="-122"/>
                <a:cs typeface="Roboto Condensed Medium" pitchFamily="34" charset="-120"/>
              </a:rPr>
              <a:t>legacy</a:t>
            </a:r>
            <a:r>
              <a:rPr lang="es-419" sz="1400" b="1" noProof="0">
                <a:solidFill>
                  <a:srgbClr val="000000"/>
                </a:solidFill>
                <a:latin typeface="Roboto Condensed Medium" pitchFamily="34" charset="0"/>
                <a:ea typeface="Roboto Condensed Medium" pitchFamily="34" charset="-122"/>
                <a:cs typeface="Roboto Condensed Medium" pitchFamily="34" charset="-120"/>
              </a:rPr>
              <a:t> desde .NET Core 3.1 hacia .NET 10.</a:t>
            </a:r>
          </a:p>
          <a:p>
            <a:pPr marL="0" indent="0" algn="l">
              <a:buNone/>
            </a:pPr>
            <a:r>
              <a:rPr lang="es-419" sz="1400" b="1" noProof="0">
                <a:solidFill>
                  <a:srgbClr val="000000"/>
                </a:solidFill>
                <a:latin typeface="Roboto Condensed Medium" pitchFamily="34" charset="0"/>
                <a:ea typeface="Roboto Condensed Medium" pitchFamily="34" charset="-122"/>
                <a:cs typeface="Roboto Condensed Medium" pitchFamily="34" charset="-120"/>
              </a:rPr>
              <a:t>Aplicando estándares y prácticas de desarrollo definidas por Tuya.</a:t>
            </a:r>
            <a:endParaRPr lang="es-419" sz="1400" noProof="0" dirty="0"/>
          </a:p>
        </p:txBody>
      </p:sp>
      <p:sp>
        <p:nvSpPr>
          <p:cNvPr id="37" name="card">
            <a:extLst>
              <a:ext uri="{C183D7F6-B498-43B3-948B-1728B52AA6E4}">
                <adec:decorative xmlns:adec="http://schemas.microsoft.com/office/drawing/2017/decorative" val="1"/>
              </a:ext>
            </a:extLst>
          </p:cNvPr>
          <p:cNvSpPr/>
          <p:nvPr/>
        </p:nvSpPr>
        <p:spPr>
          <a:xfrm>
            <a:off x="4383024" y="3730752"/>
            <a:ext cx="3422904" cy="1051560"/>
          </a:xfrm>
          <a:prstGeom prst="rect">
            <a:avLst/>
          </a:prstGeom>
          <a:solidFill>
            <a:srgbClr val="F5F6FA"/>
          </a:solidFill>
          <a:ln w="12700">
            <a:solidFill>
              <a:srgbClr val="E6E8EF"/>
            </a:solidFill>
            <a:prstDash val="solid"/>
          </a:ln>
        </p:spPr>
        <p:txBody>
          <a:bodyPr/>
          <a:lstStyle/>
          <a:p>
            <a:endParaRPr lang="es-419" noProof="0" dirty="0"/>
          </a:p>
        </p:txBody>
      </p:sp>
      <p:sp>
        <p:nvSpPr>
          <p:cNvPr id="38" name="Text 36"/>
          <p:cNvSpPr/>
          <p:nvPr/>
        </p:nvSpPr>
        <p:spPr>
          <a:xfrm>
            <a:off x="4565904" y="3730752"/>
            <a:ext cx="3057144" cy="1051560"/>
          </a:xfrm>
          <a:prstGeom prst="rect">
            <a:avLst/>
          </a:prstGeom>
          <a:noFill/>
          <a:ln/>
        </p:spPr>
        <p:txBody>
          <a:bodyPr wrap="square" lIns="0" tIns="0" rIns="0" bIns="0" rtlCol="0" anchor="ctr"/>
          <a:lstStyle/>
          <a:p>
            <a:pPr marL="0" indent="0" algn="l">
              <a:buNone/>
            </a:pPr>
            <a:r>
              <a:rPr lang="es-419" sz="1400" b="1" noProof="0">
                <a:solidFill>
                  <a:srgbClr val="000000"/>
                </a:solidFill>
                <a:latin typeface="Roboto Condensed Medium" pitchFamily="34" charset="0"/>
                <a:ea typeface="Roboto Condensed Medium" pitchFamily="34" charset="-122"/>
                <a:cs typeface="Roboto Condensed Medium" pitchFamily="34" charset="-120"/>
              </a:rPr>
              <a:t>Migración de aplicaciones en versiones intermedias de .NET hacia .NET 10.</a:t>
            </a:r>
          </a:p>
          <a:p>
            <a:pPr marL="0" indent="0" algn="l">
              <a:buNone/>
            </a:pPr>
            <a:r>
              <a:rPr lang="es-419" sz="1400" b="1" noProof="0">
                <a:solidFill>
                  <a:srgbClr val="000000"/>
                </a:solidFill>
                <a:latin typeface="Roboto Condensed Medium" pitchFamily="34" charset="0"/>
                <a:ea typeface="Roboto Condensed Medium" pitchFamily="34" charset="-122"/>
                <a:cs typeface="Roboto Condensed Medium" pitchFamily="34" charset="-120"/>
              </a:rPr>
              <a:t>Aplicando estándares y prácticas de desarrollo definidas por Tuya.</a:t>
            </a:r>
            <a:endParaRPr lang="es-419" sz="1400" noProof="0" dirty="0"/>
          </a:p>
        </p:txBody>
      </p:sp>
      <p:sp>
        <p:nvSpPr>
          <p:cNvPr id="39" name="card">
            <a:extLst>
              <a:ext uri="{C183D7F6-B498-43B3-948B-1728B52AA6E4}">
                <adec:decorative xmlns:adec="http://schemas.microsoft.com/office/drawing/2017/decorative" val="1"/>
              </a:ext>
            </a:extLst>
          </p:cNvPr>
          <p:cNvSpPr/>
          <p:nvPr/>
        </p:nvSpPr>
        <p:spPr>
          <a:xfrm>
            <a:off x="8080248" y="3730752"/>
            <a:ext cx="3422904" cy="1051560"/>
          </a:xfrm>
          <a:prstGeom prst="rect">
            <a:avLst/>
          </a:prstGeom>
          <a:solidFill>
            <a:srgbClr val="F5F6FA"/>
          </a:solidFill>
          <a:ln w="12700">
            <a:solidFill>
              <a:srgbClr val="E6E8EF"/>
            </a:solidFill>
            <a:prstDash val="solid"/>
          </a:ln>
        </p:spPr>
        <p:txBody>
          <a:bodyPr/>
          <a:lstStyle/>
          <a:p>
            <a:endParaRPr lang="es-419" noProof="0" dirty="0"/>
          </a:p>
        </p:txBody>
      </p:sp>
      <p:sp>
        <p:nvSpPr>
          <p:cNvPr id="40" name="Text 38"/>
          <p:cNvSpPr/>
          <p:nvPr/>
        </p:nvSpPr>
        <p:spPr>
          <a:xfrm>
            <a:off x="8263128" y="3730752"/>
            <a:ext cx="3057144" cy="1051560"/>
          </a:xfrm>
          <a:prstGeom prst="rect">
            <a:avLst/>
          </a:prstGeom>
          <a:noFill/>
          <a:ln/>
        </p:spPr>
        <p:txBody>
          <a:bodyPr wrap="square" lIns="0" tIns="0" rIns="0" bIns="0" rtlCol="0" anchor="ctr"/>
          <a:lstStyle/>
          <a:p>
            <a:pPr marL="0" indent="0" algn="l">
              <a:buNone/>
            </a:pPr>
            <a:r>
              <a:rPr lang="es-419" sz="1400" b="1" noProof="0">
                <a:solidFill>
                  <a:srgbClr val="000000"/>
                </a:solidFill>
                <a:latin typeface="Roboto Condensed Medium" pitchFamily="34" charset="0"/>
                <a:ea typeface="Roboto Condensed Medium" pitchFamily="34" charset="-122"/>
                <a:cs typeface="Roboto Condensed Medium" pitchFamily="34" charset="-120"/>
              </a:rPr>
              <a:t>Migración de aplicaciones modernas hasta .NET 8 hacia .NET 10.</a:t>
            </a:r>
          </a:p>
          <a:p>
            <a:pPr marL="0" indent="0" algn="l">
              <a:buNone/>
            </a:pPr>
            <a:r>
              <a:rPr lang="es-419" sz="1400" b="1" noProof="0">
                <a:solidFill>
                  <a:srgbClr val="000000"/>
                </a:solidFill>
                <a:latin typeface="Roboto Condensed Medium" pitchFamily="34" charset="0"/>
                <a:ea typeface="Roboto Condensed Medium" pitchFamily="34" charset="-122"/>
                <a:cs typeface="Roboto Condensed Medium" pitchFamily="34" charset="-120"/>
              </a:rPr>
              <a:t>Aplicando estándares y prácticas de desarrollo definidas por Tuya.</a:t>
            </a:r>
            <a:endParaRPr lang="es-419" sz="1400" noProof="0" dirty="0"/>
          </a:p>
        </p:txBody>
      </p:sp>
      <p:sp>
        <p:nvSpPr>
          <p:cNvPr id="41" name="note">
            <a:extLst>
              <a:ext uri="{C183D7F6-B498-43B3-948B-1728B52AA6E4}">
                <adec:decorative xmlns:adec="http://schemas.microsoft.com/office/drawing/2017/decorative" val="1"/>
              </a:ext>
            </a:extLst>
          </p:cNvPr>
          <p:cNvSpPr/>
          <p:nvPr/>
        </p:nvSpPr>
        <p:spPr>
          <a:xfrm>
            <a:off x="685800" y="5074920"/>
            <a:ext cx="10817352" cy="1050000"/>
          </a:xfrm>
          <a:prstGeom prst="rect">
            <a:avLst/>
          </a:prstGeom>
          <a:solidFill>
            <a:srgbClr val="F5F6FA"/>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42" name="Text 40"/>
          <p:cNvSpPr/>
          <p:nvPr/>
        </p:nvSpPr>
        <p:spPr>
          <a:xfrm>
            <a:off x="1005840" y="5074920"/>
            <a:ext cx="10241280" cy="1050000"/>
          </a:xfrm>
          <a:prstGeom prst="rect">
            <a:avLst/>
          </a:prstGeom>
          <a:noFill/>
          <a:ln/>
        </p:spPr>
        <p:txBody>
          <a:bodyPr wrap="square" lIns="0" tIns="0" rIns="0" bIns="0" rtlCol="0" anchor="ctr"/>
          <a:lstStyle/>
          <a:p>
            <a:pPr marL="0" indent="0" algn="l">
              <a:buNone/>
            </a:pPr>
            <a:r>
              <a:rPr lang="es-419" sz="1200" b="1" noProof="0">
                <a:solidFill>
                  <a:srgbClr val="2A3FE0"/>
                </a:solidFill>
                <a:latin typeface="Roboto Condensed" pitchFamily="34" charset="0"/>
                <a:ea typeface="Roboto Condensed" pitchFamily="34" charset="-122"/>
                <a:cs typeface="Roboto Condensed" pitchFamily="34" charset="-120"/>
              </a:rPr>
              <a:t>Validación humana y línea base estimada   </a:t>
            </a:r>
            <a:r>
              <a:rPr lang="es-419" sz="1200" noProof="0">
                <a:solidFill>
                  <a:srgbClr val="33373D"/>
                </a:solidFill>
                <a:latin typeface="Roboto Condensed" pitchFamily="34" charset="0"/>
                <a:ea typeface="Roboto Condensed" pitchFamily="34" charset="-122"/>
                <a:cs typeface="Roboto Condensed" pitchFamily="34" charset="-120"/>
              </a:rPr>
              <a:t>La validación humana y los controles técnicos estuvieron presentes durante todo el proceso. La comparación de tiempos se realizó contra una estimación definida mediante juicio experto; no se ejecutaron migraciones manuales paralelas como grupo de control.</a:t>
            </a:r>
            <a:endParaRPr lang="es-419" sz="1300" noProof="0" dirty="0"/>
          </a:p>
        </p:txBody>
      </p:sp>
      <p:sp>
        <p:nvSpPr>
          <p:cNvPr id="43" name="Text 41"/>
          <p:cNvSpPr/>
          <p:nvPr/>
        </p:nvSpPr>
        <p:spPr>
          <a:xfrm>
            <a:off x="685800" y="6437376"/>
            <a:ext cx="8686800" cy="292608"/>
          </a:xfrm>
          <a:prstGeom prst="rect">
            <a:avLst/>
          </a:prstGeom>
          <a:noFill/>
          <a:ln/>
        </p:spPr>
        <p:txBody>
          <a:bodyPr wrap="square" lIns="0" tIns="0" rIns="0" bIns="0" rtlCol="0" anchor="ctr"/>
          <a:lstStyle/>
          <a:p>
            <a:pPr marL="0" indent="0" algn="l">
              <a:buNone/>
            </a:pPr>
            <a:r>
              <a:rPr lang="es-419" sz="850" b="1" noProof="0">
                <a:solidFill>
                  <a:srgbClr val="000000"/>
                </a:solidFill>
                <a:latin typeface="Roboto Condensed" pitchFamily="34" charset="0"/>
                <a:ea typeface="Roboto Condensed" pitchFamily="34" charset="-122"/>
                <a:cs typeface="Roboto Condensed" pitchFamily="34" charset="-120"/>
              </a:rPr>
              <a:t>Tuya</a:t>
            </a:r>
            <a:r>
              <a:rPr lang="es-419" sz="850" noProof="0">
                <a:solidFill>
                  <a:srgbClr val="5B6068"/>
                </a:solidFill>
                <a:latin typeface="Roboto Condensed" pitchFamily="34" charset="0"/>
                <a:ea typeface="Roboto Condensed" pitchFamily="34" charset="-122"/>
                <a:cs typeface="Roboto Condensed" pitchFamily="34" charset="-120"/>
              </a:rPr>
              <a:t>   ·   GitHub </a:t>
            </a:r>
            <a:r>
              <a:rPr lang="es-419" sz="850" noProof="0" err="1">
                <a:solidFill>
                  <a:srgbClr val="5B6068"/>
                </a:solidFill>
                <a:latin typeface="Roboto Condensed" pitchFamily="34" charset="0"/>
                <a:ea typeface="Roboto Condensed" pitchFamily="34" charset="-122"/>
                <a:cs typeface="Roboto Condensed" pitchFamily="34" charset="-120"/>
              </a:rPr>
              <a:t>Copilot</a:t>
            </a:r>
            <a:r>
              <a:rPr lang="es-419" sz="850" noProof="0">
                <a:solidFill>
                  <a:srgbClr val="5B6068"/>
                </a:solidFill>
                <a:latin typeface="Roboto Condensed" pitchFamily="34" charset="0"/>
                <a:ea typeface="Roboto Condensed" pitchFamily="34" charset="-122"/>
                <a:cs typeface="Roboto Condensed" pitchFamily="34" charset="-120"/>
              </a:rPr>
              <a:t> - Resultados de la Prueba de Concepto</a:t>
            </a:r>
            <a:endParaRPr lang="es-419" sz="850" noProof="0" dirty="0"/>
          </a:p>
        </p:txBody>
      </p:sp>
      <p:sp>
        <p:nvSpPr>
          <p:cNvPr id="44" name="Text 42"/>
          <p:cNvSpPr/>
          <p:nvPr/>
        </p:nvSpPr>
        <p:spPr>
          <a:xfrm>
            <a:off x="10972800" y="6437376"/>
            <a:ext cx="530352" cy="292608"/>
          </a:xfrm>
          <a:prstGeom prst="rect">
            <a:avLst/>
          </a:prstGeom>
          <a:noFill/>
          <a:ln/>
        </p:spPr>
        <p:txBody>
          <a:bodyPr wrap="square" lIns="0" tIns="0" rIns="0" bIns="0" rtlCol="0" anchor="ctr"/>
          <a:lstStyle/>
          <a:p>
            <a:pPr marL="0" indent="0" algn="r">
              <a:buNone/>
            </a:pPr>
            <a:r>
              <a:rPr lang="es-419" sz="900" b="1" noProof="0">
                <a:solidFill>
                  <a:srgbClr val="2A3FE0"/>
                </a:solidFill>
                <a:latin typeface="Roboto Condensed Medium" pitchFamily="34" charset="0"/>
                <a:ea typeface="Roboto Condensed Medium" pitchFamily="34" charset="-122"/>
                <a:cs typeface="Roboto Condensed Medium" pitchFamily="34" charset="-120"/>
              </a:rPr>
              <a:t>03</a:t>
            </a:r>
            <a:endParaRPr lang="es-419" sz="900" noProof="0" dirty="0"/>
          </a:p>
        </p:txBody>
      </p:sp>
      <p:pic>
        <p:nvPicPr>
          <p:cNvPr id="950" name="Logo Tuya"/>
          <p:cNvPicPr>
            <a:picLocks noChangeAspect="1"/>
          </p:cNvPicPr>
          <p:nvPr/>
        </p:nvPicPr>
        <p:blipFill>
          <a:blip r:embed="rId3"/>
          <a:stretch>
            <a:fillRect/>
          </a:stretch>
        </p:blipFill>
        <p:spPr>
          <a:xfrm>
            <a:off x="11152200" y="321276"/>
            <a:ext cx="640080" cy="3200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mark">
            <a:extLst>
              <a:ext uri="{C183D7F6-B498-43B3-948B-1728B52AA6E4}">
                <adec:decorative xmlns:adec="http://schemas.microsoft.com/office/drawing/2017/decorative" val="1"/>
              </a:ext>
            </a:extLst>
          </p:cNvPr>
          <p:cNvSpPr/>
          <p:nvPr/>
        </p:nvSpPr>
        <p:spPr>
          <a:xfrm>
            <a:off x="685800" y="402336"/>
            <a:ext cx="146304" cy="146304"/>
          </a:xfrm>
          <a:prstGeom prst="rect">
            <a:avLst/>
          </a:prstGeom>
          <a:solidFill>
            <a:srgbClr val="2A3FE0"/>
          </a:solidFill>
          <a:ln/>
        </p:spPr>
        <p:txBody>
          <a:bodyPr/>
          <a:lstStyle/>
          <a:p>
            <a:endParaRPr lang="es-419" noProof="0" dirty="0"/>
          </a:p>
        </p:txBody>
      </p:sp>
      <p:sp>
        <p:nvSpPr>
          <p:cNvPr id="3" name="Text 1"/>
          <p:cNvSpPr/>
          <p:nvPr/>
        </p:nvSpPr>
        <p:spPr>
          <a:xfrm>
            <a:off x="932688" y="310896"/>
            <a:ext cx="9601200" cy="310896"/>
          </a:xfrm>
          <a:prstGeom prst="rect">
            <a:avLst/>
          </a:prstGeom>
          <a:noFill/>
          <a:ln/>
        </p:spPr>
        <p:txBody>
          <a:bodyPr wrap="square" lIns="0" tIns="0" rIns="0" bIns="0" rtlCol="0" anchor="ctr"/>
          <a:lstStyle/>
          <a:p>
            <a:pPr marL="0" indent="0" algn="l">
              <a:buNone/>
            </a:pPr>
            <a:r>
              <a:rPr lang="es-419" sz="1150" b="1" kern="0" spc="200" noProof="0">
                <a:solidFill>
                  <a:srgbClr val="2A3FE0"/>
                </a:solidFill>
                <a:latin typeface="Roboto Condensed Medium" pitchFamily="34" charset="0"/>
                <a:ea typeface="Roboto Condensed Medium" pitchFamily="34" charset="-122"/>
                <a:cs typeface="Roboto Condensed Medium" pitchFamily="34" charset="-120"/>
              </a:rPr>
              <a:t>RESULTADOS DE LA POC</a:t>
            </a:r>
            <a:endParaRPr lang="es-419" sz="1150" noProof="0" dirty="0"/>
          </a:p>
        </p:txBody>
      </p:sp>
      <p:sp>
        <p:nvSpPr>
          <p:cNvPr id="4" name="Text 0"/>
          <p:cNvSpPr>
            <a:spLocks noGrp="1"/>
          </p:cNvSpPr>
          <p:nvPr>
            <p:ph type="title" idx="100" hasCustomPrompt="1"/>
          </p:nvPr>
        </p:nvSpPr>
        <p:spPr>
          <a:xfrm>
            <a:off x="685800" y="658368"/>
            <a:ext cx="10789920" cy="822960"/>
          </a:xfrm>
          <a:prstGeom prst="rect">
            <a:avLst/>
          </a:prstGeom>
          <a:noFill/>
          <a:ln/>
        </p:spPr>
        <p:txBody>
          <a:bodyPr wrap="square" lIns="0" tIns="0" rIns="0" bIns="0" rtlCol="0" anchor="t"/>
          <a:lstStyle/>
          <a:p>
            <a:pPr marL="0" indent="0" algn="l">
              <a:buNone/>
            </a:pPr>
            <a:r>
              <a:rPr lang="es-419" sz="2700" b="1" noProof="0">
                <a:solidFill>
                  <a:srgbClr val="000000"/>
                </a:solidFill>
                <a:latin typeface="Roboto Condensed Medium" pitchFamily="34" charset="0"/>
                <a:ea typeface="Roboto Condensed Medium" pitchFamily="34" charset="-122"/>
                <a:cs typeface="Roboto Condensed Medium" pitchFamily="34" charset="-120"/>
              </a:rPr>
              <a:t>Qué resultados obtuvimos</a:t>
            </a:r>
            <a:endParaRPr lang="es-419" sz="2700" noProof="0" dirty="0"/>
          </a:p>
        </p:txBody>
      </p:sp>
      <p:sp>
        <p:nvSpPr>
          <p:cNvPr id="5" name="card">
            <a:extLst>
              <a:ext uri="{C183D7F6-B498-43B3-948B-1728B52AA6E4}">
                <adec:decorative xmlns:adec="http://schemas.microsoft.com/office/drawing/2017/decorative" val="1"/>
              </a:ext>
            </a:extLst>
          </p:cNvPr>
          <p:cNvSpPr/>
          <p:nvPr/>
        </p:nvSpPr>
        <p:spPr>
          <a:xfrm>
            <a:off x="685800" y="1691640"/>
            <a:ext cx="1958645" cy="2148840"/>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6" name="Text 4"/>
          <p:cNvSpPr/>
          <p:nvPr/>
        </p:nvSpPr>
        <p:spPr>
          <a:xfrm>
            <a:off x="795528" y="2075688"/>
            <a:ext cx="1739189" cy="914400"/>
          </a:xfrm>
          <a:prstGeom prst="rect">
            <a:avLst/>
          </a:prstGeom>
          <a:noFill/>
          <a:ln/>
        </p:spPr>
        <p:txBody>
          <a:bodyPr wrap="square" lIns="0" tIns="0" rIns="0" bIns="0" rtlCol="0" anchor="ctr"/>
          <a:lstStyle/>
          <a:p>
            <a:pPr marL="0" indent="0" algn="ctr">
              <a:buNone/>
            </a:pPr>
            <a:r>
              <a:rPr lang="es-419" sz="2500" b="1" noProof="0">
                <a:solidFill>
                  <a:srgbClr val="2A3FE0"/>
                </a:solidFill>
                <a:latin typeface="Roboto Condensed Medium" pitchFamily="34" charset="0"/>
                <a:ea typeface="Roboto Condensed Medium" pitchFamily="34" charset="-122"/>
                <a:cs typeface="Roboto Condensed Medium" pitchFamily="34" charset="-120"/>
              </a:rPr>
              <a:t>50 h</a:t>
            </a:r>
            <a:endParaRPr lang="es-419" sz="2500" noProof="0" dirty="0"/>
          </a:p>
        </p:txBody>
      </p:sp>
      <p:sp>
        <p:nvSpPr>
          <p:cNvPr id="7" name="Text 5"/>
          <p:cNvSpPr/>
          <p:nvPr/>
        </p:nvSpPr>
        <p:spPr>
          <a:xfrm>
            <a:off x="795528" y="3172968"/>
            <a:ext cx="1739189" cy="502920"/>
          </a:xfrm>
          <a:prstGeom prst="rect">
            <a:avLst/>
          </a:prstGeom>
          <a:noFill/>
          <a:ln/>
        </p:spPr>
        <p:txBody>
          <a:bodyPr wrap="square" lIns="0" tIns="0" rIns="0" bIns="0" rtlCol="0" anchor="t"/>
          <a:lstStyle/>
          <a:p>
            <a:pPr marL="0" indent="0" algn="ctr">
              <a:buNone/>
            </a:pPr>
            <a:r>
              <a:rPr lang="es-419" sz="1050" b="1" kern="0" spc="100" noProof="0">
                <a:solidFill>
                  <a:srgbClr val="6E7278"/>
                </a:solidFill>
                <a:latin typeface="Roboto Condensed" pitchFamily="34" charset="0"/>
                <a:ea typeface="Roboto Condensed" pitchFamily="34" charset="-122"/>
                <a:cs typeface="Roboto Condensed" pitchFamily="34" charset="-120"/>
              </a:rPr>
              <a:t>TIEMPO ESTIMADO SIN COPILOT - JUICIO EXPERTO</a:t>
            </a:r>
            <a:endParaRPr lang="es-419" sz="1050" noProof="0" dirty="0"/>
          </a:p>
        </p:txBody>
      </p:sp>
      <p:sp>
        <p:nvSpPr>
          <p:cNvPr id="8" name="card">
            <a:extLst>
              <a:ext uri="{C183D7F6-B498-43B3-948B-1728B52AA6E4}">
                <adec:decorative xmlns:adec="http://schemas.microsoft.com/office/drawing/2017/decorative" val="1"/>
              </a:ext>
            </a:extLst>
          </p:cNvPr>
          <p:cNvSpPr/>
          <p:nvPr/>
        </p:nvSpPr>
        <p:spPr>
          <a:xfrm>
            <a:off x="2900477" y="1691640"/>
            <a:ext cx="1958645" cy="2148840"/>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9" name="Text 7"/>
          <p:cNvSpPr/>
          <p:nvPr/>
        </p:nvSpPr>
        <p:spPr>
          <a:xfrm>
            <a:off x="3010205" y="2075688"/>
            <a:ext cx="1739189" cy="914400"/>
          </a:xfrm>
          <a:prstGeom prst="rect">
            <a:avLst/>
          </a:prstGeom>
          <a:noFill/>
          <a:ln/>
        </p:spPr>
        <p:txBody>
          <a:bodyPr wrap="square" lIns="0" tIns="0" rIns="0" bIns="0" rtlCol="0" anchor="ctr"/>
          <a:lstStyle/>
          <a:p>
            <a:pPr marL="0" indent="0" algn="ctr">
              <a:buNone/>
            </a:pPr>
            <a:r>
              <a:rPr lang="es-419" sz="2500" b="1" noProof="0">
                <a:solidFill>
                  <a:srgbClr val="2A3FE0"/>
                </a:solidFill>
                <a:latin typeface="Roboto Condensed Medium" pitchFamily="34" charset="0"/>
                <a:ea typeface="Roboto Condensed Medium" pitchFamily="34" charset="-122"/>
                <a:cs typeface="Roboto Condensed Medium" pitchFamily="34" charset="-120"/>
              </a:rPr>
              <a:t>2 h 18 min</a:t>
            </a:r>
            <a:endParaRPr lang="es-419" sz="2500" noProof="0" dirty="0"/>
          </a:p>
        </p:txBody>
      </p:sp>
      <p:sp>
        <p:nvSpPr>
          <p:cNvPr id="10" name="Text 8"/>
          <p:cNvSpPr/>
          <p:nvPr/>
        </p:nvSpPr>
        <p:spPr>
          <a:xfrm>
            <a:off x="3010205" y="3172968"/>
            <a:ext cx="1739189" cy="502920"/>
          </a:xfrm>
          <a:prstGeom prst="rect">
            <a:avLst/>
          </a:prstGeom>
          <a:noFill/>
          <a:ln/>
        </p:spPr>
        <p:txBody>
          <a:bodyPr wrap="square" lIns="0" tIns="0" rIns="0" bIns="0" rtlCol="0" anchor="t"/>
          <a:lstStyle/>
          <a:p>
            <a:pPr marL="0" indent="0" algn="ctr">
              <a:buNone/>
            </a:pPr>
            <a:r>
              <a:rPr lang="es-419" sz="1050" b="1" kern="0" spc="100" noProof="0">
                <a:solidFill>
                  <a:srgbClr val="6E7278"/>
                </a:solidFill>
                <a:latin typeface="Roboto Condensed" pitchFamily="34" charset="0"/>
                <a:ea typeface="Roboto Condensed" pitchFamily="34" charset="-122"/>
                <a:cs typeface="Roboto Condensed" pitchFamily="34" charset="-120"/>
              </a:rPr>
              <a:t>TIEMPO CON COPILOT</a:t>
            </a:r>
            <a:endParaRPr lang="es-419" sz="1050" noProof="0" dirty="0"/>
          </a:p>
        </p:txBody>
      </p:sp>
      <p:sp>
        <p:nvSpPr>
          <p:cNvPr id="11" name="kpi">
            <a:extLst>
              <a:ext uri="{C183D7F6-B498-43B3-948B-1728B52AA6E4}">
                <adec:decorative xmlns:adec="http://schemas.microsoft.com/office/drawing/2017/decorative" val="1"/>
              </a:ext>
            </a:extLst>
          </p:cNvPr>
          <p:cNvSpPr/>
          <p:nvPr/>
        </p:nvSpPr>
        <p:spPr>
          <a:xfrm>
            <a:off x="5115154" y="1691640"/>
            <a:ext cx="1958645" cy="2148840"/>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12" name="Text 10"/>
          <p:cNvSpPr/>
          <p:nvPr/>
        </p:nvSpPr>
        <p:spPr>
          <a:xfrm>
            <a:off x="5224882" y="2075688"/>
            <a:ext cx="1739189" cy="914400"/>
          </a:xfrm>
          <a:prstGeom prst="rect">
            <a:avLst/>
          </a:prstGeom>
          <a:noFill/>
          <a:ln/>
        </p:spPr>
        <p:txBody>
          <a:bodyPr wrap="square" lIns="0" tIns="0" rIns="0" bIns="0" rtlCol="0" anchor="ctr"/>
          <a:lstStyle/>
          <a:p>
            <a:pPr marL="0" indent="0" algn="ctr">
              <a:buNone/>
            </a:pPr>
            <a:r>
              <a:rPr lang="es-419" sz="2500" b="1" noProof="0">
                <a:solidFill>
                  <a:srgbClr val="2A3FE0"/>
                </a:solidFill>
                <a:latin typeface="Roboto Condensed Medium" pitchFamily="34" charset="0"/>
                <a:ea typeface="Roboto Condensed Medium" pitchFamily="34" charset="-122"/>
                <a:cs typeface="Roboto Condensed Medium" pitchFamily="34" charset="-120"/>
              </a:rPr>
              <a:t>47 h 42 min</a:t>
            </a:r>
            <a:endParaRPr lang="es-419" sz="2500" noProof="0" dirty="0"/>
          </a:p>
        </p:txBody>
      </p:sp>
      <p:sp>
        <p:nvSpPr>
          <p:cNvPr id="13" name="Text 11"/>
          <p:cNvSpPr/>
          <p:nvPr/>
        </p:nvSpPr>
        <p:spPr>
          <a:xfrm>
            <a:off x="5224882" y="3172968"/>
            <a:ext cx="1739189" cy="502920"/>
          </a:xfrm>
          <a:prstGeom prst="rect">
            <a:avLst/>
          </a:prstGeom>
          <a:noFill/>
          <a:ln/>
        </p:spPr>
        <p:txBody>
          <a:bodyPr wrap="square" lIns="0" tIns="0" rIns="0" bIns="0" rtlCol="0" anchor="t"/>
          <a:lstStyle/>
          <a:p>
            <a:pPr marL="0" indent="0" algn="ctr">
              <a:buNone/>
            </a:pPr>
            <a:r>
              <a:rPr lang="es-419" sz="1050" b="1" kern="0" spc="100" noProof="0">
                <a:solidFill>
                  <a:srgbClr val="6E7278"/>
                </a:solidFill>
                <a:latin typeface="Roboto Condensed" pitchFamily="34" charset="0"/>
                <a:ea typeface="Roboto Condensed" pitchFamily="34" charset="-122"/>
                <a:cs typeface="Roboto Condensed" pitchFamily="34" charset="-120"/>
              </a:rPr>
              <a:t>DIFERENCIA VS. ESTIMACIÓN</a:t>
            </a:r>
            <a:endParaRPr lang="es-419" sz="1050" noProof="0" dirty="0"/>
          </a:p>
        </p:txBody>
      </p:sp>
      <p:sp>
        <p:nvSpPr>
          <p:cNvPr id="14" name="kpi">
            <a:extLst>
              <a:ext uri="{C183D7F6-B498-43B3-948B-1728B52AA6E4}">
                <adec:decorative xmlns:adec="http://schemas.microsoft.com/office/drawing/2017/decorative" val="1"/>
              </a:ext>
            </a:extLst>
          </p:cNvPr>
          <p:cNvSpPr/>
          <p:nvPr/>
        </p:nvSpPr>
        <p:spPr>
          <a:xfrm>
            <a:off x="7329830" y="1691640"/>
            <a:ext cx="1958645" cy="2148840"/>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15" name="Text 13"/>
          <p:cNvSpPr/>
          <p:nvPr/>
        </p:nvSpPr>
        <p:spPr>
          <a:xfrm>
            <a:off x="7439558" y="2075688"/>
            <a:ext cx="1739189" cy="914400"/>
          </a:xfrm>
          <a:prstGeom prst="rect">
            <a:avLst/>
          </a:prstGeom>
          <a:noFill/>
          <a:ln/>
        </p:spPr>
        <p:txBody>
          <a:bodyPr wrap="square" lIns="0" tIns="0" rIns="0" bIns="0" rtlCol="0" anchor="ctr"/>
          <a:lstStyle/>
          <a:p>
            <a:pPr marL="0" indent="0" algn="ctr">
              <a:buNone/>
            </a:pPr>
            <a:r>
              <a:rPr lang="es-419" sz="2500" b="1" noProof="0">
                <a:solidFill>
                  <a:srgbClr val="2A3FE0"/>
                </a:solidFill>
                <a:latin typeface="Roboto Condensed Medium" pitchFamily="34" charset="0"/>
                <a:ea typeface="Roboto Condensed Medium" pitchFamily="34" charset="-122"/>
                <a:cs typeface="Roboto Condensed Medium" pitchFamily="34" charset="-120"/>
              </a:rPr>
              <a:t>95,4 %</a:t>
            </a:r>
            <a:endParaRPr lang="es-419" sz="2500" noProof="0" dirty="0"/>
          </a:p>
        </p:txBody>
      </p:sp>
      <p:sp>
        <p:nvSpPr>
          <p:cNvPr id="16" name="Text 14"/>
          <p:cNvSpPr/>
          <p:nvPr/>
        </p:nvSpPr>
        <p:spPr>
          <a:xfrm>
            <a:off x="7439558" y="3172968"/>
            <a:ext cx="1739189" cy="502920"/>
          </a:xfrm>
          <a:prstGeom prst="rect">
            <a:avLst/>
          </a:prstGeom>
          <a:noFill/>
          <a:ln/>
        </p:spPr>
        <p:txBody>
          <a:bodyPr wrap="square" lIns="0" tIns="0" rIns="0" bIns="0" rtlCol="0" anchor="t"/>
          <a:lstStyle/>
          <a:p>
            <a:pPr marL="0" indent="0" algn="ctr">
              <a:buNone/>
            </a:pPr>
            <a:r>
              <a:rPr lang="es-419" sz="1050" b="1" kern="0" spc="100" noProof="0">
                <a:solidFill>
                  <a:srgbClr val="6E7278"/>
                </a:solidFill>
                <a:latin typeface="Roboto Condensed" pitchFamily="34" charset="0"/>
                <a:ea typeface="Roboto Condensed" pitchFamily="34" charset="-122"/>
                <a:cs typeface="Roboto Condensed" pitchFamily="34" charset="-120"/>
              </a:rPr>
              <a:t>REDUCCIÓN ESTIMADA</a:t>
            </a:r>
            <a:endParaRPr lang="es-419" sz="1050" noProof="0" dirty="0"/>
          </a:p>
        </p:txBody>
      </p:sp>
      <p:sp>
        <p:nvSpPr>
          <p:cNvPr id="17" name="card">
            <a:extLst>
              <a:ext uri="{C183D7F6-B498-43B3-948B-1728B52AA6E4}">
                <adec:decorative xmlns:adec="http://schemas.microsoft.com/office/drawing/2017/decorative" val="1"/>
              </a:ext>
            </a:extLst>
          </p:cNvPr>
          <p:cNvSpPr/>
          <p:nvPr/>
        </p:nvSpPr>
        <p:spPr>
          <a:xfrm>
            <a:off x="9544507" y="1691640"/>
            <a:ext cx="1958645" cy="2148840"/>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18" name="Text 16"/>
          <p:cNvSpPr/>
          <p:nvPr/>
        </p:nvSpPr>
        <p:spPr>
          <a:xfrm>
            <a:off x="9654235" y="2075688"/>
            <a:ext cx="1739189" cy="914400"/>
          </a:xfrm>
          <a:prstGeom prst="rect">
            <a:avLst/>
          </a:prstGeom>
          <a:noFill/>
          <a:ln/>
        </p:spPr>
        <p:txBody>
          <a:bodyPr wrap="square" lIns="0" tIns="0" rIns="0" bIns="0" rtlCol="0" anchor="ctr"/>
          <a:lstStyle/>
          <a:p>
            <a:pPr marL="0" indent="0" algn="ctr">
              <a:buNone/>
            </a:pPr>
            <a:r>
              <a:rPr lang="es-419" sz="2500" b="1" noProof="0">
                <a:solidFill>
                  <a:srgbClr val="2A3FE0"/>
                </a:solidFill>
                <a:latin typeface="Roboto Condensed Medium" pitchFamily="34" charset="0"/>
                <a:ea typeface="Roboto Condensed Medium" pitchFamily="34" charset="-122"/>
                <a:cs typeface="Roboto Condensed Medium" pitchFamily="34" charset="-120"/>
              </a:rPr>
              <a:t>5</a:t>
            </a:r>
            <a:endParaRPr lang="es-419" sz="2500" noProof="0" dirty="0"/>
          </a:p>
        </p:txBody>
      </p:sp>
      <p:sp>
        <p:nvSpPr>
          <p:cNvPr id="19" name="Text 17"/>
          <p:cNvSpPr/>
          <p:nvPr/>
        </p:nvSpPr>
        <p:spPr>
          <a:xfrm>
            <a:off x="9654235" y="3172968"/>
            <a:ext cx="1739189" cy="502920"/>
          </a:xfrm>
          <a:prstGeom prst="rect">
            <a:avLst/>
          </a:prstGeom>
          <a:noFill/>
          <a:ln/>
        </p:spPr>
        <p:txBody>
          <a:bodyPr wrap="square" lIns="0" tIns="0" rIns="0" bIns="0" rtlCol="0" anchor="t"/>
          <a:lstStyle/>
          <a:p>
            <a:pPr marL="0" indent="0" algn="ctr">
              <a:buNone/>
            </a:pPr>
            <a:r>
              <a:rPr lang="es-419" sz="1050" b="1" kern="0" spc="100" noProof="0">
                <a:solidFill>
                  <a:srgbClr val="6E7278"/>
                </a:solidFill>
                <a:latin typeface="Roboto Condensed" pitchFamily="34" charset="0"/>
                <a:ea typeface="Roboto Condensed" pitchFamily="34" charset="-122"/>
                <a:cs typeface="Roboto Condensed" pitchFamily="34" charset="-120"/>
              </a:rPr>
              <a:t>CASOS CON MEDICIÓN COMPLETA</a:t>
            </a:r>
            <a:endParaRPr lang="es-419" sz="1050" noProof="0" dirty="0"/>
          </a:p>
        </p:txBody>
      </p:sp>
      <p:sp>
        <p:nvSpPr>
          <p:cNvPr id="20" name="card">
            <a:extLst>
              <a:ext uri="{C183D7F6-B498-43B3-948B-1728B52AA6E4}">
                <adec:decorative xmlns:adec="http://schemas.microsoft.com/office/drawing/2017/decorative" val="1"/>
              </a:ext>
            </a:extLst>
          </p:cNvPr>
          <p:cNvSpPr/>
          <p:nvPr/>
        </p:nvSpPr>
        <p:spPr>
          <a:xfrm>
            <a:off x="685800" y="4114800"/>
            <a:ext cx="10817352" cy="1828800"/>
          </a:xfrm>
          <a:prstGeom prst="rect">
            <a:avLst/>
          </a:prstGeom>
          <a:solidFill>
            <a:srgbClr val="FAFBFD"/>
          </a:solidFill>
          <a:ln w="12700">
            <a:solidFill>
              <a:srgbClr val="E6E8EF"/>
            </a:solidFill>
            <a:prstDash val="solid"/>
          </a:ln>
        </p:spPr>
        <p:txBody>
          <a:bodyPr/>
          <a:lstStyle/>
          <a:p>
            <a:endParaRPr lang="es-419" noProof="0" dirty="0"/>
          </a:p>
        </p:txBody>
      </p:sp>
      <p:sp>
        <p:nvSpPr>
          <p:cNvPr id="21" name="Text 19"/>
          <p:cNvSpPr/>
          <p:nvPr/>
        </p:nvSpPr>
        <p:spPr>
          <a:xfrm>
            <a:off x="932688" y="4315968"/>
            <a:ext cx="7315200" cy="292608"/>
          </a:xfrm>
          <a:prstGeom prst="rect">
            <a:avLst/>
          </a:prstGeom>
          <a:noFill/>
          <a:ln/>
        </p:spPr>
        <p:txBody>
          <a:bodyPr wrap="square" lIns="0" tIns="0" rIns="0" bIns="0" rtlCol="0" anchor="ctr"/>
          <a:lstStyle/>
          <a:p>
            <a:pPr marL="0" indent="0">
              <a:buNone/>
            </a:pPr>
            <a:r>
              <a:rPr lang="es-419" sz="1150" b="1" kern="0" spc="200" noProof="0">
                <a:solidFill>
                  <a:srgbClr val="6E7278"/>
                </a:solidFill>
                <a:latin typeface="Roboto Condensed Medium" pitchFamily="34" charset="0"/>
                <a:ea typeface="Roboto Condensed Medium" pitchFamily="34" charset="-122"/>
                <a:cs typeface="Roboto Condensed Medium" pitchFamily="34" charset="-120"/>
              </a:rPr>
              <a:t>PRINCIPALES HALLAZGOS</a:t>
            </a:r>
            <a:endParaRPr lang="es-419" sz="1150" noProof="0" dirty="0"/>
          </a:p>
        </p:txBody>
      </p:sp>
      <p:sp>
        <p:nvSpPr>
          <p:cNvPr id="22" name="card">
            <a:extLst>
              <a:ext uri="{C183D7F6-B498-43B3-948B-1728B52AA6E4}">
                <adec:decorative xmlns:adec="http://schemas.microsoft.com/office/drawing/2017/decorative" val="1"/>
              </a:ext>
            </a:extLst>
          </p:cNvPr>
          <p:cNvSpPr/>
          <p:nvPr/>
        </p:nvSpPr>
        <p:spPr>
          <a:xfrm>
            <a:off x="932688" y="4736592"/>
            <a:ext cx="3258312" cy="1065814"/>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23" name="accent">
            <a:extLst>
              <a:ext uri="{C183D7F6-B498-43B3-948B-1728B52AA6E4}">
                <adec:decorative xmlns:adec="http://schemas.microsoft.com/office/drawing/2017/decorative" val="1"/>
              </a:ext>
            </a:extLst>
          </p:cNvPr>
          <p:cNvSpPr/>
          <p:nvPr/>
        </p:nvSpPr>
        <p:spPr>
          <a:xfrm>
            <a:off x="932688" y="4736592"/>
            <a:ext cx="82296" cy="960120"/>
          </a:xfrm>
          <a:prstGeom prst="rect">
            <a:avLst/>
          </a:prstGeom>
          <a:solidFill>
            <a:srgbClr val="2A3FE0"/>
          </a:solidFill>
          <a:ln/>
        </p:spPr>
        <p:txBody>
          <a:bodyPr/>
          <a:lstStyle/>
          <a:p>
            <a:endParaRPr lang="es-419" noProof="0" dirty="0"/>
          </a:p>
        </p:txBody>
      </p:sp>
      <p:sp>
        <p:nvSpPr>
          <p:cNvPr id="24" name="Text 22"/>
          <p:cNvSpPr/>
          <p:nvPr/>
        </p:nvSpPr>
        <p:spPr>
          <a:xfrm>
            <a:off x="1152144" y="4736592"/>
            <a:ext cx="2892552" cy="1065812"/>
          </a:xfrm>
          <a:prstGeom prst="rect">
            <a:avLst/>
          </a:prstGeom>
          <a:noFill/>
          <a:ln/>
        </p:spPr>
        <p:txBody>
          <a:bodyPr wrap="square" lIns="0" tIns="0" rIns="0" bIns="0" rtlCol="0" anchor="ctr"/>
          <a:lstStyle/>
          <a:p>
            <a:pPr marL="0" indent="0" algn="l">
              <a:buNone/>
            </a:pPr>
            <a:r>
              <a:rPr lang="es-419" sz="1350" b="1" noProof="0">
                <a:solidFill>
                  <a:srgbClr val="000000"/>
                </a:solidFill>
                <a:latin typeface="Roboto Condensed Medium" pitchFamily="34" charset="0"/>
                <a:ea typeface="Roboto Condensed Medium" pitchFamily="34" charset="-122"/>
                <a:cs typeface="Roboto Condensed Medium" pitchFamily="34" charset="-120"/>
              </a:rPr>
              <a:t>El esfuerzo agregado pasó de 50 horas estimadas por juicio experto a 2 horas y 18 minutos de ejecución real con </a:t>
            </a:r>
            <a:r>
              <a:rPr lang="es-419" sz="1350" b="1" noProof="0" err="1">
                <a:solidFill>
                  <a:srgbClr val="000000"/>
                </a:solidFill>
                <a:latin typeface="Roboto Condensed Medium" pitchFamily="34" charset="0"/>
                <a:ea typeface="Roboto Condensed Medium" pitchFamily="34" charset="-122"/>
                <a:cs typeface="Roboto Condensed Medium" pitchFamily="34" charset="-120"/>
              </a:rPr>
              <a:t>Copilot</a:t>
            </a:r>
            <a:r>
              <a:rPr lang="es-419" sz="1350" b="1" noProof="0">
                <a:solidFill>
                  <a:srgbClr val="000000"/>
                </a:solidFill>
                <a:latin typeface="Roboto Condensed Medium" pitchFamily="34" charset="0"/>
                <a:ea typeface="Roboto Condensed Medium" pitchFamily="34" charset="-122"/>
                <a:cs typeface="Roboto Condensed Medium" pitchFamily="34" charset="-120"/>
              </a:rPr>
              <a:t> en los cinco casos medidos.</a:t>
            </a:r>
            <a:endParaRPr lang="es-419" sz="1350" noProof="0" dirty="0"/>
          </a:p>
        </p:txBody>
      </p:sp>
      <p:sp>
        <p:nvSpPr>
          <p:cNvPr id="25" name="card">
            <a:extLst>
              <a:ext uri="{C183D7F6-B498-43B3-948B-1728B52AA6E4}">
                <adec:decorative xmlns:adec="http://schemas.microsoft.com/office/drawing/2017/decorative" val="1"/>
              </a:ext>
            </a:extLst>
          </p:cNvPr>
          <p:cNvSpPr/>
          <p:nvPr/>
        </p:nvSpPr>
        <p:spPr>
          <a:xfrm>
            <a:off x="4465320" y="4736592"/>
            <a:ext cx="3258312" cy="1065814"/>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26" name="accent">
            <a:extLst>
              <a:ext uri="{C183D7F6-B498-43B3-948B-1728B52AA6E4}">
                <adec:decorative xmlns:adec="http://schemas.microsoft.com/office/drawing/2017/decorative" val="1"/>
              </a:ext>
            </a:extLst>
          </p:cNvPr>
          <p:cNvSpPr/>
          <p:nvPr/>
        </p:nvSpPr>
        <p:spPr>
          <a:xfrm>
            <a:off x="4465320" y="4736592"/>
            <a:ext cx="82296" cy="960120"/>
          </a:xfrm>
          <a:prstGeom prst="rect">
            <a:avLst/>
          </a:prstGeom>
          <a:solidFill>
            <a:srgbClr val="2A3FE0"/>
          </a:solidFill>
          <a:ln/>
        </p:spPr>
        <p:txBody>
          <a:bodyPr/>
          <a:lstStyle/>
          <a:p>
            <a:endParaRPr lang="es-419" noProof="0" dirty="0"/>
          </a:p>
        </p:txBody>
      </p:sp>
      <p:sp>
        <p:nvSpPr>
          <p:cNvPr id="27" name="Text 25"/>
          <p:cNvSpPr/>
          <p:nvPr/>
        </p:nvSpPr>
        <p:spPr>
          <a:xfrm>
            <a:off x="4684776" y="4736592"/>
            <a:ext cx="2892552" cy="1065812"/>
          </a:xfrm>
          <a:prstGeom prst="rect">
            <a:avLst/>
          </a:prstGeom>
          <a:noFill/>
          <a:ln/>
        </p:spPr>
        <p:txBody>
          <a:bodyPr wrap="square" lIns="0" tIns="0" rIns="0" bIns="0" rtlCol="0" anchor="ctr"/>
          <a:lstStyle/>
          <a:p>
            <a:pPr marL="0" indent="0" algn="l">
              <a:buNone/>
            </a:pPr>
            <a:r>
              <a:rPr lang="es-419" sz="1350" b="1" noProof="0">
                <a:solidFill>
                  <a:srgbClr val="000000"/>
                </a:solidFill>
                <a:latin typeface="Roboto Condensed Medium" pitchFamily="34" charset="0"/>
                <a:ea typeface="Roboto Condensed Medium" pitchFamily="34" charset="-122"/>
                <a:cs typeface="Roboto Condensed Medium" pitchFamily="34" charset="-120"/>
              </a:rPr>
              <a:t>Los cinco casos medidos finalizaron el flujo de migración en tiempos entre 15 y 35 minutos, frente a estimaciones expertas entre 2 y 24 horas.</a:t>
            </a:r>
            <a:endParaRPr lang="es-419" sz="1350" noProof="0" dirty="0"/>
          </a:p>
        </p:txBody>
      </p:sp>
      <p:sp>
        <p:nvSpPr>
          <p:cNvPr id="28" name="card">
            <a:extLst>
              <a:ext uri="{C183D7F6-B498-43B3-948B-1728B52AA6E4}">
                <adec:decorative xmlns:adec="http://schemas.microsoft.com/office/drawing/2017/decorative" val="1"/>
              </a:ext>
            </a:extLst>
          </p:cNvPr>
          <p:cNvSpPr/>
          <p:nvPr/>
        </p:nvSpPr>
        <p:spPr>
          <a:xfrm>
            <a:off x="7997952" y="4736592"/>
            <a:ext cx="3258312" cy="1065814"/>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29" name="accent">
            <a:extLst>
              <a:ext uri="{C183D7F6-B498-43B3-948B-1728B52AA6E4}">
                <adec:decorative xmlns:adec="http://schemas.microsoft.com/office/drawing/2017/decorative" val="1"/>
              </a:ext>
            </a:extLst>
          </p:cNvPr>
          <p:cNvSpPr/>
          <p:nvPr/>
        </p:nvSpPr>
        <p:spPr>
          <a:xfrm>
            <a:off x="7997952" y="4736592"/>
            <a:ext cx="82296" cy="960120"/>
          </a:xfrm>
          <a:prstGeom prst="rect">
            <a:avLst/>
          </a:prstGeom>
          <a:solidFill>
            <a:srgbClr val="2A3FE0"/>
          </a:solidFill>
          <a:ln/>
        </p:spPr>
        <p:txBody>
          <a:bodyPr/>
          <a:lstStyle/>
          <a:p>
            <a:endParaRPr lang="es-419" noProof="0" dirty="0"/>
          </a:p>
        </p:txBody>
      </p:sp>
      <p:sp>
        <p:nvSpPr>
          <p:cNvPr id="30" name="Text 28"/>
          <p:cNvSpPr/>
          <p:nvPr/>
        </p:nvSpPr>
        <p:spPr>
          <a:xfrm>
            <a:off x="8217408" y="4736591"/>
            <a:ext cx="2892552" cy="1065813"/>
          </a:xfrm>
          <a:prstGeom prst="rect">
            <a:avLst/>
          </a:prstGeom>
          <a:noFill/>
          <a:ln/>
        </p:spPr>
        <p:txBody>
          <a:bodyPr wrap="square" lIns="0" tIns="0" rIns="0" bIns="0" rtlCol="0" anchor="ctr"/>
          <a:lstStyle/>
          <a:p>
            <a:pPr marL="0" indent="0" algn="l">
              <a:buNone/>
            </a:pPr>
            <a:r>
              <a:rPr lang="es-419" sz="1350" b="1" noProof="0">
                <a:solidFill>
                  <a:srgbClr val="000000"/>
                </a:solidFill>
                <a:latin typeface="Roboto Condensed Medium" pitchFamily="34" charset="0"/>
                <a:ea typeface="Roboto Condensed Medium" pitchFamily="34" charset="-122"/>
                <a:cs typeface="Roboto Condensed Medium" pitchFamily="34" charset="-120"/>
              </a:rPr>
              <a:t>El código generado requirió pocas correcciones durante la etapa evaluada, sin embargo, la PoC aún no ha concluido las pruebas funcionales.</a:t>
            </a:r>
            <a:endParaRPr lang="es-419" sz="1350" noProof="0" dirty="0"/>
          </a:p>
        </p:txBody>
      </p:sp>
      <p:sp>
        <p:nvSpPr>
          <p:cNvPr id="31" name="Text 29"/>
          <p:cNvSpPr/>
          <p:nvPr/>
        </p:nvSpPr>
        <p:spPr>
          <a:xfrm>
            <a:off x="685800" y="6437376"/>
            <a:ext cx="8686800" cy="292608"/>
          </a:xfrm>
          <a:prstGeom prst="rect">
            <a:avLst/>
          </a:prstGeom>
          <a:noFill/>
          <a:ln/>
        </p:spPr>
        <p:txBody>
          <a:bodyPr wrap="square" lIns="0" tIns="0" rIns="0" bIns="0" rtlCol="0" anchor="ctr"/>
          <a:lstStyle/>
          <a:p>
            <a:pPr marL="0" indent="0" algn="l">
              <a:buNone/>
            </a:pPr>
            <a:r>
              <a:rPr lang="es-419" sz="850" b="1" noProof="0">
                <a:solidFill>
                  <a:srgbClr val="000000"/>
                </a:solidFill>
                <a:latin typeface="Roboto Condensed" pitchFamily="34" charset="0"/>
                <a:ea typeface="Roboto Condensed" pitchFamily="34" charset="-122"/>
                <a:cs typeface="Roboto Condensed" pitchFamily="34" charset="-120"/>
              </a:rPr>
              <a:t>Tuya</a:t>
            </a:r>
            <a:r>
              <a:rPr lang="es-419" sz="850" noProof="0">
                <a:solidFill>
                  <a:srgbClr val="5B6068"/>
                </a:solidFill>
                <a:latin typeface="Roboto Condensed" pitchFamily="34" charset="0"/>
                <a:ea typeface="Roboto Condensed" pitchFamily="34" charset="-122"/>
                <a:cs typeface="Roboto Condensed" pitchFamily="34" charset="-120"/>
              </a:rPr>
              <a:t>   ·   GitHub </a:t>
            </a:r>
            <a:r>
              <a:rPr lang="es-419" sz="850" noProof="0" err="1">
                <a:solidFill>
                  <a:srgbClr val="5B6068"/>
                </a:solidFill>
                <a:latin typeface="Roboto Condensed" pitchFamily="34" charset="0"/>
                <a:ea typeface="Roboto Condensed" pitchFamily="34" charset="-122"/>
                <a:cs typeface="Roboto Condensed" pitchFamily="34" charset="-120"/>
              </a:rPr>
              <a:t>Copilot</a:t>
            </a:r>
            <a:r>
              <a:rPr lang="es-419" sz="850" noProof="0">
                <a:solidFill>
                  <a:srgbClr val="5B6068"/>
                </a:solidFill>
                <a:latin typeface="Roboto Condensed" pitchFamily="34" charset="0"/>
                <a:ea typeface="Roboto Condensed" pitchFamily="34" charset="-122"/>
                <a:cs typeface="Roboto Condensed" pitchFamily="34" charset="-120"/>
              </a:rPr>
              <a:t> - Resultados de la Prueba de Concepto</a:t>
            </a:r>
            <a:endParaRPr lang="es-419" sz="850" noProof="0" dirty="0"/>
          </a:p>
        </p:txBody>
      </p:sp>
      <p:sp>
        <p:nvSpPr>
          <p:cNvPr id="32" name="Text 30"/>
          <p:cNvSpPr/>
          <p:nvPr/>
        </p:nvSpPr>
        <p:spPr>
          <a:xfrm>
            <a:off x="10972800" y="6437376"/>
            <a:ext cx="530352" cy="292608"/>
          </a:xfrm>
          <a:prstGeom prst="rect">
            <a:avLst/>
          </a:prstGeom>
          <a:noFill/>
          <a:ln/>
        </p:spPr>
        <p:txBody>
          <a:bodyPr wrap="square" lIns="0" tIns="0" rIns="0" bIns="0" rtlCol="0" anchor="ctr"/>
          <a:lstStyle/>
          <a:p>
            <a:pPr marL="0" indent="0" algn="r">
              <a:buNone/>
            </a:pPr>
            <a:r>
              <a:rPr lang="es-419" sz="900" b="1" noProof="0">
                <a:solidFill>
                  <a:srgbClr val="2A3FE0"/>
                </a:solidFill>
                <a:latin typeface="Roboto Condensed Medium" pitchFamily="34" charset="0"/>
                <a:ea typeface="Roboto Condensed Medium" pitchFamily="34" charset="-122"/>
                <a:cs typeface="Roboto Condensed Medium" pitchFamily="34" charset="-120"/>
              </a:rPr>
              <a:t>04</a:t>
            </a:r>
            <a:endParaRPr lang="es-419" sz="900" noProof="0" dirty="0"/>
          </a:p>
        </p:txBody>
      </p:sp>
      <p:pic>
        <p:nvPicPr>
          <p:cNvPr id="950" name="Logo Tuya"/>
          <p:cNvPicPr>
            <a:picLocks noChangeAspect="1"/>
          </p:cNvPicPr>
          <p:nvPr/>
        </p:nvPicPr>
        <p:blipFill>
          <a:blip r:embed="rId3"/>
          <a:stretch>
            <a:fillRect/>
          </a:stretch>
        </p:blipFill>
        <p:spPr>
          <a:xfrm>
            <a:off x="11152200" y="321276"/>
            <a:ext cx="640080" cy="320040"/>
          </a:xfrm>
          <a:prstGeom prst="rect">
            <a:avLst/>
          </a:prstGeom>
        </p:spPr>
      </p:pic>
      <p:sp>
        <p:nvSpPr>
          <p:cNvPr id="80" name="nota casos"/>
          <p:cNvSpPr/>
          <p:nvPr/>
        </p:nvSpPr>
        <p:spPr>
          <a:xfrm>
            <a:off x="685800" y="6020000"/>
            <a:ext cx="10817352" cy="330000"/>
          </a:xfrm>
          <a:prstGeom prst="rect">
            <a:avLst/>
          </a:prstGeom>
          <a:noFill/>
          <a:ln/>
        </p:spPr>
        <p:txBody>
          <a:bodyPr wrap="square" lIns="0" tIns="0" rIns="0" bIns="0" rtlCol="0" anchor="ctr"/>
          <a:lstStyle/>
          <a:p>
            <a:pPr marL="0" indent="0" algn="l">
              <a:buNone/>
            </a:pPr>
            <a:r>
              <a:rPr lang="es-419" sz="900" i="1" noProof="0">
                <a:solidFill>
                  <a:srgbClr val="5B6068"/>
                </a:solidFill>
                <a:latin typeface="Roboto Condensed" pitchFamily="34" charset="0"/>
                <a:cs typeface="Roboto Condensed" pitchFamily="34" charset="0"/>
              </a:rPr>
              <a:t>6 de los 10 casos asignados finalizaron la PoC. Cinco cuentan con información completa para comparar el tiempo estimado por juicio experto y el tiempo real de ejecución.</a:t>
            </a:r>
            <a:endParaRPr lang="es-419" sz="900" i="1"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mark">
            <a:extLst>
              <a:ext uri="{C183D7F6-B498-43B3-948B-1728B52AA6E4}">
                <adec:decorative xmlns:adec="http://schemas.microsoft.com/office/drawing/2017/decorative" val="1"/>
              </a:ext>
            </a:extLst>
          </p:cNvPr>
          <p:cNvSpPr/>
          <p:nvPr/>
        </p:nvSpPr>
        <p:spPr>
          <a:xfrm>
            <a:off x="685800" y="402336"/>
            <a:ext cx="146304" cy="146304"/>
          </a:xfrm>
          <a:prstGeom prst="rect">
            <a:avLst/>
          </a:prstGeom>
          <a:solidFill>
            <a:srgbClr val="2A3FE0"/>
          </a:solidFill>
          <a:ln/>
        </p:spPr>
        <p:txBody>
          <a:bodyPr/>
          <a:lstStyle/>
          <a:p>
            <a:endParaRPr lang="es-419" noProof="0" dirty="0"/>
          </a:p>
        </p:txBody>
      </p:sp>
      <p:sp>
        <p:nvSpPr>
          <p:cNvPr id="3" name="Text 1"/>
          <p:cNvSpPr/>
          <p:nvPr/>
        </p:nvSpPr>
        <p:spPr>
          <a:xfrm>
            <a:off x="932688" y="310896"/>
            <a:ext cx="9601200" cy="310896"/>
          </a:xfrm>
          <a:prstGeom prst="rect">
            <a:avLst/>
          </a:prstGeom>
          <a:noFill/>
          <a:ln/>
        </p:spPr>
        <p:txBody>
          <a:bodyPr wrap="square" lIns="0" tIns="0" rIns="0" bIns="0" rtlCol="0" anchor="ctr"/>
          <a:lstStyle/>
          <a:p>
            <a:pPr marL="0" indent="0" algn="l">
              <a:buNone/>
            </a:pPr>
            <a:r>
              <a:rPr lang="es-419" sz="1150" b="1" kern="0" spc="200" noProof="0">
                <a:solidFill>
                  <a:srgbClr val="2A3FE0"/>
                </a:solidFill>
                <a:latin typeface="Roboto Condensed Medium" pitchFamily="34" charset="0"/>
                <a:ea typeface="Roboto Condensed Medium" pitchFamily="34" charset="-122"/>
                <a:cs typeface="Roboto Condensed Medium" pitchFamily="34" charset="-120"/>
              </a:rPr>
              <a:t>CONSUMO OBSERVADO Y MODELO COMERCIAL 2026</a:t>
            </a:r>
            <a:endParaRPr lang="es-419" sz="1150" noProof="0" dirty="0"/>
          </a:p>
        </p:txBody>
      </p:sp>
      <p:sp>
        <p:nvSpPr>
          <p:cNvPr id="4" name="Text 0"/>
          <p:cNvSpPr>
            <a:spLocks noGrp="1"/>
          </p:cNvSpPr>
          <p:nvPr>
            <p:ph type="title" idx="100" hasCustomPrompt="1"/>
          </p:nvPr>
        </p:nvSpPr>
        <p:spPr>
          <a:xfrm>
            <a:off x="685800" y="658368"/>
            <a:ext cx="10789920" cy="822960"/>
          </a:xfrm>
          <a:prstGeom prst="rect">
            <a:avLst/>
          </a:prstGeom>
          <a:noFill/>
          <a:ln/>
        </p:spPr>
        <p:txBody>
          <a:bodyPr wrap="square" lIns="0" tIns="0" rIns="0" bIns="0" rtlCol="0" anchor="t"/>
          <a:lstStyle/>
          <a:p>
            <a:pPr marL="0" indent="0" algn="l">
              <a:buNone/>
            </a:pPr>
            <a:r>
              <a:rPr lang="es-419" sz="2700" b="1" noProof="0">
                <a:solidFill>
                  <a:srgbClr val="000000"/>
                </a:solidFill>
                <a:latin typeface="Roboto Condensed Medium" pitchFamily="34" charset="0"/>
                <a:ea typeface="Roboto Condensed Medium" pitchFamily="34" charset="-122"/>
                <a:cs typeface="Roboto Condensed Medium" pitchFamily="34" charset="-120"/>
              </a:rPr>
              <a:t>Cuánto consumimos y cómo se factura hoy</a:t>
            </a:r>
            <a:endParaRPr lang="es-419" sz="2700" noProof="0" dirty="0"/>
          </a:p>
        </p:txBody>
      </p:sp>
      <p:sp>
        <p:nvSpPr>
          <p:cNvPr id="5" name="card">
            <a:extLst>
              <a:ext uri="{C183D7F6-B498-43B3-948B-1728B52AA6E4}">
                <adec:decorative xmlns:adec="http://schemas.microsoft.com/office/drawing/2017/decorative" val="1"/>
              </a:ext>
            </a:extLst>
          </p:cNvPr>
          <p:cNvSpPr/>
          <p:nvPr/>
        </p:nvSpPr>
        <p:spPr>
          <a:xfrm>
            <a:off x="685800" y="1664208"/>
            <a:ext cx="3977640" cy="4160520"/>
          </a:xfrm>
          <a:prstGeom prst="rect">
            <a:avLst/>
          </a:prstGeom>
          <a:solidFill>
            <a:srgbClr val="F5F6FA"/>
          </a:solidFill>
          <a:ln w="12700">
            <a:solidFill>
              <a:srgbClr val="E6E8EF"/>
            </a:solidFill>
            <a:prstDash val="solid"/>
          </a:ln>
        </p:spPr>
        <p:txBody>
          <a:bodyPr/>
          <a:lstStyle/>
          <a:p>
            <a:endParaRPr lang="es-419" noProof="0" dirty="0"/>
          </a:p>
        </p:txBody>
      </p:sp>
      <p:sp>
        <p:nvSpPr>
          <p:cNvPr id="6" name="Text 4"/>
          <p:cNvSpPr/>
          <p:nvPr/>
        </p:nvSpPr>
        <p:spPr>
          <a:xfrm>
            <a:off x="941832" y="1920240"/>
            <a:ext cx="3520440" cy="310896"/>
          </a:xfrm>
          <a:prstGeom prst="rect">
            <a:avLst/>
          </a:prstGeom>
          <a:noFill/>
          <a:ln/>
        </p:spPr>
        <p:txBody>
          <a:bodyPr wrap="square" lIns="0" tIns="0" rIns="0" bIns="0" rtlCol="0" anchor="ctr"/>
          <a:lstStyle/>
          <a:p>
            <a:pPr marL="0" indent="0">
              <a:buNone/>
            </a:pPr>
            <a:r>
              <a:rPr lang="es-419" sz="1200" b="1" noProof="0">
                <a:solidFill>
                  <a:srgbClr val="000000"/>
                </a:solidFill>
                <a:latin typeface="Roboto Condensed Medium" pitchFamily="34" charset="0"/>
                <a:ea typeface="Roboto Condensed Medium" pitchFamily="34" charset="-122"/>
                <a:cs typeface="Roboto Condensed Medium" pitchFamily="34" charset="-120"/>
              </a:rPr>
              <a:t>A · RESULTADO DE NUESTRA PoC</a:t>
            </a:r>
            <a:endParaRPr lang="es-419" sz="1200" noProof="0" dirty="0"/>
          </a:p>
        </p:txBody>
      </p:sp>
      <p:sp>
        <p:nvSpPr>
          <p:cNvPr id="7" name="Text 5"/>
          <p:cNvSpPr/>
          <p:nvPr/>
        </p:nvSpPr>
        <p:spPr>
          <a:xfrm>
            <a:off x="941832" y="2231136"/>
            <a:ext cx="3520440" cy="274320"/>
          </a:xfrm>
          <a:prstGeom prst="rect">
            <a:avLst/>
          </a:prstGeom>
          <a:noFill/>
          <a:ln/>
        </p:spPr>
        <p:txBody>
          <a:bodyPr wrap="square" lIns="0" tIns="0" rIns="0" bIns="0" rtlCol="0" anchor="ctr"/>
          <a:lstStyle/>
          <a:p>
            <a:pPr marL="0" indent="0">
              <a:buNone/>
            </a:pPr>
            <a:r>
              <a:rPr lang="es-419" sz="1000" i="1" noProof="0">
                <a:solidFill>
                  <a:srgbClr val="6E7278"/>
                </a:solidFill>
                <a:latin typeface="Roboto Condensed" pitchFamily="34" charset="0"/>
                <a:ea typeface="Roboto Condensed" pitchFamily="34" charset="-122"/>
                <a:cs typeface="Roboto Condensed" pitchFamily="34" charset="-120"/>
              </a:rPr>
              <a:t>Datos internos de Tuya</a:t>
            </a:r>
            <a:endParaRPr lang="es-419" sz="1000" noProof="0" dirty="0"/>
          </a:p>
        </p:txBody>
      </p:sp>
      <p:sp>
        <p:nvSpPr>
          <p:cNvPr id="8" name="card">
            <a:extLst>
              <a:ext uri="{C183D7F6-B498-43B3-948B-1728B52AA6E4}">
                <adec:decorative xmlns:adec="http://schemas.microsoft.com/office/drawing/2017/decorative" val="1"/>
              </a:ext>
            </a:extLst>
          </p:cNvPr>
          <p:cNvSpPr/>
          <p:nvPr/>
        </p:nvSpPr>
        <p:spPr>
          <a:xfrm>
            <a:off x="905256" y="2670048"/>
            <a:ext cx="3538728" cy="868680"/>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9" name="Text 7"/>
          <p:cNvSpPr/>
          <p:nvPr/>
        </p:nvSpPr>
        <p:spPr>
          <a:xfrm>
            <a:off x="1088136" y="2779776"/>
            <a:ext cx="3172968" cy="274320"/>
          </a:xfrm>
          <a:prstGeom prst="rect">
            <a:avLst/>
          </a:prstGeom>
          <a:noFill/>
          <a:ln/>
        </p:spPr>
        <p:txBody>
          <a:bodyPr wrap="square" lIns="0" tIns="0" rIns="0" bIns="0" rtlCol="0" anchor="ctr"/>
          <a:lstStyle/>
          <a:p>
            <a:pPr marL="0" indent="0">
              <a:buNone/>
            </a:pPr>
            <a:r>
              <a:rPr lang="es-419" sz="950" b="1" kern="0" spc="100" noProof="0">
                <a:solidFill>
                  <a:srgbClr val="6E7278"/>
                </a:solidFill>
                <a:latin typeface="Roboto Condensed" pitchFamily="34" charset="0"/>
                <a:ea typeface="Roboto Condensed" pitchFamily="34" charset="-122"/>
                <a:cs typeface="Roboto Condensed" pitchFamily="34" charset="-120"/>
              </a:rPr>
              <a:t>AI CREDITS CONSUMIDOS</a:t>
            </a:r>
            <a:endParaRPr lang="es-419" sz="950" noProof="0" dirty="0"/>
          </a:p>
        </p:txBody>
      </p:sp>
      <p:sp>
        <p:nvSpPr>
          <p:cNvPr id="10" name="Text 8"/>
          <p:cNvSpPr/>
          <p:nvPr/>
        </p:nvSpPr>
        <p:spPr>
          <a:xfrm>
            <a:off x="1088136" y="3054096"/>
            <a:ext cx="3172968" cy="411480"/>
          </a:xfrm>
          <a:prstGeom prst="rect">
            <a:avLst/>
          </a:prstGeom>
          <a:noFill/>
          <a:ln/>
        </p:spPr>
        <p:txBody>
          <a:bodyPr wrap="square" lIns="0" tIns="0" rIns="0" bIns="0" rtlCol="0" anchor="ctr"/>
          <a:lstStyle/>
          <a:p>
            <a:pPr marL="0" indent="0">
              <a:buNone/>
            </a:pPr>
            <a:r>
              <a:rPr lang="es-419" sz="1300" b="1" noProof="0">
                <a:solidFill>
                  <a:srgbClr val="2A3FE0"/>
                </a:solidFill>
                <a:latin typeface="Roboto Condensed Medium" pitchFamily="34" charset="0"/>
                <a:ea typeface="Roboto Condensed Medium" pitchFamily="34" charset="-122"/>
                <a:cs typeface="Roboto Condensed Medium" pitchFamily="34" charset="-120"/>
              </a:rPr>
              <a:t>≈ 2.831 AI </a:t>
            </a:r>
            <a:r>
              <a:rPr lang="es-419" sz="1300" b="1" noProof="0" err="1">
                <a:solidFill>
                  <a:srgbClr val="2A3FE0"/>
                </a:solidFill>
                <a:latin typeface="Roboto Condensed Medium" pitchFamily="34" charset="0"/>
                <a:ea typeface="Roboto Condensed Medium" pitchFamily="34" charset="-122"/>
                <a:cs typeface="Roboto Condensed Medium" pitchFamily="34" charset="-120"/>
              </a:rPr>
              <a:t>Credits</a:t>
            </a:r>
            <a:endParaRPr lang="es-419" sz="1300" noProof="0" dirty="0"/>
          </a:p>
        </p:txBody>
      </p:sp>
      <p:sp>
        <p:nvSpPr>
          <p:cNvPr id="11" name="card">
            <a:extLst>
              <a:ext uri="{C183D7F6-B498-43B3-948B-1728B52AA6E4}">
                <adec:decorative xmlns:adec="http://schemas.microsoft.com/office/drawing/2017/decorative" val="1"/>
              </a:ext>
            </a:extLst>
          </p:cNvPr>
          <p:cNvSpPr/>
          <p:nvPr/>
        </p:nvSpPr>
        <p:spPr>
          <a:xfrm>
            <a:off x="905256" y="3694176"/>
            <a:ext cx="3538728" cy="868680"/>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12" name="Text 10"/>
          <p:cNvSpPr/>
          <p:nvPr/>
        </p:nvSpPr>
        <p:spPr>
          <a:xfrm>
            <a:off x="1088136" y="3803904"/>
            <a:ext cx="3172968" cy="274320"/>
          </a:xfrm>
          <a:prstGeom prst="rect">
            <a:avLst/>
          </a:prstGeom>
          <a:noFill/>
          <a:ln/>
        </p:spPr>
        <p:txBody>
          <a:bodyPr wrap="square" lIns="0" tIns="0" rIns="0" bIns="0" rtlCol="0" anchor="ctr"/>
          <a:lstStyle/>
          <a:p>
            <a:pPr marL="0" indent="0">
              <a:buNone/>
            </a:pPr>
            <a:r>
              <a:rPr lang="es-419" sz="950" b="1" kern="0" spc="100" noProof="0">
                <a:solidFill>
                  <a:srgbClr val="6E7278"/>
                </a:solidFill>
                <a:latin typeface="Roboto Condensed" pitchFamily="34" charset="0"/>
                <a:ea typeface="Roboto Condensed" pitchFamily="34" charset="-122"/>
                <a:cs typeface="Roboto Condensed" pitchFamily="34" charset="-120"/>
              </a:rPr>
              <a:t>CONSUMO PROMEDIO</a:t>
            </a:r>
            <a:endParaRPr lang="es-419" sz="950" noProof="0" dirty="0"/>
          </a:p>
        </p:txBody>
      </p:sp>
      <p:sp>
        <p:nvSpPr>
          <p:cNvPr id="13" name="Text 11"/>
          <p:cNvSpPr/>
          <p:nvPr/>
        </p:nvSpPr>
        <p:spPr>
          <a:xfrm>
            <a:off x="1088136" y="4078224"/>
            <a:ext cx="3172968" cy="411480"/>
          </a:xfrm>
          <a:prstGeom prst="rect">
            <a:avLst/>
          </a:prstGeom>
          <a:noFill/>
          <a:ln/>
        </p:spPr>
        <p:txBody>
          <a:bodyPr wrap="square" lIns="0" tIns="0" rIns="0" bIns="0" rtlCol="0" anchor="ctr"/>
          <a:lstStyle/>
          <a:p>
            <a:pPr marL="0" indent="0">
              <a:buNone/>
            </a:pPr>
            <a:r>
              <a:rPr lang="es-419" sz="1300" b="1" noProof="0">
                <a:solidFill>
                  <a:srgbClr val="2A3FE0"/>
                </a:solidFill>
                <a:latin typeface="Roboto Condensed Medium" pitchFamily="34" charset="0"/>
                <a:ea typeface="Roboto Condensed Medium" pitchFamily="34" charset="-122"/>
                <a:cs typeface="Roboto Condensed Medium" pitchFamily="34" charset="-120"/>
              </a:rPr>
              <a:t>≈ 566 AI </a:t>
            </a:r>
            <a:r>
              <a:rPr lang="es-419" sz="1300" b="1" noProof="0" err="1">
                <a:solidFill>
                  <a:srgbClr val="2A3FE0"/>
                </a:solidFill>
                <a:latin typeface="Roboto Condensed Medium" pitchFamily="34" charset="0"/>
                <a:ea typeface="Roboto Condensed Medium" pitchFamily="34" charset="-122"/>
                <a:cs typeface="Roboto Condensed Medium" pitchFamily="34" charset="-120"/>
              </a:rPr>
              <a:t>Credits</a:t>
            </a:r>
            <a:r>
              <a:rPr lang="es-419" sz="1300" b="1" noProof="0">
                <a:solidFill>
                  <a:srgbClr val="2A3FE0"/>
                </a:solidFill>
                <a:latin typeface="Roboto Condensed Medium" pitchFamily="34" charset="0"/>
                <a:ea typeface="Roboto Condensed Medium" pitchFamily="34" charset="-122"/>
                <a:cs typeface="Roboto Condensed Medium" pitchFamily="34" charset="-120"/>
              </a:rPr>
              <a:t> por migración</a:t>
            </a:r>
            <a:endParaRPr lang="es-419" sz="1300" noProof="0" dirty="0"/>
          </a:p>
        </p:txBody>
      </p:sp>
      <p:sp>
        <p:nvSpPr>
          <p:cNvPr id="14" name="card">
            <a:extLst>
              <a:ext uri="{C183D7F6-B498-43B3-948B-1728B52AA6E4}">
                <adec:decorative xmlns:adec="http://schemas.microsoft.com/office/drawing/2017/decorative" val="1"/>
              </a:ext>
            </a:extLst>
          </p:cNvPr>
          <p:cNvSpPr/>
          <p:nvPr/>
        </p:nvSpPr>
        <p:spPr>
          <a:xfrm>
            <a:off x="905256" y="4718304"/>
            <a:ext cx="3538728" cy="868680"/>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15" name="Text 13"/>
          <p:cNvSpPr/>
          <p:nvPr/>
        </p:nvSpPr>
        <p:spPr>
          <a:xfrm>
            <a:off x="1088136" y="4828032"/>
            <a:ext cx="3172968" cy="274320"/>
          </a:xfrm>
          <a:prstGeom prst="rect">
            <a:avLst/>
          </a:prstGeom>
          <a:noFill/>
          <a:ln/>
        </p:spPr>
        <p:txBody>
          <a:bodyPr wrap="square" lIns="0" tIns="0" rIns="0" bIns="0" rtlCol="0" anchor="ctr"/>
          <a:lstStyle/>
          <a:p>
            <a:pPr marL="0" indent="0">
              <a:buNone/>
            </a:pPr>
            <a:r>
              <a:rPr lang="es-419" sz="950" b="1" kern="0" spc="100" noProof="0">
                <a:solidFill>
                  <a:srgbClr val="6E7278"/>
                </a:solidFill>
                <a:latin typeface="Roboto Condensed" pitchFamily="34" charset="0"/>
                <a:ea typeface="Roboto Condensed" pitchFamily="34" charset="-122"/>
                <a:cs typeface="Roboto Condensed" pitchFamily="34" charset="-120"/>
              </a:rPr>
              <a:t>RANGO DE CONSUMO OBSERVADO</a:t>
            </a:r>
            <a:endParaRPr lang="es-419" sz="950" noProof="0" dirty="0"/>
          </a:p>
        </p:txBody>
      </p:sp>
      <p:sp>
        <p:nvSpPr>
          <p:cNvPr id="16" name="Text 14"/>
          <p:cNvSpPr/>
          <p:nvPr/>
        </p:nvSpPr>
        <p:spPr>
          <a:xfrm>
            <a:off x="1088136" y="5102352"/>
            <a:ext cx="3172968" cy="411480"/>
          </a:xfrm>
          <a:prstGeom prst="rect">
            <a:avLst/>
          </a:prstGeom>
          <a:noFill/>
          <a:ln/>
        </p:spPr>
        <p:txBody>
          <a:bodyPr wrap="square" lIns="0" tIns="0" rIns="0" bIns="0" rtlCol="0" anchor="ctr"/>
          <a:lstStyle/>
          <a:p>
            <a:pPr marL="0" indent="0">
              <a:buNone/>
            </a:pPr>
            <a:r>
              <a:rPr lang="es-419" sz="1300" b="1" noProof="0">
                <a:solidFill>
                  <a:srgbClr val="2A3FE0"/>
                </a:solidFill>
                <a:latin typeface="Roboto Condensed Medium" pitchFamily="34" charset="0"/>
                <a:ea typeface="Roboto Condensed Medium" pitchFamily="34" charset="-122"/>
                <a:cs typeface="Roboto Condensed Medium" pitchFamily="34" charset="-120"/>
              </a:rPr>
              <a:t>20 % – 50 % de la asignación estándar de 1.900 AI </a:t>
            </a:r>
            <a:r>
              <a:rPr lang="es-419" sz="1300" b="1" noProof="0" err="1">
                <a:solidFill>
                  <a:srgbClr val="2A3FE0"/>
                </a:solidFill>
                <a:latin typeface="Roboto Condensed Medium" pitchFamily="34" charset="0"/>
                <a:ea typeface="Roboto Condensed Medium" pitchFamily="34" charset="-122"/>
                <a:cs typeface="Roboto Condensed Medium" pitchFamily="34" charset="-120"/>
              </a:rPr>
              <a:t>Credits</a:t>
            </a:r>
            <a:endParaRPr lang="es-419" sz="1300" noProof="0" dirty="0"/>
          </a:p>
        </p:txBody>
      </p:sp>
      <p:sp>
        <p:nvSpPr>
          <p:cNvPr id="60" name="Nota consumo PoC"/>
          <p:cNvSpPr/>
          <p:nvPr/>
        </p:nvSpPr>
        <p:spPr>
          <a:xfrm>
            <a:off x="685800" y="5880000"/>
            <a:ext cx="3977640" cy="520000"/>
          </a:xfrm>
          <a:prstGeom prst="rect">
            <a:avLst/>
          </a:prstGeom>
          <a:noFill/>
          <a:ln/>
        </p:spPr>
        <p:txBody>
          <a:bodyPr wrap="square" lIns="0" tIns="0" rIns="0" bIns="0" rtlCol="0" anchor="t"/>
          <a:lstStyle/>
          <a:p>
            <a:pPr marL="0" indent="0" algn="l">
              <a:buNone/>
            </a:pPr>
            <a:r>
              <a:rPr lang="es-419" sz="800" i="1" noProof="0">
                <a:solidFill>
                  <a:srgbClr val="6E7278"/>
                </a:solidFill>
                <a:latin typeface="Roboto Condensed" pitchFamily="34" charset="0"/>
                <a:ea typeface="Roboto Condensed" pitchFamily="34" charset="-122"/>
                <a:cs typeface="Roboto Condensed" pitchFamily="34" charset="-120"/>
              </a:rPr>
              <a:t>Estos valores corresponden únicamente al flujo de migración evaluado durante la PoC y no constituyen una proyección del consumo mensual futuro de los desarrolladores.</a:t>
            </a:r>
            <a:endParaRPr lang="es-419" sz="800" i="1" noProof="0"/>
          </a:p>
        </p:txBody>
      </p:sp>
      <p:sp>
        <p:nvSpPr>
          <p:cNvPr id="17" name="Text 15"/>
          <p:cNvSpPr/>
          <p:nvPr/>
        </p:nvSpPr>
        <p:spPr>
          <a:xfrm>
            <a:off x="4937760" y="1664208"/>
            <a:ext cx="6565392" cy="292608"/>
          </a:xfrm>
          <a:prstGeom prst="rect">
            <a:avLst/>
          </a:prstGeom>
          <a:noFill/>
          <a:ln/>
        </p:spPr>
        <p:txBody>
          <a:bodyPr wrap="square" lIns="0" tIns="0" rIns="0" bIns="0" rtlCol="0" anchor="ctr"/>
          <a:lstStyle/>
          <a:p>
            <a:pPr marL="0" indent="0">
              <a:buNone/>
            </a:pPr>
            <a:r>
              <a:rPr lang="es-419" sz="1200" b="1" noProof="0">
                <a:solidFill>
                  <a:srgbClr val="000000"/>
                </a:solidFill>
                <a:latin typeface="Roboto Condensed Medium" pitchFamily="34" charset="0"/>
                <a:ea typeface="Roboto Condensed Medium" pitchFamily="34" charset="-122"/>
                <a:cs typeface="Roboto Condensed Medium" pitchFamily="34" charset="-120"/>
              </a:rPr>
              <a:t>B · MODELO COMERCIAL ACTUAL DE GITHUB</a:t>
            </a:r>
            <a:endParaRPr lang="es-419" sz="1200" noProof="0" dirty="0"/>
          </a:p>
        </p:txBody>
      </p:sp>
      <p:sp>
        <p:nvSpPr>
          <p:cNvPr id="18" name="Text 16"/>
          <p:cNvSpPr/>
          <p:nvPr/>
        </p:nvSpPr>
        <p:spPr>
          <a:xfrm>
            <a:off x="4937760" y="1956816"/>
            <a:ext cx="6565392" cy="274320"/>
          </a:xfrm>
          <a:prstGeom prst="rect">
            <a:avLst/>
          </a:prstGeom>
          <a:noFill/>
          <a:ln/>
        </p:spPr>
        <p:txBody>
          <a:bodyPr wrap="square" lIns="0" tIns="0" rIns="0" bIns="0" rtlCol="0" anchor="ctr"/>
          <a:lstStyle/>
          <a:p>
            <a:pPr marL="0" indent="0">
              <a:buNone/>
            </a:pPr>
            <a:r>
              <a:rPr lang="es-419" sz="1000" i="1" noProof="0">
                <a:solidFill>
                  <a:srgbClr val="6E7278"/>
                </a:solidFill>
                <a:latin typeface="Roboto Condensed" pitchFamily="34" charset="0"/>
                <a:ea typeface="Roboto Condensed" pitchFamily="34" charset="-122"/>
                <a:cs typeface="Roboto Condensed" pitchFamily="34" charset="-120"/>
              </a:rPr>
              <a:t>Datos públicos oficiales de GitHub · no mezclar con resultados internos</a:t>
            </a:r>
            <a:endParaRPr lang="es-419" sz="1000" noProof="0" dirty="0"/>
          </a:p>
        </p:txBody>
      </p:sp>
      <p:sp>
        <p:nvSpPr>
          <p:cNvPr id="19" name="card">
            <a:extLst>
              <a:ext uri="{C183D7F6-B498-43B3-948B-1728B52AA6E4}">
                <adec:decorative xmlns:adec="http://schemas.microsoft.com/office/drawing/2017/decorative" val="1"/>
              </a:ext>
            </a:extLst>
          </p:cNvPr>
          <p:cNvSpPr/>
          <p:nvPr/>
        </p:nvSpPr>
        <p:spPr>
          <a:xfrm>
            <a:off x="4937760" y="2377440"/>
            <a:ext cx="3145536" cy="1965960"/>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20" name="Text 18"/>
          <p:cNvSpPr/>
          <p:nvPr/>
        </p:nvSpPr>
        <p:spPr>
          <a:xfrm>
            <a:off x="5157216" y="2578608"/>
            <a:ext cx="2706624" cy="274320"/>
          </a:xfrm>
          <a:prstGeom prst="rect">
            <a:avLst/>
          </a:prstGeom>
          <a:noFill/>
          <a:ln/>
        </p:spPr>
        <p:txBody>
          <a:bodyPr wrap="square" lIns="0" tIns="0" rIns="0" bIns="0" rtlCol="0" anchor="ctr"/>
          <a:lstStyle/>
          <a:p>
            <a:pPr marL="0" indent="0">
              <a:buNone/>
            </a:pPr>
            <a:r>
              <a:rPr lang="es-419" sz="1200" b="1" kern="0" spc="100" noProof="0">
                <a:solidFill>
                  <a:srgbClr val="2A3FE0"/>
                </a:solidFill>
                <a:latin typeface="Roboto Condensed Medium" pitchFamily="34" charset="0"/>
                <a:ea typeface="Roboto Condensed Medium" pitchFamily="34" charset="-122"/>
                <a:cs typeface="Roboto Condensed Medium" pitchFamily="34" charset="-120"/>
              </a:rPr>
              <a:t>COPILOT BUSINESS</a:t>
            </a:r>
            <a:endParaRPr lang="es-419" sz="1200" noProof="0" dirty="0"/>
          </a:p>
        </p:txBody>
      </p:sp>
      <p:sp>
        <p:nvSpPr>
          <p:cNvPr id="21" name="Text 19"/>
          <p:cNvSpPr/>
          <p:nvPr/>
        </p:nvSpPr>
        <p:spPr>
          <a:xfrm>
            <a:off x="5157216" y="2907792"/>
            <a:ext cx="2706624" cy="548640"/>
          </a:xfrm>
          <a:prstGeom prst="rect">
            <a:avLst/>
          </a:prstGeom>
          <a:noFill/>
          <a:ln/>
        </p:spPr>
        <p:txBody>
          <a:bodyPr wrap="square" lIns="0" tIns="0" rIns="0" bIns="0" rtlCol="0" anchor="ctr"/>
          <a:lstStyle/>
          <a:p>
            <a:pPr marL="0" indent="0">
              <a:buNone/>
            </a:pPr>
            <a:r>
              <a:rPr lang="es-419" sz="2600" b="1" noProof="0">
                <a:solidFill>
                  <a:srgbClr val="2A3FE0"/>
                </a:solidFill>
                <a:latin typeface="Roboto Condensed Medium" pitchFamily="34" charset="0"/>
                <a:ea typeface="Roboto Condensed Medium" pitchFamily="34" charset="-122"/>
                <a:cs typeface="Roboto Condensed Medium" pitchFamily="34" charset="-120"/>
              </a:rPr>
              <a:t>USD 19  </a:t>
            </a:r>
            <a:r>
              <a:rPr lang="es-419" sz="1100" noProof="0">
                <a:solidFill>
                  <a:srgbClr val="6E7278"/>
                </a:solidFill>
                <a:latin typeface="Roboto Condensed Medium" pitchFamily="34" charset="0"/>
                <a:ea typeface="Roboto Condensed Medium" pitchFamily="34" charset="-122"/>
                <a:cs typeface="Roboto Condensed Medium" pitchFamily="34" charset="-120"/>
              </a:rPr>
              <a:t>por usuario / mes</a:t>
            </a:r>
            <a:endParaRPr lang="es-419" sz="2600" noProof="0" dirty="0"/>
          </a:p>
        </p:txBody>
      </p:sp>
      <p:sp>
        <p:nvSpPr>
          <p:cNvPr id="22" name="Text 20"/>
          <p:cNvSpPr/>
          <p:nvPr/>
        </p:nvSpPr>
        <p:spPr>
          <a:xfrm>
            <a:off x="5157216" y="3547872"/>
            <a:ext cx="2706624" cy="685800"/>
          </a:xfrm>
          <a:prstGeom prst="rect">
            <a:avLst/>
          </a:prstGeom>
          <a:noFill/>
          <a:ln/>
        </p:spPr>
        <p:txBody>
          <a:bodyPr wrap="square" lIns="0" tIns="0" rIns="0" bIns="0" rtlCol="0" anchor="t"/>
          <a:lstStyle/>
          <a:p>
            <a:pPr marL="0" indent="0">
              <a:buNone/>
            </a:pPr>
            <a:r>
              <a:rPr lang="es-419" sz="1100" noProof="0">
                <a:solidFill>
                  <a:srgbClr val="33373D"/>
                </a:solidFill>
                <a:latin typeface="Roboto Condensed" pitchFamily="34" charset="0"/>
                <a:ea typeface="Roboto Condensed" pitchFamily="34" charset="-122"/>
                <a:cs typeface="Roboto Condensed" pitchFamily="34" charset="-120"/>
              </a:rPr>
              <a:t>1.900 AI </a:t>
            </a:r>
            <a:r>
              <a:rPr lang="es-419" sz="1100" noProof="0" err="1">
                <a:solidFill>
                  <a:srgbClr val="33373D"/>
                </a:solidFill>
                <a:latin typeface="Roboto Condensed" pitchFamily="34" charset="0"/>
                <a:ea typeface="Roboto Condensed" pitchFamily="34" charset="-122"/>
                <a:cs typeface="Roboto Condensed" pitchFamily="34" charset="-120"/>
              </a:rPr>
              <a:t>Credits</a:t>
            </a:r>
            <a:r>
              <a:rPr lang="es-419" sz="1100" noProof="0">
                <a:solidFill>
                  <a:srgbClr val="33373D"/>
                </a:solidFill>
                <a:latin typeface="Roboto Condensed" pitchFamily="34" charset="0"/>
                <a:ea typeface="Roboto Condensed" pitchFamily="34" charset="-122"/>
                <a:cs typeface="Roboto Condensed" pitchFamily="34" charset="-120"/>
              </a:rPr>
              <a:t> incluidos por usuario/mes</a:t>
            </a:r>
            <a:endParaRPr lang="es-419" sz="1100" noProof="0" dirty="0"/>
          </a:p>
        </p:txBody>
      </p:sp>
      <p:sp>
        <p:nvSpPr>
          <p:cNvPr id="23" name="plan">
            <a:extLst>
              <a:ext uri="{C183D7F6-B498-43B3-948B-1728B52AA6E4}">
                <adec:decorative xmlns:adec="http://schemas.microsoft.com/office/drawing/2017/decorative" val="1"/>
              </a:ext>
            </a:extLst>
          </p:cNvPr>
          <p:cNvSpPr/>
          <p:nvPr/>
        </p:nvSpPr>
        <p:spPr>
          <a:xfrm>
            <a:off x="8357616" y="2377440"/>
            <a:ext cx="3145536" cy="1965960"/>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24" name="Text 22"/>
          <p:cNvSpPr/>
          <p:nvPr/>
        </p:nvSpPr>
        <p:spPr>
          <a:xfrm>
            <a:off x="8577072" y="2578608"/>
            <a:ext cx="2706624" cy="274320"/>
          </a:xfrm>
          <a:prstGeom prst="rect">
            <a:avLst/>
          </a:prstGeom>
          <a:noFill/>
          <a:ln/>
        </p:spPr>
        <p:txBody>
          <a:bodyPr wrap="square" lIns="0" tIns="0" rIns="0" bIns="0" rtlCol="0" anchor="ctr"/>
          <a:lstStyle/>
          <a:p>
            <a:pPr marL="0" indent="0">
              <a:buNone/>
            </a:pPr>
            <a:r>
              <a:rPr lang="es-419" sz="1200" b="1" kern="0" spc="100" noProof="0">
                <a:solidFill>
                  <a:srgbClr val="2A3FE0"/>
                </a:solidFill>
                <a:latin typeface="Roboto Condensed Medium" pitchFamily="34" charset="0"/>
                <a:ea typeface="Roboto Condensed Medium" pitchFamily="34" charset="-122"/>
                <a:cs typeface="Roboto Condensed Medium" pitchFamily="34" charset="-120"/>
              </a:rPr>
              <a:t>COPILOT ENTERPRISE</a:t>
            </a:r>
            <a:endParaRPr lang="es-419" sz="1200" noProof="0" dirty="0"/>
          </a:p>
        </p:txBody>
      </p:sp>
      <p:sp>
        <p:nvSpPr>
          <p:cNvPr id="25" name="Text 23"/>
          <p:cNvSpPr/>
          <p:nvPr/>
        </p:nvSpPr>
        <p:spPr>
          <a:xfrm>
            <a:off x="8577072" y="2907792"/>
            <a:ext cx="2706624" cy="548640"/>
          </a:xfrm>
          <a:prstGeom prst="rect">
            <a:avLst/>
          </a:prstGeom>
          <a:noFill/>
          <a:ln/>
        </p:spPr>
        <p:txBody>
          <a:bodyPr wrap="square" lIns="0" tIns="0" rIns="0" bIns="0" rtlCol="0" anchor="ctr"/>
          <a:lstStyle/>
          <a:p>
            <a:pPr marL="0" indent="0">
              <a:buNone/>
            </a:pPr>
            <a:r>
              <a:rPr lang="es-419" sz="2600" b="1" noProof="0">
                <a:solidFill>
                  <a:srgbClr val="2A3FE0"/>
                </a:solidFill>
                <a:latin typeface="Roboto Condensed Medium" pitchFamily="34" charset="0"/>
                <a:ea typeface="Roboto Condensed Medium" pitchFamily="34" charset="-122"/>
                <a:cs typeface="Roboto Condensed Medium" pitchFamily="34" charset="-120"/>
              </a:rPr>
              <a:t>USD 39  </a:t>
            </a:r>
            <a:r>
              <a:rPr lang="es-419" sz="1100" noProof="0">
                <a:solidFill>
                  <a:srgbClr val="6E7278"/>
                </a:solidFill>
                <a:latin typeface="Roboto Condensed Medium" pitchFamily="34" charset="0"/>
                <a:ea typeface="Roboto Condensed Medium" pitchFamily="34" charset="-122"/>
                <a:cs typeface="Roboto Condensed Medium" pitchFamily="34" charset="-120"/>
              </a:rPr>
              <a:t>por usuario / mes</a:t>
            </a:r>
            <a:endParaRPr lang="es-419" sz="2600" noProof="0" dirty="0"/>
          </a:p>
        </p:txBody>
      </p:sp>
      <p:sp>
        <p:nvSpPr>
          <p:cNvPr id="26" name="Text 24"/>
          <p:cNvSpPr/>
          <p:nvPr/>
        </p:nvSpPr>
        <p:spPr>
          <a:xfrm>
            <a:off x="8577072" y="3547872"/>
            <a:ext cx="2706624" cy="685800"/>
          </a:xfrm>
          <a:prstGeom prst="rect">
            <a:avLst/>
          </a:prstGeom>
          <a:noFill/>
          <a:ln/>
        </p:spPr>
        <p:txBody>
          <a:bodyPr wrap="square" lIns="0" tIns="0" rIns="0" bIns="0" rtlCol="0" anchor="t"/>
          <a:lstStyle/>
          <a:p>
            <a:pPr marL="0" indent="0">
              <a:buNone/>
            </a:pPr>
            <a:r>
              <a:rPr lang="es-419" sz="1100" noProof="0">
                <a:solidFill>
                  <a:srgbClr val="33373D"/>
                </a:solidFill>
                <a:latin typeface="Roboto Condensed" pitchFamily="34" charset="0"/>
                <a:ea typeface="Roboto Condensed" pitchFamily="34" charset="-122"/>
                <a:cs typeface="Roboto Condensed" pitchFamily="34" charset="-120"/>
              </a:rPr>
              <a:t>3.900 AI </a:t>
            </a:r>
            <a:r>
              <a:rPr lang="es-419" sz="1100" noProof="0" err="1">
                <a:solidFill>
                  <a:srgbClr val="33373D"/>
                </a:solidFill>
                <a:latin typeface="Roboto Condensed" pitchFamily="34" charset="0"/>
                <a:ea typeface="Roboto Condensed" pitchFamily="34" charset="-122"/>
                <a:cs typeface="Roboto Condensed" pitchFamily="34" charset="-120"/>
              </a:rPr>
              <a:t>Credits</a:t>
            </a:r>
            <a:r>
              <a:rPr lang="es-419" sz="1100" noProof="0">
                <a:solidFill>
                  <a:srgbClr val="33373D"/>
                </a:solidFill>
                <a:latin typeface="Roboto Condensed" pitchFamily="34" charset="0"/>
                <a:ea typeface="Roboto Condensed" pitchFamily="34" charset="-122"/>
                <a:cs typeface="Roboto Condensed" pitchFamily="34" charset="-120"/>
              </a:rPr>
              <a:t> incluidos por usuario/mes · requiere GitHub Enterprise Cloud</a:t>
            </a:r>
            <a:endParaRPr lang="es-419" sz="1100" noProof="0" dirty="0"/>
          </a:p>
        </p:txBody>
      </p:sp>
      <p:sp>
        <p:nvSpPr>
          <p:cNvPr id="27" name="card">
            <a:extLst>
              <a:ext uri="{C183D7F6-B498-43B3-948B-1728B52AA6E4}">
                <adec:decorative xmlns:adec="http://schemas.microsoft.com/office/drawing/2017/decorative" val="1"/>
              </a:ext>
            </a:extLst>
          </p:cNvPr>
          <p:cNvSpPr/>
          <p:nvPr/>
        </p:nvSpPr>
        <p:spPr>
          <a:xfrm>
            <a:off x="4937760" y="4526280"/>
            <a:ext cx="6565392" cy="658368"/>
          </a:xfrm>
          <a:prstGeom prst="rect">
            <a:avLst/>
          </a:prstGeom>
          <a:solidFill>
            <a:srgbClr val="E7EAFC"/>
          </a:solidFill>
          <a:ln w="12700">
            <a:solidFill>
              <a:srgbClr val="CBD2F7"/>
            </a:solidFill>
            <a:prstDash val="solid"/>
          </a:ln>
        </p:spPr>
        <p:txBody>
          <a:bodyPr/>
          <a:lstStyle/>
          <a:p>
            <a:endParaRPr lang="es-419" noProof="0" dirty="0"/>
          </a:p>
        </p:txBody>
      </p:sp>
      <p:sp>
        <p:nvSpPr>
          <p:cNvPr id="28" name="Text 26"/>
          <p:cNvSpPr/>
          <p:nvPr/>
        </p:nvSpPr>
        <p:spPr>
          <a:xfrm>
            <a:off x="5157216" y="4526280"/>
            <a:ext cx="6126480" cy="658368"/>
          </a:xfrm>
          <a:prstGeom prst="rect">
            <a:avLst/>
          </a:prstGeom>
          <a:noFill/>
          <a:ln/>
        </p:spPr>
        <p:txBody>
          <a:bodyPr wrap="square" lIns="0" tIns="0" rIns="0" bIns="0" rtlCol="0" anchor="ctr"/>
          <a:lstStyle/>
          <a:p>
            <a:pPr marL="0" indent="0" algn="l">
              <a:buNone/>
            </a:pPr>
            <a:r>
              <a:rPr lang="es-419" sz="1000" i="1" noProof="0">
                <a:solidFill>
                  <a:srgbClr val="6E7278"/>
                </a:solidFill>
                <a:latin typeface="Roboto Condensed" pitchFamily="34" charset="0"/>
                <a:ea typeface="Roboto Condensed" pitchFamily="34" charset="-122"/>
                <a:cs typeface="Roboto Condensed" pitchFamily="34" charset="-120"/>
              </a:rPr>
              <a:t>Nota: los clientes existentes elegibles cuentan temporalmente con una asignación superior de AI Credits durante junio–agosto de 2026. La base permanente del caso de negocio son 1.900 AI Credits por usuario/mes para Copilot Business.</a:t>
            </a:r>
            <a:endParaRPr lang="es-419" sz="1000" i="1" noProof="0"/>
          </a:p>
        </p:txBody>
      </p:sp>
      <p:sp>
        <p:nvSpPr>
          <p:cNvPr id="29" name="card">
            <a:extLst>
              <a:ext uri="{C183D7F6-B498-43B3-948B-1728B52AA6E4}">
                <adec:decorative xmlns:adec="http://schemas.microsoft.com/office/drawing/2017/decorative" val="1"/>
              </a:ext>
            </a:extLst>
          </p:cNvPr>
          <p:cNvSpPr/>
          <p:nvPr/>
        </p:nvSpPr>
        <p:spPr>
          <a:xfrm>
            <a:off x="4937760" y="5312664"/>
            <a:ext cx="3145536" cy="1100000"/>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30" name="Text 28"/>
          <p:cNvSpPr/>
          <p:nvPr/>
        </p:nvSpPr>
        <p:spPr>
          <a:xfrm>
            <a:off x="5138928" y="5312664"/>
            <a:ext cx="2743200" cy="1100000"/>
          </a:xfrm>
          <a:prstGeom prst="rect">
            <a:avLst/>
          </a:prstGeom>
          <a:noFill/>
          <a:ln/>
        </p:spPr>
        <p:txBody>
          <a:bodyPr wrap="square" lIns="0" tIns="0" rIns="0" bIns="0" rtlCol="0" anchor="ctr"/>
          <a:lstStyle/>
          <a:p>
            <a:pPr marL="0" indent="0" algn="l">
              <a:buNone/>
            </a:pPr>
            <a:r>
              <a:rPr lang="es-419" sz="900" b="1" noProof="0">
                <a:solidFill>
                  <a:srgbClr val="6E7278"/>
                </a:solidFill>
                <a:latin typeface="Roboto Condensed Medium" pitchFamily="34" charset="0"/>
                <a:ea typeface="Roboto Condensed Medium" pitchFamily="34" charset="-122"/>
                <a:cs typeface="Roboto Condensed Medium" pitchFamily="34" charset="-120"/>
              </a:rPr>
              <a:t>CONSUMO ADICIONAL POTENCIAL
</a:t>
            </a:r>
            <a:r>
              <a:rPr lang="es-419" sz="1150" b="1" noProof="0">
                <a:solidFill>
                  <a:srgbClr val="2A3FE0"/>
                </a:solidFill>
                <a:latin typeface="Roboto Condensed Medium" pitchFamily="34" charset="0"/>
                <a:ea typeface="Roboto Condensed Medium" pitchFamily="34" charset="-122"/>
                <a:cs typeface="Roboto Condensed Medium" pitchFamily="34" charset="-120"/>
              </a:rPr>
              <a:t>USD 0,01 por AI Credit</a:t>
            </a:r>
          </a:p>
          <a:p>
            <a:pPr marL="0" indent="0" algn="l">
              <a:buNone/>
            </a:pPr>
            <a:r>
              <a:rPr lang="es-419" sz="650" b="1" noProof="0">
                <a:solidFill>
                  <a:srgbClr val="6E7278"/>
                </a:solidFill>
                <a:latin typeface="Roboto Condensed" pitchFamily="34" charset="0"/>
                <a:ea typeface="Roboto Condensed" pitchFamily="34" charset="-122"/>
                <a:cs typeface="Roboto Condensed" pitchFamily="34" charset="-120"/>
              </a:rPr>
              <a:t>No contemplado en el escenario financiero actual. El uso adicional permanecerá sujeto a las políticas, presupuestos y límites configurados.</a:t>
            </a:r>
          </a:p>
          <a:p>
            <a:pPr marL="0" indent="0" algn="l">
              <a:buNone/>
            </a:pPr>
            <a:r>
              <a:rPr lang="es-419" sz="650" b="0" noProof="0">
                <a:solidFill>
                  <a:srgbClr val="6E7278"/>
                </a:solidFill>
                <a:latin typeface="Roboto Condensed" pitchFamily="34" charset="0"/>
                <a:ea typeface="Roboto Condensed" pitchFamily="34" charset="-122"/>
                <a:cs typeface="Roboto Condensed" pitchFamily="34" charset="-120"/>
              </a:rPr>
              <a:t>El cargo adicional aplicaría únicamente si se habilita 'AI credit paid usage' y el pool compartido incluido ya se encuentra agotado.</a:t>
            </a:r>
          </a:p>
          <a:p>
            <a:pPr marL="0" indent="0" algn="l">
              <a:buNone/>
            </a:pPr>
            <a:r>
              <a:rPr lang="es-419" sz="650" b="0" noProof="0">
                <a:solidFill>
                  <a:srgbClr val="6E7278"/>
                </a:solidFill>
                <a:latin typeface="Roboto Condensed" pitchFamily="34" charset="0"/>
                <a:ea typeface="Roboto Condensed" pitchFamily="34" charset="-122"/>
                <a:cs typeface="Roboto Condensed" pitchFamily="34" charset="-120"/>
              </a:rPr>
              <a:t>Si 'AI credit paid usage' permanece deshabilitado, las funcionalidades sujetas a AI Credits se bloquean al agotarse el pool compartido hasta el siguiente ciclo de facturación.</a:t>
            </a:r>
            <a:endParaRPr lang="es-419" sz="650" noProof="0"/>
          </a:p>
        </p:txBody>
      </p:sp>
      <p:sp>
        <p:nvSpPr>
          <p:cNvPr id="31" name="card">
            <a:extLst>
              <a:ext uri="{C183D7F6-B498-43B3-948B-1728B52AA6E4}">
                <adec:decorative xmlns:adec="http://schemas.microsoft.com/office/drawing/2017/decorative" val="1"/>
              </a:ext>
            </a:extLst>
          </p:cNvPr>
          <p:cNvSpPr/>
          <p:nvPr/>
        </p:nvSpPr>
        <p:spPr>
          <a:xfrm>
            <a:off x="8357616" y="5312663"/>
            <a:ext cx="3145536" cy="1014983"/>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32" name="Text 30"/>
          <p:cNvSpPr/>
          <p:nvPr/>
        </p:nvSpPr>
        <p:spPr>
          <a:xfrm>
            <a:off x="8540496" y="5312664"/>
            <a:ext cx="2761488" cy="1100000"/>
          </a:xfrm>
          <a:prstGeom prst="rect">
            <a:avLst/>
          </a:prstGeom>
          <a:noFill/>
          <a:ln/>
        </p:spPr>
        <p:txBody>
          <a:bodyPr wrap="square" lIns="0" tIns="0" rIns="0" bIns="0" rtlCol="0" anchor="ctr"/>
          <a:lstStyle/>
          <a:p>
            <a:pPr marL="0" indent="0" algn="l">
              <a:buNone/>
            </a:pPr>
            <a:r>
              <a:rPr lang="es-419" sz="980" noProof="0">
                <a:solidFill>
                  <a:srgbClr val="33373D"/>
                </a:solidFill>
                <a:latin typeface="Roboto Condensed" pitchFamily="34" charset="0"/>
                <a:ea typeface="Roboto Condensed" pitchFamily="34" charset="-122"/>
                <a:cs typeface="Roboto Condensed" pitchFamily="34" charset="-120"/>
              </a:rPr>
              <a:t>Desde el 1 de junio de 2026, las funcionalidades de </a:t>
            </a:r>
            <a:r>
              <a:rPr lang="es-419" sz="980" noProof="0" err="1">
                <a:solidFill>
                  <a:srgbClr val="33373D"/>
                </a:solidFill>
                <a:latin typeface="Roboto Condensed" pitchFamily="34" charset="0"/>
                <a:ea typeface="Roboto Condensed" pitchFamily="34" charset="-122"/>
                <a:cs typeface="Roboto Condensed" pitchFamily="34" charset="-120"/>
              </a:rPr>
              <a:t>Copilot</a:t>
            </a:r>
            <a:r>
              <a:rPr lang="es-419" sz="980" noProof="0">
                <a:solidFill>
                  <a:srgbClr val="33373D"/>
                </a:solidFill>
                <a:latin typeface="Roboto Condensed" pitchFamily="34" charset="0"/>
                <a:ea typeface="Roboto Condensed" pitchFamily="34" charset="-122"/>
                <a:cs typeface="Roboto Condensed" pitchFamily="34" charset="-120"/>
              </a:rPr>
              <a:t> que consumen AI </a:t>
            </a:r>
            <a:r>
              <a:rPr lang="es-419" sz="980" noProof="0" err="1">
                <a:solidFill>
                  <a:srgbClr val="33373D"/>
                </a:solidFill>
                <a:latin typeface="Roboto Condensed" pitchFamily="34" charset="0"/>
                <a:ea typeface="Roboto Condensed" pitchFamily="34" charset="-122"/>
                <a:cs typeface="Roboto Condensed" pitchFamily="34" charset="-120"/>
              </a:rPr>
              <a:t>Credits</a:t>
            </a:r>
            <a:r>
              <a:rPr lang="es-419" sz="980" noProof="0">
                <a:solidFill>
                  <a:srgbClr val="33373D"/>
                </a:solidFill>
                <a:latin typeface="Roboto Condensed" pitchFamily="34" charset="0"/>
                <a:ea typeface="Roboto Condensed" pitchFamily="34" charset="-122"/>
                <a:cs typeface="Roboto Condensed" pitchFamily="34" charset="-120"/>
              </a:rPr>
              <a:t> se miden bajo este modelo. Las </a:t>
            </a:r>
            <a:r>
              <a:rPr lang="es-419" sz="980" noProof="0" err="1">
                <a:solidFill>
                  <a:srgbClr val="33373D"/>
                </a:solidFill>
                <a:latin typeface="Roboto Condensed" pitchFamily="34" charset="0"/>
                <a:ea typeface="Roboto Condensed" pitchFamily="34" charset="-122"/>
                <a:cs typeface="Roboto Condensed" pitchFamily="34" charset="-120"/>
              </a:rPr>
              <a:t>code</a:t>
            </a:r>
            <a:r>
              <a:rPr lang="es-419" sz="980" noProof="0">
                <a:solidFill>
                  <a:srgbClr val="33373D"/>
                </a:solidFill>
                <a:latin typeface="Roboto Condensed" pitchFamily="34" charset="0"/>
                <a:ea typeface="Roboto Condensed" pitchFamily="34" charset="-122"/>
                <a:cs typeface="Roboto Condensed" pitchFamily="34" charset="-120"/>
              </a:rPr>
              <a:t> </a:t>
            </a:r>
            <a:r>
              <a:rPr lang="es-419" sz="980" noProof="0" err="1">
                <a:solidFill>
                  <a:srgbClr val="33373D"/>
                </a:solidFill>
                <a:latin typeface="Roboto Condensed" pitchFamily="34" charset="0"/>
                <a:ea typeface="Roboto Condensed" pitchFamily="34" charset="-122"/>
                <a:cs typeface="Roboto Condensed" pitchFamily="34" charset="-120"/>
              </a:rPr>
              <a:t>completions</a:t>
            </a:r>
            <a:r>
              <a:rPr lang="es-419" sz="980" noProof="0">
                <a:solidFill>
                  <a:srgbClr val="33373D"/>
                </a:solidFill>
                <a:latin typeface="Roboto Condensed" pitchFamily="34" charset="0"/>
                <a:ea typeface="Roboto Condensed" pitchFamily="34" charset="-122"/>
                <a:cs typeface="Roboto Condensed" pitchFamily="34" charset="-120"/>
              </a:rPr>
              <a:t> y Next Edit </a:t>
            </a:r>
            <a:r>
              <a:rPr lang="es-419" sz="980" noProof="0" err="1">
                <a:solidFill>
                  <a:srgbClr val="33373D"/>
                </a:solidFill>
                <a:latin typeface="Roboto Condensed" pitchFamily="34" charset="0"/>
                <a:ea typeface="Roboto Condensed" pitchFamily="34" charset="-122"/>
                <a:cs typeface="Roboto Condensed" pitchFamily="34" charset="-120"/>
              </a:rPr>
              <a:t>Suggestions</a:t>
            </a:r>
            <a:r>
              <a:rPr lang="es-419" sz="980" noProof="0">
                <a:solidFill>
                  <a:srgbClr val="33373D"/>
                </a:solidFill>
                <a:latin typeface="Roboto Condensed" pitchFamily="34" charset="0"/>
                <a:ea typeface="Roboto Condensed" pitchFamily="34" charset="-122"/>
                <a:cs typeface="Roboto Condensed" pitchFamily="34" charset="-120"/>
              </a:rPr>
              <a:t> permanecen incluidas sin consumo de AI </a:t>
            </a:r>
            <a:r>
              <a:rPr lang="es-419" sz="980" noProof="0" err="1">
                <a:solidFill>
                  <a:srgbClr val="33373D"/>
                </a:solidFill>
                <a:latin typeface="Roboto Condensed" pitchFamily="34" charset="0"/>
                <a:ea typeface="Roboto Condensed" pitchFamily="34" charset="-122"/>
                <a:cs typeface="Roboto Condensed" pitchFamily="34" charset="-120"/>
              </a:rPr>
              <a:t>Credits</a:t>
            </a:r>
            <a:r>
              <a:rPr lang="es-419" sz="980" noProof="0">
                <a:solidFill>
                  <a:srgbClr val="33373D"/>
                </a:solidFill>
                <a:latin typeface="Roboto Condensed" pitchFamily="34" charset="0"/>
                <a:ea typeface="Roboto Condensed" pitchFamily="34" charset="-122"/>
                <a:cs typeface="Roboto Condensed" pitchFamily="34" charset="-120"/>
              </a:rPr>
              <a:t> en los planes pagos.</a:t>
            </a:r>
            <a:endParaRPr lang="es-419" sz="980" noProof="0" dirty="0"/>
          </a:p>
        </p:txBody>
      </p:sp>
      <p:sp>
        <p:nvSpPr>
          <p:cNvPr id="33" name="Text 31"/>
          <p:cNvSpPr/>
          <p:nvPr/>
        </p:nvSpPr>
        <p:spPr>
          <a:xfrm>
            <a:off x="685800" y="6437376"/>
            <a:ext cx="8686800" cy="292608"/>
          </a:xfrm>
          <a:prstGeom prst="rect">
            <a:avLst/>
          </a:prstGeom>
          <a:noFill/>
          <a:ln/>
        </p:spPr>
        <p:txBody>
          <a:bodyPr wrap="square" lIns="0" tIns="0" rIns="0" bIns="0" rtlCol="0" anchor="ctr"/>
          <a:lstStyle/>
          <a:p>
            <a:pPr marL="0" indent="0" algn="l">
              <a:buNone/>
            </a:pPr>
            <a:r>
              <a:rPr lang="es-419" sz="850" b="1" noProof="0">
                <a:solidFill>
                  <a:srgbClr val="000000"/>
                </a:solidFill>
                <a:latin typeface="Roboto Condensed" pitchFamily="34" charset="0"/>
                <a:ea typeface="Roboto Condensed" pitchFamily="34" charset="-122"/>
                <a:cs typeface="Roboto Condensed" pitchFamily="34" charset="-120"/>
              </a:rPr>
              <a:t>Tuya</a:t>
            </a:r>
            <a:r>
              <a:rPr lang="es-419" sz="850" noProof="0">
                <a:solidFill>
                  <a:srgbClr val="5B6068"/>
                </a:solidFill>
                <a:latin typeface="Roboto Condensed" pitchFamily="34" charset="0"/>
                <a:ea typeface="Roboto Condensed" pitchFamily="34" charset="-122"/>
                <a:cs typeface="Roboto Condensed" pitchFamily="34" charset="-120"/>
              </a:rPr>
              <a:t>   ·   GitHub </a:t>
            </a:r>
            <a:r>
              <a:rPr lang="es-419" sz="850" noProof="0" err="1">
                <a:solidFill>
                  <a:srgbClr val="5B6068"/>
                </a:solidFill>
                <a:latin typeface="Roboto Condensed" pitchFamily="34" charset="0"/>
                <a:ea typeface="Roboto Condensed" pitchFamily="34" charset="-122"/>
                <a:cs typeface="Roboto Condensed" pitchFamily="34" charset="-120"/>
              </a:rPr>
              <a:t>Copilot</a:t>
            </a:r>
            <a:r>
              <a:rPr lang="es-419" sz="850" noProof="0">
                <a:solidFill>
                  <a:srgbClr val="5B6068"/>
                </a:solidFill>
                <a:latin typeface="Roboto Condensed" pitchFamily="34" charset="0"/>
                <a:ea typeface="Roboto Condensed" pitchFamily="34" charset="-122"/>
                <a:cs typeface="Roboto Condensed" pitchFamily="34" charset="-120"/>
              </a:rPr>
              <a:t> - Resultados de la Prueba de Concepto</a:t>
            </a:r>
            <a:endParaRPr lang="es-419" sz="850" noProof="0" dirty="0"/>
          </a:p>
        </p:txBody>
      </p:sp>
      <p:sp>
        <p:nvSpPr>
          <p:cNvPr id="34" name="Text 32"/>
          <p:cNvSpPr/>
          <p:nvPr/>
        </p:nvSpPr>
        <p:spPr>
          <a:xfrm>
            <a:off x="10972800" y="6437376"/>
            <a:ext cx="530352" cy="292608"/>
          </a:xfrm>
          <a:prstGeom prst="rect">
            <a:avLst/>
          </a:prstGeom>
          <a:noFill/>
          <a:ln/>
        </p:spPr>
        <p:txBody>
          <a:bodyPr wrap="square" lIns="0" tIns="0" rIns="0" bIns="0" rtlCol="0" anchor="ctr"/>
          <a:lstStyle/>
          <a:p>
            <a:pPr marL="0" indent="0" algn="r">
              <a:buNone/>
            </a:pPr>
            <a:r>
              <a:rPr lang="es-419" sz="900" b="1" noProof="0">
                <a:solidFill>
                  <a:srgbClr val="2A3FE0"/>
                </a:solidFill>
                <a:latin typeface="Roboto Condensed Medium" pitchFamily="34" charset="0"/>
                <a:ea typeface="Roboto Condensed Medium" pitchFamily="34" charset="-122"/>
                <a:cs typeface="Roboto Condensed Medium" pitchFamily="34" charset="-120"/>
              </a:rPr>
              <a:t>05</a:t>
            </a:r>
            <a:endParaRPr lang="es-419" sz="900" noProof="0" dirty="0"/>
          </a:p>
        </p:txBody>
      </p:sp>
      <p:pic>
        <p:nvPicPr>
          <p:cNvPr id="950" name="Logo Tuya"/>
          <p:cNvPicPr>
            <a:picLocks noChangeAspect="1"/>
          </p:cNvPicPr>
          <p:nvPr/>
        </p:nvPicPr>
        <p:blipFill>
          <a:blip r:embed="rId3"/>
          <a:stretch>
            <a:fillRect/>
          </a:stretch>
        </p:blipFill>
        <p:spPr>
          <a:xfrm>
            <a:off x="11152200" y="321276"/>
            <a:ext cx="640080" cy="3200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mark">
            <a:extLst>
              <a:ext uri="{C183D7F6-B498-43B3-948B-1728B52AA6E4}">
                <adec:decorative xmlns:adec="http://schemas.microsoft.com/office/drawing/2017/decorative" val="1"/>
              </a:ext>
            </a:extLst>
          </p:cNvPr>
          <p:cNvSpPr/>
          <p:nvPr/>
        </p:nvSpPr>
        <p:spPr>
          <a:xfrm>
            <a:off x="685800" y="402336"/>
            <a:ext cx="146304" cy="146304"/>
          </a:xfrm>
          <a:prstGeom prst="rect">
            <a:avLst/>
          </a:prstGeom>
          <a:solidFill>
            <a:srgbClr val="2A3FE0"/>
          </a:solidFill>
          <a:ln/>
        </p:spPr>
        <p:txBody>
          <a:bodyPr/>
          <a:lstStyle/>
          <a:p>
            <a:endParaRPr lang="es-419" noProof="0" dirty="0"/>
          </a:p>
        </p:txBody>
      </p:sp>
      <p:sp>
        <p:nvSpPr>
          <p:cNvPr id="3" name="Text 1"/>
          <p:cNvSpPr/>
          <p:nvPr/>
        </p:nvSpPr>
        <p:spPr>
          <a:xfrm>
            <a:off x="932688" y="310896"/>
            <a:ext cx="9601200" cy="310896"/>
          </a:xfrm>
          <a:prstGeom prst="rect">
            <a:avLst/>
          </a:prstGeom>
          <a:noFill/>
          <a:ln/>
        </p:spPr>
        <p:txBody>
          <a:bodyPr wrap="square" lIns="0" tIns="0" rIns="0" bIns="0" rtlCol="0" anchor="ctr"/>
          <a:lstStyle/>
          <a:p>
            <a:pPr marL="0" indent="0" algn="l">
              <a:buNone/>
            </a:pPr>
            <a:r>
              <a:rPr lang="es-419" sz="1150" b="1" kern="0" spc="200" noProof="0">
                <a:solidFill>
                  <a:srgbClr val="2A3FE0"/>
                </a:solidFill>
                <a:latin typeface="Roboto Condensed Medium" pitchFamily="34" charset="0"/>
                <a:ea typeface="Roboto Condensed Medium" pitchFamily="34" charset="-122"/>
                <a:cs typeface="Roboto Condensed Medium" pitchFamily="34" charset="-120"/>
              </a:rPr>
              <a:t>COSTO DE ESCALAMIENTO DE GITHUB COPILOT</a:t>
            </a:r>
            <a:endParaRPr lang="es-419" sz="1150" noProof="0" dirty="0"/>
          </a:p>
        </p:txBody>
      </p:sp>
      <p:sp>
        <p:nvSpPr>
          <p:cNvPr id="4" name="Text 0"/>
          <p:cNvSpPr>
            <a:spLocks noGrp="1"/>
          </p:cNvSpPr>
          <p:nvPr>
            <p:ph type="title" idx="100" hasCustomPrompt="1"/>
          </p:nvPr>
        </p:nvSpPr>
        <p:spPr>
          <a:xfrm>
            <a:off x="685800" y="658368"/>
            <a:ext cx="10789920" cy="822960"/>
          </a:xfrm>
          <a:prstGeom prst="rect">
            <a:avLst/>
          </a:prstGeom>
          <a:noFill/>
          <a:ln/>
        </p:spPr>
        <p:txBody>
          <a:bodyPr wrap="square" lIns="0" tIns="0" rIns="0" bIns="0" rtlCol="0" anchor="t"/>
          <a:lstStyle/>
          <a:p>
            <a:pPr marL="0" indent="0" algn="l">
              <a:buNone/>
            </a:pPr>
            <a:r>
              <a:rPr lang="es-419" sz="2700" b="1" noProof="0">
                <a:solidFill>
                  <a:srgbClr val="000000"/>
                </a:solidFill>
                <a:latin typeface="Roboto Condensed Medium" pitchFamily="34" charset="0"/>
                <a:ea typeface="Roboto Condensed Medium" pitchFamily="34" charset="-122"/>
                <a:cs typeface="Roboto Condensed Medium" pitchFamily="34" charset="-120"/>
              </a:rPr>
              <a:t>Inversión base para 70 desarrolladores</a:t>
            </a:r>
            <a:endParaRPr lang="es-419" sz="2700" noProof="0" dirty="0"/>
          </a:p>
        </p:txBody>
      </p:sp>
      <p:sp>
        <p:nvSpPr>
          <p:cNvPr id="5" name="card">
            <a:extLst>
              <a:ext uri="{C183D7F6-B498-43B3-948B-1728B52AA6E4}">
                <adec:decorative xmlns:adec="http://schemas.microsoft.com/office/drawing/2017/decorative" val="1"/>
              </a:ext>
            </a:extLst>
          </p:cNvPr>
          <p:cNvSpPr/>
          <p:nvPr/>
        </p:nvSpPr>
        <p:spPr>
          <a:xfrm>
            <a:off x="685800" y="1691640"/>
            <a:ext cx="6537960" cy="4008360"/>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6" name="Text 4"/>
          <p:cNvSpPr/>
          <p:nvPr/>
        </p:nvSpPr>
        <p:spPr>
          <a:xfrm>
            <a:off x="960120" y="1911096"/>
            <a:ext cx="5989320" cy="310896"/>
          </a:xfrm>
          <a:prstGeom prst="rect">
            <a:avLst/>
          </a:prstGeom>
          <a:noFill/>
          <a:ln/>
        </p:spPr>
        <p:txBody>
          <a:bodyPr wrap="square" lIns="0" tIns="0" rIns="0" bIns="0" rtlCol="0" anchor="ctr"/>
          <a:lstStyle/>
          <a:p>
            <a:pPr marL="0" indent="0">
              <a:buNone/>
            </a:pPr>
            <a:r>
              <a:rPr lang="es-419" sz="1250" b="1" kern="0" spc="100" noProof="0">
                <a:solidFill>
                  <a:srgbClr val="000000"/>
                </a:solidFill>
                <a:latin typeface="Roboto Condensed Medium" pitchFamily="34" charset="0"/>
                <a:ea typeface="Roboto Condensed Medium" pitchFamily="34" charset="-122"/>
                <a:cs typeface="Roboto Condensed Medium" pitchFamily="34" charset="-120"/>
              </a:rPr>
              <a:t>ESTRUCTURA DE COSTOS</a:t>
            </a:r>
            <a:endParaRPr lang="es-419" sz="1250" noProof="0" dirty="0"/>
          </a:p>
        </p:txBody>
      </p:sp>
      <p:sp>
        <p:nvSpPr>
          <p:cNvPr id="7" name="Text 5"/>
          <p:cNvSpPr/>
          <p:nvPr/>
        </p:nvSpPr>
        <p:spPr>
          <a:xfrm>
            <a:off x="978408" y="2368296"/>
            <a:ext cx="3294126" cy="422910"/>
          </a:xfrm>
          <a:prstGeom prst="rect">
            <a:avLst/>
          </a:prstGeom>
          <a:noFill/>
          <a:ln/>
        </p:spPr>
        <p:txBody>
          <a:bodyPr wrap="square" lIns="0" tIns="0" rIns="0" bIns="0" rtlCol="0" anchor="ctr"/>
          <a:lstStyle/>
          <a:p>
            <a:pPr marL="0" indent="0" algn="l">
              <a:buNone/>
            </a:pPr>
            <a:r>
              <a:rPr lang="es-419" sz="1200" noProof="0">
                <a:solidFill>
                  <a:srgbClr val="33373D"/>
                </a:solidFill>
                <a:latin typeface="Roboto Condensed" pitchFamily="34" charset="0"/>
                <a:ea typeface="Roboto Condensed" pitchFamily="34" charset="-122"/>
                <a:cs typeface="Roboto Condensed" pitchFamily="34" charset="-120"/>
              </a:rPr>
              <a:t>Usuarios objetivo</a:t>
            </a:r>
            <a:endParaRPr lang="es-419" sz="1200" noProof="0" dirty="0"/>
          </a:p>
        </p:txBody>
      </p:sp>
      <p:sp>
        <p:nvSpPr>
          <p:cNvPr id="8" name="Text 6"/>
          <p:cNvSpPr/>
          <p:nvPr/>
        </p:nvSpPr>
        <p:spPr>
          <a:xfrm>
            <a:off x="3973068" y="2368296"/>
            <a:ext cx="2994660" cy="422910"/>
          </a:xfrm>
          <a:prstGeom prst="rect">
            <a:avLst/>
          </a:prstGeom>
          <a:noFill/>
          <a:ln/>
        </p:spPr>
        <p:txBody>
          <a:bodyPr wrap="square" lIns="0" tIns="0" rIns="0" bIns="0" rtlCol="0" anchor="ctr"/>
          <a:lstStyle/>
          <a:p>
            <a:pPr marL="0" indent="0" algn="r">
              <a:buNone/>
            </a:pPr>
            <a:r>
              <a:rPr lang="es-419" sz="1200" b="1" noProof="0">
                <a:solidFill>
                  <a:srgbClr val="2A3FE0"/>
                </a:solidFill>
                <a:latin typeface="Roboto Condensed Medium" pitchFamily="34" charset="0"/>
                <a:ea typeface="Roboto Condensed Medium" pitchFamily="34" charset="-122"/>
                <a:cs typeface="Roboto Condensed Medium" pitchFamily="34" charset="-120"/>
              </a:rPr>
              <a:t>70 desarrolladores</a:t>
            </a:r>
            <a:endParaRPr lang="es-419" sz="1200" noProof="0" dirty="0"/>
          </a:p>
        </p:txBody>
      </p:sp>
      <p:sp>
        <p:nvSpPr>
          <p:cNvPr id="9" name="row divider">
            <a:extLst>
              <a:ext uri="{C183D7F6-B498-43B3-948B-1728B52AA6E4}">
                <adec:decorative xmlns:adec="http://schemas.microsoft.com/office/drawing/2017/decorative" val="1"/>
              </a:ext>
            </a:extLst>
          </p:cNvPr>
          <p:cNvSpPr/>
          <p:nvPr/>
        </p:nvSpPr>
        <p:spPr>
          <a:xfrm>
            <a:off x="960120" y="2791206"/>
            <a:ext cx="5989320" cy="0"/>
          </a:xfrm>
          <a:prstGeom prst="line">
            <a:avLst/>
          </a:prstGeom>
          <a:noFill/>
          <a:ln w="12700">
            <a:solidFill>
              <a:srgbClr val="E6E8EF"/>
            </a:solidFill>
            <a:prstDash val="solid"/>
          </a:ln>
        </p:spPr>
        <p:txBody>
          <a:bodyPr/>
          <a:lstStyle/>
          <a:p>
            <a:endParaRPr lang="es-419" noProof="0" dirty="0"/>
          </a:p>
        </p:txBody>
      </p:sp>
      <p:sp>
        <p:nvSpPr>
          <p:cNvPr id="10" name="Text 8"/>
          <p:cNvSpPr/>
          <p:nvPr/>
        </p:nvSpPr>
        <p:spPr>
          <a:xfrm>
            <a:off x="978408" y="2791206"/>
            <a:ext cx="3294126" cy="422910"/>
          </a:xfrm>
          <a:prstGeom prst="rect">
            <a:avLst/>
          </a:prstGeom>
          <a:noFill/>
          <a:ln/>
        </p:spPr>
        <p:txBody>
          <a:bodyPr wrap="square" lIns="0" tIns="0" rIns="0" bIns="0" rtlCol="0" anchor="ctr"/>
          <a:lstStyle/>
          <a:p>
            <a:pPr marL="0" indent="0" algn="l">
              <a:buNone/>
            </a:pPr>
            <a:r>
              <a:rPr lang="es-419" sz="1200" noProof="0">
                <a:solidFill>
                  <a:srgbClr val="33373D"/>
                </a:solidFill>
                <a:latin typeface="Roboto Condensed" pitchFamily="34" charset="0"/>
                <a:ea typeface="Roboto Condensed" pitchFamily="34" charset="-122"/>
                <a:cs typeface="Roboto Condensed" pitchFamily="34" charset="-120"/>
              </a:rPr>
              <a:t>Plan considerado</a:t>
            </a:r>
            <a:endParaRPr lang="es-419" sz="1200" noProof="0" dirty="0"/>
          </a:p>
        </p:txBody>
      </p:sp>
      <p:sp>
        <p:nvSpPr>
          <p:cNvPr id="11" name="Text 9"/>
          <p:cNvSpPr/>
          <p:nvPr/>
        </p:nvSpPr>
        <p:spPr>
          <a:xfrm>
            <a:off x="3973068" y="2791206"/>
            <a:ext cx="2994660" cy="422910"/>
          </a:xfrm>
          <a:prstGeom prst="rect">
            <a:avLst/>
          </a:prstGeom>
          <a:noFill/>
          <a:ln/>
        </p:spPr>
        <p:txBody>
          <a:bodyPr wrap="square" lIns="0" tIns="0" rIns="0" bIns="0" rtlCol="0" anchor="ctr"/>
          <a:lstStyle/>
          <a:p>
            <a:pPr marL="0" indent="0" algn="r">
              <a:buNone/>
            </a:pPr>
            <a:r>
              <a:rPr lang="es-419" sz="1200" b="1" noProof="0">
                <a:solidFill>
                  <a:srgbClr val="2A3FE0"/>
                </a:solidFill>
                <a:latin typeface="Roboto Condensed Medium" pitchFamily="34" charset="0"/>
                <a:ea typeface="Roboto Condensed Medium" pitchFamily="34" charset="-122"/>
                <a:cs typeface="Roboto Condensed Medium" pitchFamily="34" charset="-120"/>
              </a:rPr>
              <a:t>GitHub Copilot Business</a:t>
            </a:r>
            <a:endParaRPr lang="es-419" sz="1200" noProof="0" dirty="0"/>
          </a:p>
        </p:txBody>
      </p:sp>
      <p:sp>
        <p:nvSpPr>
          <p:cNvPr id="12" name="row divider">
            <a:extLst>
              <a:ext uri="{C183D7F6-B498-43B3-948B-1728B52AA6E4}">
                <adec:decorative xmlns:adec="http://schemas.microsoft.com/office/drawing/2017/decorative" val="1"/>
              </a:ext>
            </a:extLst>
          </p:cNvPr>
          <p:cNvSpPr/>
          <p:nvPr/>
        </p:nvSpPr>
        <p:spPr>
          <a:xfrm>
            <a:off x="960120" y="3214116"/>
            <a:ext cx="5989320" cy="0"/>
          </a:xfrm>
          <a:prstGeom prst="line">
            <a:avLst/>
          </a:prstGeom>
          <a:noFill/>
          <a:ln w="12700">
            <a:solidFill>
              <a:srgbClr val="E6E8EF"/>
            </a:solidFill>
            <a:prstDash val="solid"/>
          </a:ln>
        </p:spPr>
        <p:txBody>
          <a:bodyPr/>
          <a:lstStyle/>
          <a:p>
            <a:endParaRPr lang="es-419" noProof="0" dirty="0"/>
          </a:p>
        </p:txBody>
      </p:sp>
      <p:sp>
        <p:nvSpPr>
          <p:cNvPr id="13" name="Text 11"/>
          <p:cNvSpPr/>
          <p:nvPr/>
        </p:nvSpPr>
        <p:spPr>
          <a:xfrm>
            <a:off x="978408" y="3214116"/>
            <a:ext cx="3294126" cy="422910"/>
          </a:xfrm>
          <a:prstGeom prst="rect">
            <a:avLst/>
          </a:prstGeom>
          <a:noFill/>
          <a:ln/>
        </p:spPr>
        <p:txBody>
          <a:bodyPr wrap="square" lIns="0" tIns="0" rIns="0" bIns="0" rtlCol="0" anchor="ctr"/>
          <a:lstStyle/>
          <a:p>
            <a:pPr marL="0" indent="0" algn="l">
              <a:buNone/>
            </a:pPr>
            <a:r>
              <a:rPr lang="es-419" sz="1200" noProof="0">
                <a:solidFill>
                  <a:srgbClr val="33373D"/>
                </a:solidFill>
                <a:latin typeface="Roboto Condensed" pitchFamily="34" charset="0"/>
                <a:ea typeface="Roboto Condensed" pitchFamily="34" charset="-122"/>
                <a:cs typeface="Roboto Condensed" pitchFamily="34" charset="-120"/>
              </a:rPr>
              <a:t>Costo unitario</a:t>
            </a:r>
            <a:endParaRPr lang="es-419" sz="1200" noProof="0" dirty="0"/>
          </a:p>
        </p:txBody>
      </p:sp>
      <p:sp>
        <p:nvSpPr>
          <p:cNvPr id="14" name="Text 12"/>
          <p:cNvSpPr/>
          <p:nvPr/>
        </p:nvSpPr>
        <p:spPr>
          <a:xfrm>
            <a:off x="3973068" y="3214116"/>
            <a:ext cx="2994660" cy="422910"/>
          </a:xfrm>
          <a:prstGeom prst="rect">
            <a:avLst/>
          </a:prstGeom>
          <a:noFill/>
          <a:ln/>
        </p:spPr>
        <p:txBody>
          <a:bodyPr wrap="square" lIns="0" tIns="0" rIns="0" bIns="0" rtlCol="0" anchor="ctr"/>
          <a:lstStyle/>
          <a:p>
            <a:pPr marL="0" indent="0" algn="r">
              <a:buNone/>
            </a:pPr>
            <a:r>
              <a:rPr lang="es-419" sz="1200" b="1" noProof="0">
                <a:solidFill>
                  <a:srgbClr val="2A3FE0"/>
                </a:solidFill>
                <a:latin typeface="Roboto Condensed Medium" pitchFamily="34" charset="0"/>
                <a:ea typeface="Roboto Condensed Medium" pitchFamily="34" charset="-122"/>
                <a:cs typeface="Roboto Condensed Medium" pitchFamily="34" charset="-120"/>
              </a:rPr>
              <a:t>USD 19 / usuario / mes</a:t>
            </a:r>
            <a:endParaRPr lang="es-419" sz="1200" noProof="0" dirty="0"/>
          </a:p>
        </p:txBody>
      </p:sp>
      <p:sp>
        <p:nvSpPr>
          <p:cNvPr id="15" name="row divider">
            <a:extLst>
              <a:ext uri="{C183D7F6-B498-43B3-948B-1728B52AA6E4}">
                <adec:decorative xmlns:adec="http://schemas.microsoft.com/office/drawing/2017/decorative" val="1"/>
              </a:ext>
            </a:extLst>
          </p:cNvPr>
          <p:cNvSpPr/>
          <p:nvPr/>
        </p:nvSpPr>
        <p:spPr>
          <a:xfrm>
            <a:off x="960120" y="3637026"/>
            <a:ext cx="5989320" cy="0"/>
          </a:xfrm>
          <a:prstGeom prst="line">
            <a:avLst/>
          </a:prstGeom>
          <a:noFill/>
          <a:ln w="12700">
            <a:solidFill>
              <a:srgbClr val="E6E8EF"/>
            </a:solidFill>
            <a:prstDash val="solid"/>
          </a:ln>
        </p:spPr>
        <p:txBody>
          <a:bodyPr/>
          <a:lstStyle/>
          <a:p>
            <a:endParaRPr lang="es-419" noProof="0" dirty="0"/>
          </a:p>
        </p:txBody>
      </p:sp>
      <p:sp>
        <p:nvSpPr>
          <p:cNvPr id="16" name="Text 14"/>
          <p:cNvSpPr/>
          <p:nvPr/>
        </p:nvSpPr>
        <p:spPr>
          <a:xfrm>
            <a:off x="978408" y="3637026"/>
            <a:ext cx="3294126" cy="422910"/>
          </a:xfrm>
          <a:prstGeom prst="rect">
            <a:avLst/>
          </a:prstGeom>
          <a:noFill/>
          <a:ln/>
        </p:spPr>
        <p:txBody>
          <a:bodyPr wrap="square" lIns="0" tIns="0" rIns="0" bIns="0" rtlCol="0" anchor="ctr"/>
          <a:lstStyle/>
          <a:p>
            <a:pPr marL="0" indent="0" algn="l">
              <a:buNone/>
            </a:pPr>
            <a:r>
              <a:rPr lang="es-419" sz="1200" noProof="0">
                <a:solidFill>
                  <a:srgbClr val="33373D"/>
                </a:solidFill>
                <a:latin typeface="Roboto Condensed" pitchFamily="34" charset="0"/>
                <a:ea typeface="Roboto Condensed" pitchFamily="34" charset="-122"/>
                <a:cs typeface="Roboto Condensed" pitchFamily="34" charset="-120"/>
              </a:rPr>
              <a:t>Costo mensual base</a:t>
            </a:r>
            <a:endParaRPr lang="es-419" sz="1200" noProof="0" dirty="0"/>
          </a:p>
        </p:txBody>
      </p:sp>
      <p:sp>
        <p:nvSpPr>
          <p:cNvPr id="17" name="Text 15"/>
          <p:cNvSpPr/>
          <p:nvPr/>
        </p:nvSpPr>
        <p:spPr>
          <a:xfrm>
            <a:off x="3973068" y="3637026"/>
            <a:ext cx="2994660" cy="422910"/>
          </a:xfrm>
          <a:prstGeom prst="rect">
            <a:avLst/>
          </a:prstGeom>
          <a:noFill/>
          <a:ln/>
        </p:spPr>
        <p:txBody>
          <a:bodyPr wrap="square" lIns="0" tIns="0" rIns="0" bIns="0" rtlCol="0" anchor="ctr"/>
          <a:lstStyle/>
          <a:p>
            <a:pPr marL="0" indent="0" algn="r">
              <a:buNone/>
            </a:pPr>
            <a:r>
              <a:rPr lang="es-419" sz="1200" b="1" noProof="0">
                <a:solidFill>
                  <a:srgbClr val="2A3FE0"/>
                </a:solidFill>
                <a:latin typeface="Roboto Condensed Medium" pitchFamily="34" charset="0"/>
                <a:ea typeface="Roboto Condensed Medium" pitchFamily="34" charset="-122"/>
                <a:cs typeface="Roboto Condensed Medium" pitchFamily="34" charset="-120"/>
              </a:rPr>
              <a:t>USD 1.330</a:t>
            </a:r>
            <a:endParaRPr lang="es-419" sz="1200" noProof="0" dirty="0"/>
          </a:p>
        </p:txBody>
      </p:sp>
      <p:sp>
        <p:nvSpPr>
          <p:cNvPr id="18" name="row divider">
            <a:extLst>
              <a:ext uri="{C183D7F6-B498-43B3-948B-1728B52AA6E4}">
                <adec:decorative xmlns:adec="http://schemas.microsoft.com/office/drawing/2017/decorative" val="1"/>
              </a:ext>
            </a:extLst>
          </p:cNvPr>
          <p:cNvSpPr/>
          <p:nvPr/>
        </p:nvSpPr>
        <p:spPr>
          <a:xfrm>
            <a:off x="960120" y="4059936"/>
            <a:ext cx="5989320" cy="0"/>
          </a:xfrm>
          <a:prstGeom prst="line">
            <a:avLst/>
          </a:prstGeom>
          <a:noFill/>
          <a:ln w="12700">
            <a:solidFill>
              <a:srgbClr val="E6E8EF"/>
            </a:solidFill>
            <a:prstDash val="solid"/>
          </a:ln>
        </p:spPr>
        <p:txBody>
          <a:bodyPr/>
          <a:lstStyle/>
          <a:p>
            <a:endParaRPr lang="es-419" noProof="0" dirty="0"/>
          </a:p>
        </p:txBody>
      </p:sp>
      <p:sp>
        <p:nvSpPr>
          <p:cNvPr id="19" name="Text 17"/>
          <p:cNvSpPr/>
          <p:nvPr/>
        </p:nvSpPr>
        <p:spPr>
          <a:xfrm>
            <a:off x="978408" y="4059936"/>
            <a:ext cx="3294126" cy="422910"/>
          </a:xfrm>
          <a:prstGeom prst="rect">
            <a:avLst/>
          </a:prstGeom>
          <a:noFill/>
          <a:ln/>
        </p:spPr>
        <p:txBody>
          <a:bodyPr wrap="square" lIns="0" tIns="0" rIns="0" bIns="0" rtlCol="0" anchor="ctr"/>
          <a:lstStyle/>
          <a:p>
            <a:pPr marL="0" indent="0" algn="l">
              <a:buNone/>
            </a:pPr>
            <a:r>
              <a:rPr lang="es-419" sz="1200" noProof="0">
                <a:solidFill>
                  <a:srgbClr val="33373D"/>
                </a:solidFill>
                <a:latin typeface="Roboto Condensed" pitchFamily="34" charset="0"/>
                <a:ea typeface="Roboto Condensed" pitchFamily="34" charset="-122"/>
                <a:cs typeface="Roboto Condensed" pitchFamily="34" charset="-120"/>
              </a:rPr>
              <a:t>Costo anual base</a:t>
            </a:r>
            <a:endParaRPr lang="es-419" sz="1200" noProof="0" dirty="0"/>
          </a:p>
        </p:txBody>
      </p:sp>
      <p:sp>
        <p:nvSpPr>
          <p:cNvPr id="20" name="Text 18"/>
          <p:cNvSpPr/>
          <p:nvPr/>
        </p:nvSpPr>
        <p:spPr>
          <a:xfrm>
            <a:off x="3973068" y="4059936"/>
            <a:ext cx="2994660" cy="422910"/>
          </a:xfrm>
          <a:prstGeom prst="rect">
            <a:avLst/>
          </a:prstGeom>
          <a:noFill/>
          <a:ln/>
        </p:spPr>
        <p:txBody>
          <a:bodyPr wrap="square" lIns="0" tIns="0" rIns="0" bIns="0" rtlCol="0" anchor="ctr"/>
          <a:lstStyle/>
          <a:p>
            <a:pPr marL="0" indent="0" algn="r">
              <a:buNone/>
            </a:pPr>
            <a:r>
              <a:rPr lang="es-419" sz="1200" b="1" noProof="0">
                <a:solidFill>
                  <a:srgbClr val="2A3FE0"/>
                </a:solidFill>
                <a:latin typeface="Roboto Condensed Medium" pitchFamily="34" charset="0"/>
                <a:ea typeface="Roboto Condensed Medium" pitchFamily="34" charset="-122"/>
                <a:cs typeface="Roboto Condensed Medium" pitchFamily="34" charset="-120"/>
              </a:rPr>
              <a:t>USD 15.960</a:t>
            </a:r>
            <a:endParaRPr lang="es-419" sz="1200" noProof="0" dirty="0"/>
          </a:p>
        </p:txBody>
      </p:sp>
      <p:sp>
        <p:nvSpPr>
          <p:cNvPr id="21" name="row divider">
            <a:extLst>
              <a:ext uri="{C183D7F6-B498-43B3-948B-1728B52AA6E4}">
                <adec:decorative xmlns:adec="http://schemas.microsoft.com/office/drawing/2017/decorative" val="1"/>
              </a:ext>
            </a:extLst>
          </p:cNvPr>
          <p:cNvSpPr/>
          <p:nvPr/>
        </p:nvSpPr>
        <p:spPr>
          <a:xfrm>
            <a:off x="960120" y="4482846"/>
            <a:ext cx="5989320" cy="0"/>
          </a:xfrm>
          <a:prstGeom prst="line">
            <a:avLst/>
          </a:prstGeom>
          <a:noFill/>
          <a:ln w="12700">
            <a:solidFill>
              <a:srgbClr val="E6E8EF"/>
            </a:solidFill>
            <a:prstDash val="solid"/>
          </a:ln>
        </p:spPr>
        <p:txBody>
          <a:bodyPr/>
          <a:lstStyle/>
          <a:p>
            <a:endParaRPr lang="es-419" noProof="0" dirty="0"/>
          </a:p>
        </p:txBody>
      </p:sp>
      <p:sp>
        <p:nvSpPr>
          <p:cNvPr id="22" name="Text 20"/>
          <p:cNvSpPr/>
          <p:nvPr/>
        </p:nvSpPr>
        <p:spPr>
          <a:xfrm>
            <a:off x="978408" y="4482846"/>
            <a:ext cx="3294126" cy="422910"/>
          </a:xfrm>
          <a:prstGeom prst="rect">
            <a:avLst/>
          </a:prstGeom>
          <a:noFill/>
          <a:ln/>
        </p:spPr>
        <p:txBody>
          <a:bodyPr wrap="square" lIns="0" tIns="0" rIns="0" bIns="0" rtlCol="0" anchor="ctr"/>
          <a:lstStyle/>
          <a:p>
            <a:pPr marL="0" indent="0" algn="l">
              <a:buNone/>
            </a:pPr>
            <a:r>
              <a:rPr lang="es-419" sz="1200" noProof="0">
                <a:solidFill>
                  <a:srgbClr val="33373D"/>
                </a:solidFill>
                <a:latin typeface="Roboto Condensed" pitchFamily="34" charset="0"/>
                <a:ea typeface="Roboto Condensed" pitchFamily="34" charset="-122"/>
                <a:cs typeface="Roboto Condensed" pitchFamily="34" charset="-120"/>
              </a:rPr>
              <a:t>AI Credits incluidos</a:t>
            </a:r>
            <a:endParaRPr lang="es-419" sz="1200" noProof="0" dirty="0"/>
          </a:p>
        </p:txBody>
      </p:sp>
      <p:sp>
        <p:nvSpPr>
          <p:cNvPr id="23" name="Text 21"/>
          <p:cNvSpPr/>
          <p:nvPr/>
        </p:nvSpPr>
        <p:spPr>
          <a:xfrm>
            <a:off x="3973068" y="4482846"/>
            <a:ext cx="2994660" cy="422910"/>
          </a:xfrm>
          <a:prstGeom prst="rect">
            <a:avLst/>
          </a:prstGeom>
          <a:noFill/>
          <a:ln/>
        </p:spPr>
        <p:txBody>
          <a:bodyPr wrap="square" lIns="0" tIns="0" rIns="0" bIns="0" rtlCol="0" anchor="ctr"/>
          <a:lstStyle/>
          <a:p>
            <a:pPr marL="0" indent="0" algn="r">
              <a:buNone/>
            </a:pPr>
            <a:r>
              <a:rPr lang="es-419" sz="1200" b="1" noProof="0">
                <a:solidFill>
                  <a:srgbClr val="2A3FE0"/>
                </a:solidFill>
                <a:latin typeface="Roboto Condensed Medium" pitchFamily="34" charset="0"/>
                <a:ea typeface="Roboto Condensed Medium" pitchFamily="34" charset="-122"/>
                <a:cs typeface="Roboto Condensed Medium" pitchFamily="34" charset="-120"/>
              </a:rPr>
              <a:t>133.000 AI Credits / mes</a:t>
            </a:r>
            <a:endParaRPr lang="es-419" sz="1200" noProof="0" dirty="0"/>
          </a:p>
        </p:txBody>
      </p:sp>
      <p:sp>
        <p:nvSpPr>
          <p:cNvPr id="24" name="row divider">
            <a:extLst>
              <a:ext uri="{C183D7F6-B498-43B3-948B-1728B52AA6E4}">
                <adec:decorative xmlns:adec="http://schemas.microsoft.com/office/drawing/2017/decorative" val="1"/>
              </a:ext>
            </a:extLst>
          </p:cNvPr>
          <p:cNvSpPr/>
          <p:nvPr/>
        </p:nvSpPr>
        <p:spPr>
          <a:xfrm>
            <a:off x="960120" y="4905756"/>
            <a:ext cx="5989320" cy="0"/>
          </a:xfrm>
          <a:prstGeom prst="line">
            <a:avLst/>
          </a:prstGeom>
          <a:noFill/>
          <a:ln w="12700">
            <a:solidFill>
              <a:srgbClr val="E6E8EF"/>
            </a:solidFill>
            <a:prstDash val="solid"/>
          </a:ln>
        </p:spPr>
        <p:txBody>
          <a:bodyPr/>
          <a:lstStyle/>
          <a:p>
            <a:endParaRPr lang="es-419" noProof="0" dirty="0"/>
          </a:p>
        </p:txBody>
      </p:sp>
      <p:sp>
        <p:nvSpPr>
          <p:cNvPr id="25" name="Text 23"/>
          <p:cNvSpPr/>
          <p:nvPr/>
        </p:nvSpPr>
        <p:spPr>
          <a:xfrm>
            <a:off x="978408" y="4905756"/>
            <a:ext cx="3294126" cy="422910"/>
          </a:xfrm>
          <a:prstGeom prst="rect">
            <a:avLst/>
          </a:prstGeom>
          <a:noFill/>
          <a:ln/>
        </p:spPr>
        <p:txBody>
          <a:bodyPr wrap="square" lIns="0" tIns="0" rIns="0" bIns="0" rtlCol="0" anchor="ctr"/>
          <a:lstStyle/>
          <a:p>
            <a:pPr marL="0" indent="0" algn="l">
              <a:buNone/>
            </a:pPr>
            <a:r>
              <a:rPr lang="es-419" sz="1200" noProof="0">
                <a:solidFill>
                  <a:srgbClr val="33373D"/>
                </a:solidFill>
                <a:latin typeface="Roboto Condensed" pitchFamily="34" charset="0"/>
                <a:ea typeface="Roboto Condensed" pitchFamily="34" charset="-122"/>
                <a:cs typeface="Roboto Condensed" pitchFamily="34" charset="-120"/>
              </a:rPr>
              <a:t>Control de sobrecostos</a:t>
            </a:r>
            <a:endParaRPr lang="es-419" sz="1200" noProof="0" dirty="0"/>
          </a:p>
        </p:txBody>
      </p:sp>
      <p:sp>
        <p:nvSpPr>
          <p:cNvPr id="26" name="Text 24"/>
          <p:cNvSpPr/>
          <p:nvPr/>
        </p:nvSpPr>
        <p:spPr>
          <a:xfrm>
            <a:off x="3973068" y="4905756"/>
            <a:ext cx="2994660" cy="422910"/>
          </a:xfrm>
          <a:prstGeom prst="rect">
            <a:avLst/>
          </a:prstGeom>
          <a:noFill/>
          <a:ln/>
        </p:spPr>
        <p:txBody>
          <a:bodyPr wrap="square" lIns="0" tIns="0" rIns="0" bIns="0" rtlCol="0" anchor="ctr"/>
          <a:lstStyle/>
          <a:p>
            <a:pPr marL="0" indent="0" algn="r">
              <a:buNone/>
            </a:pPr>
            <a:r>
              <a:rPr lang="es-419" sz="900" b="1" noProof="0">
                <a:solidFill>
                  <a:srgbClr val="2A3FE0"/>
                </a:solidFill>
                <a:latin typeface="Roboto Condensed Medium" pitchFamily="34" charset="0"/>
                <a:ea typeface="Roboto Condensed Medium" pitchFamily="34" charset="-122"/>
                <a:cs typeface="Roboto Condensed Medium" pitchFamily="34" charset="-120"/>
              </a:rPr>
              <a:t>Uso adicional controlado mediante políticas, presupuestos y límites configurados.</a:t>
            </a:r>
            <a:endParaRPr lang="es-419" sz="1200" noProof="0" dirty="0"/>
          </a:p>
        </p:txBody>
      </p:sp>
      <p:sp>
        <p:nvSpPr>
          <p:cNvPr id="27" name="row divider">
            <a:extLst>
              <a:ext uri="{C183D7F6-B498-43B3-948B-1728B52AA6E4}">
                <adec:decorative xmlns:adec="http://schemas.microsoft.com/office/drawing/2017/decorative" val="1"/>
              </a:ext>
            </a:extLst>
          </p:cNvPr>
          <p:cNvSpPr/>
          <p:nvPr/>
        </p:nvSpPr>
        <p:spPr>
          <a:xfrm>
            <a:off x="960120" y="5328666"/>
            <a:ext cx="5989320" cy="0"/>
          </a:xfrm>
          <a:prstGeom prst="line">
            <a:avLst/>
          </a:prstGeom>
          <a:noFill/>
          <a:ln w="12700">
            <a:solidFill>
              <a:srgbClr val="E6E8EF"/>
            </a:solidFill>
            <a:prstDash val="solid"/>
          </a:ln>
        </p:spPr>
        <p:txBody>
          <a:bodyPr/>
          <a:lstStyle/>
          <a:p>
            <a:endParaRPr lang="es-419" noProof="0" dirty="0"/>
          </a:p>
        </p:txBody>
      </p:sp>
      <p:sp>
        <p:nvSpPr>
          <p:cNvPr id="28" name="Text 26"/>
          <p:cNvSpPr/>
          <p:nvPr/>
        </p:nvSpPr>
        <p:spPr>
          <a:xfrm>
            <a:off x="978408" y="5361666"/>
            <a:ext cx="5989320" cy="292608"/>
          </a:xfrm>
          <a:prstGeom prst="rect">
            <a:avLst/>
          </a:prstGeom>
          <a:noFill/>
          <a:ln/>
        </p:spPr>
        <p:txBody>
          <a:bodyPr wrap="square" lIns="0" tIns="0" rIns="0" bIns="0" rtlCol="0" anchor="ctr"/>
          <a:lstStyle/>
          <a:p>
            <a:pPr marL="0" indent="0" algn="l">
              <a:buNone/>
            </a:pPr>
            <a:r>
              <a:rPr lang="es-419" sz="850" noProof="0">
                <a:solidFill>
                  <a:srgbClr val="5B6068"/>
                </a:solidFill>
                <a:latin typeface="Roboto Condensed" pitchFamily="34" charset="0"/>
                <a:ea typeface="Roboto Condensed" pitchFamily="34" charset="-122"/>
                <a:cs typeface="Roboto Condensed" pitchFamily="34" charset="-120"/>
              </a:rPr>
              <a:t>Pool estándar compartido para 70 licencias.</a:t>
            </a:r>
            <a:endParaRPr lang="es-419" sz="850" noProof="0"/>
          </a:p>
        </p:txBody>
      </p:sp>
      <p:sp>
        <p:nvSpPr>
          <p:cNvPr id="40" name="Text 38"/>
          <p:cNvSpPr/>
          <p:nvPr/>
        </p:nvSpPr>
        <p:spPr>
          <a:xfrm>
            <a:off x="685800" y="6437376"/>
            <a:ext cx="8686800" cy="292608"/>
          </a:xfrm>
          <a:prstGeom prst="rect">
            <a:avLst/>
          </a:prstGeom>
          <a:noFill/>
          <a:ln/>
        </p:spPr>
        <p:txBody>
          <a:bodyPr wrap="square" lIns="0" tIns="0" rIns="0" bIns="0" rtlCol="0" anchor="ctr"/>
          <a:lstStyle/>
          <a:p>
            <a:pPr marL="0" indent="0" algn="l">
              <a:buNone/>
            </a:pPr>
            <a:r>
              <a:rPr lang="es-419" sz="850" b="1" noProof="0">
                <a:solidFill>
                  <a:srgbClr val="000000"/>
                </a:solidFill>
                <a:latin typeface="Roboto Condensed" pitchFamily="34" charset="0"/>
                <a:ea typeface="Roboto Condensed" pitchFamily="34" charset="-122"/>
                <a:cs typeface="Roboto Condensed" pitchFamily="34" charset="-120"/>
              </a:rPr>
              <a:t>Tuya</a:t>
            </a:r>
            <a:r>
              <a:rPr lang="es-419" sz="850" noProof="0">
                <a:solidFill>
                  <a:srgbClr val="5B6068"/>
                </a:solidFill>
                <a:latin typeface="Roboto Condensed" pitchFamily="34" charset="0"/>
                <a:ea typeface="Roboto Condensed" pitchFamily="34" charset="-122"/>
                <a:cs typeface="Roboto Condensed" pitchFamily="34" charset="-120"/>
              </a:rPr>
              <a:t>   ·   GitHub </a:t>
            </a:r>
            <a:r>
              <a:rPr lang="es-419" sz="850" noProof="0" err="1">
                <a:solidFill>
                  <a:srgbClr val="5B6068"/>
                </a:solidFill>
                <a:latin typeface="Roboto Condensed" pitchFamily="34" charset="0"/>
                <a:ea typeface="Roboto Condensed" pitchFamily="34" charset="-122"/>
                <a:cs typeface="Roboto Condensed" pitchFamily="34" charset="-120"/>
              </a:rPr>
              <a:t>Copilot</a:t>
            </a:r>
            <a:r>
              <a:rPr lang="es-419" sz="850" noProof="0">
                <a:solidFill>
                  <a:srgbClr val="5B6068"/>
                </a:solidFill>
                <a:latin typeface="Roboto Condensed" pitchFamily="34" charset="0"/>
                <a:ea typeface="Roboto Condensed" pitchFamily="34" charset="-122"/>
                <a:cs typeface="Roboto Condensed" pitchFamily="34" charset="-120"/>
              </a:rPr>
              <a:t> - Resultados de la Prueba de Concepto</a:t>
            </a:r>
            <a:endParaRPr lang="es-419" sz="850" noProof="0" dirty="0"/>
          </a:p>
        </p:txBody>
      </p:sp>
      <p:sp>
        <p:nvSpPr>
          <p:cNvPr id="41" name="Text 39"/>
          <p:cNvSpPr/>
          <p:nvPr/>
        </p:nvSpPr>
        <p:spPr>
          <a:xfrm>
            <a:off x="10972800" y="6437376"/>
            <a:ext cx="530352" cy="292608"/>
          </a:xfrm>
          <a:prstGeom prst="rect">
            <a:avLst/>
          </a:prstGeom>
          <a:noFill/>
          <a:ln/>
        </p:spPr>
        <p:txBody>
          <a:bodyPr wrap="square" lIns="0" tIns="0" rIns="0" bIns="0" rtlCol="0" anchor="ctr"/>
          <a:lstStyle/>
          <a:p>
            <a:pPr marL="0" indent="0" algn="r">
              <a:buNone/>
            </a:pPr>
            <a:r>
              <a:rPr lang="es-419" sz="900" b="1" noProof="0">
                <a:solidFill>
                  <a:srgbClr val="2A3FE0"/>
                </a:solidFill>
                <a:latin typeface="Roboto Condensed Medium" pitchFamily="34" charset="0"/>
                <a:ea typeface="Roboto Condensed Medium" pitchFamily="34" charset="-122"/>
                <a:cs typeface="Roboto Condensed Medium" pitchFamily="34" charset="-120"/>
              </a:rPr>
              <a:t>06</a:t>
            </a:r>
            <a:endParaRPr lang="es-419" sz="900" noProof="0" dirty="0"/>
          </a:p>
        </p:txBody>
      </p:sp>
      <p:pic>
        <p:nvPicPr>
          <p:cNvPr id="950" name="Logo Tuya"/>
          <p:cNvPicPr>
            <a:picLocks noChangeAspect="1"/>
          </p:cNvPicPr>
          <p:nvPr/>
        </p:nvPicPr>
        <p:blipFill>
          <a:blip r:embed="rId3"/>
          <a:stretch>
            <a:fillRect/>
          </a:stretch>
        </p:blipFill>
        <p:spPr>
          <a:xfrm>
            <a:off x="11152200" y="321276"/>
            <a:ext cx="640080" cy="3200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mark">
            <a:extLst>
              <a:ext uri="{C183D7F6-B498-43B3-948B-1728B52AA6E4}">
                <adec:decorative xmlns:adec="http://schemas.microsoft.com/office/drawing/2017/decorative" val="1"/>
              </a:ext>
            </a:extLst>
          </p:cNvPr>
          <p:cNvSpPr/>
          <p:nvPr/>
        </p:nvSpPr>
        <p:spPr>
          <a:xfrm>
            <a:off x="685800" y="402336"/>
            <a:ext cx="146304" cy="146304"/>
          </a:xfrm>
          <a:prstGeom prst="rect">
            <a:avLst/>
          </a:prstGeom>
          <a:solidFill>
            <a:srgbClr val="2A3FE0"/>
          </a:solidFill>
          <a:ln/>
        </p:spPr>
        <p:txBody>
          <a:bodyPr/>
          <a:lstStyle/>
          <a:p>
            <a:endParaRPr lang="es-419" noProof="0" dirty="0"/>
          </a:p>
        </p:txBody>
      </p:sp>
      <p:sp>
        <p:nvSpPr>
          <p:cNvPr id="3" name="Text 1"/>
          <p:cNvSpPr/>
          <p:nvPr/>
        </p:nvSpPr>
        <p:spPr>
          <a:xfrm>
            <a:off x="932688" y="310896"/>
            <a:ext cx="9601200" cy="310896"/>
          </a:xfrm>
          <a:prstGeom prst="rect">
            <a:avLst/>
          </a:prstGeom>
          <a:noFill/>
          <a:ln/>
        </p:spPr>
        <p:txBody>
          <a:bodyPr wrap="square" lIns="0" tIns="0" rIns="0" bIns="0" rtlCol="0" anchor="ctr"/>
          <a:lstStyle/>
          <a:p>
            <a:pPr marL="0" indent="0" algn="l">
              <a:buNone/>
            </a:pPr>
            <a:r>
              <a:rPr lang="es-419" sz="1150" b="1" kern="0" spc="200" noProof="0">
                <a:solidFill>
                  <a:srgbClr val="2A3FE0"/>
                </a:solidFill>
                <a:latin typeface="Roboto Condensed Medium" pitchFamily="34" charset="0"/>
                <a:ea typeface="Roboto Condensed Medium" pitchFamily="34" charset="-122"/>
                <a:cs typeface="Roboto Condensed Medium" pitchFamily="34" charset="-120"/>
              </a:rPr>
              <a:t>CASO DE NEGOCIO</a:t>
            </a:r>
            <a:endParaRPr lang="es-419" sz="1150" noProof="0" dirty="0"/>
          </a:p>
        </p:txBody>
      </p:sp>
      <p:sp>
        <p:nvSpPr>
          <p:cNvPr id="4" name="Text 0"/>
          <p:cNvSpPr>
            <a:spLocks noGrp="1"/>
          </p:cNvSpPr>
          <p:nvPr>
            <p:ph type="title" idx="100" hasCustomPrompt="1"/>
          </p:nvPr>
        </p:nvSpPr>
        <p:spPr>
          <a:xfrm>
            <a:off x="685800" y="658368"/>
            <a:ext cx="10789920" cy="475488"/>
          </a:xfrm>
          <a:prstGeom prst="rect">
            <a:avLst/>
          </a:prstGeom>
          <a:noFill/>
          <a:ln/>
        </p:spPr>
        <p:txBody>
          <a:bodyPr wrap="square" lIns="0" tIns="0" rIns="0" bIns="0" rtlCol="0" anchor="t"/>
          <a:lstStyle/>
          <a:p>
            <a:pPr marL="0" indent="0" algn="l">
              <a:buNone/>
            </a:pPr>
            <a:r>
              <a:rPr lang="es-419" sz="2700" b="1" noProof="0">
                <a:solidFill>
                  <a:srgbClr val="000000"/>
                </a:solidFill>
                <a:latin typeface="Roboto Condensed Medium" pitchFamily="34" charset="0"/>
                <a:ea typeface="Roboto Condensed Medium" pitchFamily="34" charset="-122"/>
                <a:cs typeface="Roboto Condensed Medium" pitchFamily="34" charset="-120"/>
              </a:rPr>
              <a:t>Punto de equilibrio de la inversión</a:t>
            </a:r>
            <a:endParaRPr lang="es-419" sz="2700" noProof="0" dirty="0"/>
          </a:p>
        </p:txBody>
      </p:sp>
      <p:sp>
        <p:nvSpPr>
          <p:cNvPr id="5" name="Subtitle">
            <a:extLst>
              <a:ext uri="{C183D7F6-B498-43B3-948B-1728B52AA6E4}">
                <adec:decorative xmlns:adec="http://schemas.microsoft.com/office/drawing/2017/decorative" val="1"/>
              </a:ext>
            </a:extLst>
          </p:cNvPr>
          <p:cNvSpPr/>
          <p:nvPr/>
        </p:nvSpPr>
        <p:spPr>
          <a:xfrm>
            <a:off x="685800" y="1188720"/>
            <a:ext cx="10789920" cy="292608"/>
          </a:xfrm>
          <a:prstGeom prst="rect">
            <a:avLst/>
          </a:prstGeom>
          <a:noFill/>
          <a:ln/>
        </p:spPr>
        <p:txBody>
          <a:bodyPr wrap="square" lIns="0" tIns="0" rIns="0" bIns="0" rtlCol="0" anchor="ctr"/>
          <a:lstStyle/>
          <a:p>
            <a:pPr marL="0" indent="0" algn="l">
              <a:buNone/>
            </a:pPr>
            <a:r>
              <a:rPr lang="es-419" sz="1400" noProof="0">
                <a:solidFill>
                  <a:srgbClr val="5B6068"/>
                </a:solidFill>
                <a:latin typeface="Roboto Condensed" pitchFamily="34" charset="0"/>
                <a:ea typeface="Roboto Condensed" pitchFamily="34" charset="-122"/>
                <a:cs typeface="Roboto Condensed" pitchFamily="34" charset="-120"/>
              </a:rPr>
              <a:t>Horas de desarrollo que debe liberar Copilot para compensar el costo mensual</a:t>
            </a:r>
            <a:endParaRPr lang="es-419" sz="1400" noProof="0"/>
          </a:p>
        </p:txBody>
      </p:sp>
      <p:sp>
        <p:nvSpPr>
          <p:cNvPr id="10" name="card inversion">
            <a:extLst>
              <a:ext uri="{C183D7F6-B498-43B3-948B-1728B52AA6E4}">
                <adec:decorative xmlns:adec="http://schemas.microsoft.com/office/drawing/2017/decorative" val="1"/>
              </a:ext>
            </a:extLst>
          </p:cNvPr>
          <p:cNvSpPr/>
          <p:nvPr/>
        </p:nvSpPr>
        <p:spPr>
          <a:xfrm>
            <a:off x="685800" y="1600000"/>
            <a:ext cx="5240000" cy="1140000"/>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a:p>
        </p:txBody>
      </p:sp>
      <p:sp>
        <p:nvSpPr>
          <p:cNvPr id="11" name="Text inversion"/>
          <p:cNvSpPr/>
          <p:nvPr/>
        </p:nvSpPr>
        <p:spPr>
          <a:xfrm>
            <a:off x="925800" y="1720000"/>
            <a:ext cx="4760000" cy="900000"/>
          </a:xfrm>
          <a:prstGeom prst="rect">
            <a:avLst/>
          </a:prstGeom>
          <a:noFill/>
          <a:ln/>
        </p:spPr>
        <p:txBody>
          <a:bodyPr wrap="square" lIns="0" tIns="0" rIns="0" bIns="0" rtlCol="0" anchor="t"/>
          <a:lstStyle/>
          <a:p>
            <a:pPr marL="0" indent="0" algn="l">
              <a:buNone/>
            </a:pPr>
            <a:r>
              <a:rPr lang="es-419" sz="1050" b="1" kern="0" spc="150" noProof="0">
                <a:solidFill>
                  <a:srgbClr val="2A3FE0"/>
                </a:solidFill>
                <a:latin typeface="Roboto Condensed Medium" pitchFamily="34" charset="0"/>
                <a:ea typeface="Roboto Condensed Medium" pitchFamily="34" charset="-122"/>
                <a:cs typeface="Roboto Condensed Medium" pitchFamily="34" charset="-120"/>
              </a:rPr>
              <a:t>INVERSIÓN MENSUAL</a:t>
            </a:r>
          </a:p>
          <a:p>
            <a:pPr marL="0" indent="0" algn="l">
              <a:spcBef>
                <a:spcPts val="700"/>
              </a:spcBef>
              <a:buNone/>
            </a:pPr>
            <a:r>
              <a:rPr lang="es-419" sz="1050" noProof="0">
                <a:solidFill>
                  <a:srgbClr val="5B6068"/>
                </a:solidFill>
                <a:latin typeface="Roboto Condensed" pitchFamily="34" charset="0"/>
                <a:ea typeface="Roboto Condensed" pitchFamily="34" charset="-122"/>
                <a:cs typeface="Roboto Condensed" pitchFamily="34" charset="-120"/>
              </a:rPr>
              <a:t>Usuarios objetivo:  </a:t>
            </a:r>
            <a:r>
              <a:rPr lang="es-419" sz="1050" b="1" noProof="0">
                <a:solidFill>
                  <a:srgbClr val="000000"/>
                </a:solidFill>
                <a:latin typeface="Roboto Condensed" pitchFamily="34" charset="0"/>
                <a:ea typeface="Roboto Condensed" pitchFamily="34" charset="-122"/>
                <a:cs typeface="Roboto Condensed" pitchFamily="34" charset="-120"/>
              </a:rPr>
              <a:t>70 desarrolladores</a:t>
            </a:r>
          </a:p>
          <a:p>
            <a:pPr marL="0" indent="0" algn="l">
              <a:spcBef>
                <a:spcPts val="300"/>
              </a:spcBef>
              <a:buNone/>
            </a:pPr>
            <a:r>
              <a:rPr lang="es-419" sz="1050" noProof="0">
                <a:solidFill>
                  <a:srgbClr val="5B6068"/>
                </a:solidFill>
                <a:latin typeface="Roboto Condensed" pitchFamily="34" charset="0"/>
                <a:ea typeface="Roboto Condensed" pitchFamily="34" charset="-122"/>
                <a:cs typeface="Roboto Condensed" pitchFamily="34" charset="-120"/>
              </a:rPr>
              <a:t>Plan:  </a:t>
            </a:r>
            <a:r>
              <a:rPr lang="es-419" sz="1050" b="1" noProof="0">
                <a:solidFill>
                  <a:srgbClr val="000000"/>
                </a:solidFill>
                <a:latin typeface="Roboto Condensed" pitchFamily="34" charset="0"/>
                <a:ea typeface="Roboto Condensed" pitchFamily="34" charset="-122"/>
                <a:cs typeface="Roboto Condensed" pitchFamily="34" charset="-120"/>
              </a:rPr>
              <a:t>GitHub Copilot Business</a:t>
            </a:r>
          </a:p>
          <a:p>
            <a:pPr marL="0" indent="0" algn="l">
              <a:spcBef>
                <a:spcPts val="300"/>
              </a:spcBef>
              <a:buNone/>
            </a:pPr>
            <a:r>
              <a:rPr lang="es-419" sz="1050" noProof="0">
                <a:solidFill>
                  <a:srgbClr val="5B6068"/>
                </a:solidFill>
                <a:latin typeface="Roboto Condensed" pitchFamily="34" charset="0"/>
                <a:ea typeface="Roboto Condensed" pitchFamily="34" charset="-122"/>
                <a:cs typeface="Roboto Condensed" pitchFamily="34" charset="-120"/>
              </a:rPr>
              <a:t>Costo mensual base:  </a:t>
            </a:r>
            <a:r>
              <a:rPr lang="es-419" sz="1200" b="1" noProof="0">
                <a:solidFill>
                  <a:srgbClr val="2A3FE0"/>
                </a:solidFill>
                <a:latin typeface="Roboto Condensed Medium" pitchFamily="34" charset="0"/>
                <a:ea typeface="Roboto Condensed Medium" pitchFamily="34" charset="-122"/>
                <a:cs typeface="Roboto Condensed Medium" pitchFamily="34" charset="-120"/>
              </a:rPr>
              <a:t>USD 1.330 / mes</a:t>
            </a:r>
          </a:p>
        </p:txBody>
      </p:sp>
      <p:sp>
        <p:nvSpPr>
          <p:cNvPr id="12" name="card valor">
            <a:extLst>
              <a:ext uri="{C183D7F6-B498-43B3-948B-1728B52AA6E4}">
                <adec:decorative xmlns:adec="http://schemas.microsoft.com/office/drawing/2017/decorative" val="1"/>
              </a:ext>
            </a:extLst>
          </p:cNvPr>
          <p:cNvSpPr/>
          <p:nvPr/>
        </p:nvSpPr>
        <p:spPr>
          <a:xfrm>
            <a:off x="685800" y="2820000"/>
            <a:ext cx="5240000" cy="1200000"/>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13" name="Text valor"/>
          <p:cNvSpPr/>
          <p:nvPr/>
        </p:nvSpPr>
        <p:spPr>
          <a:xfrm>
            <a:off x="925800" y="2940000"/>
            <a:ext cx="4760000" cy="960000"/>
          </a:xfrm>
          <a:prstGeom prst="rect">
            <a:avLst/>
          </a:prstGeom>
          <a:noFill/>
          <a:ln/>
        </p:spPr>
        <p:txBody>
          <a:bodyPr wrap="square" lIns="0" tIns="0" rIns="0" bIns="0" rtlCol="0" anchor="t"/>
          <a:lstStyle/>
          <a:p>
            <a:pPr marL="0" indent="0" algn="l">
              <a:buNone/>
            </a:pPr>
            <a:r>
              <a:rPr lang="es-419" sz="1050" b="1" kern="0" spc="150" noProof="0">
                <a:solidFill>
                  <a:srgbClr val="2A3FE0"/>
                </a:solidFill>
                <a:latin typeface="Roboto Condensed Medium" pitchFamily="34" charset="0"/>
                <a:ea typeface="Roboto Condensed Medium" pitchFamily="34" charset="-122"/>
                <a:cs typeface="Roboto Condensed Medium" pitchFamily="34" charset="-120"/>
              </a:rPr>
              <a:t>VALOR ECONÓMICO DE LA CAPACIDAD</a:t>
            </a:r>
          </a:p>
          <a:p>
            <a:pPr marL="0" indent="0" algn="l">
              <a:spcBef>
                <a:spcPts val="600"/>
              </a:spcBef>
              <a:buNone/>
            </a:pPr>
            <a:r>
              <a:rPr lang="es-419" sz="1700" b="1" noProof="0">
                <a:solidFill>
                  <a:srgbClr val="000000"/>
                </a:solidFill>
                <a:latin typeface="Roboto Condensed Medium" pitchFamily="34" charset="0"/>
                <a:ea typeface="Roboto Condensed Medium" pitchFamily="34" charset="-122"/>
                <a:cs typeface="Roboto Condensed Medium" pitchFamily="34" charset="-120"/>
              </a:rPr>
              <a:t>≈ COP 95 mil – 140 mil / hora</a:t>
            </a:r>
          </a:p>
          <a:p>
            <a:pPr marL="0" indent="0" algn="l">
              <a:spcBef>
                <a:spcPts val="400"/>
              </a:spcBef>
              <a:buNone/>
            </a:pPr>
            <a:r>
              <a:rPr lang="es-419" sz="900" noProof="0">
                <a:solidFill>
                  <a:srgbClr val="5B6068"/>
                </a:solidFill>
                <a:latin typeface="Roboto Condensed" pitchFamily="34" charset="0"/>
                <a:ea typeface="Roboto Condensed" pitchFamily="34" charset="-122"/>
                <a:cs typeface="Roboto Condensed" pitchFamily="34" charset="-120"/>
              </a:rPr>
              <a:t>Valor estimado de una hora de capacidad de desarrollo, calculado a partir de rangos agregados de tarifas internas de referencia.</a:t>
            </a:r>
          </a:p>
        </p:txBody>
      </p:sp>
      <p:sp>
        <p:nvSpPr>
          <p:cNvPr id="14" name="card exec">
            <a:extLst>
              <a:ext uri="{C183D7F6-B498-43B3-948B-1728B52AA6E4}">
                <adec:decorative xmlns:adec="http://schemas.microsoft.com/office/drawing/2017/decorative" val="1"/>
              </a:ext>
            </a:extLst>
          </p:cNvPr>
          <p:cNvSpPr/>
          <p:nvPr/>
        </p:nvSpPr>
        <p:spPr>
          <a:xfrm>
            <a:off x="685800" y="4100000"/>
            <a:ext cx="5240000" cy="1250000"/>
          </a:xfrm>
          <a:prstGeom prst="rect">
            <a:avLst/>
          </a:prstGeom>
          <a:solidFill>
            <a:srgbClr val="E7EAFC"/>
          </a:solidFill>
          <a:ln w="12700">
            <a:solidFill>
              <a:srgbClr val="CBD2F7"/>
            </a:solidFill>
            <a:prstDash val="solid"/>
          </a:ln>
        </p:spPr>
        <p:txBody>
          <a:bodyPr/>
          <a:lstStyle/>
          <a:p>
            <a:endParaRPr lang="es-419" noProof="0"/>
          </a:p>
        </p:txBody>
      </p:sp>
      <p:sp>
        <p:nvSpPr>
          <p:cNvPr id="15" name="Text exec">
            <a:extLst>
              <a:ext uri="{C183D7F6-B498-43B3-948B-1728B52AA6E4}">
                <adec:decorative xmlns:adec="http://schemas.microsoft.com/office/drawing/2017/decorative" val="1"/>
              </a:ext>
            </a:extLst>
          </p:cNvPr>
          <p:cNvSpPr/>
          <p:nvPr/>
        </p:nvSpPr>
        <p:spPr>
          <a:xfrm>
            <a:off x="925800" y="4220000"/>
            <a:ext cx="4760000" cy="1010000"/>
          </a:xfrm>
          <a:prstGeom prst="rect">
            <a:avLst/>
          </a:prstGeom>
          <a:noFill/>
          <a:ln/>
        </p:spPr>
        <p:txBody>
          <a:bodyPr wrap="square" lIns="0" tIns="0" rIns="0" bIns="0" rtlCol="0" anchor="t"/>
          <a:lstStyle/>
          <a:p>
            <a:pPr marL="0" indent="0" algn="l">
              <a:buNone/>
            </a:pPr>
            <a:r>
              <a:rPr lang="es-419" sz="1000" b="1" kern="0" spc="150" noProof="0">
                <a:solidFill>
                  <a:srgbClr val="1E2FB5"/>
                </a:solidFill>
                <a:latin typeface="Roboto Condensed Medium" pitchFamily="34" charset="0"/>
                <a:ea typeface="Roboto Condensed Medium" pitchFamily="34" charset="-122"/>
                <a:cs typeface="Roboto Condensed Medium" pitchFamily="34" charset="-120"/>
              </a:rPr>
              <a:t>MENSAJE EJECUTIVO</a:t>
            </a:r>
          </a:p>
          <a:p>
            <a:pPr marL="0" indent="0" algn="l">
              <a:spcBef>
                <a:spcPts val="500"/>
              </a:spcBef>
              <a:buNone/>
            </a:pPr>
            <a:r>
              <a:rPr lang="es-419" sz="900" noProof="0">
                <a:solidFill>
                  <a:srgbClr val="000000"/>
                </a:solidFill>
                <a:latin typeface="Roboto Condensed" pitchFamily="34" charset="0"/>
                <a:ea typeface="Roboto Condensed" pitchFamily="34" charset="-122"/>
                <a:cs typeface="Roboto Condensed" pitchFamily="34" charset="-120"/>
              </a:rPr>
              <a:t>El beneficio no depende de realizar migraciones todos los meses. Las horas liberadas pueden provenir de cualquier actividad de desarrollo asistida por Copilot: generación de código, pruebas, refactorización, documentación, análisis, corrección de errores, desarrollos desde cero o modernización tecnológica.</a:t>
            </a:r>
          </a:p>
        </p:txBody>
      </p:sp>
      <p:sp>
        <p:nvSpPr>
          <p:cNvPr id="16" name="Text ai credits"/>
          <p:cNvSpPr/>
          <p:nvPr/>
        </p:nvSpPr>
        <p:spPr>
          <a:xfrm>
            <a:off x="685800" y="5470000"/>
            <a:ext cx="5240000" cy="820000"/>
          </a:xfrm>
          <a:prstGeom prst="rect">
            <a:avLst/>
          </a:prstGeom>
          <a:noFill/>
          <a:ln/>
        </p:spPr>
        <p:txBody>
          <a:bodyPr wrap="square" lIns="0" tIns="0" rIns="0" bIns="0" rtlCol="0" anchor="t"/>
          <a:lstStyle/>
          <a:p>
            <a:pPr marL="0" indent="0" algn="l">
              <a:buNone/>
            </a:pPr>
            <a:r>
              <a:rPr lang="es-419" sz="800" b="1" kern="0" spc="150" noProof="0">
                <a:solidFill>
                  <a:srgbClr val="5B6068"/>
                </a:solidFill>
                <a:latin typeface="Roboto Condensed" pitchFamily="34" charset="0"/>
                <a:ea typeface="Roboto Condensed" pitchFamily="34" charset="-122"/>
                <a:cs typeface="Roboto Condensed" pitchFamily="34" charset="-120"/>
              </a:rPr>
              <a:t>AI CREDITS</a:t>
            </a:r>
          </a:p>
          <a:p>
            <a:pPr marL="0" indent="0" algn="l">
              <a:spcBef>
                <a:spcPts val="300"/>
              </a:spcBef>
              <a:buNone/>
            </a:pPr>
            <a:r>
              <a:rPr lang="es-419" sz="800" noProof="0">
                <a:solidFill>
                  <a:srgbClr val="5B6068"/>
                </a:solidFill>
                <a:latin typeface="Roboto Condensed" pitchFamily="34" charset="0"/>
                <a:ea typeface="Roboto Condensed" pitchFamily="34" charset="-122"/>
                <a:cs typeface="Roboto Condensed" pitchFamily="34" charset="-120"/>
              </a:rPr>
              <a:t>El consumo de AI Credits será administrado mediante el pool incluido y controles presupuestales. Su seguimiento pertenece al modelo de gobierno de la solución, no al cálculo del beneficio por productividad.</a:t>
            </a:r>
          </a:p>
        </p:txBody>
      </p:sp>
      <p:sp>
        <p:nvSpPr>
          <p:cNvPr id="20" name="hero card">
            <a:extLst>
              <a:ext uri="{C183D7F6-B498-43B3-948B-1728B52AA6E4}">
                <adec:decorative xmlns:adec="http://schemas.microsoft.com/office/drawing/2017/decorative" val="1"/>
              </a:ext>
            </a:extLst>
          </p:cNvPr>
          <p:cNvSpPr/>
          <p:nvPr/>
        </p:nvSpPr>
        <p:spPr>
          <a:xfrm>
            <a:off x="6200120" y="1600000"/>
            <a:ext cx="5303032" cy="1740000"/>
          </a:xfrm>
          <a:prstGeom prst="rect">
            <a:avLst/>
          </a:prstGeom>
          <a:solidFill>
            <a:srgbClr val="2A3FE0"/>
          </a:solidFill>
          <a:ln/>
          <a:effectLst>
            <a:outerShdw blurRad="114300" dist="38100" dir="5400000" algn="bl" rotWithShape="0">
              <a:srgbClr val="5B6068">
                <a:alpha val="12000"/>
              </a:srgbClr>
            </a:outerShdw>
          </a:effectLst>
        </p:spPr>
        <p:txBody>
          <a:bodyPr/>
          <a:lstStyle/>
          <a:p>
            <a:endParaRPr lang="es-419" noProof="0"/>
          </a:p>
        </p:txBody>
      </p:sp>
      <p:sp>
        <p:nvSpPr>
          <p:cNvPr id="21" name="Text hero">
            <a:extLst>
              <a:ext uri="{C183D7F6-B498-43B3-948B-1728B52AA6E4}">
                <adec:decorative xmlns:adec="http://schemas.microsoft.com/office/drawing/2017/decorative" val="1"/>
              </a:ext>
            </a:extLst>
          </p:cNvPr>
          <p:cNvSpPr/>
          <p:nvPr/>
        </p:nvSpPr>
        <p:spPr>
          <a:xfrm>
            <a:off x="6440120" y="1720000"/>
            <a:ext cx="4823032" cy="1500000"/>
          </a:xfrm>
          <a:prstGeom prst="rect">
            <a:avLst/>
          </a:prstGeom>
          <a:noFill/>
          <a:ln/>
        </p:spPr>
        <p:txBody>
          <a:bodyPr wrap="square" lIns="0" tIns="0" rIns="0" bIns="0" rtlCol="0" anchor="t"/>
          <a:lstStyle/>
          <a:p>
            <a:pPr marL="0" indent="0" algn="l">
              <a:buNone/>
            </a:pPr>
            <a:r>
              <a:rPr lang="es-419" sz="1100" b="1" kern="0" spc="200" noProof="0">
                <a:solidFill>
                  <a:srgbClr val="FFFFFF"/>
                </a:solidFill>
                <a:latin typeface="Roboto Condensed Medium" pitchFamily="34" charset="0"/>
                <a:ea typeface="Roboto Condensed Medium" pitchFamily="34" charset="-122"/>
                <a:cs typeface="Roboto Condensed Medium" pitchFamily="34" charset="-120"/>
              </a:rPr>
              <a:t>PUNTO DE EQUILIBRIO</a:t>
            </a:r>
          </a:p>
          <a:p>
            <a:pPr marL="0" indent="0" algn="l">
              <a:spcBef>
                <a:spcPts val="500"/>
              </a:spcBef>
              <a:buNone/>
            </a:pPr>
            <a:r>
              <a:rPr lang="es-419" sz="2400" b="1" noProof="0">
                <a:solidFill>
                  <a:srgbClr val="FFFFFF"/>
                </a:solidFill>
                <a:latin typeface="Roboto Condensed Medium" pitchFamily="34" charset="0"/>
                <a:ea typeface="Roboto Condensed Medium" pitchFamily="34" charset="-122"/>
                <a:cs typeface="Roboto Condensed Medium" pitchFamily="34" charset="-120"/>
              </a:rPr>
              <a:t>≈ 30 – 45 horas liberadas / mes</a:t>
            </a:r>
          </a:p>
          <a:p>
            <a:pPr marL="0" indent="0" algn="l">
              <a:spcBef>
                <a:spcPts val="500"/>
              </a:spcBef>
              <a:buNone/>
            </a:pPr>
            <a:r>
              <a:rPr lang="es-419" sz="1000" noProof="0">
                <a:solidFill>
                  <a:srgbClr val="E0E5FC"/>
                </a:solidFill>
                <a:latin typeface="Roboto Condensed" pitchFamily="34" charset="0"/>
                <a:ea typeface="Roboto Condensed" pitchFamily="34" charset="-122"/>
                <a:cs typeface="Roboto Condensed" pitchFamily="34" charset="-120"/>
              </a:rPr>
              <a:t>Punto de equilibrio aproximado: entre 30 y 45 horas de capacidad de desarrollo liberadas al mes, sujeto al valor hora de referencia y a la tasa de cambio.</a:t>
            </a:r>
          </a:p>
          <a:p>
            <a:pPr marL="0" indent="0" algn="l">
              <a:spcBef>
                <a:spcPts val="400"/>
              </a:spcBef>
              <a:buNone/>
            </a:pPr>
            <a:r>
              <a:rPr lang="es-419" sz="1100" b="1" noProof="0">
                <a:solidFill>
                  <a:srgbClr val="FFFFFF"/>
                </a:solidFill>
                <a:latin typeface="Roboto Condensed" pitchFamily="34" charset="0"/>
                <a:ea typeface="Roboto Condensed" pitchFamily="34" charset="-122"/>
                <a:cs typeface="Roboto Condensed" pitchFamily="34" charset="-120"/>
              </a:rPr>
              <a:t>Equivale a menos de 40 minutos por desarrollador al mes.</a:t>
            </a:r>
          </a:p>
          <a:p>
            <a:pPr marL="0" indent="0" algn="l">
              <a:spcBef>
                <a:spcPts val="400"/>
              </a:spcBef>
              <a:buNone/>
            </a:pPr>
            <a:r>
              <a:rPr lang="es-419" sz="800" i="1" noProof="0">
                <a:solidFill>
                  <a:srgbClr val="E0E5FC"/>
                </a:solidFill>
                <a:latin typeface="Roboto Condensed" pitchFamily="34" charset="0"/>
                <a:ea typeface="Roboto Condensed" pitchFamily="34" charset="-122"/>
                <a:cs typeface="Roboto Condensed" pitchFamily="34" charset="-120"/>
              </a:rPr>
              <a:t>El cálculo utiliza el costo mensual del licenciamiento expresado en USD y un rango agregado de valor hora expresado en COP; por lo tanto, el punto de equilibrio puede variar según la tasa de cambio.</a:t>
            </a:r>
          </a:p>
        </p:txBody>
      </p:sp>
      <p:sp>
        <p:nvSpPr>
          <p:cNvPr id="22" name="sens card">
            <a:extLst>
              <a:ext uri="{C183D7F6-B498-43B3-948B-1728B52AA6E4}">
                <adec:decorative xmlns:adec="http://schemas.microsoft.com/office/drawing/2017/decorative" val="1"/>
              </a:ext>
            </a:extLst>
          </p:cNvPr>
          <p:cNvSpPr/>
          <p:nvPr/>
        </p:nvSpPr>
        <p:spPr>
          <a:xfrm>
            <a:off x="6200120" y="3420000"/>
            <a:ext cx="5303032" cy="1560000"/>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a:p>
        </p:txBody>
      </p:sp>
      <p:sp>
        <p:nvSpPr>
          <p:cNvPr id="23" name="Text sens"/>
          <p:cNvSpPr/>
          <p:nvPr/>
        </p:nvSpPr>
        <p:spPr>
          <a:xfrm>
            <a:off x="6440120" y="3540000"/>
            <a:ext cx="4823032" cy="1320000"/>
          </a:xfrm>
          <a:prstGeom prst="rect">
            <a:avLst/>
          </a:prstGeom>
          <a:noFill/>
          <a:ln/>
        </p:spPr>
        <p:txBody>
          <a:bodyPr wrap="square" lIns="0" tIns="0" rIns="0" bIns="0" rtlCol="0" anchor="t"/>
          <a:lstStyle/>
          <a:p>
            <a:pPr marL="0" indent="0" algn="l">
              <a:buNone/>
            </a:pPr>
            <a:r>
              <a:rPr lang="es-419" sz="1050" b="1" kern="0" spc="150" noProof="0">
                <a:solidFill>
                  <a:srgbClr val="2A3FE0"/>
                </a:solidFill>
                <a:latin typeface="Roboto Condensed Medium" pitchFamily="34" charset="0"/>
                <a:ea typeface="Roboto Condensed Medium" pitchFamily="34" charset="-122"/>
                <a:cs typeface="Roboto Condensed Medium" pitchFamily="34" charset="-120"/>
              </a:rPr>
              <a:t>ESCENARIOS DE SENSIBILIDAD</a:t>
            </a:r>
          </a:p>
          <a:p>
            <a:pPr marL="0" indent="0" algn="l">
              <a:spcBef>
                <a:spcPts val="500"/>
              </a:spcBef>
              <a:buNone/>
            </a:pPr>
            <a:r>
              <a:rPr lang="es-419" sz="1050" b="1" noProof="0">
                <a:solidFill>
                  <a:srgbClr val="5B6068"/>
                </a:solidFill>
                <a:latin typeface="Roboto Condensed Medium" pitchFamily="34" charset="0"/>
                <a:ea typeface="Roboto Condensed Medium" pitchFamily="34" charset="-122"/>
                <a:cs typeface="Roboto Condensed Medium" pitchFamily="34" charset="-120"/>
              </a:rPr>
              <a:t>25 h / mes  </a:t>
            </a:r>
            <a:r>
              <a:rPr lang="es-419" sz="1000" noProof="0">
                <a:solidFill>
                  <a:srgbClr val="5B6068"/>
                </a:solidFill>
                <a:latin typeface="Roboto Condensed" pitchFamily="34" charset="0"/>
                <a:ea typeface="Roboto Condensed" pitchFamily="34" charset="-122"/>
                <a:cs typeface="Roboto Condensed" pitchFamily="34" charset="-120"/>
              </a:rPr>
              <a:t>·  Por debajo del punto de equilibrio</a:t>
            </a:r>
          </a:p>
          <a:p>
            <a:pPr marL="0" indent="0" algn="l">
              <a:spcBef>
                <a:spcPts val="300"/>
              </a:spcBef>
              <a:buNone/>
            </a:pPr>
            <a:r>
              <a:rPr lang="es-419" sz="1050" b="1" noProof="0">
                <a:solidFill>
                  <a:srgbClr val="2A3FE0"/>
                </a:solidFill>
                <a:latin typeface="Roboto Condensed Medium" pitchFamily="34" charset="0"/>
                <a:ea typeface="Roboto Condensed Medium" pitchFamily="34" charset="-122"/>
                <a:cs typeface="Roboto Condensed Medium" pitchFamily="34" charset="-120"/>
              </a:rPr>
              <a:t>50 h / mes  </a:t>
            </a:r>
            <a:r>
              <a:rPr lang="es-419" sz="1000" noProof="0">
                <a:solidFill>
                  <a:srgbClr val="000000"/>
                </a:solidFill>
                <a:latin typeface="Roboto Condensed" pitchFamily="34" charset="0"/>
                <a:ea typeface="Roboto Condensed" pitchFamily="34" charset="-122"/>
                <a:cs typeface="Roboto Condensed" pitchFamily="34" charset="-120"/>
              </a:rPr>
              <a:t>·  ROI positivo aprox.: 10 % – 60 %</a:t>
            </a:r>
          </a:p>
          <a:p>
            <a:pPr marL="0" indent="0" algn="l">
              <a:spcBef>
                <a:spcPts val="300"/>
              </a:spcBef>
              <a:buNone/>
            </a:pPr>
            <a:r>
              <a:rPr lang="es-419" sz="1050" b="1" noProof="0">
                <a:solidFill>
                  <a:srgbClr val="2A3FE0"/>
                </a:solidFill>
                <a:latin typeface="Roboto Condensed Medium" pitchFamily="34" charset="0"/>
                <a:ea typeface="Roboto Condensed Medium" pitchFamily="34" charset="-122"/>
                <a:cs typeface="Roboto Condensed Medium" pitchFamily="34" charset="-120"/>
              </a:rPr>
              <a:t>100 h / mes  </a:t>
            </a:r>
            <a:r>
              <a:rPr lang="es-419" sz="1000" noProof="0">
                <a:solidFill>
                  <a:srgbClr val="000000"/>
                </a:solidFill>
                <a:latin typeface="Roboto Condensed" pitchFamily="34" charset="0"/>
                <a:ea typeface="Roboto Condensed" pitchFamily="34" charset="-122"/>
                <a:cs typeface="Roboto Condensed" pitchFamily="34" charset="-120"/>
              </a:rPr>
              <a:t>·  ROI aprox.: 120 % – 220 %</a:t>
            </a:r>
          </a:p>
          <a:p>
            <a:pPr marL="0" indent="0" algn="l">
              <a:spcBef>
                <a:spcPts val="300"/>
              </a:spcBef>
              <a:buNone/>
            </a:pPr>
            <a:r>
              <a:rPr lang="es-419" sz="1050" b="1" noProof="0">
                <a:solidFill>
                  <a:srgbClr val="2A3FE0"/>
                </a:solidFill>
                <a:latin typeface="Roboto Condensed Medium" pitchFamily="34" charset="0"/>
                <a:ea typeface="Roboto Condensed Medium" pitchFamily="34" charset="-122"/>
                <a:cs typeface="Roboto Condensed Medium" pitchFamily="34" charset="-120"/>
              </a:rPr>
              <a:t>200 h / mes  </a:t>
            </a:r>
            <a:r>
              <a:rPr lang="es-419" sz="1000" noProof="0">
                <a:solidFill>
                  <a:srgbClr val="000000"/>
                </a:solidFill>
                <a:latin typeface="Roboto Condensed" pitchFamily="34" charset="0"/>
                <a:ea typeface="Roboto Condensed" pitchFamily="34" charset="-122"/>
                <a:cs typeface="Roboto Condensed" pitchFamily="34" charset="-120"/>
              </a:rPr>
              <a:t>·  ROI aprox.: 340 % – 540 %</a:t>
            </a:r>
          </a:p>
          <a:p>
            <a:pPr marL="0" indent="0" algn="l">
              <a:spcBef>
                <a:spcPts val="400"/>
              </a:spcBef>
              <a:buNone/>
            </a:pPr>
            <a:r>
              <a:rPr lang="es-419" sz="800" i="1" noProof="0">
                <a:solidFill>
                  <a:srgbClr val="5B6068"/>
                </a:solidFill>
                <a:latin typeface="Roboto Condensed" pitchFamily="34" charset="0"/>
                <a:ea typeface="Roboto Condensed" pitchFamily="34" charset="-122"/>
                <a:cs typeface="Roboto Condensed" pitchFamily="34" charset="-120"/>
              </a:rPr>
              <a:t>Escenarios ilustrativos. El ROI real dependerá de las horas efectivamente liberadas por el uso de IA. Escenarios aproximados sujetos al valor hora de referencia y a la tasa de cambio utilizada.</a:t>
            </a:r>
          </a:p>
        </p:txBody>
      </p:sp>
      <p:sp>
        <p:nvSpPr>
          <p:cNvPr id="24" name="Text metodologica">
            <a:extLst>
              <a:ext uri="{C183D7F6-B498-43B3-948B-1728B52AA6E4}">
                <adec:decorative xmlns:adec="http://schemas.microsoft.com/office/drawing/2017/decorative" val="1"/>
              </a:ext>
            </a:extLst>
          </p:cNvPr>
          <p:cNvSpPr/>
          <p:nvPr/>
        </p:nvSpPr>
        <p:spPr>
          <a:xfrm>
            <a:off x="6200120" y="5060000"/>
            <a:ext cx="5303032" cy="1230000"/>
          </a:xfrm>
          <a:prstGeom prst="rect">
            <a:avLst/>
          </a:prstGeom>
          <a:noFill/>
          <a:ln/>
        </p:spPr>
        <p:txBody>
          <a:bodyPr wrap="square" lIns="0" tIns="0" rIns="0" bIns="0" rtlCol="0" anchor="t"/>
          <a:lstStyle/>
          <a:p>
            <a:pPr marL="0" indent="0" algn="l">
              <a:buNone/>
            </a:pPr>
            <a:r>
              <a:rPr lang="es-419" sz="800" b="1" kern="0" spc="150" noProof="0">
                <a:solidFill>
                  <a:srgbClr val="5B6068"/>
                </a:solidFill>
                <a:latin typeface="Roboto Condensed" pitchFamily="34" charset="0"/>
                <a:ea typeface="Roboto Condensed" pitchFamily="34" charset="-122"/>
                <a:cs typeface="Roboto Condensed" pitchFamily="34" charset="-120"/>
              </a:rPr>
              <a:t>NOTA METODOLÓGICA</a:t>
            </a:r>
          </a:p>
          <a:p>
            <a:pPr marL="0" indent="0" algn="l">
              <a:spcBef>
                <a:spcPts val="300"/>
              </a:spcBef>
              <a:buNone/>
            </a:pPr>
            <a:r>
              <a:rPr lang="es-419" sz="800" noProof="0">
                <a:solidFill>
                  <a:srgbClr val="5B6068"/>
                </a:solidFill>
                <a:latin typeface="Roboto Condensed" pitchFamily="34" charset="0"/>
                <a:ea typeface="Roboto Condensed" pitchFamily="34" charset="-122"/>
                <a:cs typeface="Roboto Condensed" pitchFamily="34" charset="-120"/>
              </a:rPr>
              <a:t>Este análisis estima el valor económico de la capacidad de desarrollo liberada. No representa necesariamente ahorro directo de caja. El punto de equilibrio compara el costo mensual del licenciamiento con el valor de las horas de desarrollo que pueden destinarse a otras actividades.</a:t>
            </a:r>
          </a:p>
        </p:txBody>
      </p:sp>
      <p:sp>
        <p:nvSpPr>
          <p:cNvPr id="40" name="Text 38"/>
          <p:cNvSpPr/>
          <p:nvPr/>
        </p:nvSpPr>
        <p:spPr>
          <a:xfrm>
            <a:off x="685800" y="6437376"/>
            <a:ext cx="8686800" cy="292608"/>
          </a:xfrm>
          <a:prstGeom prst="rect">
            <a:avLst/>
          </a:prstGeom>
          <a:noFill/>
          <a:ln/>
        </p:spPr>
        <p:txBody>
          <a:bodyPr wrap="square" lIns="0" tIns="0" rIns="0" bIns="0" rtlCol="0" anchor="ctr"/>
          <a:lstStyle/>
          <a:p>
            <a:pPr marL="0" indent="0" algn="l">
              <a:buNone/>
            </a:pPr>
            <a:r>
              <a:rPr lang="es-419" sz="850" b="1" noProof="0">
                <a:solidFill>
                  <a:srgbClr val="000000"/>
                </a:solidFill>
                <a:latin typeface="Roboto Condensed" pitchFamily="34" charset="0"/>
                <a:ea typeface="Roboto Condensed" pitchFamily="34" charset="-122"/>
                <a:cs typeface="Roboto Condensed" pitchFamily="34" charset="-120"/>
              </a:rPr>
              <a:t>Tuya</a:t>
            </a:r>
            <a:r>
              <a:rPr lang="es-419" sz="850" noProof="0">
                <a:solidFill>
                  <a:srgbClr val="5B6068"/>
                </a:solidFill>
                <a:latin typeface="Roboto Condensed" pitchFamily="34" charset="0"/>
                <a:ea typeface="Roboto Condensed" pitchFamily="34" charset="-122"/>
                <a:cs typeface="Roboto Condensed" pitchFamily="34" charset="-120"/>
              </a:rPr>
              <a:t>   ·   GitHub </a:t>
            </a:r>
            <a:r>
              <a:rPr lang="es-419" sz="850" noProof="0" err="1">
                <a:solidFill>
                  <a:srgbClr val="5B6068"/>
                </a:solidFill>
                <a:latin typeface="Roboto Condensed" pitchFamily="34" charset="0"/>
                <a:ea typeface="Roboto Condensed" pitchFamily="34" charset="-122"/>
                <a:cs typeface="Roboto Condensed" pitchFamily="34" charset="-120"/>
              </a:rPr>
              <a:t>Copilot</a:t>
            </a:r>
            <a:r>
              <a:rPr lang="es-419" sz="850" noProof="0">
                <a:solidFill>
                  <a:srgbClr val="5B6068"/>
                </a:solidFill>
                <a:latin typeface="Roboto Condensed" pitchFamily="34" charset="0"/>
                <a:ea typeface="Roboto Condensed" pitchFamily="34" charset="-122"/>
                <a:cs typeface="Roboto Condensed" pitchFamily="34" charset="-120"/>
              </a:rPr>
              <a:t> - Caso de negocio</a:t>
            </a:r>
            <a:endParaRPr lang="es-419" sz="850" noProof="0" dirty="0"/>
          </a:p>
        </p:txBody>
      </p:sp>
      <p:sp>
        <p:nvSpPr>
          <p:cNvPr id="41" name="Text 39"/>
          <p:cNvSpPr/>
          <p:nvPr/>
        </p:nvSpPr>
        <p:spPr>
          <a:xfrm>
            <a:off x="10972800" y="6437376"/>
            <a:ext cx="530352" cy="292608"/>
          </a:xfrm>
          <a:prstGeom prst="rect">
            <a:avLst/>
          </a:prstGeom>
          <a:noFill/>
          <a:ln/>
        </p:spPr>
        <p:txBody>
          <a:bodyPr wrap="square" lIns="0" tIns="0" rIns="0" bIns="0" rtlCol="0" anchor="ctr"/>
          <a:lstStyle/>
          <a:p>
            <a:pPr marL="0" indent="0" algn="r">
              <a:buNone/>
            </a:pPr>
            <a:r>
              <a:rPr lang="es-419" sz="900" b="1" noProof="0">
                <a:solidFill>
                  <a:srgbClr val="2A3FE0"/>
                </a:solidFill>
                <a:latin typeface="Roboto Condensed Medium" pitchFamily="34" charset="0"/>
                <a:ea typeface="Roboto Condensed Medium" pitchFamily="34" charset="-122"/>
                <a:cs typeface="Roboto Condensed Medium" pitchFamily="34" charset="-120"/>
              </a:rPr>
              <a:t>07</a:t>
            </a:r>
            <a:endParaRPr lang="es-419" sz="900" noProof="0" dirty="0"/>
          </a:p>
        </p:txBody>
      </p:sp>
      <p:pic>
        <p:nvPicPr>
          <p:cNvPr id="950" name="Logo Tuya"/>
          <p:cNvPicPr>
            <a:picLocks noChangeAspect="1"/>
          </p:cNvPicPr>
          <p:nvPr/>
        </p:nvPicPr>
        <p:blipFill>
          <a:blip r:embed="rId3"/>
          <a:stretch>
            <a:fillRect/>
          </a:stretch>
        </p:blipFill>
        <p:spPr>
          <a:xfrm>
            <a:off x="11152200" y="321276"/>
            <a:ext cx="640080" cy="320040"/>
          </a:xfrm>
          <a:prstGeom prst="rect">
            <a:avLst/>
          </a:prstGeom>
        </p:spPr>
      </p:pic>
    </p:spTree>
    <p:extLst>
      <p:ext uri="{BB962C8B-B14F-4D97-AF65-F5344CB8AC3E}">
        <p14:creationId xmlns:p14="http://schemas.microsoft.com/office/powerpoint/2010/main" val="5578923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mark">
            <a:extLst>
              <a:ext uri="{C183D7F6-B498-43B3-948B-1728B52AA6E4}">
                <adec:decorative xmlns:adec="http://schemas.microsoft.com/office/drawing/2017/decorative" val="1"/>
              </a:ext>
            </a:extLst>
          </p:cNvPr>
          <p:cNvSpPr/>
          <p:nvPr/>
        </p:nvSpPr>
        <p:spPr>
          <a:xfrm>
            <a:off x="685800" y="402336"/>
            <a:ext cx="146304" cy="146304"/>
          </a:xfrm>
          <a:prstGeom prst="rect">
            <a:avLst/>
          </a:prstGeom>
          <a:solidFill>
            <a:srgbClr val="2A3FE0"/>
          </a:solidFill>
          <a:ln/>
        </p:spPr>
        <p:txBody>
          <a:bodyPr/>
          <a:lstStyle/>
          <a:p>
            <a:endParaRPr lang="es-419" noProof="0" dirty="0"/>
          </a:p>
        </p:txBody>
      </p:sp>
      <p:sp>
        <p:nvSpPr>
          <p:cNvPr id="3" name="Text 1"/>
          <p:cNvSpPr/>
          <p:nvPr/>
        </p:nvSpPr>
        <p:spPr>
          <a:xfrm>
            <a:off x="932688" y="310896"/>
            <a:ext cx="9601200" cy="310896"/>
          </a:xfrm>
          <a:prstGeom prst="rect">
            <a:avLst/>
          </a:prstGeom>
          <a:noFill/>
          <a:ln/>
        </p:spPr>
        <p:txBody>
          <a:bodyPr wrap="square" lIns="0" tIns="0" rIns="0" bIns="0" rtlCol="0" anchor="ctr"/>
          <a:lstStyle/>
          <a:p>
            <a:pPr marL="0" indent="0" algn="l">
              <a:buNone/>
            </a:pPr>
            <a:r>
              <a:rPr lang="es-419" sz="1150" b="1" kern="0" spc="200" noProof="0">
                <a:solidFill>
                  <a:srgbClr val="2A3FE0"/>
                </a:solidFill>
                <a:latin typeface="Roboto Condensed Medium" pitchFamily="34" charset="0"/>
                <a:ea typeface="Roboto Condensed Medium" pitchFamily="34" charset="-122"/>
                <a:cs typeface="Roboto Condensed Medium" pitchFamily="34" charset="-120"/>
              </a:rPr>
              <a:t>GOBIERNO Y CONTROL DEL CONSUMO</a:t>
            </a:r>
            <a:endParaRPr lang="es-419" sz="1150" noProof="0" dirty="0"/>
          </a:p>
        </p:txBody>
      </p:sp>
      <p:sp>
        <p:nvSpPr>
          <p:cNvPr id="4" name="Text 0"/>
          <p:cNvSpPr>
            <a:spLocks noGrp="1"/>
          </p:cNvSpPr>
          <p:nvPr>
            <p:ph type="title" idx="100" hasCustomPrompt="1"/>
          </p:nvPr>
        </p:nvSpPr>
        <p:spPr>
          <a:xfrm>
            <a:off x="685800" y="658368"/>
            <a:ext cx="10789920" cy="822960"/>
          </a:xfrm>
          <a:prstGeom prst="rect">
            <a:avLst/>
          </a:prstGeom>
          <a:noFill/>
          <a:ln/>
        </p:spPr>
        <p:txBody>
          <a:bodyPr wrap="square" lIns="0" tIns="0" rIns="0" bIns="0" rtlCol="0" anchor="t"/>
          <a:lstStyle/>
          <a:p>
            <a:pPr marL="0" indent="0" algn="l">
              <a:buNone/>
            </a:pPr>
            <a:r>
              <a:rPr lang="es-419" sz="2700" b="1" noProof="0">
                <a:solidFill>
                  <a:srgbClr val="000000"/>
                </a:solidFill>
                <a:latin typeface="Roboto Condensed Medium" pitchFamily="34" charset="0"/>
                <a:ea typeface="Roboto Condensed Medium" pitchFamily="34" charset="-122"/>
                <a:cs typeface="Roboto Condensed Medium" pitchFamily="34" charset="-120"/>
              </a:rPr>
              <a:t>Cómo se puede gobernar y controlar el consumo</a:t>
            </a:r>
            <a:endParaRPr lang="es-419" sz="2700" noProof="0" dirty="0"/>
          </a:p>
        </p:txBody>
      </p:sp>
      <p:sp>
        <p:nvSpPr>
          <p:cNvPr id="5" name="level">
            <a:extLst>
              <a:ext uri="{C183D7F6-B498-43B3-948B-1728B52AA6E4}">
                <adec:decorative xmlns:adec="http://schemas.microsoft.com/office/drawing/2017/decorative" val="1"/>
              </a:ext>
            </a:extLst>
          </p:cNvPr>
          <p:cNvSpPr/>
          <p:nvPr/>
        </p:nvSpPr>
        <p:spPr>
          <a:xfrm>
            <a:off x="685800" y="1282930"/>
            <a:ext cx="6583680" cy="747522"/>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6" name="level tag">
            <a:extLst>
              <a:ext uri="{C183D7F6-B498-43B3-948B-1728B52AA6E4}">
                <adec:decorative xmlns:adec="http://schemas.microsoft.com/office/drawing/2017/decorative" val="1"/>
              </a:ext>
            </a:extLst>
          </p:cNvPr>
          <p:cNvSpPr/>
          <p:nvPr/>
        </p:nvSpPr>
        <p:spPr>
          <a:xfrm>
            <a:off x="685800" y="1282930"/>
            <a:ext cx="1965960" cy="747522"/>
          </a:xfrm>
          <a:prstGeom prst="rect">
            <a:avLst/>
          </a:prstGeom>
          <a:solidFill>
            <a:srgbClr val="2A3FE0"/>
          </a:solidFill>
          <a:ln/>
        </p:spPr>
        <p:txBody>
          <a:bodyPr/>
          <a:lstStyle/>
          <a:p>
            <a:endParaRPr lang="es-419" noProof="0" dirty="0"/>
          </a:p>
        </p:txBody>
      </p:sp>
      <p:sp>
        <p:nvSpPr>
          <p:cNvPr id="7" name="Text 5"/>
          <p:cNvSpPr/>
          <p:nvPr/>
        </p:nvSpPr>
        <p:spPr>
          <a:xfrm>
            <a:off x="813816" y="1282930"/>
            <a:ext cx="1737360" cy="747522"/>
          </a:xfrm>
          <a:prstGeom prst="rect">
            <a:avLst/>
          </a:prstGeom>
          <a:noFill/>
          <a:ln/>
        </p:spPr>
        <p:txBody>
          <a:bodyPr wrap="square" lIns="0" tIns="0" rIns="0" bIns="0" rtlCol="0" anchor="ctr"/>
          <a:lstStyle/>
          <a:p>
            <a:pPr marL="0" indent="0" algn="l">
              <a:buNone/>
            </a:pPr>
            <a:r>
              <a:rPr lang="es-419" sz="1250" b="1" noProof="0">
                <a:solidFill>
                  <a:srgbClr val="FFFFFF"/>
                </a:solidFill>
                <a:latin typeface="Roboto Condensed Medium" pitchFamily="34" charset="0"/>
                <a:ea typeface="Roboto Condensed Medium" pitchFamily="34" charset="-122"/>
                <a:cs typeface="Roboto Condensed Medium" pitchFamily="34" charset="-120"/>
              </a:rPr>
              <a:t>USUARIO</a:t>
            </a:r>
            <a:endParaRPr lang="es-419" sz="1250" noProof="0" dirty="0"/>
          </a:p>
        </p:txBody>
      </p:sp>
      <p:sp>
        <p:nvSpPr>
          <p:cNvPr id="8" name="Text 6"/>
          <p:cNvSpPr/>
          <p:nvPr/>
        </p:nvSpPr>
        <p:spPr>
          <a:xfrm>
            <a:off x="2807208" y="1337794"/>
            <a:ext cx="4297680" cy="637794"/>
          </a:xfrm>
          <a:prstGeom prst="rect">
            <a:avLst/>
          </a:prstGeom>
          <a:noFill/>
          <a:ln/>
        </p:spPr>
        <p:txBody>
          <a:bodyPr wrap="square" lIns="0" tIns="0" rIns="0" bIns="0" rtlCol="0" anchor="ctr"/>
          <a:lstStyle/>
          <a:p>
            <a:pPr marL="0" indent="0" algn="l">
              <a:buNone/>
            </a:pPr>
            <a:r>
              <a:rPr lang="es-419" sz="1050" noProof="0">
                <a:solidFill>
                  <a:srgbClr val="33373D"/>
                </a:solidFill>
                <a:latin typeface="Roboto Condensed" pitchFamily="34" charset="0"/>
                <a:ea typeface="Roboto Condensed" pitchFamily="34" charset="-122"/>
                <a:cs typeface="Roboto Condensed" pitchFamily="34" charset="-120"/>
              </a:rPr>
              <a:t>Presupuesto individual que limita el consumo máximo permitido por usuario durante el ciclo de facturación.</a:t>
            </a:r>
            <a:endParaRPr lang="es-419" sz="1050" noProof="0" dirty="0"/>
          </a:p>
        </p:txBody>
      </p:sp>
      <p:sp>
        <p:nvSpPr>
          <p:cNvPr id="9" name="flow connector">
            <a:extLst>
              <a:ext uri="{C183D7F6-B498-43B3-948B-1728B52AA6E4}">
                <adec:decorative xmlns:adec="http://schemas.microsoft.com/office/drawing/2017/decorative" val="1"/>
              </a:ext>
            </a:extLst>
          </p:cNvPr>
          <p:cNvSpPr/>
          <p:nvPr/>
        </p:nvSpPr>
        <p:spPr>
          <a:xfrm rot="5400000">
            <a:off x="1600200" y="2070079"/>
            <a:ext cx="256032" cy="219456"/>
          </a:xfrm>
          <a:prstGeom prst="chevron">
            <a:avLst/>
          </a:prstGeom>
          <a:solidFill>
            <a:srgbClr val="2A3FE0"/>
          </a:solidFill>
          <a:ln/>
        </p:spPr>
        <p:txBody>
          <a:bodyPr/>
          <a:lstStyle/>
          <a:p>
            <a:endParaRPr lang="es-419" noProof="0" dirty="0"/>
          </a:p>
        </p:txBody>
      </p:sp>
      <p:sp>
        <p:nvSpPr>
          <p:cNvPr id="10" name="level">
            <a:extLst>
              <a:ext uri="{C183D7F6-B498-43B3-948B-1728B52AA6E4}">
                <adec:decorative xmlns:adec="http://schemas.microsoft.com/office/drawing/2017/decorative" val="1"/>
              </a:ext>
            </a:extLst>
          </p:cNvPr>
          <p:cNvSpPr/>
          <p:nvPr/>
        </p:nvSpPr>
        <p:spPr>
          <a:xfrm>
            <a:off x="685800" y="2336086"/>
            <a:ext cx="6583680" cy="747522"/>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11" name="level tag">
            <a:extLst>
              <a:ext uri="{C183D7F6-B498-43B3-948B-1728B52AA6E4}">
                <adec:decorative xmlns:adec="http://schemas.microsoft.com/office/drawing/2017/decorative" val="1"/>
              </a:ext>
            </a:extLst>
          </p:cNvPr>
          <p:cNvSpPr/>
          <p:nvPr/>
        </p:nvSpPr>
        <p:spPr>
          <a:xfrm>
            <a:off x="685800" y="2336086"/>
            <a:ext cx="1965960" cy="747522"/>
          </a:xfrm>
          <a:prstGeom prst="rect">
            <a:avLst/>
          </a:prstGeom>
          <a:solidFill>
            <a:srgbClr val="E7EAFC"/>
          </a:solidFill>
          <a:ln/>
        </p:spPr>
        <p:txBody>
          <a:bodyPr/>
          <a:lstStyle/>
          <a:p>
            <a:endParaRPr lang="es-419" noProof="0" dirty="0"/>
          </a:p>
        </p:txBody>
      </p:sp>
      <p:sp>
        <p:nvSpPr>
          <p:cNvPr id="12" name="Text 10"/>
          <p:cNvSpPr/>
          <p:nvPr/>
        </p:nvSpPr>
        <p:spPr>
          <a:xfrm>
            <a:off x="813816" y="2336086"/>
            <a:ext cx="1737360" cy="747522"/>
          </a:xfrm>
          <a:prstGeom prst="rect">
            <a:avLst/>
          </a:prstGeom>
          <a:noFill/>
          <a:ln/>
        </p:spPr>
        <p:txBody>
          <a:bodyPr wrap="square" lIns="0" tIns="0" rIns="0" bIns="0" rtlCol="0" anchor="ctr"/>
          <a:lstStyle/>
          <a:p>
            <a:pPr marL="0" indent="0" algn="l">
              <a:buNone/>
            </a:pPr>
            <a:r>
              <a:rPr lang="es-419" sz="1250" b="1" noProof="0">
                <a:solidFill>
                  <a:srgbClr val="1E2FB5"/>
                </a:solidFill>
                <a:latin typeface="Roboto Condensed Medium" pitchFamily="34" charset="0"/>
                <a:ea typeface="Roboto Condensed Medium" pitchFamily="34" charset="-122"/>
                <a:cs typeface="Roboto Condensed Medium" pitchFamily="34" charset="-120"/>
              </a:rPr>
              <a:t>ORGANIZACIÓN</a:t>
            </a:r>
            <a:endParaRPr lang="es-419" sz="1250" noProof="0" dirty="0"/>
          </a:p>
        </p:txBody>
      </p:sp>
      <p:sp>
        <p:nvSpPr>
          <p:cNvPr id="13" name="Text 11"/>
          <p:cNvSpPr/>
          <p:nvPr/>
        </p:nvSpPr>
        <p:spPr>
          <a:xfrm>
            <a:off x="2807208" y="2390950"/>
            <a:ext cx="4297680" cy="637794"/>
          </a:xfrm>
          <a:prstGeom prst="rect">
            <a:avLst/>
          </a:prstGeom>
          <a:noFill/>
          <a:ln/>
        </p:spPr>
        <p:txBody>
          <a:bodyPr wrap="square" lIns="0" tIns="0" rIns="0" bIns="0" rtlCol="0" anchor="ctr"/>
          <a:lstStyle/>
          <a:p>
            <a:pPr marL="0" indent="0" algn="l">
              <a:buNone/>
            </a:pPr>
            <a:r>
              <a:rPr lang="es-419" sz="1050" noProof="0">
                <a:solidFill>
                  <a:srgbClr val="33373D"/>
                </a:solidFill>
                <a:latin typeface="Roboto Condensed" pitchFamily="34" charset="0"/>
                <a:ea typeface="Roboto Condensed" pitchFamily="34" charset="-122"/>
                <a:cs typeface="Roboto Condensed" pitchFamily="34" charset="-120"/>
              </a:rPr>
              <a:t>Control del consumo y de los cargos medidos asociados a la organización.</a:t>
            </a:r>
            <a:endParaRPr lang="es-419" sz="1050" noProof="0" dirty="0"/>
          </a:p>
        </p:txBody>
      </p:sp>
      <p:sp>
        <p:nvSpPr>
          <p:cNvPr id="14" name="flow connector">
            <a:extLst>
              <a:ext uri="{C183D7F6-B498-43B3-948B-1728B52AA6E4}">
                <adec:decorative xmlns:adec="http://schemas.microsoft.com/office/drawing/2017/decorative" val="1"/>
              </a:ext>
            </a:extLst>
          </p:cNvPr>
          <p:cNvSpPr/>
          <p:nvPr/>
        </p:nvSpPr>
        <p:spPr>
          <a:xfrm rot="5400000">
            <a:off x="1600200" y="3123231"/>
            <a:ext cx="256032" cy="219456"/>
          </a:xfrm>
          <a:prstGeom prst="chevron">
            <a:avLst/>
          </a:prstGeom>
          <a:solidFill>
            <a:srgbClr val="2A3FE0"/>
          </a:solidFill>
          <a:ln/>
        </p:spPr>
        <p:txBody>
          <a:bodyPr/>
          <a:lstStyle/>
          <a:p>
            <a:endParaRPr lang="es-419" noProof="0" dirty="0"/>
          </a:p>
        </p:txBody>
      </p:sp>
      <p:sp>
        <p:nvSpPr>
          <p:cNvPr id="15" name="level">
            <a:extLst>
              <a:ext uri="{C183D7F6-B498-43B3-948B-1728B52AA6E4}">
                <adec:decorative xmlns:adec="http://schemas.microsoft.com/office/drawing/2017/decorative" val="1"/>
              </a:ext>
            </a:extLst>
          </p:cNvPr>
          <p:cNvSpPr/>
          <p:nvPr/>
        </p:nvSpPr>
        <p:spPr>
          <a:xfrm>
            <a:off x="685800" y="3368458"/>
            <a:ext cx="6583680" cy="747522"/>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16" name="level tag">
            <a:extLst>
              <a:ext uri="{C183D7F6-B498-43B3-948B-1728B52AA6E4}">
                <adec:decorative xmlns:adec="http://schemas.microsoft.com/office/drawing/2017/decorative" val="1"/>
              </a:ext>
            </a:extLst>
          </p:cNvPr>
          <p:cNvSpPr/>
          <p:nvPr/>
        </p:nvSpPr>
        <p:spPr>
          <a:xfrm>
            <a:off x="685800" y="3368458"/>
            <a:ext cx="1965960" cy="747522"/>
          </a:xfrm>
          <a:prstGeom prst="rect">
            <a:avLst/>
          </a:prstGeom>
          <a:solidFill>
            <a:srgbClr val="E7EAFC"/>
          </a:solidFill>
          <a:ln/>
        </p:spPr>
        <p:txBody>
          <a:bodyPr/>
          <a:lstStyle/>
          <a:p>
            <a:endParaRPr lang="es-419" noProof="0" dirty="0"/>
          </a:p>
        </p:txBody>
      </p:sp>
      <p:sp>
        <p:nvSpPr>
          <p:cNvPr id="17" name="Text 15"/>
          <p:cNvSpPr/>
          <p:nvPr/>
        </p:nvSpPr>
        <p:spPr>
          <a:xfrm>
            <a:off x="813816" y="3368458"/>
            <a:ext cx="1737360" cy="747522"/>
          </a:xfrm>
          <a:prstGeom prst="rect">
            <a:avLst/>
          </a:prstGeom>
          <a:noFill/>
          <a:ln/>
        </p:spPr>
        <p:txBody>
          <a:bodyPr wrap="square" lIns="0" tIns="0" rIns="0" bIns="0" rtlCol="0" anchor="ctr"/>
          <a:lstStyle/>
          <a:p>
            <a:pPr marL="0" indent="0" algn="l">
              <a:buNone/>
            </a:pPr>
            <a:r>
              <a:rPr lang="es-419" sz="1250" b="1" noProof="0">
                <a:solidFill>
                  <a:srgbClr val="1E2FB5"/>
                </a:solidFill>
                <a:latin typeface="Roboto Condensed Medium" pitchFamily="34" charset="0"/>
                <a:ea typeface="Roboto Condensed Medium" pitchFamily="34" charset="-122"/>
                <a:cs typeface="Roboto Condensed Medium" pitchFamily="34" charset="-120"/>
              </a:rPr>
              <a:t>COST CENTER</a:t>
            </a:r>
            <a:endParaRPr lang="es-419" sz="1250" noProof="0" dirty="0"/>
          </a:p>
        </p:txBody>
      </p:sp>
      <p:sp>
        <p:nvSpPr>
          <p:cNvPr id="18" name="Text 16"/>
          <p:cNvSpPr/>
          <p:nvPr/>
        </p:nvSpPr>
        <p:spPr>
          <a:xfrm>
            <a:off x="2807208" y="3423322"/>
            <a:ext cx="4297680" cy="637794"/>
          </a:xfrm>
          <a:prstGeom prst="rect">
            <a:avLst/>
          </a:prstGeom>
          <a:noFill/>
          <a:ln/>
        </p:spPr>
        <p:txBody>
          <a:bodyPr wrap="square" lIns="0" tIns="0" rIns="0" bIns="0" rtlCol="0" anchor="ctr"/>
          <a:lstStyle/>
          <a:p>
            <a:pPr marL="0" indent="0" algn="l">
              <a:buNone/>
            </a:pPr>
            <a:r>
              <a:rPr lang="es-419" sz="1050" noProof="0">
                <a:solidFill>
                  <a:srgbClr val="33373D"/>
                </a:solidFill>
                <a:latin typeface="Roboto Condensed" pitchFamily="34" charset="0"/>
                <a:ea typeface="Roboto Condensed" pitchFamily="34" charset="-122"/>
                <a:cs typeface="Roboto Condensed" pitchFamily="34" charset="-120"/>
              </a:rPr>
              <a:t>Permite establecer controles y presupuestos para grupos determinados de usuarios.</a:t>
            </a:r>
            <a:endParaRPr lang="es-419" sz="1050" noProof="0" dirty="0"/>
          </a:p>
        </p:txBody>
      </p:sp>
      <p:sp>
        <p:nvSpPr>
          <p:cNvPr id="19" name="flow connector">
            <a:extLst>
              <a:ext uri="{C183D7F6-B498-43B3-948B-1728B52AA6E4}">
                <adec:decorative xmlns:adec="http://schemas.microsoft.com/office/drawing/2017/decorative" val="1"/>
              </a:ext>
            </a:extLst>
          </p:cNvPr>
          <p:cNvSpPr/>
          <p:nvPr/>
        </p:nvSpPr>
        <p:spPr>
          <a:xfrm rot="5400000">
            <a:off x="1600200" y="4134819"/>
            <a:ext cx="256032" cy="219456"/>
          </a:xfrm>
          <a:prstGeom prst="chevron">
            <a:avLst/>
          </a:prstGeom>
          <a:solidFill>
            <a:srgbClr val="2A3FE0"/>
          </a:solidFill>
          <a:ln/>
        </p:spPr>
        <p:txBody>
          <a:bodyPr/>
          <a:lstStyle/>
          <a:p>
            <a:endParaRPr lang="es-419" noProof="0" dirty="0"/>
          </a:p>
        </p:txBody>
      </p:sp>
      <p:sp>
        <p:nvSpPr>
          <p:cNvPr id="20" name="level">
            <a:extLst>
              <a:ext uri="{C183D7F6-B498-43B3-948B-1728B52AA6E4}">
                <adec:decorative xmlns:adec="http://schemas.microsoft.com/office/drawing/2017/decorative" val="1"/>
              </a:ext>
            </a:extLst>
          </p:cNvPr>
          <p:cNvSpPr/>
          <p:nvPr/>
        </p:nvSpPr>
        <p:spPr>
          <a:xfrm>
            <a:off x="685800" y="4386972"/>
            <a:ext cx="6583680" cy="747522"/>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21" name="level tag">
            <a:extLst>
              <a:ext uri="{C183D7F6-B498-43B3-948B-1728B52AA6E4}">
                <adec:decorative xmlns:adec="http://schemas.microsoft.com/office/drawing/2017/decorative" val="1"/>
              </a:ext>
            </a:extLst>
          </p:cNvPr>
          <p:cNvSpPr/>
          <p:nvPr/>
        </p:nvSpPr>
        <p:spPr>
          <a:xfrm>
            <a:off x="685800" y="4386972"/>
            <a:ext cx="1965960" cy="747522"/>
          </a:xfrm>
          <a:prstGeom prst="rect">
            <a:avLst/>
          </a:prstGeom>
          <a:solidFill>
            <a:srgbClr val="E7EAFC"/>
          </a:solidFill>
          <a:ln/>
        </p:spPr>
        <p:txBody>
          <a:bodyPr/>
          <a:lstStyle/>
          <a:p>
            <a:endParaRPr lang="es-419" noProof="0" dirty="0"/>
          </a:p>
        </p:txBody>
      </p:sp>
      <p:sp>
        <p:nvSpPr>
          <p:cNvPr id="22" name="Text 20"/>
          <p:cNvSpPr/>
          <p:nvPr/>
        </p:nvSpPr>
        <p:spPr>
          <a:xfrm>
            <a:off x="813816" y="4386972"/>
            <a:ext cx="1737360" cy="747522"/>
          </a:xfrm>
          <a:prstGeom prst="rect">
            <a:avLst/>
          </a:prstGeom>
          <a:noFill/>
          <a:ln/>
        </p:spPr>
        <p:txBody>
          <a:bodyPr wrap="square" lIns="0" tIns="0" rIns="0" bIns="0" rtlCol="0" anchor="ctr"/>
          <a:lstStyle/>
          <a:p>
            <a:pPr marL="0" indent="0" algn="l">
              <a:buNone/>
            </a:pPr>
            <a:r>
              <a:rPr lang="es-419" sz="1250" b="1" noProof="0">
                <a:solidFill>
                  <a:srgbClr val="1E2FB5"/>
                </a:solidFill>
                <a:latin typeface="Roboto Condensed Medium" pitchFamily="34" charset="0"/>
                <a:ea typeface="Roboto Condensed Medium" pitchFamily="34" charset="-122"/>
                <a:cs typeface="Roboto Condensed Medium" pitchFamily="34" charset="-120"/>
              </a:rPr>
              <a:t>ENTERPRISE</a:t>
            </a:r>
            <a:endParaRPr lang="es-419" sz="1250" noProof="0" dirty="0"/>
          </a:p>
        </p:txBody>
      </p:sp>
      <p:sp>
        <p:nvSpPr>
          <p:cNvPr id="23" name="Text 21"/>
          <p:cNvSpPr/>
          <p:nvPr/>
        </p:nvSpPr>
        <p:spPr>
          <a:xfrm>
            <a:off x="2807208" y="4441836"/>
            <a:ext cx="4297680" cy="637794"/>
          </a:xfrm>
          <a:prstGeom prst="rect">
            <a:avLst/>
          </a:prstGeom>
          <a:noFill/>
          <a:ln/>
        </p:spPr>
        <p:txBody>
          <a:bodyPr wrap="square" lIns="0" tIns="0" rIns="0" bIns="0" rtlCol="0" anchor="ctr"/>
          <a:lstStyle/>
          <a:p>
            <a:pPr marL="0" indent="0" algn="l">
              <a:buNone/>
            </a:pPr>
            <a:r>
              <a:rPr lang="es-419" sz="1050" noProof="0" err="1">
                <a:solidFill>
                  <a:srgbClr val="33373D"/>
                </a:solidFill>
                <a:latin typeface="Roboto Condensed" pitchFamily="34" charset="0"/>
                <a:ea typeface="Roboto Condensed" pitchFamily="34" charset="-122"/>
                <a:cs typeface="Roboto Condensed" pitchFamily="34" charset="-120"/>
              </a:rPr>
              <a:t>Spending limit global para controlar cargos medidos una vez agotado el pool compartido.</a:t>
            </a:r>
            <a:r>
              <a:rPr lang="es-419" sz="1050" noProof="0">
                <a:solidFill>
                  <a:srgbClr val="33373D"/>
                </a:solidFill>
                <a:latin typeface="Roboto Condensed" pitchFamily="34" charset="0"/>
                <a:ea typeface="Roboto Condensed" pitchFamily="34" charset="-122"/>
                <a:cs typeface="Roboto Condensed" pitchFamily="34" charset="-120"/>
              </a:rPr>
              <a:t> </a:t>
            </a:r>
            <a:endParaRPr lang="es-419" sz="1050" noProof="0" dirty="0"/>
          </a:p>
        </p:txBody>
      </p:sp>
      <p:sp>
        <p:nvSpPr>
          <p:cNvPr id="24" name="card">
            <a:extLst>
              <a:ext uri="{C183D7F6-B498-43B3-948B-1728B52AA6E4}">
                <adec:decorative xmlns:adec="http://schemas.microsoft.com/office/drawing/2017/decorative" val="1"/>
              </a:ext>
            </a:extLst>
          </p:cNvPr>
          <p:cNvSpPr/>
          <p:nvPr/>
        </p:nvSpPr>
        <p:spPr>
          <a:xfrm>
            <a:off x="7571232" y="1691640"/>
            <a:ext cx="3931920" cy="3429000"/>
          </a:xfrm>
          <a:prstGeom prst="rect">
            <a:avLst/>
          </a:prstGeom>
          <a:solidFill>
            <a:srgbClr val="F5F6FA"/>
          </a:solidFill>
          <a:ln w="12700">
            <a:solidFill>
              <a:srgbClr val="E6E8EF"/>
            </a:solidFill>
            <a:prstDash val="solid"/>
          </a:ln>
        </p:spPr>
        <p:txBody>
          <a:bodyPr/>
          <a:lstStyle/>
          <a:p>
            <a:endParaRPr lang="es-419" noProof="0" dirty="0"/>
          </a:p>
        </p:txBody>
      </p:sp>
      <p:sp>
        <p:nvSpPr>
          <p:cNvPr id="25" name="Text 23"/>
          <p:cNvSpPr/>
          <p:nvPr/>
        </p:nvSpPr>
        <p:spPr>
          <a:xfrm>
            <a:off x="7827264" y="1883664"/>
            <a:ext cx="3419856" cy="274320"/>
          </a:xfrm>
          <a:prstGeom prst="rect">
            <a:avLst/>
          </a:prstGeom>
          <a:noFill/>
          <a:ln/>
        </p:spPr>
        <p:txBody>
          <a:bodyPr wrap="square" lIns="0" tIns="0" rIns="0" bIns="0" rtlCol="0" anchor="ctr"/>
          <a:lstStyle/>
          <a:p>
            <a:pPr marL="0" indent="0">
              <a:buNone/>
            </a:pPr>
            <a:r>
              <a:rPr lang="es-419" sz="1150" b="1" kern="0" spc="100" noProof="0">
                <a:solidFill>
                  <a:srgbClr val="000000"/>
                </a:solidFill>
                <a:latin typeface="Roboto Condensed Medium" pitchFamily="34" charset="0"/>
                <a:ea typeface="Roboto Condensed Medium" pitchFamily="34" charset="-122"/>
                <a:cs typeface="Roboto Condensed Medium" pitchFamily="34" charset="-120"/>
              </a:rPr>
              <a:t>PARA ANÁLISIS INTERNO</a:t>
            </a:r>
            <a:endParaRPr lang="es-419" sz="1150" noProof="0" dirty="0"/>
          </a:p>
        </p:txBody>
      </p:sp>
      <p:sp>
        <p:nvSpPr>
          <p:cNvPr id="26" name="Text 24"/>
          <p:cNvSpPr/>
          <p:nvPr/>
        </p:nvSpPr>
        <p:spPr>
          <a:xfrm>
            <a:off x="7827264" y="2176272"/>
            <a:ext cx="3419856" cy="457200"/>
          </a:xfrm>
          <a:prstGeom prst="rect">
            <a:avLst/>
          </a:prstGeom>
          <a:noFill/>
          <a:ln/>
        </p:spPr>
        <p:txBody>
          <a:bodyPr wrap="square" lIns="0" tIns="0" rIns="0" bIns="0" rtlCol="0" anchor="ctr"/>
          <a:lstStyle/>
          <a:p>
            <a:pPr marL="0" indent="0">
              <a:buNone/>
            </a:pPr>
            <a:r>
              <a:rPr lang="es-419" sz="1000" i="1" noProof="0">
                <a:solidFill>
                  <a:srgbClr val="6E7278"/>
                </a:solidFill>
                <a:latin typeface="Roboto Condensed" pitchFamily="34" charset="0"/>
                <a:ea typeface="Roboto Condensed" pitchFamily="34" charset="-122"/>
                <a:cs typeface="Roboto Condensed" pitchFamily="34" charset="-120"/>
              </a:rPr>
              <a:t>Capacidades disponibles a evaluar y configurar - aún no definidas.</a:t>
            </a:r>
            <a:endParaRPr lang="es-419" sz="1000" noProof="0" dirty="0"/>
          </a:p>
        </p:txBody>
      </p:sp>
      <p:sp>
        <p:nvSpPr>
          <p:cNvPr id="27" name="card">
            <a:extLst>
              <a:ext uri="{C183D7F6-B498-43B3-948B-1728B52AA6E4}">
                <adec:decorative xmlns:adec="http://schemas.microsoft.com/office/drawing/2017/decorative" val="1"/>
              </a:ext>
            </a:extLst>
          </p:cNvPr>
          <p:cNvSpPr/>
          <p:nvPr/>
        </p:nvSpPr>
        <p:spPr>
          <a:xfrm>
            <a:off x="7808976" y="2600000"/>
            <a:ext cx="3456432" cy="457200"/>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28" name="bullet">
            <a:extLst>
              <a:ext uri="{C183D7F6-B498-43B3-948B-1728B52AA6E4}">
                <adec:decorative xmlns:adec="http://schemas.microsoft.com/office/drawing/2017/decorative" val="1"/>
              </a:ext>
            </a:extLst>
          </p:cNvPr>
          <p:cNvSpPr/>
          <p:nvPr/>
        </p:nvSpPr>
        <p:spPr>
          <a:xfrm>
            <a:off x="7955280" y="2760000"/>
            <a:ext cx="128016" cy="128016"/>
          </a:xfrm>
          <a:prstGeom prst="ellipse">
            <a:avLst/>
          </a:prstGeom>
          <a:solidFill>
            <a:srgbClr val="2A3FE0"/>
          </a:solidFill>
          <a:ln/>
        </p:spPr>
        <p:txBody>
          <a:bodyPr/>
          <a:lstStyle/>
          <a:p>
            <a:endParaRPr lang="es-419" noProof="0" dirty="0"/>
          </a:p>
        </p:txBody>
      </p:sp>
      <p:sp>
        <p:nvSpPr>
          <p:cNvPr id="29" name="Text 27"/>
          <p:cNvSpPr/>
          <p:nvPr/>
        </p:nvSpPr>
        <p:spPr>
          <a:xfrm>
            <a:off x="8193024" y="2600000"/>
            <a:ext cx="3035808" cy="457200"/>
          </a:xfrm>
          <a:prstGeom prst="rect">
            <a:avLst/>
          </a:prstGeom>
          <a:noFill/>
          <a:ln/>
        </p:spPr>
        <p:txBody>
          <a:bodyPr wrap="square" lIns="0" tIns="0" rIns="0" bIns="0" rtlCol="0" anchor="ctr"/>
          <a:lstStyle/>
          <a:p>
            <a:pPr marL="0" indent="0" algn="l">
              <a:buNone/>
            </a:pPr>
            <a:r>
              <a:rPr lang="es-419" sz="680" b="1" noProof="0">
                <a:solidFill>
                  <a:srgbClr val="000000"/>
                </a:solidFill>
                <a:latin typeface="Roboto Condensed" pitchFamily="34" charset="0"/>
                <a:ea typeface="Roboto Condensed" pitchFamily="34" charset="-122"/>
                <a:cs typeface="Roboto Condensed" pitchFamily="34" charset="-120"/>
              </a:rPr>
              <a:t>GitHub recomienda configurar el presupuesto universal de usuario de forma que permita aprovechar el pool compartido y establecer excepciones para usuarios con necesidades superiores.</a:t>
            </a:r>
            <a:endParaRPr lang="es-419" sz="680" noProof="0"/>
          </a:p>
        </p:txBody>
      </p:sp>
      <p:sp>
        <p:nvSpPr>
          <p:cNvPr id="30" name="card">
            <a:extLst>
              <a:ext uri="{C183D7F6-B498-43B3-948B-1728B52AA6E4}">
                <adec:decorative xmlns:adec="http://schemas.microsoft.com/office/drawing/2017/decorative" val="1"/>
              </a:ext>
            </a:extLst>
          </p:cNvPr>
          <p:cNvSpPr/>
          <p:nvPr/>
        </p:nvSpPr>
        <p:spPr>
          <a:xfrm>
            <a:off x="7808976" y="3260000"/>
            <a:ext cx="3456432" cy="457200"/>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31" name="bullet">
            <a:extLst>
              <a:ext uri="{C183D7F6-B498-43B3-948B-1728B52AA6E4}">
                <adec:decorative xmlns:adec="http://schemas.microsoft.com/office/drawing/2017/decorative" val="1"/>
              </a:ext>
            </a:extLst>
          </p:cNvPr>
          <p:cNvSpPr/>
          <p:nvPr/>
        </p:nvSpPr>
        <p:spPr>
          <a:xfrm>
            <a:off x="7955280" y="3420000"/>
            <a:ext cx="128016" cy="128016"/>
          </a:xfrm>
          <a:prstGeom prst="ellipse">
            <a:avLst/>
          </a:prstGeom>
          <a:solidFill>
            <a:srgbClr val="2A3FE0"/>
          </a:solidFill>
          <a:ln/>
        </p:spPr>
        <p:txBody>
          <a:bodyPr/>
          <a:lstStyle/>
          <a:p>
            <a:endParaRPr lang="es-419" noProof="0" dirty="0"/>
          </a:p>
        </p:txBody>
      </p:sp>
      <p:sp>
        <p:nvSpPr>
          <p:cNvPr id="32" name="Text 30"/>
          <p:cNvSpPr/>
          <p:nvPr/>
        </p:nvSpPr>
        <p:spPr>
          <a:xfrm>
            <a:off x="8193024" y="3260000"/>
            <a:ext cx="3035808" cy="457200"/>
          </a:xfrm>
          <a:prstGeom prst="rect">
            <a:avLst/>
          </a:prstGeom>
          <a:noFill/>
          <a:ln/>
        </p:spPr>
        <p:txBody>
          <a:bodyPr wrap="square" lIns="0" tIns="0" rIns="0" bIns="0" rtlCol="0" anchor="ctr"/>
          <a:lstStyle/>
          <a:p>
            <a:pPr marL="0" indent="0" algn="l">
              <a:buNone/>
            </a:pPr>
            <a:r>
              <a:rPr lang="es-419" sz="680" b="1" noProof="0">
                <a:solidFill>
                  <a:srgbClr val="000000"/>
                </a:solidFill>
                <a:latin typeface="Roboto Condensed" pitchFamily="34" charset="0"/>
                <a:ea typeface="Roboto Condensed" pitchFamily="34" charset="-122"/>
                <a:cs typeface="Roboto Condensed" pitchFamily="34" charset="-120"/>
              </a:rPr>
              <a:t>Los presupuestos a nivel de usuario funcionan siempre como límite efectivo: al agotarse, el usuario queda bloqueado aunque aún exista capacidad en el pool compartido.</a:t>
            </a:r>
            <a:endParaRPr lang="es-419" sz="680" noProof="0" dirty="0"/>
          </a:p>
        </p:txBody>
      </p:sp>
      <p:sp>
        <p:nvSpPr>
          <p:cNvPr id="33" name="card">
            <a:extLst>
              <a:ext uri="{C183D7F6-B498-43B3-948B-1728B52AA6E4}">
                <adec:decorative xmlns:adec="http://schemas.microsoft.com/office/drawing/2017/decorative" val="1"/>
              </a:ext>
            </a:extLst>
          </p:cNvPr>
          <p:cNvSpPr/>
          <p:nvPr/>
        </p:nvSpPr>
        <p:spPr>
          <a:xfrm>
            <a:off x="7808976" y="3900000"/>
            <a:ext cx="3456432" cy="457200"/>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34" name="bullet">
            <a:extLst>
              <a:ext uri="{C183D7F6-B498-43B3-948B-1728B52AA6E4}">
                <adec:decorative xmlns:adec="http://schemas.microsoft.com/office/drawing/2017/decorative" val="1"/>
              </a:ext>
            </a:extLst>
          </p:cNvPr>
          <p:cNvSpPr/>
          <p:nvPr/>
        </p:nvSpPr>
        <p:spPr>
          <a:xfrm>
            <a:off x="7955280" y="4060000"/>
            <a:ext cx="128016" cy="128016"/>
          </a:xfrm>
          <a:prstGeom prst="ellipse">
            <a:avLst/>
          </a:prstGeom>
          <a:solidFill>
            <a:srgbClr val="2A3FE0"/>
          </a:solidFill>
          <a:ln/>
        </p:spPr>
        <p:txBody>
          <a:bodyPr/>
          <a:lstStyle/>
          <a:p>
            <a:endParaRPr lang="es-419" noProof="0" dirty="0"/>
          </a:p>
        </p:txBody>
      </p:sp>
      <p:sp>
        <p:nvSpPr>
          <p:cNvPr id="35" name="Text 33"/>
          <p:cNvSpPr/>
          <p:nvPr/>
        </p:nvSpPr>
        <p:spPr>
          <a:xfrm>
            <a:off x="8193024" y="3900000"/>
            <a:ext cx="3035808" cy="457200"/>
          </a:xfrm>
          <a:prstGeom prst="rect">
            <a:avLst/>
          </a:prstGeom>
          <a:noFill/>
          <a:ln/>
        </p:spPr>
        <p:txBody>
          <a:bodyPr wrap="square" lIns="0" tIns="0" rIns="0" bIns="0" rtlCol="0" anchor="ctr"/>
          <a:lstStyle/>
          <a:p>
            <a:pPr marL="0" indent="0" algn="l">
              <a:buNone/>
            </a:pPr>
            <a:r>
              <a:rPr lang="es-419" sz="680" b="1" noProof="0">
                <a:solidFill>
                  <a:srgbClr val="000000"/>
                </a:solidFill>
                <a:latin typeface="Roboto Condensed" pitchFamily="34" charset="0"/>
                <a:ea typeface="Roboto Condensed" pitchFamily="34" charset="-122"/>
                <a:cs typeface="Roboto Condensed" pitchFamily="34" charset="-120"/>
              </a:rPr>
              <a:t>Organización, </a:t>
            </a:r>
            <a:r>
              <a:rPr lang="es-419" sz="680" b="1" noProof="0" err="1">
                <a:solidFill>
                  <a:srgbClr val="000000"/>
                </a:solidFill>
                <a:latin typeface="Roboto Condensed" pitchFamily="34" charset="0"/>
                <a:ea typeface="Roboto Condensed" pitchFamily="34" charset="-122"/>
                <a:cs typeface="Roboto Condensed" pitchFamily="34" charset="-120"/>
              </a:rPr>
              <a:t>cost</a:t>
            </a:r>
            <a:r>
              <a:rPr lang="es-419" sz="680" b="1" noProof="0">
                <a:solidFill>
                  <a:srgbClr val="000000"/>
                </a:solidFill>
                <a:latin typeface="Roboto Condensed" pitchFamily="34" charset="0"/>
                <a:ea typeface="Roboto Condensed" pitchFamily="34" charset="-122"/>
                <a:cs typeface="Roboto Condensed" pitchFamily="34" charset="-120"/>
              </a:rPr>
              <a:t> center y </a:t>
            </a:r>
            <a:r>
              <a:rPr lang="es-419" sz="680" b="1" noProof="0" err="1">
                <a:solidFill>
                  <a:srgbClr val="000000"/>
                </a:solidFill>
                <a:latin typeface="Roboto Condensed" pitchFamily="34" charset="0"/>
                <a:ea typeface="Roboto Condensed" pitchFamily="34" charset="-122"/>
                <a:cs typeface="Roboto Condensed" pitchFamily="34" charset="-120"/>
              </a:rPr>
              <a:t>enterprise</a:t>
            </a:r>
            <a:r>
              <a:rPr lang="es-419" sz="680" b="1" noProof="0">
                <a:solidFill>
                  <a:srgbClr val="000000"/>
                </a:solidFill>
                <a:latin typeface="Roboto Condensed" pitchFamily="34" charset="0"/>
                <a:ea typeface="Roboto Condensed" pitchFamily="34" charset="-122"/>
                <a:cs typeface="Roboto Condensed" pitchFamily="34" charset="-120"/>
              </a:rPr>
              <a:t> controlan principalmente el consumo medido después de agotar el pool compartido. Para que detengan el consumo debe habilitarse 'Stop </a:t>
            </a:r>
            <a:r>
              <a:rPr lang="es-419" sz="680" b="1" noProof="0" err="1">
                <a:solidFill>
                  <a:srgbClr val="000000"/>
                </a:solidFill>
                <a:latin typeface="Roboto Condensed" pitchFamily="34" charset="0"/>
                <a:ea typeface="Roboto Condensed" pitchFamily="34" charset="-122"/>
                <a:cs typeface="Roboto Condensed" pitchFamily="34" charset="-120"/>
              </a:rPr>
              <a:t>usage</a:t>
            </a:r>
            <a:r>
              <a:rPr lang="es-419" sz="680" b="1" noProof="0">
                <a:solidFill>
                  <a:srgbClr val="000000"/>
                </a:solidFill>
                <a:latin typeface="Roboto Condensed" pitchFamily="34" charset="0"/>
                <a:ea typeface="Roboto Condensed" pitchFamily="34" charset="-122"/>
                <a:cs typeface="Roboto Condensed" pitchFamily="34" charset="-120"/>
              </a:rPr>
              <a:t> </a:t>
            </a:r>
            <a:r>
              <a:rPr lang="es-419" sz="680" b="1" noProof="0" err="1">
                <a:solidFill>
                  <a:srgbClr val="000000"/>
                </a:solidFill>
                <a:latin typeface="Roboto Condensed" pitchFamily="34" charset="0"/>
                <a:ea typeface="Roboto Condensed" pitchFamily="34" charset="-122"/>
                <a:cs typeface="Roboto Condensed" pitchFamily="34" charset="-120"/>
              </a:rPr>
              <a:t>when</a:t>
            </a:r>
            <a:r>
              <a:rPr lang="es-419" sz="680" b="1" noProof="0">
                <a:solidFill>
                  <a:srgbClr val="000000"/>
                </a:solidFill>
                <a:latin typeface="Roboto Condensed" pitchFamily="34" charset="0"/>
                <a:ea typeface="Roboto Condensed" pitchFamily="34" charset="-122"/>
                <a:cs typeface="Roboto Condensed" pitchFamily="34" charset="-120"/>
              </a:rPr>
              <a:t> </a:t>
            </a:r>
            <a:r>
              <a:rPr lang="es-419" sz="680" b="1" noProof="0" err="1">
                <a:solidFill>
                  <a:srgbClr val="000000"/>
                </a:solidFill>
                <a:latin typeface="Roboto Condensed" pitchFamily="34" charset="0"/>
                <a:ea typeface="Roboto Condensed" pitchFamily="34" charset="-122"/>
                <a:cs typeface="Roboto Condensed" pitchFamily="34" charset="-120"/>
              </a:rPr>
              <a:t>budget</a:t>
            </a:r>
            <a:r>
              <a:rPr lang="es-419" sz="680" b="1" noProof="0">
                <a:solidFill>
                  <a:srgbClr val="000000"/>
                </a:solidFill>
                <a:latin typeface="Roboto Condensed" pitchFamily="34" charset="0"/>
                <a:ea typeface="Roboto Condensed" pitchFamily="34" charset="-122"/>
                <a:cs typeface="Roboto Condensed" pitchFamily="34" charset="-120"/>
              </a:rPr>
              <a:t> </a:t>
            </a:r>
            <a:r>
              <a:rPr lang="es-419" sz="680" b="1" noProof="0" err="1">
                <a:solidFill>
                  <a:srgbClr val="000000"/>
                </a:solidFill>
                <a:latin typeface="Roboto Condensed" pitchFamily="34" charset="0"/>
                <a:ea typeface="Roboto Condensed" pitchFamily="34" charset="-122"/>
                <a:cs typeface="Roboto Condensed" pitchFamily="34" charset="-120"/>
              </a:rPr>
              <a:t>limit</a:t>
            </a:r>
            <a:r>
              <a:rPr lang="es-419" sz="680" b="1" noProof="0">
                <a:solidFill>
                  <a:srgbClr val="000000"/>
                </a:solidFill>
                <a:latin typeface="Roboto Condensed" pitchFamily="34" charset="0"/>
                <a:ea typeface="Roboto Condensed" pitchFamily="34" charset="-122"/>
                <a:cs typeface="Roboto Condensed" pitchFamily="34" charset="-120"/>
              </a:rPr>
              <a:t> </a:t>
            </a:r>
            <a:r>
              <a:rPr lang="es-419" sz="680" b="1" noProof="0" err="1">
                <a:solidFill>
                  <a:srgbClr val="000000"/>
                </a:solidFill>
                <a:latin typeface="Roboto Condensed" pitchFamily="34" charset="0"/>
                <a:ea typeface="Roboto Condensed" pitchFamily="34" charset="-122"/>
                <a:cs typeface="Roboto Condensed" pitchFamily="34" charset="-120"/>
              </a:rPr>
              <a:t>is</a:t>
            </a:r>
            <a:r>
              <a:rPr lang="es-419" sz="680" b="1" noProof="0">
                <a:solidFill>
                  <a:srgbClr val="000000"/>
                </a:solidFill>
                <a:latin typeface="Roboto Condensed" pitchFamily="34" charset="0"/>
                <a:ea typeface="Roboto Condensed" pitchFamily="34" charset="-122"/>
                <a:cs typeface="Roboto Condensed" pitchFamily="34" charset="-120"/>
              </a:rPr>
              <a:t> </a:t>
            </a:r>
            <a:r>
              <a:rPr lang="es-419" sz="680" b="1" noProof="0" err="1">
                <a:solidFill>
                  <a:srgbClr val="000000"/>
                </a:solidFill>
                <a:latin typeface="Roboto Condensed" pitchFamily="34" charset="0"/>
                <a:ea typeface="Roboto Condensed" pitchFamily="34" charset="-122"/>
                <a:cs typeface="Roboto Condensed" pitchFamily="34" charset="-120"/>
              </a:rPr>
              <a:t>reached</a:t>
            </a:r>
            <a:r>
              <a:rPr lang="es-419" sz="680" b="1" noProof="0">
                <a:solidFill>
                  <a:srgbClr val="000000"/>
                </a:solidFill>
                <a:latin typeface="Roboto Condensed" pitchFamily="34" charset="0"/>
                <a:ea typeface="Roboto Condensed" pitchFamily="34" charset="-122"/>
                <a:cs typeface="Roboto Condensed" pitchFamily="34" charset="-120"/>
              </a:rPr>
              <a:t>'; si no, el límite funciona como alerta y los cargos pueden continuar acumulándose.</a:t>
            </a:r>
            <a:endParaRPr lang="es-419" sz="680" noProof="0" dirty="0"/>
          </a:p>
        </p:txBody>
      </p:sp>
      <p:sp>
        <p:nvSpPr>
          <p:cNvPr id="36" name="card">
            <a:extLst>
              <a:ext uri="{C183D7F6-B498-43B3-948B-1728B52AA6E4}">
                <adec:decorative xmlns:adec="http://schemas.microsoft.com/office/drawing/2017/decorative" val="1"/>
              </a:ext>
            </a:extLst>
          </p:cNvPr>
          <p:cNvSpPr/>
          <p:nvPr/>
        </p:nvSpPr>
        <p:spPr>
          <a:xfrm>
            <a:off x="7808976" y="4453128"/>
            <a:ext cx="3456432" cy="457200"/>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37" name="bullet">
            <a:extLst>
              <a:ext uri="{C183D7F6-B498-43B3-948B-1728B52AA6E4}">
                <adec:decorative xmlns:adec="http://schemas.microsoft.com/office/drawing/2017/decorative" val="1"/>
              </a:ext>
            </a:extLst>
          </p:cNvPr>
          <p:cNvSpPr/>
          <p:nvPr/>
        </p:nvSpPr>
        <p:spPr>
          <a:xfrm>
            <a:off x="7955280" y="4617720"/>
            <a:ext cx="128016" cy="128016"/>
          </a:xfrm>
          <a:prstGeom prst="ellipse">
            <a:avLst/>
          </a:prstGeom>
          <a:solidFill>
            <a:srgbClr val="2A3FE0"/>
          </a:solidFill>
          <a:ln/>
        </p:spPr>
        <p:txBody>
          <a:bodyPr/>
          <a:lstStyle/>
          <a:p>
            <a:endParaRPr lang="es-419" noProof="0" dirty="0"/>
          </a:p>
        </p:txBody>
      </p:sp>
      <p:sp>
        <p:nvSpPr>
          <p:cNvPr id="38" name="Text 36"/>
          <p:cNvSpPr/>
          <p:nvPr/>
        </p:nvSpPr>
        <p:spPr>
          <a:xfrm>
            <a:off x="8193024" y="4481972"/>
            <a:ext cx="3035808" cy="457200"/>
          </a:xfrm>
          <a:prstGeom prst="rect">
            <a:avLst/>
          </a:prstGeom>
          <a:noFill/>
          <a:ln/>
        </p:spPr>
        <p:txBody>
          <a:bodyPr wrap="square" lIns="0" tIns="0" rIns="0" bIns="0" rtlCol="0" anchor="ctr"/>
          <a:lstStyle/>
          <a:p>
            <a:pPr marL="0" indent="0" algn="l">
              <a:buNone/>
            </a:pPr>
            <a:r>
              <a:rPr lang="es-419" sz="680" b="1" noProof="0">
                <a:solidFill>
                  <a:srgbClr val="000000"/>
                </a:solidFill>
                <a:latin typeface="Roboto Condensed" pitchFamily="34" charset="0"/>
                <a:ea typeface="Roboto Condensed" pitchFamily="34" charset="-122"/>
                <a:cs typeface="Roboto Condensed" pitchFamily="34" charset="-120"/>
              </a:rPr>
              <a:t>Para que exista consumo adicional facturable también debe estar habilitada la política 'AI </a:t>
            </a:r>
            <a:r>
              <a:rPr lang="es-419" sz="680" b="1" noProof="0" err="1">
                <a:solidFill>
                  <a:srgbClr val="000000"/>
                </a:solidFill>
                <a:latin typeface="Roboto Condensed" pitchFamily="34" charset="0"/>
                <a:ea typeface="Roboto Condensed" pitchFamily="34" charset="-122"/>
                <a:cs typeface="Roboto Condensed" pitchFamily="34" charset="-120"/>
              </a:rPr>
              <a:t>credit</a:t>
            </a:r>
            <a:r>
              <a:rPr lang="es-419" sz="680" b="1" noProof="0">
                <a:solidFill>
                  <a:srgbClr val="000000"/>
                </a:solidFill>
                <a:latin typeface="Roboto Condensed" pitchFamily="34" charset="0"/>
                <a:ea typeface="Roboto Condensed" pitchFamily="34" charset="-122"/>
                <a:cs typeface="Roboto Condensed" pitchFamily="34" charset="-120"/>
              </a:rPr>
              <a:t> </a:t>
            </a:r>
            <a:r>
              <a:rPr lang="es-419" sz="680" b="1" noProof="0" err="1">
                <a:solidFill>
                  <a:srgbClr val="000000"/>
                </a:solidFill>
                <a:latin typeface="Roboto Condensed" pitchFamily="34" charset="0"/>
                <a:ea typeface="Roboto Condensed" pitchFamily="34" charset="-122"/>
                <a:cs typeface="Roboto Condensed" pitchFamily="34" charset="-120"/>
              </a:rPr>
              <a:t>paid</a:t>
            </a:r>
            <a:r>
              <a:rPr lang="es-419" sz="680" b="1" noProof="0">
                <a:solidFill>
                  <a:srgbClr val="000000"/>
                </a:solidFill>
                <a:latin typeface="Roboto Condensed" pitchFamily="34" charset="0"/>
                <a:ea typeface="Roboto Condensed" pitchFamily="34" charset="-122"/>
                <a:cs typeface="Roboto Condensed" pitchFamily="34" charset="-120"/>
              </a:rPr>
              <a:t> </a:t>
            </a:r>
            <a:r>
              <a:rPr lang="es-419" sz="680" b="1" noProof="0" err="1">
                <a:solidFill>
                  <a:srgbClr val="000000"/>
                </a:solidFill>
                <a:latin typeface="Roboto Condensed" pitchFamily="34" charset="0"/>
                <a:ea typeface="Roboto Condensed" pitchFamily="34" charset="-122"/>
                <a:cs typeface="Roboto Condensed" pitchFamily="34" charset="-120"/>
              </a:rPr>
              <a:t>usage</a:t>
            </a:r>
            <a:r>
              <a:rPr lang="es-419" sz="680" b="1" noProof="0">
                <a:solidFill>
                  <a:srgbClr val="000000"/>
                </a:solidFill>
                <a:latin typeface="Roboto Condensed" pitchFamily="34" charset="0"/>
                <a:ea typeface="Roboto Condensed" pitchFamily="34" charset="-122"/>
                <a:cs typeface="Roboto Condensed" pitchFamily="34" charset="-120"/>
              </a:rPr>
              <a:t>'. Si esta política permanece deshabilitada, el uso sujeto a AI </a:t>
            </a:r>
            <a:r>
              <a:rPr lang="es-419" sz="680" b="1" noProof="0" err="1">
                <a:solidFill>
                  <a:srgbClr val="000000"/>
                </a:solidFill>
                <a:latin typeface="Roboto Condensed" pitchFamily="34" charset="0"/>
                <a:ea typeface="Roboto Condensed" pitchFamily="34" charset="-122"/>
                <a:cs typeface="Roboto Condensed" pitchFamily="34" charset="-120"/>
              </a:rPr>
              <a:t>Credits</a:t>
            </a:r>
            <a:r>
              <a:rPr lang="es-419" sz="680" b="1" noProof="0">
                <a:solidFill>
                  <a:srgbClr val="000000"/>
                </a:solidFill>
                <a:latin typeface="Roboto Condensed" pitchFamily="34" charset="0"/>
                <a:ea typeface="Roboto Condensed" pitchFamily="34" charset="-122"/>
                <a:cs typeface="Roboto Condensed" pitchFamily="34" charset="-120"/>
              </a:rPr>
              <a:t> se bloquea cuando se agota el pool compartido.</a:t>
            </a:r>
            <a:endParaRPr lang="es-419" sz="680" noProof="0" dirty="0"/>
          </a:p>
        </p:txBody>
      </p:sp>
      <p:sp>
        <p:nvSpPr>
          <p:cNvPr id="39" name="cycle">
            <a:extLst>
              <a:ext uri="{C183D7F6-B498-43B3-948B-1728B52AA6E4}">
                <adec:decorative xmlns:adec="http://schemas.microsoft.com/office/drawing/2017/decorative" val="1"/>
              </a:ext>
            </a:extLst>
          </p:cNvPr>
          <p:cNvSpPr/>
          <p:nvPr/>
        </p:nvSpPr>
        <p:spPr>
          <a:xfrm>
            <a:off x="685800" y="5413248"/>
            <a:ext cx="2327148" cy="658368"/>
          </a:xfrm>
          <a:prstGeom prst="rect">
            <a:avLst/>
          </a:prstGeom>
          <a:solidFill>
            <a:srgbClr val="F5F6FA"/>
          </a:solidFill>
          <a:ln w="12700">
            <a:solidFill>
              <a:srgbClr val="DEE1EA"/>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40" name="Text 38"/>
          <p:cNvSpPr/>
          <p:nvPr/>
        </p:nvSpPr>
        <p:spPr>
          <a:xfrm>
            <a:off x="685800" y="5413248"/>
            <a:ext cx="2327148" cy="658368"/>
          </a:xfrm>
          <a:prstGeom prst="rect">
            <a:avLst/>
          </a:prstGeom>
          <a:noFill/>
          <a:ln/>
        </p:spPr>
        <p:txBody>
          <a:bodyPr wrap="square" lIns="0" tIns="0" rIns="0" bIns="0" rtlCol="0" anchor="ctr"/>
          <a:lstStyle/>
          <a:p>
            <a:pPr marL="0" indent="0" algn="ctr">
              <a:buNone/>
            </a:pPr>
            <a:r>
              <a:rPr lang="es-419" sz="1300" b="1" kern="0" spc="100" noProof="0">
                <a:solidFill>
                  <a:srgbClr val="000000"/>
                </a:solidFill>
                <a:latin typeface="Roboto Condensed Medium" pitchFamily="34" charset="0"/>
                <a:ea typeface="Roboto Condensed Medium" pitchFamily="34" charset="-122"/>
                <a:cs typeface="Roboto Condensed Medium" pitchFamily="34" charset="-120"/>
              </a:rPr>
              <a:t>MONITOREAR</a:t>
            </a:r>
            <a:endParaRPr lang="es-419" sz="1300" noProof="0" dirty="0"/>
          </a:p>
        </p:txBody>
      </p:sp>
      <p:sp>
        <p:nvSpPr>
          <p:cNvPr id="41" name="flow connector">
            <a:extLst>
              <a:ext uri="{C183D7F6-B498-43B3-948B-1728B52AA6E4}">
                <adec:decorative xmlns:adec="http://schemas.microsoft.com/office/drawing/2017/decorative" val="1"/>
              </a:ext>
            </a:extLst>
          </p:cNvPr>
          <p:cNvSpPr/>
          <p:nvPr/>
        </p:nvSpPr>
        <p:spPr>
          <a:xfrm>
            <a:off x="3108960" y="5605272"/>
            <a:ext cx="310896" cy="274320"/>
          </a:xfrm>
          <a:prstGeom prst="chevron">
            <a:avLst/>
          </a:prstGeom>
          <a:solidFill>
            <a:srgbClr val="2A3FE0"/>
          </a:solidFill>
          <a:ln/>
        </p:spPr>
        <p:txBody>
          <a:bodyPr/>
          <a:lstStyle/>
          <a:p>
            <a:endParaRPr lang="es-419" noProof="0" dirty="0"/>
          </a:p>
        </p:txBody>
      </p:sp>
      <p:sp>
        <p:nvSpPr>
          <p:cNvPr id="42" name="cycle">
            <a:extLst>
              <a:ext uri="{C183D7F6-B498-43B3-948B-1728B52AA6E4}">
                <adec:decorative xmlns:adec="http://schemas.microsoft.com/office/drawing/2017/decorative" val="1"/>
              </a:ext>
            </a:extLst>
          </p:cNvPr>
          <p:cNvSpPr/>
          <p:nvPr/>
        </p:nvSpPr>
        <p:spPr>
          <a:xfrm>
            <a:off x="3515868" y="5413248"/>
            <a:ext cx="2327148" cy="658368"/>
          </a:xfrm>
          <a:prstGeom prst="rect">
            <a:avLst/>
          </a:prstGeom>
          <a:solidFill>
            <a:srgbClr val="F5F6FA"/>
          </a:solidFill>
          <a:ln w="12700">
            <a:solidFill>
              <a:srgbClr val="DEE1EA"/>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43" name="Text 41"/>
          <p:cNvSpPr/>
          <p:nvPr/>
        </p:nvSpPr>
        <p:spPr>
          <a:xfrm>
            <a:off x="3515868" y="5413248"/>
            <a:ext cx="2327148" cy="658368"/>
          </a:xfrm>
          <a:prstGeom prst="rect">
            <a:avLst/>
          </a:prstGeom>
          <a:noFill/>
          <a:ln/>
        </p:spPr>
        <p:txBody>
          <a:bodyPr wrap="square" lIns="0" tIns="0" rIns="0" bIns="0" rtlCol="0" anchor="ctr"/>
          <a:lstStyle/>
          <a:p>
            <a:pPr marL="0" indent="0" algn="ctr">
              <a:buNone/>
            </a:pPr>
            <a:r>
              <a:rPr lang="es-419" sz="1300" b="1" kern="0" spc="100" noProof="0">
                <a:solidFill>
                  <a:srgbClr val="000000"/>
                </a:solidFill>
                <a:latin typeface="Roboto Condensed Medium" pitchFamily="34" charset="0"/>
                <a:ea typeface="Roboto Condensed Medium" pitchFamily="34" charset="-122"/>
                <a:cs typeface="Roboto Condensed Medium" pitchFamily="34" charset="-120"/>
              </a:rPr>
              <a:t>ALERTAR</a:t>
            </a:r>
            <a:endParaRPr lang="es-419" sz="1300" noProof="0" dirty="0"/>
          </a:p>
        </p:txBody>
      </p:sp>
      <p:sp>
        <p:nvSpPr>
          <p:cNvPr id="44" name="flow connector">
            <a:extLst>
              <a:ext uri="{C183D7F6-B498-43B3-948B-1728B52AA6E4}">
                <adec:decorative xmlns:adec="http://schemas.microsoft.com/office/drawing/2017/decorative" val="1"/>
              </a:ext>
            </a:extLst>
          </p:cNvPr>
          <p:cNvSpPr/>
          <p:nvPr/>
        </p:nvSpPr>
        <p:spPr>
          <a:xfrm>
            <a:off x="5939028" y="5605272"/>
            <a:ext cx="310896" cy="274320"/>
          </a:xfrm>
          <a:prstGeom prst="chevron">
            <a:avLst/>
          </a:prstGeom>
          <a:solidFill>
            <a:srgbClr val="2A3FE0"/>
          </a:solidFill>
          <a:ln/>
        </p:spPr>
        <p:txBody>
          <a:bodyPr/>
          <a:lstStyle/>
          <a:p>
            <a:endParaRPr lang="es-419" noProof="0" dirty="0"/>
          </a:p>
        </p:txBody>
      </p:sp>
      <p:sp>
        <p:nvSpPr>
          <p:cNvPr id="45" name="cycle">
            <a:extLst>
              <a:ext uri="{C183D7F6-B498-43B3-948B-1728B52AA6E4}">
                <adec:decorative xmlns:adec="http://schemas.microsoft.com/office/drawing/2017/decorative" val="1"/>
              </a:ext>
            </a:extLst>
          </p:cNvPr>
          <p:cNvSpPr/>
          <p:nvPr/>
        </p:nvSpPr>
        <p:spPr>
          <a:xfrm>
            <a:off x="6345936" y="5413248"/>
            <a:ext cx="2327148" cy="658368"/>
          </a:xfrm>
          <a:prstGeom prst="rect">
            <a:avLst/>
          </a:prstGeom>
          <a:solidFill>
            <a:srgbClr val="F5F6FA"/>
          </a:solidFill>
          <a:ln w="12700">
            <a:solidFill>
              <a:srgbClr val="DEE1EA"/>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46" name="Text 44"/>
          <p:cNvSpPr/>
          <p:nvPr/>
        </p:nvSpPr>
        <p:spPr>
          <a:xfrm>
            <a:off x="6345936" y="5413248"/>
            <a:ext cx="2327148" cy="658368"/>
          </a:xfrm>
          <a:prstGeom prst="rect">
            <a:avLst/>
          </a:prstGeom>
          <a:noFill/>
          <a:ln/>
        </p:spPr>
        <p:txBody>
          <a:bodyPr wrap="square" lIns="0" tIns="0" rIns="0" bIns="0" rtlCol="0" anchor="ctr"/>
          <a:lstStyle/>
          <a:p>
            <a:pPr marL="0" indent="0" algn="ctr">
              <a:buNone/>
            </a:pPr>
            <a:r>
              <a:rPr lang="es-419" sz="1300" b="1" kern="0" spc="100" noProof="0">
                <a:solidFill>
                  <a:srgbClr val="000000"/>
                </a:solidFill>
                <a:latin typeface="Roboto Condensed Medium" pitchFamily="34" charset="0"/>
                <a:ea typeface="Roboto Condensed Medium" pitchFamily="34" charset="-122"/>
                <a:cs typeface="Roboto Condensed Medium" pitchFamily="34" charset="-120"/>
              </a:rPr>
              <a:t>LIMITAR</a:t>
            </a:r>
            <a:endParaRPr lang="es-419" sz="1300" noProof="0" dirty="0"/>
          </a:p>
        </p:txBody>
      </p:sp>
      <p:sp>
        <p:nvSpPr>
          <p:cNvPr id="47" name="flow connector">
            <a:extLst>
              <a:ext uri="{C183D7F6-B498-43B3-948B-1728B52AA6E4}">
                <adec:decorative xmlns:adec="http://schemas.microsoft.com/office/drawing/2017/decorative" val="1"/>
              </a:ext>
            </a:extLst>
          </p:cNvPr>
          <p:cNvSpPr/>
          <p:nvPr/>
        </p:nvSpPr>
        <p:spPr>
          <a:xfrm>
            <a:off x="8769096" y="5605272"/>
            <a:ext cx="310896" cy="274320"/>
          </a:xfrm>
          <a:prstGeom prst="chevron">
            <a:avLst/>
          </a:prstGeom>
          <a:solidFill>
            <a:srgbClr val="2A3FE0"/>
          </a:solidFill>
          <a:ln/>
        </p:spPr>
        <p:txBody>
          <a:bodyPr/>
          <a:lstStyle/>
          <a:p>
            <a:endParaRPr lang="es-419" noProof="0" dirty="0"/>
          </a:p>
        </p:txBody>
      </p:sp>
      <p:sp>
        <p:nvSpPr>
          <p:cNvPr id="48" name="cycle">
            <a:extLst>
              <a:ext uri="{C183D7F6-B498-43B3-948B-1728B52AA6E4}">
                <adec:decorative xmlns:adec="http://schemas.microsoft.com/office/drawing/2017/decorative" val="1"/>
              </a:ext>
            </a:extLst>
          </p:cNvPr>
          <p:cNvSpPr/>
          <p:nvPr/>
        </p:nvSpPr>
        <p:spPr>
          <a:xfrm>
            <a:off x="9176004" y="5413248"/>
            <a:ext cx="2327148" cy="658368"/>
          </a:xfrm>
          <a:prstGeom prst="rect">
            <a:avLst/>
          </a:prstGeom>
          <a:solidFill>
            <a:srgbClr val="F5F6FA"/>
          </a:solidFill>
          <a:ln w="12700">
            <a:solidFill>
              <a:srgbClr val="DEE1EA"/>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49" name="Text 47"/>
          <p:cNvSpPr/>
          <p:nvPr/>
        </p:nvSpPr>
        <p:spPr>
          <a:xfrm>
            <a:off x="9176004" y="5413248"/>
            <a:ext cx="2327148" cy="658368"/>
          </a:xfrm>
          <a:prstGeom prst="rect">
            <a:avLst/>
          </a:prstGeom>
          <a:noFill/>
          <a:ln/>
        </p:spPr>
        <p:txBody>
          <a:bodyPr wrap="square" lIns="0" tIns="0" rIns="0" bIns="0" rtlCol="0" anchor="ctr"/>
          <a:lstStyle/>
          <a:p>
            <a:pPr marL="0" indent="0" algn="ctr">
              <a:buNone/>
            </a:pPr>
            <a:r>
              <a:rPr lang="es-419" sz="1300" b="1" kern="0" spc="100" noProof="0">
                <a:solidFill>
                  <a:srgbClr val="000000"/>
                </a:solidFill>
                <a:latin typeface="Roboto Condensed Medium" pitchFamily="34" charset="0"/>
                <a:ea typeface="Roboto Condensed Medium" pitchFamily="34" charset="-122"/>
                <a:cs typeface="Roboto Condensed Medium" pitchFamily="34" charset="-120"/>
              </a:rPr>
              <a:t>AJUSTAR</a:t>
            </a:r>
            <a:endParaRPr lang="es-419" sz="1300" noProof="0" dirty="0"/>
          </a:p>
        </p:txBody>
      </p:sp>
      <p:sp>
        <p:nvSpPr>
          <p:cNvPr id="50" name="Text 48"/>
          <p:cNvSpPr/>
          <p:nvPr/>
        </p:nvSpPr>
        <p:spPr>
          <a:xfrm>
            <a:off x="685800" y="6437376"/>
            <a:ext cx="8686800" cy="292608"/>
          </a:xfrm>
          <a:prstGeom prst="rect">
            <a:avLst/>
          </a:prstGeom>
          <a:noFill/>
          <a:ln/>
        </p:spPr>
        <p:txBody>
          <a:bodyPr wrap="square" lIns="0" tIns="0" rIns="0" bIns="0" rtlCol="0" anchor="ctr"/>
          <a:lstStyle/>
          <a:p>
            <a:pPr marL="0" indent="0" algn="l">
              <a:buNone/>
            </a:pPr>
            <a:r>
              <a:rPr lang="es-419" sz="850" b="1" noProof="0">
                <a:solidFill>
                  <a:srgbClr val="000000"/>
                </a:solidFill>
                <a:latin typeface="Roboto Condensed" pitchFamily="34" charset="0"/>
                <a:ea typeface="Roboto Condensed" pitchFamily="34" charset="-122"/>
                <a:cs typeface="Roboto Condensed" pitchFamily="34" charset="-120"/>
              </a:rPr>
              <a:t>Tuya</a:t>
            </a:r>
            <a:r>
              <a:rPr lang="es-419" sz="850" noProof="0">
                <a:solidFill>
                  <a:srgbClr val="5B6068"/>
                </a:solidFill>
                <a:latin typeface="Roboto Condensed" pitchFamily="34" charset="0"/>
                <a:ea typeface="Roboto Condensed" pitchFamily="34" charset="-122"/>
                <a:cs typeface="Roboto Condensed" pitchFamily="34" charset="-120"/>
              </a:rPr>
              <a:t>   ·   GitHub </a:t>
            </a:r>
            <a:r>
              <a:rPr lang="es-419" sz="850" noProof="0" err="1">
                <a:solidFill>
                  <a:srgbClr val="5B6068"/>
                </a:solidFill>
                <a:latin typeface="Roboto Condensed" pitchFamily="34" charset="0"/>
                <a:ea typeface="Roboto Condensed" pitchFamily="34" charset="-122"/>
                <a:cs typeface="Roboto Condensed" pitchFamily="34" charset="-120"/>
              </a:rPr>
              <a:t>Copilot</a:t>
            </a:r>
            <a:r>
              <a:rPr lang="es-419" sz="850" noProof="0">
                <a:solidFill>
                  <a:srgbClr val="5B6068"/>
                </a:solidFill>
                <a:latin typeface="Roboto Condensed" pitchFamily="34" charset="0"/>
                <a:ea typeface="Roboto Condensed" pitchFamily="34" charset="-122"/>
                <a:cs typeface="Roboto Condensed" pitchFamily="34" charset="-120"/>
              </a:rPr>
              <a:t> - Resultados de la Prueba de Concepto</a:t>
            </a:r>
            <a:endParaRPr lang="es-419" sz="850" noProof="0" dirty="0"/>
          </a:p>
        </p:txBody>
      </p:sp>
      <p:sp>
        <p:nvSpPr>
          <p:cNvPr id="51" name="Text 49"/>
          <p:cNvSpPr/>
          <p:nvPr/>
        </p:nvSpPr>
        <p:spPr>
          <a:xfrm>
            <a:off x="10972800" y="6437376"/>
            <a:ext cx="530352" cy="292608"/>
          </a:xfrm>
          <a:prstGeom prst="rect">
            <a:avLst/>
          </a:prstGeom>
          <a:noFill/>
          <a:ln/>
        </p:spPr>
        <p:txBody>
          <a:bodyPr wrap="square" lIns="0" tIns="0" rIns="0" bIns="0" rtlCol="0" anchor="ctr"/>
          <a:lstStyle/>
          <a:p>
            <a:pPr marL="0" indent="0" algn="r">
              <a:buNone/>
            </a:pPr>
            <a:r>
              <a:rPr lang="es-419" sz="900" b="1" noProof="0">
                <a:solidFill>
                  <a:srgbClr val="2A3FE0"/>
                </a:solidFill>
                <a:latin typeface="Roboto Condensed Medium" pitchFamily="34" charset="0"/>
                <a:ea typeface="Roboto Condensed Medium" pitchFamily="34" charset="-122"/>
                <a:cs typeface="Roboto Condensed Medium" pitchFamily="34" charset="-120"/>
              </a:rPr>
              <a:t>08</a:t>
            </a:r>
            <a:endParaRPr lang="es-419" sz="900" noProof="0" dirty="0"/>
          </a:p>
        </p:txBody>
      </p:sp>
      <p:pic>
        <p:nvPicPr>
          <p:cNvPr id="950" name="Logo Tuya"/>
          <p:cNvPicPr>
            <a:picLocks noChangeAspect="1"/>
          </p:cNvPicPr>
          <p:nvPr/>
        </p:nvPicPr>
        <p:blipFill>
          <a:blip r:embed="rId3"/>
          <a:stretch>
            <a:fillRect/>
          </a:stretch>
        </p:blipFill>
        <p:spPr>
          <a:xfrm>
            <a:off x="11152200" y="321276"/>
            <a:ext cx="640080" cy="3200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 mark">
            <a:extLst>
              <a:ext uri="{C183D7F6-B498-43B3-948B-1728B52AA6E4}">
                <adec:decorative xmlns:adec="http://schemas.microsoft.com/office/drawing/2017/decorative" val="1"/>
              </a:ext>
            </a:extLst>
          </p:cNvPr>
          <p:cNvSpPr/>
          <p:nvPr/>
        </p:nvSpPr>
        <p:spPr>
          <a:xfrm>
            <a:off x="685800" y="402336"/>
            <a:ext cx="146304" cy="146304"/>
          </a:xfrm>
          <a:prstGeom prst="rect">
            <a:avLst/>
          </a:prstGeom>
          <a:solidFill>
            <a:srgbClr val="2A3FE0"/>
          </a:solidFill>
          <a:ln/>
        </p:spPr>
        <p:txBody>
          <a:bodyPr/>
          <a:lstStyle/>
          <a:p>
            <a:endParaRPr lang="es-419" noProof="0" dirty="0"/>
          </a:p>
        </p:txBody>
      </p:sp>
      <p:sp>
        <p:nvSpPr>
          <p:cNvPr id="3" name="Text 1"/>
          <p:cNvSpPr/>
          <p:nvPr/>
        </p:nvSpPr>
        <p:spPr>
          <a:xfrm>
            <a:off x="932688" y="310896"/>
            <a:ext cx="9601200" cy="310896"/>
          </a:xfrm>
          <a:prstGeom prst="rect">
            <a:avLst/>
          </a:prstGeom>
          <a:noFill/>
          <a:ln/>
        </p:spPr>
        <p:txBody>
          <a:bodyPr wrap="square" lIns="0" tIns="0" rIns="0" bIns="0" rtlCol="0" anchor="ctr"/>
          <a:lstStyle/>
          <a:p>
            <a:pPr marL="0" indent="0" algn="l">
              <a:buNone/>
            </a:pPr>
            <a:r>
              <a:rPr lang="es-419" sz="1150" b="1" kern="0" spc="200" noProof="0">
                <a:solidFill>
                  <a:srgbClr val="2A3FE0"/>
                </a:solidFill>
                <a:latin typeface="Roboto Condensed Medium" pitchFamily="34" charset="0"/>
                <a:ea typeface="Roboto Condensed Medium" pitchFamily="34" charset="-122"/>
                <a:cs typeface="Roboto Condensed Medium" pitchFamily="34" charset="-120"/>
              </a:rPr>
              <a:t>MODELO DE ADMINISTRACIÓN PROPUESTO</a:t>
            </a:r>
            <a:endParaRPr lang="es-419" sz="1150" noProof="0" dirty="0"/>
          </a:p>
        </p:txBody>
      </p:sp>
      <p:sp>
        <p:nvSpPr>
          <p:cNvPr id="4" name="Text 0"/>
          <p:cNvSpPr>
            <a:spLocks noGrp="1"/>
          </p:cNvSpPr>
          <p:nvPr>
            <p:ph type="title" idx="100" hasCustomPrompt="1"/>
          </p:nvPr>
        </p:nvSpPr>
        <p:spPr>
          <a:xfrm>
            <a:off x="685800" y="658368"/>
            <a:ext cx="10789920" cy="822960"/>
          </a:xfrm>
          <a:prstGeom prst="rect">
            <a:avLst/>
          </a:prstGeom>
          <a:noFill/>
          <a:ln/>
        </p:spPr>
        <p:txBody>
          <a:bodyPr wrap="square" lIns="0" tIns="0" rIns="0" bIns="0" rtlCol="0" anchor="t"/>
          <a:lstStyle/>
          <a:p>
            <a:pPr marL="0" indent="0" algn="l">
              <a:buNone/>
            </a:pPr>
            <a:r>
              <a:rPr lang="es-419" sz="2700" b="1" noProof="0">
                <a:solidFill>
                  <a:srgbClr val="000000"/>
                </a:solidFill>
                <a:latin typeface="Roboto Condensed Medium" pitchFamily="34" charset="0"/>
                <a:ea typeface="Roboto Condensed Medium" pitchFamily="34" charset="-122"/>
                <a:cs typeface="Roboto Condensed Medium" pitchFamily="34" charset="-120"/>
              </a:rPr>
              <a:t>Cómo se administra </a:t>
            </a:r>
            <a:r>
              <a:rPr lang="es-419" sz="2700" b="1" noProof="0" err="1">
                <a:solidFill>
                  <a:srgbClr val="000000"/>
                </a:solidFill>
                <a:latin typeface="Roboto Condensed Medium" pitchFamily="34" charset="0"/>
                <a:ea typeface="Roboto Condensed Medium" pitchFamily="34" charset="-122"/>
                <a:cs typeface="Roboto Condensed Medium" pitchFamily="34" charset="-120"/>
              </a:rPr>
              <a:t>Copilot</a:t>
            </a:r>
            <a:r>
              <a:rPr lang="es-419" sz="2700" b="1" noProof="0">
                <a:solidFill>
                  <a:srgbClr val="000000"/>
                </a:solidFill>
                <a:latin typeface="Roboto Condensed Medium" pitchFamily="34" charset="0"/>
                <a:ea typeface="Roboto Condensed Medium" pitchFamily="34" charset="-122"/>
                <a:cs typeface="Roboto Condensed Medium" pitchFamily="34" charset="-120"/>
              </a:rPr>
              <a:t> de forma central</a:t>
            </a:r>
            <a:endParaRPr lang="es-419" sz="2700" noProof="0" dirty="0"/>
          </a:p>
        </p:txBody>
      </p:sp>
      <p:sp>
        <p:nvSpPr>
          <p:cNvPr id="5" name="stage">
            <a:extLst>
              <a:ext uri="{C183D7F6-B498-43B3-948B-1728B52AA6E4}">
                <adec:decorative xmlns:adec="http://schemas.microsoft.com/office/drawing/2017/decorative" val="1"/>
              </a:ext>
            </a:extLst>
          </p:cNvPr>
          <p:cNvSpPr/>
          <p:nvPr/>
        </p:nvSpPr>
        <p:spPr>
          <a:xfrm>
            <a:off x="685800" y="1310641"/>
            <a:ext cx="4617720" cy="658368"/>
          </a:xfrm>
          <a:prstGeom prst="rect">
            <a:avLst/>
          </a:prstGeom>
          <a:solidFill>
            <a:srgbClr val="2A3FE0"/>
          </a:solidFill>
          <a:ln w="12700">
            <a:solidFill>
              <a:srgbClr val="2A3FE0"/>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6" name="Text 4"/>
          <p:cNvSpPr/>
          <p:nvPr/>
        </p:nvSpPr>
        <p:spPr>
          <a:xfrm>
            <a:off x="886968" y="1310641"/>
            <a:ext cx="4215384" cy="658368"/>
          </a:xfrm>
          <a:prstGeom prst="rect">
            <a:avLst/>
          </a:prstGeom>
          <a:noFill/>
          <a:ln/>
        </p:spPr>
        <p:txBody>
          <a:bodyPr wrap="square" lIns="0" tIns="0" rIns="0" bIns="0" rtlCol="0" anchor="ctr"/>
          <a:lstStyle/>
          <a:p>
            <a:pPr marL="0" indent="0" algn="ctr">
              <a:buNone/>
            </a:pPr>
            <a:r>
              <a:rPr lang="es-419" sz="1250" b="1" noProof="0">
                <a:solidFill>
                  <a:srgbClr val="FFFFFF"/>
                </a:solidFill>
                <a:latin typeface="Roboto Condensed Medium" pitchFamily="34" charset="0"/>
                <a:ea typeface="Roboto Condensed Medium" pitchFamily="34" charset="-122"/>
                <a:cs typeface="Roboto Condensed Medium" pitchFamily="34" charset="-120"/>
              </a:rPr>
              <a:t>GitHub </a:t>
            </a:r>
            <a:r>
              <a:rPr lang="es-419" sz="1250" b="1" noProof="0" err="1">
                <a:solidFill>
                  <a:srgbClr val="FFFFFF"/>
                </a:solidFill>
                <a:latin typeface="Roboto Condensed Medium" pitchFamily="34" charset="0"/>
                <a:ea typeface="Roboto Condensed Medium" pitchFamily="34" charset="-122"/>
                <a:cs typeface="Roboto Condensed Medium" pitchFamily="34" charset="-120"/>
              </a:rPr>
              <a:t>Copilot</a:t>
            </a:r>
            <a:r>
              <a:rPr lang="es-419" sz="1250" b="1" noProof="0">
                <a:solidFill>
                  <a:srgbClr val="FFFFFF"/>
                </a:solidFill>
                <a:latin typeface="Roboto Condensed Medium" pitchFamily="34" charset="0"/>
                <a:ea typeface="Roboto Condensed Medium" pitchFamily="34" charset="-122"/>
                <a:cs typeface="Roboto Condensed Medium" pitchFamily="34" charset="-120"/>
              </a:rPr>
              <a:t> Enterprise / Business</a:t>
            </a:r>
            <a:endParaRPr lang="es-419" sz="1250" noProof="0" dirty="0"/>
          </a:p>
        </p:txBody>
      </p:sp>
      <p:sp>
        <p:nvSpPr>
          <p:cNvPr id="7" name="flow connector">
            <a:extLst>
              <a:ext uri="{C183D7F6-B498-43B3-948B-1728B52AA6E4}">
                <adec:decorative xmlns:adec="http://schemas.microsoft.com/office/drawing/2017/decorative" val="1"/>
              </a:ext>
            </a:extLst>
          </p:cNvPr>
          <p:cNvSpPr/>
          <p:nvPr/>
        </p:nvSpPr>
        <p:spPr>
          <a:xfrm rot="5400000">
            <a:off x="2866644" y="2005864"/>
            <a:ext cx="256032" cy="237744"/>
          </a:xfrm>
          <a:prstGeom prst="chevron">
            <a:avLst/>
          </a:prstGeom>
          <a:solidFill>
            <a:srgbClr val="2A3FE0"/>
          </a:solidFill>
          <a:ln/>
        </p:spPr>
        <p:txBody>
          <a:bodyPr/>
          <a:lstStyle/>
          <a:p>
            <a:endParaRPr lang="es-419" noProof="0" dirty="0"/>
          </a:p>
        </p:txBody>
      </p:sp>
      <p:sp>
        <p:nvSpPr>
          <p:cNvPr id="8" name="stage">
            <a:extLst>
              <a:ext uri="{C183D7F6-B498-43B3-948B-1728B52AA6E4}">
                <adec:decorative xmlns:adec="http://schemas.microsoft.com/office/drawing/2017/decorative" val="1"/>
              </a:ext>
            </a:extLst>
          </p:cNvPr>
          <p:cNvSpPr/>
          <p:nvPr/>
        </p:nvSpPr>
        <p:spPr>
          <a:xfrm>
            <a:off x="685800" y="2283507"/>
            <a:ext cx="4617720" cy="658368"/>
          </a:xfrm>
          <a:prstGeom prst="rect">
            <a:avLst/>
          </a:prstGeom>
          <a:solidFill>
            <a:srgbClr val="F5F6FA"/>
          </a:solidFill>
          <a:ln w="12700">
            <a:solidFill>
              <a:srgbClr val="DEE1EA"/>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9" name="Text 7"/>
          <p:cNvSpPr/>
          <p:nvPr/>
        </p:nvSpPr>
        <p:spPr>
          <a:xfrm>
            <a:off x="886968" y="2283507"/>
            <a:ext cx="4215384" cy="658368"/>
          </a:xfrm>
          <a:prstGeom prst="rect">
            <a:avLst/>
          </a:prstGeom>
          <a:noFill/>
          <a:ln/>
        </p:spPr>
        <p:txBody>
          <a:bodyPr wrap="square" lIns="0" tIns="0" rIns="0" bIns="0" rtlCol="0" anchor="ctr"/>
          <a:lstStyle/>
          <a:p>
            <a:pPr marL="0" indent="0" algn="ctr">
              <a:buNone/>
            </a:pPr>
            <a:r>
              <a:rPr lang="es-419" sz="1250" b="1" noProof="0">
                <a:solidFill>
                  <a:srgbClr val="000000"/>
                </a:solidFill>
                <a:latin typeface="Roboto Condensed Medium" pitchFamily="34" charset="0"/>
                <a:ea typeface="Roboto Condensed Medium" pitchFamily="34" charset="-122"/>
                <a:cs typeface="Roboto Condensed Medium" pitchFamily="34" charset="-120"/>
              </a:rPr>
              <a:t>Administración central</a:t>
            </a:r>
            <a:endParaRPr lang="es-419" sz="1250" noProof="0" dirty="0"/>
          </a:p>
        </p:txBody>
      </p:sp>
      <p:sp>
        <p:nvSpPr>
          <p:cNvPr id="10" name="flow connector">
            <a:extLst>
              <a:ext uri="{C183D7F6-B498-43B3-948B-1728B52AA6E4}">
                <adec:decorative xmlns:adec="http://schemas.microsoft.com/office/drawing/2017/decorative" val="1"/>
              </a:ext>
            </a:extLst>
          </p:cNvPr>
          <p:cNvSpPr/>
          <p:nvPr/>
        </p:nvSpPr>
        <p:spPr>
          <a:xfrm rot="5400000">
            <a:off x="2866644" y="2951018"/>
            <a:ext cx="256032" cy="237744"/>
          </a:xfrm>
          <a:prstGeom prst="chevron">
            <a:avLst/>
          </a:prstGeom>
          <a:solidFill>
            <a:srgbClr val="2A3FE0"/>
          </a:solidFill>
          <a:ln/>
        </p:spPr>
        <p:txBody>
          <a:bodyPr/>
          <a:lstStyle/>
          <a:p>
            <a:endParaRPr lang="es-419" noProof="0" dirty="0"/>
          </a:p>
        </p:txBody>
      </p:sp>
      <p:sp>
        <p:nvSpPr>
          <p:cNvPr id="11" name="stage">
            <a:extLst>
              <a:ext uri="{C183D7F6-B498-43B3-948B-1728B52AA6E4}">
                <adec:decorative xmlns:adec="http://schemas.microsoft.com/office/drawing/2017/decorative" val="1"/>
              </a:ext>
            </a:extLst>
          </p:cNvPr>
          <p:cNvSpPr/>
          <p:nvPr/>
        </p:nvSpPr>
        <p:spPr>
          <a:xfrm>
            <a:off x="685800" y="3235591"/>
            <a:ext cx="4617720" cy="658368"/>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12" name="Text 10"/>
          <p:cNvSpPr/>
          <p:nvPr/>
        </p:nvSpPr>
        <p:spPr>
          <a:xfrm>
            <a:off x="886968" y="3235591"/>
            <a:ext cx="4215384" cy="658368"/>
          </a:xfrm>
          <a:prstGeom prst="rect">
            <a:avLst/>
          </a:prstGeom>
          <a:noFill/>
          <a:ln/>
        </p:spPr>
        <p:txBody>
          <a:bodyPr wrap="square" lIns="0" tIns="0" rIns="0" bIns="0" rtlCol="0" anchor="ctr"/>
          <a:lstStyle/>
          <a:p>
            <a:pPr marL="0" indent="0" algn="ctr">
              <a:buNone/>
            </a:pPr>
            <a:r>
              <a:rPr lang="es-419" sz="1100" b="1" noProof="0">
                <a:solidFill>
                  <a:srgbClr val="000000"/>
                </a:solidFill>
                <a:latin typeface="Roboto Condensed Medium" pitchFamily="34" charset="0"/>
                <a:ea typeface="Roboto Condensed Medium" pitchFamily="34" charset="-122"/>
                <a:cs typeface="Roboto Condensed Medium" pitchFamily="34" charset="-120"/>
              </a:rPr>
              <a:t>Licencias · Políticas · Modelos · Agentes · Presupuestos</a:t>
            </a:r>
            <a:endParaRPr lang="es-419" sz="1100" noProof="0" dirty="0"/>
          </a:p>
        </p:txBody>
      </p:sp>
      <p:sp>
        <p:nvSpPr>
          <p:cNvPr id="13" name="flow connector">
            <a:extLst>
              <a:ext uri="{C183D7F6-B498-43B3-948B-1728B52AA6E4}">
                <adec:decorative xmlns:adec="http://schemas.microsoft.com/office/drawing/2017/decorative" val="1"/>
              </a:ext>
            </a:extLst>
          </p:cNvPr>
          <p:cNvSpPr/>
          <p:nvPr/>
        </p:nvSpPr>
        <p:spPr>
          <a:xfrm rot="5400000">
            <a:off x="2866644" y="3910031"/>
            <a:ext cx="256032" cy="237744"/>
          </a:xfrm>
          <a:prstGeom prst="chevron">
            <a:avLst/>
          </a:prstGeom>
          <a:solidFill>
            <a:srgbClr val="2A3FE0"/>
          </a:solidFill>
          <a:ln/>
        </p:spPr>
        <p:txBody>
          <a:bodyPr/>
          <a:lstStyle/>
          <a:p>
            <a:endParaRPr lang="es-419" noProof="0" dirty="0"/>
          </a:p>
        </p:txBody>
      </p:sp>
      <p:sp>
        <p:nvSpPr>
          <p:cNvPr id="14" name="stage">
            <a:extLst>
              <a:ext uri="{C183D7F6-B498-43B3-948B-1728B52AA6E4}">
                <adec:decorative xmlns:adec="http://schemas.microsoft.com/office/drawing/2017/decorative" val="1"/>
              </a:ext>
            </a:extLst>
          </p:cNvPr>
          <p:cNvSpPr/>
          <p:nvPr/>
        </p:nvSpPr>
        <p:spPr>
          <a:xfrm>
            <a:off x="685800" y="4187676"/>
            <a:ext cx="4617720" cy="658368"/>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15" name="Text 13"/>
          <p:cNvSpPr/>
          <p:nvPr/>
        </p:nvSpPr>
        <p:spPr>
          <a:xfrm>
            <a:off x="886968" y="4187676"/>
            <a:ext cx="4215384" cy="658368"/>
          </a:xfrm>
          <a:prstGeom prst="rect">
            <a:avLst/>
          </a:prstGeom>
          <a:noFill/>
          <a:ln/>
        </p:spPr>
        <p:txBody>
          <a:bodyPr wrap="square" lIns="0" tIns="0" rIns="0" bIns="0" rtlCol="0" anchor="ctr"/>
          <a:lstStyle/>
          <a:p>
            <a:pPr marL="0" indent="0" algn="ctr">
              <a:buNone/>
            </a:pPr>
            <a:r>
              <a:rPr lang="es-419" sz="1250" b="1" noProof="0">
                <a:solidFill>
                  <a:srgbClr val="000000"/>
                </a:solidFill>
                <a:latin typeface="Roboto Condensed Medium" pitchFamily="34" charset="0"/>
                <a:ea typeface="Roboto Condensed Medium" pitchFamily="34" charset="-122"/>
                <a:cs typeface="Roboto Condensed Medium" pitchFamily="34" charset="-120"/>
              </a:rPr>
              <a:t>Consumo y monitoreo</a:t>
            </a:r>
            <a:endParaRPr lang="es-419" sz="1250" noProof="0" dirty="0"/>
          </a:p>
        </p:txBody>
      </p:sp>
      <p:sp>
        <p:nvSpPr>
          <p:cNvPr id="16" name="flow connector">
            <a:extLst>
              <a:ext uri="{C183D7F6-B498-43B3-948B-1728B52AA6E4}">
                <adec:decorative xmlns:adec="http://schemas.microsoft.com/office/drawing/2017/decorative" val="1"/>
              </a:ext>
            </a:extLst>
          </p:cNvPr>
          <p:cNvSpPr/>
          <p:nvPr/>
        </p:nvSpPr>
        <p:spPr>
          <a:xfrm rot="5400000">
            <a:off x="2866644" y="4869042"/>
            <a:ext cx="256032" cy="237744"/>
          </a:xfrm>
          <a:prstGeom prst="chevron">
            <a:avLst/>
          </a:prstGeom>
          <a:solidFill>
            <a:srgbClr val="2A3FE0"/>
          </a:solidFill>
          <a:ln/>
        </p:spPr>
        <p:txBody>
          <a:bodyPr/>
          <a:lstStyle/>
          <a:p>
            <a:endParaRPr lang="es-419" noProof="0" dirty="0"/>
          </a:p>
        </p:txBody>
      </p:sp>
      <p:sp>
        <p:nvSpPr>
          <p:cNvPr id="17" name="stage">
            <a:extLst>
              <a:ext uri="{C183D7F6-B498-43B3-948B-1728B52AA6E4}">
                <adec:decorative xmlns:adec="http://schemas.microsoft.com/office/drawing/2017/decorative" val="1"/>
              </a:ext>
            </a:extLst>
          </p:cNvPr>
          <p:cNvSpPr/>
          <p:nvPr/>
        </p:nvSpPr>
        <p:spPr>
          <a:xfrm>
            <a:off x="685800" y="5132831"/>
            <a:ext cx="4617720" cy="658368"/>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18" name="Text 16"/>
          <p:cNvSpPr/>
          <p:nvPr/>
        </p:nvSpPr>
        <p:spPr>
          <a:xfrm>
            <a:off x="886968" y="5132831"/>
            <a:ext cx="4215384" cy="658368"/>
          </a:xfrm>
          <a:prstGeom prst="rect">
            <a:avLst/>
          </a:prstGeom>
          <a:noFill/>
          <a:ln/>
        </p:spPr>
        <p:txBody>
          <a:bodyPr wrap="square" lIns="0" tIns="0" rIns="0" bIns="0" rtlCol="0" anchor="ctr"/>
          <a:lstStyle/>
          <a:p>
            <a:pPr marL="0" indent="0" algn="ctr">
              <a:buNone/>
            </a:pPr>
            <a:r>
              <a:rPr lang="es-419" sz="1250" b="1" noProof="0">
                <a:solidFill>
                  <a:srgbClr val="000000"/>
                </a:solidFill>
                <a:latin typeface="Roboto Condensed Medium" pitchFamily="34" charset="0"/>
                <a:ea typeface="Roboto Condensed Medium" pitchFamily="34" charset="-122"/>
                <a:cs typeface="Roboto Condensed Medium" pitchFamily="34" charset="-120"/>
              </a:rPr>
              <a:t>Equipos de desarrollo</a:t>
            </a:r>
            <a:endParaRPr lang="es-419" sz="1250" noProof="0" dirty="0"/>
          </a:p>
        </p:txBody>
      </p:sp>
      <p:sp>
        <p:nvSpPr>
          <p:cNvPr id="19" name="Text 17"/>
          <p:cNvSpPr/>
          <p:nvPr/>
        </p:nvSpPr>
        <p:spPr>
          <a:xfrm>
            <a:off x="5806440" y="1664208"/>
            <a:ext cx="5696712" cy="274320"/>
          </a:xfrm>
          <a:prstGeom prst="rect">
            <a:avLst/>
          </a:prstGeom>
          <a:noFill/>
          <a:ln/>
        </p:spPr>
        <p:txBody>
          <a:bodyPr wrap="square" lIns="0" tIns="0" rIns="0" bIns="0" rtlCol="0" anchor="ctr"/>
          <a:lstStyle/>
          <a:p>
            <a:pPr marL="0" indent="0">
              <a:buNone/>
            </a:pPr>
            <a:r>
              <a:rPr lang="es-419" sz="1150" b="1" kern="0" spc="200" noProof="0">
                <a:solidFill>
                  <a:srgbClr val="6E7278"/>
                </a:solidFill>
                <a:latin typeface="Roboto Condensed Medium" pitchFamily="34" charset="0"/>
                <a:ea typeface="Roboto Condensed Medium" pitchFamily="34" charset="-122"/>
                <a:cs typeface="Roboto Condensed Medium" pitchFamily="34" charset="-120"/>
              </a:rPr>
              <a:t>CAPACIDADES DISPONIBLES</a:t>
            </a:r>
            <a:endParaRPr lang="es-419" sz="1150" noProof="0" dirty="0"/>
          </a:p>
        </p:txBody>
      </p:sp>
      <p:sp>
        <p:nvSpPr>
          <p:cNvPr id="20" name="card">
            <a:extLst>
              <a:ext uri="{C183D7F6-B498-43B3-948B-1728B52AA6E4}">
                <adec:decorative xmlns:adec="http://schemas.microsoft.com/office/drawing/2017/decorative" val="1"/>
              </a:ext>
            </a:extLst>
          </p:cNvPr>
          <p:cNvSpPr/>
          <p:nvPr/>
        </p:nvSpPr>
        <p:spPr>
          <a:xfrm>
            <a:off x="5806440" y="2011680"/>
            <a:ext cx="1776984" cy="603504"/>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21" name="accent">
            <a:extLst>
              <a:ext uri="{C183D7F6-B498-43B3-948B-1728B52AA6E4}">
                <adec:decorative xmlns:adec="http://schemas.microsoft.com/office/drawing/2017/decorative" val="1"/>
              </a:ext>
            </a:extLst>
          </p:cNvPr>
          <p:cNvSpPr/>
          <p:nvPr/>
        </p:nvSpPr>
        <p:spPr>
          <a:xfrm>
            <a:off x="5806440" y="2011680"/>
            <a:ext cx="73152" cy="603504"/>
          </a:xfrm>
          <a:prstGeom prst="rect">
            <a:avLst/>
          </a:prstGeom>
          <a:solidFill>
            <a:srgbClr val="2A3FE0"/>
          </a:solidFill>
          <a:ln/>
        </p:spPr>
        <p:txBody>
          <a:bodyPr/>
          <a:lstStyle/>
          <a:p>
            <a:endParaRPr lang="es-419" noProof="0" dirty="0"/>
          </a:p>
        </p:txBody>
      </p:sp>
      <p:sp>
        <p:nvSpPr>
          <p:cNvPr id="22" name="Text 20"/>
          <p:cNvSpPr/>
          <p:nvPr/>
        </p:nvSpPr>
        <p:spPr>
          <a:xfrm>
            <a:off x="5989320" y="2011680"/>
            <a:ext cx="1502664" cy="603504"/>
          </a:xfrm>
          <a:prstGeom prst="rect">
            <a:avLst/>
          </a:prstGeom>
          <a:noFill/>
          <a:ln/>
        </p:spPr>
        <p:txBody>
          <a:bodyPr wrap="square" lIns="0" tIns="0" rIns="0" bIns="0" rtlCol="0" anchor="ctr"/>
          <a:lstStyle/>
          <a:p>
            <a:pPr marL="0" indent="0" algn="l">
              <a:buNone/>
            </a:pPr>
            <a:r>
              <a:rPr lang="es-419" sz="1050" b="1" noProof="0">
                <a:solidFill>
                  <a:srgbClr val="000000"/>
                </a:solidFill>
                <a:latin typeface="Roboto Condensed" pitchFamily="34" charset="0"/>
                <a:ea typeface="Roboto Condensed" pitchFamily="34" charset="-122"/>
                <a:cs typeface="Roboto Condensed" pitchFamily="34" charset="-120"/>
              </a:rPr>
              <a:t>Administración de </a:t>
            </a:r>
            <a:r>
              <a:rPr lang="es-419" sz="1050" b="1" noProof="0" err="1">
                <a:solidFill>
                  <a:srgbClr val="000000"/>
                </a:solidFill>
                <a:latin typeface="Roboto Condensed" pitchFamily="34" charset="0"/>
                <a:ea typeface="Roboto Condensed" pitchFamily="34" charset="-122"/>
                <a:cs typeface="Roboto Condensed" pitchFamily="34" charset="-120"/>
              </a:rPr>
              <a:t>seats</a:t>
            </a:r>
            <a:endParaRPr lang="es-419" sz="1050" noProof="0" dirty="0"/>
          </a:p>
        </p:txBody>
      </p:sp>
      <p:sp>
        <p:nvSpPr>
          <p:cNvPr id="23" name="card">
            <a:extLst>
              <a:ext uri="{C183D7F6-B498-43B3-948B-1728B52AA6E4}">
                <adec:decorative xmlns:adec="http://schemas.microsoft.com/office/drawing/2017/decorative" val="1"/>
              </a:ext>
            </a:extLst>
          </p:cNvPr>
          <p:cNvSpPr/>
          <p:nvPr/>
        </p:nvSpPr>
        <p:spPr>
          <a:xfrm>
            <a:off x="7766304" y="2011680"/>
            <a:ext cx="1776984" cy="603504"/>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24" name="accent">
            <a:extLst>
              <a:ext uri="{C183D7F6-B498-43B3-948B-1728B52AA6E4}">
                <adec:decorative xmlns:adec="http://schemas.microsoft.com/office/drawing/2017/decorative" val="1"/>
              </a:ext>
            </a:extLst>
          </p:cNvPr>
          <p:cNvSpPr/>
          <p:nvPr/>
        </p:nvSpPr>
        <p:spPr>
          <a:xfrm>
            <a:off x="7766304" y="2011680"/>
            <a:ext cx="73152" cy="603504"/>
          </a:xfrm>
          <a:prstGeom prst="rect">
            <a:avLst/>
          </a:prstGeom>
          <a:solidFill>
            <a:srgbClr val="2A3FE0"/>
          </a:solidFill>
          <a:ln/>
        </p:spPr>
        <p:txBody>
          <a:bodyPr/>
          <a:lstStyle/>
          <a:p>
            <a:endParaRPr lang="es-419" noProof="0" dirty="0"/>
          </a:p>
        </p:txBody>
      </p:sp>
      <p:sp>
        <p:nvSpPr>
          <p:cNvPr id="25" name="Text 23"/>
          <p:cNvSpPr/>
          <p:nvPr/>
        </p:nvSpPr>
        <p:spPr>
          <a:xfrm>
            <a:off x="7949184" y="2011680"/>
            <a:ext cx="1502664" cy="603504"/>
          </a:xfrm>
          <a:prstGeom prst="rect">
            <a:avLst/>
          </a:prstGeom>
          <a:noFill/>
          <a:ln/>
        </p:spPr>
        <p:txBody>
          <a:bodyPr wrap="square" lIns="0" tIns="0" rIns="0" bIns="0" rtlCol="0" anchor="ctr"/>
          <a:lstStyle/>
          <a:p>
            <a:pPr marL="0" indent="0" algn="l">
              <a:buNone/>
            </a:pPr>
            <a:r>
              <a:rPr lang="es-419" sz="1050" b="1" noProof="0">
                <a:solidFill>
                  <a:srgbClr val="000000"/>
                </a:solidFill>
                <a:latin typeface="Roboto Condensed" pitchFamily="34" charset="0"/>
                <a:ea typeface="Roboto Condensed" pitchFamily="34" charset="-122"/>
                <a:cs typeface="Roboto Condensed" pitchFamily="34" charset="-120"/>
              </a:rPr>
              <a:t>Políticas Enterprise</a:t>
            </a:r>
            <a:endParaRPr lang="es-419" sz="1050" noProof="0" dirty="0"/>
          </a:p>
        </p:txBody>
      </p:sp>
      <p:sp>
        <p:nvSpPr>
          <p:cNvPr id="26" name="card">
            <a:extLst>
              <a:ext uri="{C183D7F6-B498-43B3-948B-1728B52AA6E4}">
                <adec:decorative xmlns:adec="http://schemas.microsoft.com/office/drawing/2017/decorative" val="1"/>
              </a:ext>
            </a:extLst>
          </p:cNvPr>
          <p:cNvSpPr/>
          <p:nvPr/>
        </p:nvSpPr>
        <p:spPr>
          <a:xfrm>
            <a:off x="9726168" y="2011680"/>
            <a:ext cx="1776984" cy="603504"/>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27" name="accent">
            <a:extLst>
              <a:ext uri="{C183D7F6-B498-43B3-948B-1728B52AA6E4}">
                <adec:decorative xmlns:adec="http://schemas.microsoft.com/office/drawing/2017/decorative" val="1"/>
              </a:ext>
            </a:extLst>
          </p:cNvPr>
          <p:cNvSpPr/>
          <p:nvPr/>
        </p:nvSpPr>
        <p:spPr>
          <a:xfrm>
            <a:off x="9726168" y="2011680"/>
            <a:ext cx="73152" cy="603504"/>
          </a:xfrm>
          <a:prstGeom prst="rect">
            <a:avLst/>
          </a:prstGeom>
          <a:solidFill>
            <a:srgbClr val="2A3FE0"/>
          </a:solidFill>
          <a:ln/>
        </p:spPr>
        <p:txBody>
          <a:bodyPr/>
          <a:lstStyle/>
          <a:p>
            <a:endParaRPr lang="es-419" noProof="0" dirty="0"/>
          </a:p>
        </p:txBody>
      </p:sp>
      <p:sp>
        <p:nvSpPr>
          <p:cNvPr id="28" name="Text 26"/>
          <p:cNvSpPr/>
          <p:nvPr/>
        </p:nvSpPr>
        <p:spPr>
          <a:xfrm>
            <a:off x="9909048" y="2011680"/>
            <a:ext cx="1502664" cy="603504"/>
          </a:xfrm>
          <a:prstGeom prst="rect">
            <a:avLst/>
          </a:prstGeom>
          <a:noFill/>
          <a:ln/>
        </p:spPr>
        <p:txBody>
          <a:bodyPr wrap="square" lIns="0" tIns="0" rIns="0" bIns="0" rtlCol="0" anchor="ctr"/>
          <a:lstStyle/>
          <a:p>
            <a:pPr marL="0" indent="0" algn="l">
              <a:buNone/>
            </a:pPr>
            <a:r>
              <a:rPr lang="es-419" sz="1050" b="1" noProof="0">
                <a:solidFill>
                  <a:srgbClr val="000000"/>
                </a:solidFill>
                <a:latin typeface="Roboto Condensed" pitchFamily="34" charset="0"/>
                <a:ea typeface="Roboto Condensed" pitchFamily="34" charset="-122"/>
                <a:cs typeface="Roboto Condensed" pitchFamily="34" charset="-120"/>
              </a:rPr>
              <a:t>Políticas </a:t>
            </a:r>
            <a:r>
              <a:rPr lang="es-419" sz="1050" b="1" noProof="0" err="1">
                <a:solidFill>
                  <a:srgbClr val="000000"/>
                </a:solidFill>
                <a:latin typeface="Roboto Condensed" pitchFamily="34" charset="0"/>
                <a:ea typeface="Roboto Condensed" pitchFamily="34" charset="-122"/>
                <a:cs typeface="Roboto Condensed" pitchFamily="34" charset="-120"/>
              </a:rPr>
              <a:t>Organization</a:t>
            </a:r>
            <a:endParaRPr lang="es-419" sz="1050" noProof="0" dirty="0"/>
          </a:p>
        </p:txBody>
      </p:sp>
      <p:sp>
        <p:nvSpPr>
          <p:cNvPr id="29" name="card">
            <a:extLst>
              <a:ext uri="{C183D7F6-B498-43B3-948B-1728B52AA6E4}">
                <adec:decorative xmlns:adec="http://schemas.microsoft.com/office/drawing/2017/decorative" val="1"/>
              </a:ext>
            </a:extLst>
          </p:cNvPr>
          <p:cNvSpPr/>
          <p:nvPr/>
        </p:nvSpPr>
        <p:spPr>
          <a:xfrm>
            <a:off x="5806440" y="2779776"/>
            <a:ext cx="1776984" cy="603504"/>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30" name="accent">
            <a:extLst>
              <a:ext uri="{C183D7F6-B498-43B3-948B-1728B52AA6E4}">
                <adec:decorative xmlns:adec="http://schemas.microsoft.com/office/drawing/2017/decorative" val="1"/>
              </a:ext>
            </a:extLst>
          </p:cNvPr>
          <p:cNvSpPr/>
          <p:nvPr/>
        </p:nvSpPr>
        <p:spPr>
          <a:xfrm>
            <a:off x="5806440" y="2779776"/>
            <a:ext cx="73152" cy="603504"/>
          </a:xfrm>
          <a:prstGeom prst="rect">
            <a:avLst/>
          </a:prstGeom>
          <a:solidFill>
            <a:srgbClr val="2A3FE0"/>
          </a:solidFill>
          <a:ln/>
        </p:spPr>
        <p:txBody>
          <a:bodyPr/>
          <a:lstStyle/>
          <a:p>
            <a:endParaRPr lang="es-419" noProof="0" dirty="0"/>
          </a:p>
        </p:txBody>
      </p:sp>
      <p:sp>
        <p:nvSpPr>
          <p:cNvPr id="31" name="Text 29"/>
          <p:cNvSpPr/>
          <p:nvPr/>
        </p:nvSpPr>
        <p:spPr>
          <a:xfrm>
            <a:off x="5989320" y="2779776"/>
            <a:ext cx="1502664" cy="603504"/>
          </a:xfrm>
          <a:prstGeom prst="rect">
            <a:avLst/>
          </a:prstGeom>
          <a:noFill/>
          <a:ln/>
        </p:spPr>
        <p:txBody>
          <a:bodyPr wrap="square" lIns="0" tIns="0" rIns="0" bIns="0" rtlCol="0" anchor="ctr"/>
          <a:lstStyle/>
          <a:p>
            <a:pPr marL="0" indent="0" algn="l">
              <a:buNone/>
            </a:pPr>
            <a:r>
              <a:rPr lang="es-419" sz="1050" b="1" noProof="0">
                <a:solidFill>
                  <a:srgbClr val="000000"/>
                </a:solidFill>
                <a:latin typeface="Roboto Condensed" pitchFamily="34" charset="0"/>
                <a:ea typeface="Roboto Condensed" pitchFamily="34" charset="-122"/>
                <a:cs typeface="Roboto Condensed" pitchFamily="34" charset="-120"/>
              </a:rPr>
              <a:t>Administración de modelos</a:t>
            </a:r>
            <a:endParaRPr lang="es-419" sz="1050" noProof="0" dirty="0"/>
          </a:p>
        </p:txBody>
      </p:sp>
      <p:sp>
        <p:nvSpPr>
          <p:cNvPr id="32" name="card">
            <a:extLst>
              <a:ext uri="{C183D7F6-B498-43B3-948B-1728B52AA6E4}">
                <adec:decorative xmlns:adec="http://schemas.microsoft.com/office/drawing/2017/decorative" val="1"/>
              </a:ext>
            </a:extLst>
          </p:cNvPr>
          <p:cNvSpPr/>
          <p:nvPr/>
        </p:nvSpPr>
        <p:spPr>
          <a:xfrm>
            <a:off x="7766304" y="2779776"/>
            <a:ext cx="1776984" cy="603504"/>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33" name="accent">
            <a:extLst>
              <a:ext uri="{C183D7F6-B498-43B3-948B-1728B52AA6E4}">
                <adec:decorative xmlns:adec="http://schemas.microsoft.com/office/drawing/2017/decorative" val="1"/>
              </a:ext>
            </a:extLst>
          </p:cNvPr>
          <p:cNvSpPr/>
          <p:nvPr/>
        </p:nvSpPr>
        <p:spPr>
          <a:xfrm>
            <a:off x="7766304" y="2779776"/>
            <a:ext cx="73152" cy="603504"/>
          </a:xfrm>
          <a:prstGeom prst="rect">
            <a:avLst/>
          </a:prstGeom>
          <a:solidFill>
            <a:srgbClr val="2A3FE0"/>
          </a:solidFill>
          <a:ln/>
        </p:spPr>
        <p:txBody>
          <a:bodyPr/>
          <a:lstStyle/>
          <a:p>
            <a:endParaRPr lang="es-419" noProof="0" dirty="0"/>
          </a:p>
        </p:txBody>
      </p:sp>
      <p:sp>
        <p:nvSpPr>
          <p:cNvPr id="34" name="Text 32"/>
          <p:cNvSpPr/>
          <p:nvPr/>
        </p:nvSpPr>
        <p:spPr>
          <a:xfrm>
            <a:off x="7949184" y="2779776"/>
            <a:ext cx="1502664" cy="603504"/>
          </a:xfrm>
          <a:prstGeom prst="rect">
            <a:avLst/>
          </a:prstGeom>
          <a:noFill/>
          <a:ln/>
        </p:spPr>
        <p:txBody>
          <a:bodyPr wrap="square" lIns="0" tIns="0" rIns="0" bIns="0" rtlCol="0" anchor="ctr"/>
          <a:lstStyle/>
          <a:p>
            <a:pPr marL="0" indent="0" algn="l">
              <a:buNone/>
            </a:pPr>
            <a:r>
              <a:rPr lang="es-419" sz="1050" b="1" noProof="0">
                <a:solidFill>
                  <a:srgbClr val="000000"/>
                </a:solidFill>
                <a:latin typeface="Roboto Condensed" pitchFamily="34" charset="0"/>
                <a:ea typeface="Roboto Condensed" pitchFamily="34" charset="-122"/>
                <a:cs typeface="Roboto Condensed" pitchFamily="34" charset="-120"/>
              </a:rPr>
              <a:t>Administración de agentes</a:t>
            </a:r>
            <a:endParaRPr lang="es-419" sz="1050" noProof="0" dirty="0"/>
          </a:p>
        </p:txBody>
      </p:sp>
      <p:sp>
        <p:nvSpPr>
          <p:cNvPr id="35" name="card">
            <a:extLst>
              <a:ext uri="{C183D7F6-B498-43B3-948B-1728B52AA6E4}">
                <adec:decorative xmlns:adec="http://schemas.microsoft.com/office/drawing/2017/decorative" val="1"/>
              </a:ext>
            </a:extLst>
          </p:cNvPr>
          <p:cNvSpPr/>
          <p:nvPr/>
        </p:nvSpPr>
        <p:spPr>
          <a:xfrm>
            <a:off x="9726168" y="2779776"/>
            <a:ext cx="1776984" cy="603504"/>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36" name="accent">
            <a:extLst>
              <a:ext uri="{C183D7F6-B498-43B3-948B-1728B52AA6E4}">
                <adec:decorative xmlns:adec="http://schemas.microsoft.com/office/drawing/2017/decorative" val="1"/>
              </a:ext>
            </a:extLst>
          </p:cNvPr>
          <p:cNvSpPr/>
          <p:nvPr/>
        </p:nvSpPr>
        <p:spPr>
          <a:xfrm>
            <a:off x="9726168" y="2779776"/>
            <a:ext cx="73152" cy="603504"/>
          </a:xfrm>
          <a:prstGeom prst="rect">
            <a:avLst/>
          </a:prstGeom>
          <a:solidFill>
            <a:srgbClr val="2A3FE0"/>
          </a:solidFill>
          <a:ln/>
        </p:spPr>
        <p:txBody>
          <a:bodyPr/>
          <a:lstStyle/>
          <a:p>
            <a:endParaRPr lang="es-419" noProof="0" dirty="0"/>
          </a:p>
        </p:txBody>
      </p:sp>
      <p:sp>
        <p:nvSpPr>
          <p:cNvPr id="37" name="Text 35"/>
          <p:cNvSpPr/>
          <p:nvPr/>
        </p:nvSpPr>
        <p:spPr>
          <a:xfrm>
            <a:off x="9909048" y="2779776"/>
            <a:ext cx="1502664" cy="603504"/>
          </a:xfrm>
          <a:prstGeom prst="rect">
            <a:avLst/>
          </a:prstGeom>
          <a:noFill/>
          <a:ln/>
        </p:spPr>
        <p:txBody>
          <a:bodyPr wrap="square" lIns="0" tIns="0" rIns="0" bIns="0" rtlCol="0" anchor="ctr"/>
          <a:lstStyle/>
          <a:p>
            <a:pPr marL="0" indent="0" algn="l">
              <a:buNone/>
            </a:pPr>
            <a:r>
              <a:rPr lang="es-419" sz="1050" b="1" noProof="0">
                <a:solidFill>
                  <a:srgbClr val="000000"/>
                </a:solidFill>
                <a:latin typeface="Roboto Condensed" pitchFamily="34" charset="0"/>
                <a:ea typeface="Roboto Condensed" pitchFamily="34" charset="-122"/>
                <a:cs typeface="Roboto Condensed" pitchFamily="34" charset="-120"/>
              </a:rPr>
              <a:t>Monitoreo de consumo de AI </a:t>
            </a:r>
            <a:r>
              <a:rPr lang="es-419" sz="1050" b="1" noProof="0" err="1">
                <a:solidFill>
                  <a:srgbClr val="000000"/>
                </a:solidFill>
                <a:latin typeface="Roboto Condensed" pitchFamily="34" charset="0"/>
                <a:ea typeface="Roboto Condensed" pitchFamily="34" charset="-122"/>
                <a:cs typeface="Roboto Condensed" pitchFamily="34" charset="-120"/>
              </a:rPr>
              <a:t>Credits</a:t>
            </a:r>
            <a:endParaRPr lang="es-419" sz="1050" noProof="0" dirty="0"/>
          </a:p>
        </p:txBody>
      </p:sp>
      <p:sp>
        <p:nvSpPr>
          <p:cNvPr id="38" name="card">
            <a:extLst>
              <a:ext uri="{C183D7F6-B498-43B3-948B-1728B52AA6E4}">
                <adec:decorative xmlns:adec="http://schemas.microsoft.com/office/drawing/2017/decorative" val="1"/>
              </a:ext>
            </a:extLst>
          </p:cNvPr>
          <p:cNvSpPr/>
          <p:nvPr/>
        </p:nvSpPr>
        <p:spPr>
          <a:xfrm>
            <a:off x="5806440" y="3547872"/>
            <a:ext cx="1776984" cy="603504"/>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39" name="accent">
            <a:extLst>
              <a:ext uri="{C183D7F6-B498-43B3-948B-1728B52AA6E4}">
                <adec:decorative xmlns:adec="http://schemas.microsoft.com/office/drawing/2017/decorative" val="1"/>
              </a:ext>
            </a:extLst>
          </p:cNvPr>
          <p:cNvSpPr/>
          <p:nvPr/>
        </p:nvSpPr>
        <p:spPr>
          <a:xfrm>
            <a:off x="5806440" y="3547872"/>
            <a:ext cx="73152" cy="603504"/>
          </a:xfrm>
          <a:prstGeom prst="rect">
            <a:avLst/>
          </a:prstGeom>
          <a:solidFill>
            <a:srgbClr val="2A3FE0"/>
          </a:solidFill>
          <a:ln/>
        </p:spPr>
        <p:txBody>
          <a:bodyPr/>
          <a:lstStyle/>
          <a:p>
            <a:endParaRPr lang="es-419" noProof="0" dirty="0"/>
          </a:p>
        </p:txBody>
      </p:sp>
      <p:sp>
        <p:nvSpPr>
          <p:cNvPr id="40" name="Text 38"/>
          <p:cNvSpPr/>
          <p:nvPr/>
        </p:nvSpPr>
        <p:spPr>
          <a:xfrm>
            <a:off x="5989320" y="3547872"/>
            <a:ext cx="1502664" cy="603504"/>
          </a:xfrm>
          <a:prstGeom prst="rect">
            <a:avLst/>
          </a:prstGeom>
          <a:noFill/>
          <a:ln/>
        </p:spPr>
        <p:txBody>
          <a:bodyPr wrap="square" lIns="0" tIns="0" rIns="0" bIns="0" rtlCol="0" anchor="ctr"/>
          <a:lstStyle/>
          <a:p>
            <a:pPr marL="0" indent="0" algn="l">
              <a:buNone/>
            </a:pPr>
            <a:r>
              <a:rPr lang="es-419" sz="1050" b="1" noProof="0">
                <a:solidFill>
                  <a:srgbClr val="000000"/>
                </a:solidFill>
                <a:latin typeface="Roboto Condensed" pitchFamily="34" charset="0"/>
                <a:ea typeface="Roboto Condensed" pitchFamily="34" charset="-122"/>
                <a:cs typeface="Roboto Condensed" pitchFamily="34" charset="-120"/>
              </a:rPr>
              <a:t>Reportes/API de consumo y facturación</a:t>
            </a:r>
            <a:endParaRPr lang="es-419" sz="1050" noProof="0" dirty="0"/>
          </a:p>
        </p:txBody>
      </p:sp>
      <p:sp>
        <p:nvSpPr>
          <p:cNvPr id="41" name="card">
            <a:extLst>
              <a:ext uri="{C183D7F6-B498-43B3-948B-1728B52AA6E4}">
                <adec:decorative xmlns:adec="http://schemas.microsoft.com/office/drawing/2017/decorative" val="1"/>
              </a:ext>
            </a:extLst>
          </p:cNvPr>
          <p:cNvSpPr/>
          <p:nvPr/>
        </p:nvSpPr>
        <p:spPr>
          <a:xfrm>
            <a:off x="7766304" y="3547872"/>
            <a:ext cx="1776984" cy="603504"/>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42" name="accent">
            <a:extLst>
              <a:ext uri="{C183D7F6-B498-43B3-948B-1728B52AA6E4}">
                <adec:decorative xmlns:adec="http://schemas.microsoft.com/office/drawing/2017/decorative" val="1"/>
              </a:ext>
            </a:extLst>
          </p:cNvPr>
          <p:cNvSpPr/>
          <p:nvPr/>
        </p:nvSpPr>
        <p:spPr>
          <a:xfrm>
            <a:off x="7766304" y="3547872"/>
            <a:ext cx="73152" cy="603504"/>
          </a:xfrm>
          <a:prstGeom prst="rect">
            <a:avLst/>
          </a:prstGeom>
          <a:solidFill>
            <a:srgbClr val="2A3FE0"/>
          </a:solidFill>
          <a:ln/>
        </p:spPr>
        <p:txBody>
          <a:bodyPr/>
          <a:lstStyle/>
          <a:p>
            <a:endParaRPr lang="es-419" noProof="0" dirty="0"/>
          </a:p>
        </p:txBody>
      </p:sp>
      <p:sp>
        <p:nvSpPr>
          <p:cNvPr id="43" name="Text 41"/>
          <p:cNvSpPr/>
          <p:nvPr/>
        </p:nvSpPr>
        <p:spPr>
          <a:xfrm>
            <a:off x="7949184" y="3547872"/>
            <a:ext cx="1502664" cy="603504"/>
          </a:xfrm>
          <a:prstGeom prst="rect">
            <a:avLst/>
          </a:prstGeom>
          <a:noFill/>
          <a:ln/>
        </p:spPr>
        <p:txBody>
          <a:bodyPr wrap="square" lIns="0" tIns="0" rIns="0" bIns="0" rtlCol="0" anchor="ctr"/>
          <a:lstStyle/>
          <a:p>
            <a:pPr marL="0" indent="0" algn="l">
              <a:buNone/>
            </a:pPr>
            <a:r>
              <a:rPr lang="es-419" sz="1050" b="1" noProof="0">
                <a:solidFill>
                  <a:srgbClr val="000000"/>
                </a:solidFill>
                <a:latin typeface="Roboto Condensed" pitchFamily="34" charset="0"/>
                <a:ea typeface="Roboto Condensed" pitchFamily="34" charset="-122"/>
                <a:cs typeface="Roboto Condensed" pitchFamily="34" charset="-120"/>
              </a:rPr>
              <a:t>Información de facturación</a:t>
            </a:r>
            <a:endParaRPr lang="es-419" sz="1050" noProof="0" dirty="0"/>
          </a:p>
        </p:txBody>
      </p:sp>
      <p:sp>
        <p:nvSpPr>
          <p:cNvPr id="44" name="card">
            <a:extLst>
              <a:ext uri="{C183D7F6-B498-43B3-948B-1728B52AA6E4}">
                <adec:decorative xmlns:adec="http://schemas.microsoft.com/office/drawing/2017/decorative" val="1"/>
              </a:ext>
            </a:extLst>
          </p:cNvPr>
          <p:cNvSpPr/>
          <p:nvPr/>
        </p:nvSpPr>
        <p:spPr>
          <a:xfrm>
            <a:off x="9726168" y="3547872"/>
            <a:ext cx="1776984" cy="603504"/>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45" name="accent">
            <a:extLst>
              <a:ext uri="{C183D7F6-B498-43B3-948B-1728B52AA6E4}">
                <adec:decorative xmlns:adec="http://schemas.microsoft.com/office/drawing/2017/decorative" val="1"/>
              </a:ext>
            </a:extLst>
          </p:cNvPr>
          <p:cNvSpPr/>
          <p:nvPr/>
        </p:nvSpPr>
        <p:spPr>
          <a:xfrm>
            <a:off x="9726168" y="3547872"/>
            <a:ext cx="73152" cy="603504"/>
          </a:xfrm>
          <a:prstGeom prst="rect">
            <a:avLst/>
          </a:prstGeom>
          <a:solidFill>
            <a:srgbClr val="2A3FE0"/>
          </a:solidFill>
          <a:ln/>
        </p:spPr>
        <p:txBody>
          <a:bodyPr/>
          <a:lstStyle/>
          <a:p>
            <a:endParaRPr lang="es-419" noProof="0" dirty="0"/>
          </a:p>
        </p:txBody>
      </p:sp>
      <p:sp>
        <p:nvSpPr>
          <p:cNvPr id="46" name="Text 44"/>
          <p:cNvSpPr/>
          <p:nvPr/>
        </p:nvSpPr>
        <p:spPr>
          <a:xfrm>
            <a:off x="9909048" y="3547872"/>
            <a:ext cx="1502664" cy="603504"/>
          </a:xfrm>
          <a:prstGeom prst="rect">
            <a:avLst/>
          </a:prstGeom>
          <a:noFill/>
          <a:ln/>
        </p:spPr>
        <p:txBody>
          <a:bodyPr wrap="square" lIns="0" tIns="0" rIns="0" bIns="0" rtlCol="0" anchor="ctr"/>
          <a:lstStyle/>
          <a:p>
            <a:pPr marL="0" indent="0" algn="l">
              <a:buNone/>
            </a:pPr>
            <a:r>
              <a:rPr lang="es-419" sz="1050" b="1" noProof="0">
                <a:solidFill>
                  <a:srgbClr val="000000"/>
                </a:solidFill>
                <a:latin typeface="Roboto Condensed" pitchFamily="34" charset="0"/>
                <a:ea typeface="Roboto Condensed" pitchFamily="34" charset="-122"/>
                <a:cs typeface="Roboto Condensed" pitchFamily="34" charset="-120"/>
              </a:rPr>
              <a:t>Audit logs</a:t>
            </a:r>
            <a:endParaRPr lang="es-419" sz="1050" noProof="0" dirty="0"/>
          </a:p>
        </p:txBody>
      </p:sp>
      <p:sp>
        <p:nvSpPr>
          <p:cNvPr id="47" name="card">
            <a:extLst>
              <a:ext uri="{C183D7F6-B498-43B3-948B-1728B52AA6E4}">
                <adec:decorative xmlns:adec="http://schemas.microsoft.com/office/drawing/2017/decorative" val="1"/>
              </a:ext>
            </a:extLst>
          </p:cNvPr>
          <p:cNvSpPr/>
          <p:nvPr/>
        </p:nvSpPr>
        <p:spPr>
          <a:xfrm>
            <a:off x="5806440" y="4526280"/>
            <a:ext cx="5696712" cy="1417320"/>
          </a:xfrm>
          <a:prstGeom prst="rect">
            <a:avLst/>
          </a:prstGeom>
          <a:solidFill>
            <a:srgbClr val="E7EAFC"/>
          </a:solidFill>
          <a:ln w="12700">
            <a:solidFill>
              <a:srgbClr val="CBD2F7"/>
            </a:solidFill>
            <a:prstDash val="solid"/>
          </a:ln>
        </p:spPr>
        <p:txBody>
          <a:bodyPr/>
          <a:lstStyle/>
          <a:p>
            <a:endParaRPr lang="es-419" noProof="0" dirty="0"/>
          </a:p>
        </p:txBody>
      </p:sp>
      <p:sp>
        <p:nvSpPr>
          <p:cNvPr id="48" name="Text 46"/>
          <p:cNvSpPr/>
          <p:nvPr/>
        </p:nvSpPr>
        <p:spPr>
          <a:xfrm>
            <a:off x="6062472" y="4672584"/>
            <a:ext cx="5184648" cy="274320"/>
          </a:xfrm>
          <a:prstGeom prst="rect">
            <a:avLst/>
          </a:prstGeom>
          <a:noFill/>
          <a:ln/>
        </p:spPr>
        <p:txBody>
          <a:bodyPr wrap="square" lIns="0" tIns="0" rIns="0" bIns="0" rtlCol="0" anchor="ctr"/>
          <a:lstStyle/>
          <a:p>
            <a:pPr marL="0" indent="0">
              <a:buNone/>
            </a:pPr>
            <a:r>
              <a:rPr lang="es-419" sz="1100" b="1" kern="0" spc="100" noProof="0">
                <a:solidFill>
                  <a:srgbClr val="1E2FB5"/>
                </a:solidFill>
                <a:latin typeface="Roboto Condensed Medium" pitchFamily="34" charset="0"/>
                <a:ea typeface="Roboto Condensed Medium" pitchFamily="34" charset="-122"/>
                <a:cs typeface="Roboto Condensed Medium" pitchFamily="34" charset="-120"/>
              </a:rPr>
              <a:t>PENDIENTES PARA DEFINICIÓN INTERNA</a:t>
            </a:r>
            <a:endParaRPr lang="es-419" sz="1100" noProof="0" dirty="0"/>
          </a:p>
        </p:txBody>
      </p:sp>
      <p:sp>
        <p:nvSpPr>
          <p:cNvPr id="49" name="Text 47"/>
          <p:cNvSpPr/>
          <p:nvPr/>
        </p:nvSpPr>
        <p:spPr>
          <a:xfrm>
            <a:off x="6062472" y="4983480"/>
            <a:ext cx="2500884" cy="292608"/>
          </a:xfrm>
          <a:prstGeom prst="rect">
            <a:avLst/>
          </a:prstGeom>
          <a:noFill/>
          <a:ln/>
        </p:spPr>
        <p:txBody>
          <a:bodyPr wrap="square" lIns="0" tIns="0" rIns="0" bIns="0" rtlCol="0" anchor="ctr"/>
          <a:lstStyle/>
          <a:p>
            <a:pPr marL="0" indent="0" algn="l">
              <a:buNone/>
            </a:pPr>
            <a:r>
              <a:rPr lang="es-419" sz="980" noProof="0">
                <a:solidFill>
                  <a:srgbClr val="33373D"/>
                </a:solidFill>
                <a:latin typeface="Roboto Condensed" pitchFamily="34" charset="0"/>
                <a:ea typeface="Roboto Condensed" pitchFamily="34" charset="-122"/>
                <a:cs typeface="Roboto Condensed" pitchFamily="34" charset="-120"/>
              </a:rPr>
              <a:t>Administración de usuarios y licencias:  </a:t>
            </a:r>
            <a:r>
              <a:rPr lang="es-419" sz="980" b="1" noProof="0">
                <a:solidFill>
                  <a:srgbClr val="1E2FB5"/>
                </a:solidFill>
                <a:latin typeface="Roboto Condensed" pitchFamily="34" charset="0"/>
                <a:ea typeface="Roboto Condensed" pitchFamily="34" charset="-122"/>
                <a:cs typeface="Roboto Condensed" pitchFamily="34" charset="-120"/>
              </a:rPr>
              <a:t>SMT y Accesos</a:t>
            </a:r>
            <a:endParaRPr lang="es-419" sz="980" noProof="0" dirty="0"/>
          </a:p>
        </p:txBody>
      </p:sp>
      <p:sp>
        <p:nvSpPr>
          <p:cNvPr id="50" name="Text 48"/>
          <p:cNvSpPr/>
          <p:nvPr/>
        </p:nvSpPr>
        <p:spPr>
          <a:xfrm>
            <a:off x="8654796" y="4983480"/>
            <a:ext cx="2500884" cy="292608"/>
          </a:xfrm>
          <a:prstGeom prst="rect">
            <a:avLst/>
          </a:prstGeom>
          <a:noFill/>
          <a:ln/>
        </p:spPr>
        <p:txBody>
          <a:bodyPr wrap="square" lIns="0" tIns="0" rIns="0" bIns="0" rtlCol="0" anchor="ctr"/>
          <a:lstStyle/>
          <a:p>
            <a:pPr marL="0" indent="0" algn="l">
              <a:buNone/>
            </a:pPr>
            <a:r>
              <a:rPr lang="es-419" sz="980" noProof="0">
                <a:solidFill>
                  <a:srgbClr val="33373D"/>
                </a:solidFill>
                <a:latin typeface="Roboto Condensed" pitchFamily="34" charset="0"/>
                <a:ea typeface="Roboto Condensed" pitchFamily="34" charset="-122"/>
                <a:cs typeface="Roboto Condensed" pitchFamily="34" charset="-120"/>
              </a:rPr>
              <a:t>Aprovisionamiento en consola:  </a:t>
            </a:r>
            <a:r>
              <a:rPr lang="es-419" sz="980" b="1" noProof="0">
                <a:solidFill>
                  <a:srgbClr val="1E2FB5"/>
                </a:solidFill>
                <a:latin typeface="Roboto Condensed" pitchFamily="34" charset="0"/>
                <a:ea typeface="Roboto Condensed" pitchFamily="34" charset="-122"/>
                <a:cs typeface="Roboto Condensed" pitchFamily="34" charset="-120"/>
              </a:rPr>
              <a:t>Equipo de Accesos</a:t>
            </a:r>
            <a:endParaRPr lang="es-419" sz="980" noProof="0" dirty="0"/>
          </a:p>
        </p:txBody>
      </p:sp>
      <p:sp>
        <p:nvSpPr>
          <p:cNvPr id="51" name="Text 49"/>
          <p:cNvSpPr/>
          <p:nvPr/>
        </p:nvSpPr>
        <p:spPr>
          <a:xfrm>
            <a:off x="6062472" y="5294376"/>
            <a:ext cx="2500884" cy="292608"/>
          </a:xfrm>
          <a:prstGeom prst="rect">
            <a:avLst/>
          </a:prstGeom>
          <a:noFill/>
          <a:ln/>
        </p:spPr>
        <p:txBody>
          <a:bodyPr wrap="square" lIns="0" tIns="0" rIns="0" bIns="0" rtlCol="0" anchor="ctr"/>
          <a:lstStyle/>
          <a:p>
            <a:pPr marL="0" indent="0" algn="l">
              <a:buNone/>
            </a:pPr>
            <a:r>
              <a:rPr lang="es-419" sz="980" noProof="0">
                <a:solidFill>
                  <a:srgbClr val="33373D"/>
                </a:solidFill>
                <a:latin typeface="Roboto Condensed" pitchFamily="34" charset="0"/>
                <a:ea typeface="Roboto Condensed" pitchFamily="34" charset="-122"/>
                <a:cs typeface="Roboto Condensed" pitchFamily="34" charset="-120"/>
              </a:rPr>
              <a:t>Administración de consumo y excepciones:  </a:t>
            </a:r>
            <a:r>
              <a:rPr lang="es-419" sz="980" b="1" noProof="0">
                <a:solidFill>
                  <a:srgbClr val="1E2FB5"/>
                </a:solidFill>
                <a:latin typeface="Roboto Condensed" pitchFamily="34" charset="0"/>
                <a:ea typeface="Roboto Condensed" pitchFamily="34" charset="-122"/>
                <a:cs typeface="Roboto Condensed" pitchFamily="34" charset="-120"/>
              </a:rPr>
              <a:t>Ingeniería</a:t>
            </a:r>
            <a:endParaRPr lang="es-419" sz="980" noProof="0" dirty="0"/>
          </a:p>
        </p:txBody>
      </p:sp>
      <p:sp>
        <p:nvSpPr>
          <p:cNvPr id="52" name="Text 50"/>
          <p:cNvSpPr/>
          <p:nvPr/>
        </p:nvSpPr>
        <p:spPr>
          <a:xfrm>
            <a:off x="6062472" y="5605272"/>
            <a:ext cx="5093208" cy="292608"/>
          </a:xfrm>
          <a:prstGeom prst="rect">
            <a:avLst/>
          </a:prstGeom>
          <a:noFill/>
          <a:ln/>
        </p:spPr>
        <p:txBody>
          <a:bodyPr wrap="square" lIns="0" tIns="0" rIns="0" bIns="0" rtlCol="0" anchor="ctr"/>
          <a:lstStyle/>
          <a:p>
            <a:r>
              <a:rPr lang="es-419" sz="980" noProof="0">
                <a:solidFill>
                  <a:srgbClr val="33373D"/>
                </a:solidFill>
                <a:latin typeface="Roboto Condensed" pitchFamily="34" charset="0"/>
                <a:ea typeface="Roboto Condensed" pitchFamily="34" charset="-122"/>
                <a:cs typeface="Roboto Condensed" pitchFamily="34" charset="-120"/>
              </a:rPr>
              <a:t>Gobierno y periodicidad de seguimiento: </a:t>
            </a:r>
            <a:r>
              <a:rPr lang="es-419" sz="980" b="1">
                <a:solidFill>
                  <a:srgbClr val="1E2FB5"/>
                </a:solidFill>
                <a:latin typeface="Roboto Condensed" pitchFamily="34" charset="0"/>
                <a:ea typeface="Roboto Condensed" pitchFamily="34" charset="-122"/>
                <a:cs typeface="Roboto Condensed" pitchFamily="34" charset="-120"/>
              </a:rPr>
              <a:t>Ingeniería</a:t>
            </a:r>
            <a:endParaRPr lang="es-419" sz="980" noProof="0" dirty="0"/>
          </a:p>
        </p:txBody>
      </p:sp>
      <p:sp>
        <p:nvSpPr>
          <p:cNvPr id="53" name="Text 51"/>
          <p:cNvSpPr/>
          <p:nvPr/>
        </p:nvSpPr>
        <p:spPr>
          <a:xfrm>
            <a:off x="6062472" y="5605272"/>
            <a:ext cx="2500884" cy="292608"/>
          </a:xfrm>
          <a:prstGeom prst="rect">
            <a:avLst/>
          </a:prstGeom>
          <a:noFill/>
          <a:ln/>
        </p:spPr>
        <p:txBody>
          <a:bodyPr wrap="square" lIns="0" tIns="0" rIns="0" bIns="0" rtlCol="0" anchor="ctr"/>
          <a:lstStyle/>
          <a:p>
            <a:pPr marL="0" indent="0" algn="l">
              <a:buNone/>
            </a:pPr>
            <a:endParaRPr lang="es-419" sz="980" noProof="0" dirty="0"/>
          </a:p>
        </p:txBody>
      </p:sp>
      <p:sp>
        <p:nvSpPr>
          <p:cNvPr id="54" name="Text 52"/>
          <p:cNvSpPr/>
          <p:nvPr/>
        </p:nvSpPr>
        <p:spPr>
          <a:xfrm>
            <a:off x="685800" y="6437376"/>
            <a:ext cx="8686800" cy="292608"/>
          </a:xfrm>
          <a:prstGeom prst="rect">
            <a:avLst/>
          </a:prstGeom>
          <a:noFill/>
          <a:ln/>
        </p:spPr>
        <p:txBody>
          <a:bodyPr wrap="square" lIns="0" tIns="0" rIns="0" bIns="0" rtlCol="0" anchor="ctr"/>
          <a:lstStyle/>
          <a:p>
            <a:pPr marL="0" indent="0" algn="l">
              <a:buNone/>
            </a:pPr>
            <a:r>
              <a:rPr lang="es-419" sz="850" b="1" noProof="0">
                <a:solidFill>
                  <a:srgbClr val="000000"/>
                </a:solidFill>
                <a:latin typeface="Roboto Condensed" pitchFamily="34" charset="0"/>
                <a:ea typeface="Roboto Condensed" pitchFamily="34" charset="-122"/>
                <a:cs typeface="Roboto Condensed" pitchFamily="34" charset="-120"/>
              </a:rPr>
              <a:t>Tuya</a:t>
            </a:r>
            <a:r>
              <a:rPr lang="es-419" sz="850" noProof="0">
                <a:solidFill>
                  <a:srgbClr val="5B6068"/>
                </a:solidFill>
                <a:latin typeface="Roboto Condensed" pitchFamily="34" charset="0"/>
                <a:ea typeface="Roboto Condensed" pitchFamily="34" charset="-122"/>
                <a:cs typeface="Roboto Condensed" pitchFamily="34" charset="-120"/>
              </a:rPr>
              <a:t>   ·   GitHub </a:t>
            </a:r>
            <a:r>
              <a:rPr lang="es-419" sz="850" noProof="0" err="1">
                <a:solidFill>
                  <a:srgbClr val="5B6068"/>
                </a:solidFill>
                <a:latin typeface="Roboto Condensed" pitchFamily="34" charset="0"/>
                <a:ea typeface="Roboto Condensed" pitchFamily="34" charset="-122"/>
                <a:cs typeface="Roboto Condensed" pitchFamily="34" charset="-120"/>
              </a:rPr>
              <a:t>Copilot</a:t>
            </a:r>
            <a:r>
              <a:rPr lang="es-419" sz="850" noProof="0">
                <a:solidFill>
                  <a:srgbClr val="5B6068"/>
                </a:solidFill>
                <a:latin typeface="Roboto Condensed" pitchFamily="34" charset="0"/>
                <a:ea typeface="Roboto Condensed" pitchFamily="34" charset="-122"/>
                <a:cs typeface="Roboto Condensed" pitchFamily="34" charset="-120"/>
              </a:rPr>
              <a:t> - Resultados de la Prueba de Concepto</a:t>
            </a:r>
            <a:endParaRPr lang="es-419" sz="850" noProof="0" dirty="0"/>
          </a:p>
        </p:txBody>
      </p:sp>
      <p:sp>
        <p:nvSpPr>
          <p:cNvPr id="55" name="Text 53"/>
          <p:cNvSpPr/>
          <p:nvPr/>
        </p:nvSpPr>
        <p:spPr>
          <a:xfrm>
            <a:off x="10972800" y="6437376"/>
            <a:ext cx="530352" cy="292608"/>
          </a:xfrm>
          <a:prstGeom prst="rect">
            <a:avLst/>
          </a:prstGeom>
          <a:noFill/>
          <a:ln/>
        </p:spPr>
        <p:txBody>
          <a:bodyPr wrap="square" lIns="0" tIns="0" rIns="0" bIns="0" rtlCol="0" anchor="ctr"/>
          <a:lstStyle/>
          <a:p>
            <a:pPr marL="0" indent="0" algn="r">
              <a:buNone/>
            </a:pPr>
            <a:r>
              <a:rPr lang="es-419" sz="900" b="1" noProof="0">
                <a:solidFill>
                  <a:srgbClr val="2A3FE0"/>
                </a:solidFill>
                <a:latin typeface="Roboto Condensed Medium" pitchFamily="34" charset="0"/>
                <a:ea typeface="Roboto Condensed Medium" pitchFamily="34" charset="-122"/>
                <a:cs typeface="Roboto Condensed Medium" pitchFamily="34" charset="-120"/>
              </a:rPr>
              <a:t>09</a:t>
            </a:r>
            <a:endParaRPr lang="es-419" sz="900" noProof="0" dirty="0"/>
          </a:p>
        </p:txBody>
      </p:sp>
      <p:sp>
        <p:nvSpPr>
          <p:cNvPr id="56" name="Text 54"/>
          <p:cNvSpPr/>
          <p:nvPr/>
        </p:nvSpPr>
        <p:spPr>
          <a:xfrm>
            <a:off x="685800" y="5983778"/>
            <a:ext cx="4617720" cy="502920"/>
          </a:xfrm>
          <a:prstGeom prst="rect">
            <a:avLst/>
          </a:prstGeom>
          <a:noFill/>
          <a:ln/>
        </p:spPr>
        <p:txBody>
          <a:bodyPr wrap="square" lIns="0" tIns="0" rIns="0" bIns="0" rtlCol="0" anchor="t"/>
          <a:lstStyle/>
          <a:p>
            <a:pPr marL="0" indent="0" algn="l">
              <a:buNone/>
            </a:pPr>
            <a:r>
              <a:rPr lang="es-419" sz="860" i="1" noProof="0">
                <a:solidFill>
                  <a:srgbClr val="6E7278"/>
                </a:solidFill>
                <a:latin typeface="Roboto Condensed" pitchFamily="34" charset="0"/>
                <a:ea typeface="Roboto Condensed" pitchFamily="34" charset="-122"/>
                <a:cs typeface="Roboto Condensed" pitchFamily="34" charset="-120"/>
              </a:rPr>
              <a:t>La asignación y administración de licencias se gestiona de forma centralizada desde GitHub y puede complementarse mediante sus APIs administrativas.</a:t>
            </a:r>
            <a:endParaRPr lang="es-419" sz="860" noProof="0" dirty="0"/>
          </a:p>
        </p:txBody>
      </p:sp>
      <p:pic>
        <p:nvPicPr>
          <p:cNvPr id="950" name="Logo Tuya"/>
          <p:cNvPicPr>
            <a:picLocks noChangeAspect="1"/>
          </p:cNvPicPr>
          <p:nvPr/>
        </p:nvPicPr>
        <p:blipFill>
          <a:blip r:embed="rId3"/>
          <a:stretch>
            <a:fillRect/>
          </a:stretch>
        </p:blipFill>
        <p:spPr>
          <a:xfrm>
            <a:off x="11152200" y="321276"/>
            <a:ext cx="640080" cy="3200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 mark">
            <a:extLst>
              <a:ext uri="{C183D7F6-B498-43B3-948B-1728B52AA6E4}">
                <adec:decorative xmlns:adec="http://schemas.microsoft.com/office/drawing/2017/decorative" val="1"/>
              </a:ext>
            </a:extLst>
          </p:cNvPr>
          <p:cNvSpPr/>
          <p:nvPr/>
        </p:nvSpPr>
        <p:spPr>
          <a:xfrm>
            <a:off x="685800" y="402336"/>
            <a:ext cx="146304" cy="146304"/>
          </a:xfrm>
          <a:prstGeom prst="rect">
            <a:avLst/>
          </a:prstGeom>
          <a:solidFill>
            <a:srgbClr val="2A3FE0"/>
          </a:solidFill>
          <a:ln/>
        </p:spPr>
        <p:txBody>
          <a:bodyPr/>
          <a:lstStyle/>
          <a:p>
            <a:endParaRPr lang="es-419" noProof="0" dirty="0"/>
          </a:p>
        </p:txBody>
      </p:sp>
      <p:sp>
        <p:nvSpPr>
          <p:cNvPr id="3" name="Text 1"/>
          <p:cNvSpPr/>
          <p:nvPr/>
        </p:nvSpPr>
        <p:spPr>
          <a:xfrm>
            <a:off x="932688" y="310896"/>
            <a:ext cx="9601200" cy="310896"/>
          </a:xfrm>
          <a:prstGeom prst="rect">
            <a:avLst/>
          </a:prstGeom>
          <a:noFill/>
          <a:ln/>
        </p:spPr>
        <p:txBody>
          <a:bodyPr wrap="square" lIns="0" tIns="0" rIns="0" bIns="0" rtlCol="0" anchor="ctr"/>
          <a:lstStyle/>
          <a:p>
            <a:pPr marL="0" indent="0" algn="l">
              <a:buNone/>
            </a:pPr>
            <a:r>
              <a:rPr lang="es-419" sz="1150" b="1" kern="0" spc="200" noProof="0">
                <a:solidFill>
                  <a:srgbClr val="2A3FE0"/>
                </a:solidFill>
                <a:latin typeface="Roboto Condensed Medium" pitchFamily="34" charset="0"/>
                <a:ea typeface="Roboto Condensed Medium" pitchFamily="34" charset="-122"/>
                <a:cs typeface="Roboto Condensed Medium" pitchFamily="34" charset="-120"/>
              </a:rPr>
              <a:t>CONCLUSIONES Y SIGUIENTES PASOS</a:t>
            </a:r>
            <a:endParaRPr lang="es-419" sz="1150" noProof="0" dirty="0"/>
          </a:p>
        </p:txBody>
      </p:sp>
      <p:sp>
        <p:nvSpPr>
          <p:cNvPr id="4" name="Text 0"/>
          <p:cNvSpPr>
            <a:spLocks noGrp="1"/>
          </p:cNvSpPr>
          <p:nvPr>
            <p:ph type="title" idx="100" hasCustomPrompt="1"/>
          </p:nvPr>
        </p:nvSpPr>
        <p:spPr>
          <a:xfrm>
            <a:off x="685800" y="658368"/>
            <a:ext cx="10789920" cy="822960"/>
          </a:xfrm>
          <a:prstGeom prst="rect">
            <a:avLst/>
          </a:prstGeom>
          <a:noFill/>
          <a:ln/>
        </p:spPr>
        <p:txBody>
          <a:bodyPr wrap="square" lIns="0" tIns="0" rIns="0" bIns="0" rtlCol="0" anchor="t"/>
          <a:lstStyle/>
          <a:p>
            <a:pPr marL="0" indent="0" algn="l">
              <a:buNone/>
            </a:pPr>
            <a:r>
              <a:rPr lang="es-419" sz="2700" b="1" noProof="0">
                <a:solidFill>
                  <a:srgbClr val="000000"/>
                </a:solidFill>
                <a:latin typeface="Roboto Condensed Medium" pitchFamily="34" charset="0"/>
                <a:ea typeface="Roboto Condensed Medium" pitchFamily="34" charset="-122"/>
                <a:cs typeface="Roboto Condensed Medium" pitchFamily="34" charset="-120"/>
              </a:rPr>
              <a:t>Qué observamos y qué falta decidir</a:t>
            </a:r>
            <a:endParaRPr lang="es-419" sz="2700" noProof="0" dirty="0"/>
          </a:p>
        </p:txBody>
      </p:sp>
      <p:sp>
        <p:nvSpPr>
          <p:cNvPr id="5" name="card">
            <a:extLst>
              <a:ext uri="{C183D7F6-B498-43B3-948B-1728B52AA6E4}">
                <adec:decorative xmlns:adec="http://schemas.microsoft.com/office/drawing/2017/decorative" val="1"/>
              </a:ext>
            </a:extLst>
          </p:cNvPr>
          <p:cNvSpPr/>
          <p:nvPr/>
        </p:nvSpPr>
        <p:spPr>
          <a:xfrm>
            <a:off x="685800" y="1691640"/>
            <a:ext cx="3566160" cy="3429000"/>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6" name="top accent">
            <a:extLst>
              <a:ext uri="{C183D7F6-B498-43B3-948B-1728B52AA6E4}">
                <adec:decorative xmlns:adec="http://schemas.microsoft.com/office/drawing/2017/decorative" val="1"/>
              </a:ext>
            </a:extLst>
          </p:cNvPr>
          <p:cNvSpPr/>
          <p:nvPr/>
        </p:nvSpPr>
        <p:spPr>
          <a:xfrm>
            <a:off x="685800" y="1691640"/>
            <a:ext cx="3566160" cy="91440"/>
          </a:xfrm>
          <a:prstGeom prst="rect">
            <a:avLst/>
          </a:prstGeom>
          <a:solidFill>
            <a:srgbClr val="2A3FE0"/>
          </a:solidFill>
          <a:ln/>
        </p:spPr>
        <p:txBody>
          <a:bodyPr/>
          <a:lstStyle/>
          <a:p>
            <a:endParaRPr lang="es-419" noProof="0" dirty="0"/>
          </a:p>
        </p:txBody>
      </p:sp>
      <p:sp>
        <p:nvSpPr>
          <p:cNvPr id="7" name="Text 5"/>
          <p:cNvSpPr/>
          <p:nvPr/>
        </p:nvSpPr>
        <p:spPr>
          <a:xfrm>
            <a:off x="905256" y="1929384"/>
            <a:ext cx="3127248" cy="310896"/>
          </a:xfrm>
          <a:prstGeom prst="rect">
            <a:avLst/>
          </a:prstGeom>
          <a:noFill/>
          <a:ln/>
        </p:spPr>
        <p:txBody>
          <a:bodyPr wrap="square" lIns="0" tIns="0" rIns="0" bIns="0" rtlCol="0" anchor="ctr"/>
          <a:lstStyle/>
          <a:p>
            <a:pPr marL="0" indent="0">
              <a:buNone/>
            </a:pPr>
            <a:r>
              <a:rPr lang="es-419" sz="1250" b="1" kern="0" spc="100" noProof="0">
                <a:solidFill>
                  <a:srgbClr val="000000"/>
                </a:solidFill>
                <a:latin typeface="Roboto Condensed Medium" pitchFamily="34" charset="0"/>
                <a:ea typeface="Roboto Condensed Medium" pitchFamily="34" charset="-122"/>
                <a:cs typeface="Roboto Condensed Medium" pitchFamily="34" charset="-120"/>
              </a:rPr>
              <a:t>1 · VALOR OBSERVADO</a:t>
            </a:r>
            <a:endParaRPr lang="es-419" sz="1250" noProof="0" dirty="0"/>
          </a:p>
        </p:txBody>
      </p:sp>
      <p:sp>
        <p:nvSpPr>
          <p:cNvPr id="8" name="Text 6"/>
          <p:cNvSpPr/>
          <p:nvPr/>
        </p:nvSpPr>
        <p:spPr>
          <a:xfrm>
            <a:off x="905256" y="2350008"/>
            <a:ext cx="3127248" cy="237744"/>
          </a:xfrm>
          <a:prstGeom prst="rect">
            <a:avLst/>
          </a:prstGeom>
          <a:noFill/>
          <a:ln/>
        </p:spPr>
        <p:txBody>
          <a:bodyPr wrap="square" lIns="0" tIns="0" rIns="0" bIns="0" rtlCol="0" anchor="ctr"/>
          <a:lstStyle/>
          <a:p>
            <a:pPr marL="0" indent="0">
              <a:buNone/>
            </a:pPr>
            <a:r>
              <a:rPr lang="es-419" sz="880" b="1" kern="0" spc="100" noProof="0">
                <a:solidFill>
                  <a:srgbClr val="2A3FE0"/>
                </a:solidFill>
                <a:latin typeface="Roboto Condensed" pitchFamily="34" charset="0"/>
                <a:ea typeface="Roboto Condensed" pitchFamily="34" charset="-122"/>
                <a:cs typeface="Roboto Condensed" pitchFamily="34" charset="-120"/>
              </a:rPr>
              <a:t>PRODUCTIVIDAD</a:t>
            </a:r>
            <a:endParaRPr lang="es-419" sz="880" noProof="0" dirty="0"/>
          </a:p>
        </p:txBody>
      </p:sp>
      <p:sp>
        <p:nvSpPr>
          <p:cNvPr id="9" name="Text 7"/>
          <p:cNvSpPr/>
          <p:nvPr/>
        </p:nvSpPr>
        <p:spPr>
          <a:xfrm>
            <a:off x="905256" y="2569464"/>
            <a:ext cx="3127248" cy="624840"/>
          </a:xfrm>
          <a:prstGeom prst="rect">
            <a:avLst/>
          </a:prstGeom>
          <a:noFill/>
          <a:ln/>
        </p:spPr>
        <p:txBody>
          <a:bodyPr wrap="square" lIns="0" tIns="0" rIns="0" bIns="0" rtlCol="0" anchor="t"/>
          <a:lstStyle/>
          <a:p>
            <a:pPr marL="0" indent="0">
              <a:buNone/>
            </a:pPr>
            <a:r>
              <a:rPr lang="es-419" sz="900" noProof="0">
                <a:solidFill>
                  <a:srgbClr val="33373D"/>
                </a:solidFill>
                <a:latin typeface="Roboto Condensed" pitchFamily="34" charset="0"/>
                <a:ea typeface="Roboto Condensed" pitchFamily="34" charset="-122"/>
                <a:cs typeface="Roboto Condensed" pitchFamily="34" charset="-120"/>
              </a:rPr>
              <a:t>Reducción agregada estimada del 95,4 % frente al juicio experto: 50 horas estimadas ejecutadas en 2 horas y 18 minutos en 5 casos con medición completa.</a:t>
            </a:r>
            <a:endParaRPr lang="es-419" sz="900" noProof="0"/>
          </a:p>
        </p:txBody>
      </p:sp>
      <p:sp>
        <p:nvSpPr>
          <p:cNvPr id="10" name="Text 8"/>
          <p:cNvSpPr/>
          <p:nvPr/>
        </p:nvSpPr>
        <p:spPr>
          <a:xfrm>
            <a:off x="905256" y="3249168"/>
            <a:ext cx="3127248" cy="237744"/>
          </a:xfrm>
          <a:prstGeom prst="rect">
            <a:avLst/>
          </a:prstGeom>
          <a:noFill/>
          <a:ln/>
        </p:spPr>
        <p:txBody>
          <a:bodyPr wrap="square" lIns="0" tIns="0" rIns="0" bIns="0" rtlCol="0" anchor="ctr"/>
          <a:lstStyle/>
          <a:p>
            <a:pPr marL="0" indent="0">
              <a:buNone/>
            </a:pPr>
            <a:r>
              <a:rPr lang="es-419" sz="880" b="1" kern="0" spc="100" noProof="0">
                <a:solidFill>
                  <a:srgbClr val="2A3FE0"/>
                </a:solidFill>
                <a:latin typeface="Roboto Condensed" pitchFamily="34" charset="0"/>
                <a:ea typeface="Roboto Condensed" pitchFamily="34" charset="-122"/>
                <a:cs typeface="Roboto Condensed" pitchFamily="34" charset="-120"/>
              </a:rPr>
              <a:t>CALIDAD</a:t>
            </a:r>
            <a:endParaRPr lang="es-419" sz="880" noProof="0" dirty="0"/>
          </a:p>
        </p:txBody>
      </p:sp>
      <p:sp>
        <p:nvSpPr>
          <p:cNvPr id="11" name="Text 9"/>
          <p:cNvSpPr/>
          <p:nvPr/>
        </p:nvSpPr>
        <p:spPr>
          <a:xfrm>
            <a:off x="905256" y="3468624"/>
            <a:ext cx="3127248" cy="624840"/>
          </a:xfrm>
          <a:prstGeom prst="rect">
            <a:avLst/>
          </a:prstGeom>
          <a:noFill/>
          <a:ln/>
        </p:spPr>
        <p:txBody>
          <a:bodyPr wrap="square" lIns="0" tIns="0" rIns="0" bIns="0" rtlCol="0" anchor="t"/>
          <a:lstStyle/>
          <a:p>
            <a:pPr marL="0" indent="0">
              <a:buNone/>
            </a:pPr>
            <a:r>
              <a:rPr lang="es-419" sz="1050" noProof="0">
                <a:solidFill>
                  <a:srgbClr val="33373D"/>
                </a:solidFill>
                <a:latin typeface="Roboto Condensed" pitchFamily="34" charset="0"/>
                <a:ea typeface="Roboto Condensed" pitchFamily="34" charset="-122"/>
                <a:cs typeface="Roboto Condensed" pitchFamily="34" charset="-120"/>
              </a:rPr>
              <a:t>El código requirió pocas correcciones, la validación se completa con las pruebas funcionales pendientes.</a:t>
            </a:r>
            <a:endParaRPr lang="es-419" sz="1050" noProof="0" dirty="0"/>
          </a:p>
        </p:txBody>
      </p:sp>
      <p:sp>
        <p:nvSpPr>
          <p:cNvPr id="12" name="Text 10"/>
          <p:cNvSpPr/>
          <p:nvPr/>
        </p:nvSpPr>
        <p:spPr>
          <a:xfrm>
            <a:off x="905256" y="4148328"/>
            <a:ext cx="3127248" cy="237744"/>
          </a:xfrm>
          <a:prstGeom prst="rect">
            <a:avLst/>
          </a:prstGeom>
          <a:noFill/>
          <a:ln/>
        </p:spPr>
        <p:txBody>
          <a:bodyPr wrap="square" lIns="0" tIns="0" rIns="0" bIns="0" rtlCol="0" anchor="ctr"/>
          <a:lstStyle/>
          <a:p>
            <a:pPr marL="0" indent="0">
              <a:buNone/>
            </a:pPr>
            <a:r>
              <a:rPr lang="es-419" sz="880" b="1" kern="0" spc="100" noProof="0">
                <a:solidFill>
                  <a:srgbClr val="2A3FE0"/>
                </a:solidFill>
                <a:latin typeface="Roboto Condensed" pitchFamily="34" charset="0"/>
                <a:ea typeface="Roboto Condensed" pitchFamily="34" charset="-122"/>
                <a:cs typeface="Roboto Condensed" pitchFamily="34" charset="-120"/>
              </a:rPr>
              <a:t>EXPERIENCIA DEL DESARROLLADOR</a:t>
            </a:r>
            <a:endParaRPr lang="es-419" sz="880" noProof="0" dirty="0"/>
          </a:p>
        </p:txBody>
      </p:sp>
      <p:sp>
        <p:nvSpPr>
          <p:cNvPr id="13" name="Text 11"/>
          <p:cNvSpPr/>
          <p:nvPr/>
        </p:nvSpPr>
        <p:spPr>
          <a:xfrm>
            <a:off x="905256" y="4367784"/>
            <a:ext cx="3127248" cy="624840"/>
          </a:xfrm>
          <a:prstGeom prst="rect">
            <a:avLst/>
          </a:prstGeom>
          <a:noFill/>
          <a:ln/>
        </p:spPr>
        <p:txBody>
          <a:bodyPr wrap="square" lIns="0" tIns="0" rIns="0" bIns="0" rtlCol="0" anchor="t"/>
          <a:lstStyle/>
          <a:p>
            <a:pPr marL="0" indent="0">
              <a:buNone/>
            </a:pPr>
            <a:r>
              <a:rPr lang="es-419" sz="1050" noProof="0">
                <a:solidFill>
                  <a:srgbClr val="33373D"/>
                </a:solidFill>
                <a:latin typeface="Roboto Condensed" pitchFamily="34" charset="0"/>
                <a:ea typeface="Roboto Condensed" pitchFamily="34" charset="-122"/>
                <a:cs typeface="Roboto Condensed" pitchFamily="34" charset="-120"/>
              </a:rPr>
              <a:t>Los participantes percibieron una aceleración clara y menor esfuerzo para migrar a .NET 10.</a:t>
            </a:r>
            <a:endParaRPr lang="es-419" sz="1050" noProof="0" dirty="0"/>
          </a:p>
        </p:txBody>
      </p:sp>
      <p:sp>
        <p:nvSpPr>
          <p:cNvPr id="14" name="card">
            <a:extLst>
              <a:ext uri="{C183D7F6-B498-43B3-948B-1728B52AA6E4}">
                <adec:decorative xmlns:adec="http://schemas.microsoft.com/office/drawing/2017/decorative" val="1"/>
              </a:ext>
            </a:extLst>
          </p:cNvPr>
          <p:cNvSpPr/>
          <p:nvPr/>
        </p:nvSpPr>
        <p:spPr>
          <a:xfrm>
            <a:off x="4498848" y="1691640"/>
            <a:ext cx="3566160" cy="3429000"/>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15" name="top accent">
            <a:extLst>
              <a:ext uri="{C183D7F6-B498-43B3-948B-1728B52AA6E4}">
                <adec:decorative xmlns:adec="http://schemas.microsoft.com/office/drawing/2017/decorative" val="1"/>
              </a:ext>
            </a:extLst>
          </p:cNvPr>
          <p:cNvSpPr/>
          <p:nvPr/>
        </p:nvSpPr>
        <p:spPr>
          <a:xfrm>
            <a:off x="4498848" y="1691640"/>
            <a:ext cx="3566160" cy="91440"/>
          </a:xfrm>
          <a:prstGeom prst="rect">
            <a:avLst/>
          </a:prstGeom>
          <a:solidFill>
            <a:srgbClr val="2A3FE0"/>
          </a:solidFill>
          <a:ln/>
        </p:spPr>
        <p:txBody>
          <a:bodyPr/>
          <a:lstStyle/>
          <a:p>
            <a:endParaRPr lang="es-419" noProof="0" dirty="0"/>
          </a:p>
        </p:txBody>
      </p:sp>
      <p:sp>
        <p:nvSpPr>
          <p:cNvPr id="16" name="Text 14"/>
          <p:cNvSpPr/>
          <p:nvPr/>
        </p:nvSpPr>
        <p:spPr>
          <a:xfrm>
            <a:off x="4718304" y="1929384"/>
            <a:ext cx="3127248" cy="310896"/>
          </a:xfrm>
          <a:prstGeom prst="rect">
            <a:avLst/>
          </a:prstGeom>
          <a:noFill/>
          <a:ln/>
        </p:spPr>
        <p:txBody>
          <a:bodyPr wrap="square" lIns="0" tIns="0" rIns="0" bIns="0" rtlCol="0" anchor="ctr"/>
          <a:lstStyle/>
          <a:p>
            <a:pPr marL="0" indent="0">
              <a:buNone/>
            </a:pPr>
            <a:r>
              <a:rPr lang="es-419" sz="1250" b="1" kern="0" spc="100" noProof="0">
                <a:solidFill>
                  <a:srgbClr val="000000"/>
                </a:solidFill>
                <a:latin typeface="Roboto Condensed Medium" pitchFamily="34" charset="0"/>
                <a:ea typeface="Roboto Condensed Medium" pitchFamily="34" charset="-122"/>
                <a:cs typeface="Roboto Condensed Medium" pitchFamily="34" charset="-120"/>
              </a:rPr>
              <a:t>2 · CONSIDERACIONES</a:t>
            </a:r>
            <a:endParaRPr lang="es-419" sz="1250" noProof="0" dirty="0"/>
          </a:p>
        </p:txBody>
      </p:sp>
      <p:sp>
        <p:nvSpPr>
          <p:cNvPr id="17" name="Text 15"/>
          <p:cNvSpPr/>
          <p:nvPr/>
        </p:nvSpPr>
        <p:spPr>
          <a:xfrm>
            <a:off x="4718304" y="2350008"/>
            <a:ext cx="3127248" cy="237744"/>
          </a:xfrm>
          <a:prstGeom prst="rect">
            <a:avLst/>
          </a:prstGeom>
          <a:noFill/>
          <a:ln/>
        </p:spPr>
        <p:txBody>
          <a:bodyPr wrap="square" lIns="0" tIns="0" rIns="0" bIns="0" rtlCol="0" anchor="ctr"/>
          <a:lstStyle/>
          <a:p>
            <a:pPr marL="0" indent="0">
              <a:buNone/>
            </a:pPr>
            <a:r>
              <a:rPr lang="es-419" sz="880" b="1" kern="0" spc="100" noProof="0">
                <a:solidFill>
                  <a:srgbClr val="2A3FE0"/>
                </a:solidFill>
                <a:latin typeface="Roboto Condensed" pitchFamily="34" charset="0"/>
                <a:ea typeface="Roboto Condensed" pitchFamily="34" charset="-122"/>
                <a:cs typeface="Roboto Condensed" pitchFamily="34" charset="-120"/>
              </a:rPr>
              <a:t>CONSUMO</a:t>
            </a:r>
            <a:endParaRPr lang="es-419" sz="880" noProof="0" dirty="0"/>
          </a:p>
        </p:txBody>
      </p:sp>
      <p:sp>
        <p:nvSpPr>
          <p:cNvPr id="18" name="Text 16"/>
          <p:cNvSpPr/>
          <p:nvPr/>
        </p:nvSpPr>
        <p:spPr>
          <a:xfrm>
            <a:off x="4718304" y="2569464"/>
            <a:ext cx="3127248" cy="400050"/>
          </a:xfrm>
          <a:prstGeom prst="rect">
            <a:avLst/>
          </a:prstGeom>
          <a:noFill/>
          <a:ln/>
        </p:spPr>
        <p:txBody>
          <a:bodyPr wrap="square" lIns="0" tIns="0" rIns="0" bIns="0" rtlCol="0" anchor="t"/>
          <a:lstStyle/>
          <a:p>
            <a:pPr marL="0" indent="0">
              <a:buNone/>
            </a:pPr>
            <a:r>
              <a:rPr lang="es-419" sz="1050" noProof="0">
                <a:solidFill>
                  <a:srgbClr val="33373D"/>
                </a:solidFill>
                <a:latin typeface="Roboto Condensed" pitchFamily="34" charset="0"/>
                <a:ea typeface="Roboto Condensed" pitchFamily="34" charset="-122"/>
                <a:cs typeface="Roboto Condensed" pitchFamily="34" charset="-120"/>
              </a:rPr>
              <a:t>≈ 566 AI </a:t>
            </a:r>
            <a:r>
              <a:rPr lang="es-419" sz="1050" noProof="0" err="1">
                <a:solidFill>
                  <a:srgbClr val="33373D"/>
                </a:solidFill>
                <a:latin typeface="Roboto Condensed" pitchFamily="34" charset="0"/>
                <a:ea typeface="Roboto Condensed" pitchFamily="34" charset="-122"/>
                <a:cs typeface="Roboto Condensed" pitchFamily="34" charset="-120"/>
              </a:rPr>
              <a:t>Credits</a:t>
            </a:r>
            <a:r>
              <a:rPr lang="es-419" sz="1050" noProof="0">
                <a:solidFill>
                  <a:srgbClr val="33373D"/>
                </a:solidFill>
                <a:latin typeface="Roboto Condensed" pitchFamily="34" charset="0"/>
                <a:ea typeface="Roboto Condensed" pitchFamily="34" charset="-122"/>
                <a:cs typeface="Roboto Condensed" pitchFamily="34" charset="-120"/>
              </a:rPr>
              <a:t> por migración (29,8 % de 1.900; rango 20–50 %).</a:t>
            </a:r>
            <a:endParaRPr lang="es-419" sz="1050" noProof="0" dirty="0"/>
          </a:p>
        </p:txBody>
      </p:sp>
      <p:sp>
        <p:nvSpPr>
          <p:cNvPr id="19" name="Text 17"/>
          <p:cNvSpPr/>
          <p:nvPr/>
        </p:nvSpPr>
        <p:spPr>
          <a:xfrm>
            <a:off x="4718304" y="3024378"/>
            <a:ext cx="3127248" cy="237744"/>
          </a:xfrm>
          <a:prstGeom prst="rect">
            <a:avLst/>
          </a:prstGeom>
          <a:noFill/>
          <a:ln/>
        </p:spPr>
        <p:txBody>
          <a:bodyPr wrap="square" lIns="0" tIns="0" rIns="0" bIns="0" rtlCol="0" anchor="ctr"/>
          <a:lstStyle/>
          <a:p>
            <a:pPr marL="0" indent="0">
              <a:buNone/>
            </a:pPr>
            <a:r>
              <a:rPr lang="es-419" sz="880" b="1" kern="0" spc="100" noProof="0">
                <a:solidFill>
                  <a:srgbClr val="2A3FE0"/>
                </a:solidFill>
                <a:latin typeface="Roboto Condensed" pitchFamily="34" charset="0"/>
                <a:ea typeface="Roboto Condensed" pitchFamily="34" charset="-122"/>
                <a:cs typeface="Roboto Condensed" pitchFamily="34" charset="-120"/>
              </a:rPr>
              <a:t>COSTOS</a:t>
            </a:r>
            <a:endParaRPr lang="es-419" sz="880" noProof="0" dirty="0"/>
          </a:p>
        </p:txBody>
      </p:sp>
      <p:sp>
        <p:nvSpPr>
          <p:cNvPr id="20" name="Text 18"/>
          <p:cNvSpPr/>
          <p:nvPr/>
        </p:nvSpPr>
        <p:spPr>
          <a:xfrm>
            <a:off x="4718304" y="3243834"/>
            <a:ext cx="3127248" cy="400050"/>
          </a:xfrm>
          <a:prstGeom prst="rect">
            <a:avLst/>
          </a:prstGeom>
          <a:noFill/>
          <a:ln/>
        </p:spPr>
        <p:txBody>
          <a:bodyPr wrap="square" lIns="0" tIns="0" rIns="0" bIns="0" rtlCol="0" anchor="t"/>
          <a:lstStyle/>
          <a:p>
            <a:pPr marL="0" indent="0">
              <a:buNone/>
            </a:pPr>
            <a:r>
              <a:rPr lang="es-419" sz="1050" noProof="0">
                <a:solidFill>
                  <a:srgbClr val="33373D"/>
                </a:solidFill>
                <a:latin typeface="Roboto Condensed" pitchFamily="34" charset="0"/>
                <a:ea typeface="Roboto Condensed" pitchFamily="34" charset="-122"/>
                <a:cs typeface="Roboto Condensed" pitchFamily="34" charset="-120"/>
              </a:rPr>
              <a:t>70 licencias Business: USD 1.330/mes y USD 15.960/año.</a:t>
            </a:r>
            <a:endParaRPr lang="es-419" sz="1050" noProof="0" dirty="0"/>
          </a:p>
        </p:txBody>
      </p:sp>
      <p:sp>
        <p:nvSpPr>
          <p:cNvPr id="21" name="Text 19"/>
          <p:cNvSpPr/>
          <p:nvPr/>
        </p:nvSpPr>
        <p:spPr>
          <a:xfrm>
            <a:off x="4718304" y="3698748"/>
            <a:ext cx="3127248" cy="237744"/>
          </a:xfrm>
          <a:prstGeom prst="rect">
            <a:avLst/>
          </a:prstGeom>
          <a:noFill/>
          <a:ln/>
        </p:spPr>
        <p:txBody>
          <a:bodyPr wrap="square" lIns="0" tIns="0" rIns="0" bIns="0" rtlCol="0" anchor="ctr"/>
          <a:lstStyle/>
          <a:p>
            <a:pPr marL="0" indent="0">
              <a:buNone/>
            </a:pPr>
            <a:r>
              <a:rPr lang="es-419" sz="880" b="1" kern="0" spc="100" noProof="0">
                <a:solidFill>
                  <a:srgbClr val="2A3FE0"/>
                </a:solidFill>
                <a:latin typeface="Roboto Condensed" pitchFamily="34" charset="0"/>
                <a:ea typeface="Roboto Condensed" pitchFamily="34" charset="-122"/>
                <a:cs typeface="Roboto Condensed" pitchFamily="34" charset="-120"/>
              </a:rPr>
              <a:t>GOBIERNO</a:t>
            </a:r>
            <a:endParaRPr lang="es-419" sz="880" noProof="0" dirty="0"/>
          </a:p>
        </p:txBody>
      </p:sp>
      <p:sp>
        <p:nvSpPr>
          <p:cNvPr id="22" name="Text 20"/>
          <p:cNvSpPr/>
          <p:nvPr/>
        </p:nvSpPr>
        <p:spPr>
          <a:xfrm>
            <a:off x="4718304" y="3918204"/>
            <a:ext cx="3127248" cy="400050"/>
          </a:xfrm>
          <a:prstGeom prst="rect">
            <a:avLst/>
          </a:prstGeom>
          <a:noFill/>
          <a:ln/>
        </p:spPr>
        <p:txBody>
          <a:bodyPr wrap="square" lIns="0" tIns="0" rIns="0" bIns="0" rtlCol="0" anchor="t"/>
          <a:lstStyle/>
          <a:p>
            <a:pPr marL="0" indent="0">
              <a:buNone/>
            </a:pPr>
            <a:r>
              <a:rPr lang="es-419" sz="1050" noProof="0">
                <a:solidFill>
                  <a:srgbClr val="33373D"/>
                </a:solidFill>
                <a:latin typeface="Roboto Condensed" pitchFamily="34" charset="0"/>
                <a:ea typeface="Roboto Condensed" pitchFamily="34" charset="-122"/>
                <a:cs typeface="Roboto Condensed" pitchFamily="34" charset="-120"/>
              </a:rPr>
              <a:t>Presupuestos y límites configurables; SMT/Accesos e Ingeniería administran.</a:t>
            </a:r>
            <a:endParaRPr lang="es-419" sz="1050" noProof="0" dirty="0"/>
          </a:p>
        </p:txBody>
      </p:sp>
      <p:sp>
        <p:nvSpPr>
          <p:cNvPr id="23" name="Text 21"/>
          <p:cNvSpPr/>
          <p:nvPr/>
        </p:nvSpPr>
        <p:spPr>
          <a:xfrm>
            <a:off x="4718304" y="4373118"/>
            <a:ext cx="3127248" cy="237744"/>
          </a:xfrm>
          <a:prstGeom prst="rect">
            <a:avLst/>
          </a:prstGeom>
          <a:noFill/>
          <a:ln/>
        </p:spPr>
        <p:txBody>
          <a:bodyPr wrap="square" lIns="0" tIns="0" rIns="0" bIns="0" rtlCol="0" anchor="ctr"/>
          <a:lstStyle/>
          <a:p>
            <a:pPr marL="0" indent="0">
              <a:buNone/>
            </a:pPr>
            <a:r>
              <a:rPr lang="es-419" sz="880" b="1" kern="0" spc="100" noProof="0">
                <a:solidFill>
                  <a:srgbClr val="2A3FE0"/>
                </a:solidFill>
                <a:latin typeface="Roboto Condensed" pitchFamily="34" charset="0"/>
                <a:ea typeface="Roboto Condensed" pitchFamily="34" charset="-122"/>
                <a:cs typeface="Roboto Condensed" pitchFamily="34" charset="-120"/>
              </a:rPr>
              <a:t>SEGURIDAD</a:t>
            </a:r>
            <a:endParaRPr lang="es-419" sz="880" noProof="0" dirty="0"/>
          </a:p>
        </p:txBody>
      </p:sp>
      <p:sp>
        <p:nvSpPr>
          <p:cNvPr id="24" name="Text 22"/>
          <p:cNvSpPr/>
          <p:nvPr/>
        </p:nvSpPr>
        <p:spPr>
          <a:xfrm>
            <a:off x="4718304" y="4592574"/>
            <a:ext cx="3127248" cy="400050"/>
          </a:xfrm>
          <a:prstGeom prst="rect">
            <a:avLst/>
          </a:prstGeom>
          <a:noFill/>
          <a:ln/>
        </p:spPr>
        <p:txBody>
          <a:bodyPr wrap="square" lIns="0" tIns="0" rIns="0" bIns="0" rtlCol="0" anchor="t"/>
          <a:lstStyle/>
          <a:p>
            <a:pPr marL="0" indent="0">
              <a:buNone/>
            </a:pPr>
            <a:r>
              <a:rPr lang="es-419" sz="1050" noProof="0">
                <a:solidFill>
                  <a:srgbClr val="33373D"/>
                </a:solidFill>
                <a:latin typeface="Roboto Condensed" pitchFamily="34" charset="0"/>
                <a:ea typeface="Roboto Condensed" pitchFamily="34" charset="-122"/>
                <a:cs typeface="Roboto Condensed" pitchFamily="34" charset="-120"/>
              </a:rPr>
              <a:t>Sin hallazgos relevantes reportados por Veracode ni SonarCloud durante la etapa evaluada; pruebas funcionales pendientes.</a:t>
            </a:r>
            <a:endParaRPr lang="es-419" sz="1050" noProof="0" dirty="0"/>
          </a:p>
        </p:txBody>
      </p:sp>
      <p:sp>
        <p:nvSpPr>
          <p:cNvPr id="25" name="decision">
            <a:extLst>
              <a:ext uri="{C183D7F6-B498-43B3-948B-1728B52AA6E4}">
                <adec:decorative xmlns:adec="http://schemas.microsoft.com/office/drawing/2017/decorative" val="1"/>
              </a:ext>
            </a:extLst>
          </p:cNvPr>
          <p:cNvSpPr/>
          <p:nvPr/>
        </p:nvSpPr>
        <p:spPr>
          <a:xfrm>
            <a:off x="8311896" y="1691640"/>
            <a:ext cx="3493008" cy="3429000"/>
          </a:xfrm>
          <a:prstGeom prst="rect">
            <a:avLst/>
          </a:prstGeom>
          <a:solidFill>
            <a:srgbClr val="FFFFFF"/>
          </a:solidFill>
          <a:ln w="12700">
            <a:solidFill>
              <a:srgbClr val="E6E8EF"/>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60" name="accent top"/>
          <p:cNvSpPr/>
          <p:nvPr/>
        </p:nvSpPr>
        <p:spPr>
          <a:xfrm>
            <a:off x="8311896" y="1691640"/>
            <a:ext cx="3493008" cy="91440"/>
          </a:xfrm>
          <a:prstGeom prst="rect">
            <a:avLst/>
          </a:prstGeom>
          <a:solidFill>
            <a:srgbClr val="2A3FE0"/>
          </a:solidFill>
          <a:ln/>
        </p:spPr>
        <p:txBody>
          <a:bodyPr/>
          <a:lstStyle/>
          <a:p>
            <a:endParaRPr lang="es-419" noProof="0" dirty="0"/>
          </a:p>
        </p:txBody>
      </p:sp>
      <p:sp>
        <p:nvSpPr>
          <p:cNvPr id="26" name="Text 24"/>
          <p:cNvSpPr/>
          <p:nvPr/>
        </p:nvSpPr>
        <p:spPr>
          <a:xfrm>
            <a:off x="8531352" y="1911096"/>
            <a:ext cx="3054096" cy="292608"/>
          </a:xfrm>
          <a:prstGeom prst="rect">
            <a:avLst/>
          </a:prstGeom>
          <a:noFill/>
          <a:ln/>
        </p:spPr>
        <p:txBody>
          <a:bodyPr wrap="square" lIns="0" tIns="0" rIns="0" bIns="0" rtlCol="0" anchor="ctr"/>
          <a:lstStyle/>
          <a:p>
            <a:pPr marL="0" indent="0">
              <a:buNone/>
            </a:pPr>
            <a:r>
              <a:rPr lang="es-419" sz="1250" b="1" kern="0" spc="100" noProof="0">
                <a:solidFill>
                  <a:srgbClr val="2A3FE0"/>
                </a:solidFill>
                <a:latin typeface="Roboto Condensed Medium" pitchFamily="34" charset="0"/>
                <a:ea typeface="Roboto Condensed Medium" pitchFamily="34" charset="-122"/>
                <a:cs typeface="Roboto Condensed Medium" pitchFamily="34" charset="-120"/>
              </a:rPr>
              <a:t>3 · SIGUIENTE DECISIÓN</a:t>
            </a:r>
            <a:endParaRPr lang="es-419" sz="1250" noProof="0" dirty="0"/>
          </a:p>
        </p:txBody>
      </p:sp>
      <p:sp>
        <p:nvSpPr>
          <p:cNvPr id="27" name="step badge">
            <a:extLst>
              <a:ext uri="{C183D7F6-B498-43B3-948B-1728B52AA6E4}">
                <adec:decorative xmlns:adec="http://schemas.microsoft.com/office/drawing/2017/decorative" val="1"/>
              </a:ext>
            </a:extLst>
          </p:cNvPr>
          <p:cNvSpPr/>
          <p:nvPr/>
        </p:nvSpPr>
        <p:spPr>
          <a:xfrm>
            <a:off x="8549640" y="2340864"/>
            <a:ext cx="237744" cy="237744"/>
          </a:xfrm>
          <a:prstGeom prst="ellipse">
            <a:avLst/>
          </a:prstGeom>
          <a:solidFill>
            <a:srgbClr val="2A3FE0"/>
          </a:solidFill>
          <a:ln/>
        </p:spPr>
        <p:txBody>
          <a:bodyPr/>
          <a:lstStyle/>
          <a:p>
            <a:endParaRPr lang="es-419" noProof="0" dirty="0"/>
          </a:p>
        </p:txBody>
      </p:sp>
      <p:sp>
        <p:nvSpPr>
          <p:cNvPr id="28" name="Text 26"/>
          <p:cNvSpPr/>
          <p:nvPr/>
        </p:nvSpPr>
        <p:spPr>
          <a:xfrm>
            <a:off x="8549640" y="2340864"/>
            <a:ext cx="237744" cy="237744"/>
          </a:xfrm>
          <a:prstGeom prst="rect">
            <a:avLst/>
          </a:prstGeom>
          <a:noFill/>
          <a:ln/>
        </p:spPr>
        <p:txBody>
          <a:bodyPr wrap="square" lIns="0" tIns="0" rIns="0" bIns="0" rtlCol="0" anchor="ctr"/>
          <a:lstStyle/>
          <a:p>
            <a:pPr marL="0" indent="0" algn="ctr">
              <a:buNone/>
            </a:pPr>
            <a:r>
              <a:rPr lang="es-419" sz="1000" b="1" noProof="0">
                <a:solidFill>
                  <a:srgbClr val="FFFFFF"/>
                </a:solidFill>
                <a:latin typeface="Roboto Condensed Medium" pitchFamily="34" charset="0"/>
                <a:ea typeface="Roboto Condensed Medium" pitchFamily="34" charset="-122"/>
                <a:cs typeface="Roboto Condensed Medium" pitchFamily="34" charset="-120"/>
              </a:rPr>
              <a:t>1</a:t>
            </a:r>
            <a:endParaRPr lang="es-419" sz="1000" noProof="0" dirty="0"/>
          </a:p>
        </p:txBody>
      </p:sp>
      <p:sp>
        <p:nvSpPr>
          <p:cNvPr id="29" name="Text 27"/>
          <p:cNvSpPr/>
          <p:nvPr/>
        </p:nvSpPr>
        <p:spPr>
          <a:xfrm>
            <a:off x="8897112" y="2313432"/>
            <a:ext cx="2706624" cy="310896"/>
          </a:xfrm>
          <a:prstGeom prst="rect">
            <a:avLst/>
          </a:prstGeom>
          <a:noFill/>
          <a:ln/>
        </p:spPr>
        <p:txBody>
          <a:bodyPr wrap="square" lIns="0" tIns="0" rIns="0" bIns="0" rtlCol="0" anchor="ctr"/>
          <a:lstStyle/>
          <a:p>
            <a:pPr marL="0" indent="0" algn="l">
              <a:buNone/>
            </a:pPr>
            <a:r>
              <a:rPr lang="es-419" sz="1100" noProof="0">
                <a:solidFill>
                  <a:srgbClr val="33373D"/>
                </a:solidFill>
                <a:latin typeface="Roboto Condensed" pitchFamily="34" charset="0"/>
                <a:ea typeface="Roboto Condensed" pitchFamily="34" charset="-122"/>
                <a:cs typeface="Roboto Condensed" pitchFamily="34" charset="-120"/>
              </a:rPr>
              <a:t>Completar medición de PoC</a:t>
            </a:r>
            <a:endParaRPr lang="es-419" sz="1100" noProof="0" dirty="0"/>
          </a:p>
        </p:txBody>
      </p:sp>
      <p:sp>
        <p:nvSpPr>
          <p:cNvPr id="30" name="step badge">
            <a:extLst>
              <a:ext uri="{C183D7F6-B498-43B3-948B-1728B52AA6E4}">
                <adec:decorative xmlns:adec="http://schemas.microsoft.com/office/drawing/2017/decorative" val="1"/>
              </a:ext>
            </a:extLst>
          </p:cNvPr>
          <p:cNvSpPr/>
          <p:nvPr/>
        </p:nvSpPr>
        <p:spPr>
          <a:xfrm>
            <a:off x="8549640" y="2784348"/>
            <a:ext cx="237744" cy="237744"/>
          </a:xfrm>
          <a:prstGeom prst="ellipse">
            <a:avLst/>
          </a:prstGeom>
          <a:solidFill>
            <a:srgbClr val="2A3FE0"/>
          </a:solidFill>
          <a:ln/>
        </p:spPr>
        <p:txBody>
          <a:bodyPr/>
          <a:lstStyle/>
          <a:p>
            <a:endParaRPr lang="es-419" noProof="0" dirty="0"/>
          </a:p>
        </p:txBody>
      </p:sp>
      <p:sp>
        <p:nvSpPr>
          <p:cNvPr id="31" name="Text 29"/>
          <p:cNvSpPr/>
          <p:nvPr/>
        </p:nvSpPr>
        <p:spPr>
          <a:xfrm>
            <a:off x="8549640" y="2784348"/>
            <a:ext cx="237744" cy="237744"/>
          </a:xfrm>
          <a:prstGeom prst="rect">
            <a:avLst/>
          </a:prstGeom>
          <a:noFill/>
          <a:ln/>
        </p:spPr>
        <p:txBody>
          <a:bodyPr wrap="square" lIns="0" tIns="0" rIns="0" bIns="0" rtlCol="0" anchor="ctr"/>
          <a:lstStyle/>
          <a:p>
            <a:pPr marL="0" indent="0" algn="ctr">
              <a:buNone/>
            </a:pPr>
            <a:r>
              <a:rPr lang="es-419" sz="1000" b="1" noProof="0">
                <a:solidFill>
                  <a:srgbClr val="FFFFFF"/>
                </a:solidFill>
                <a:latin typeface="Roboto Condensed Medium" pitchFamily="34" charset="0"/>
                <a:ea typeface="Roboto Condensed Medium" pitchFamily="34" charset="-122"/>
                <a:cs typeface="Roboto Condensed Medium" pitchFamily="34" charset="-120"/>
              </a:rPr>
              <a:t>2</a:t>
            </a:r>
            <a:endParaRPr lang="es-419" sz="1000" noProof="0" dirty="0"/>
          </a:p>
        </p:txBody>
      </p:sp>
      <p:sp>
        <p:nvSpPr>
          <p:cNvPr id="32" name="Text 30"/>
          <p:cNvSpPr/>
          <p:nvPr/>
        </p:nvSpPr>
        <p:spPr>
          <a:xfrm>
            <a:off x="8897112" y="2756916"/>
            <a:ext cx="2706624" cy="310896"/>
          </a:xfrm>
          <a:prstGeom prst="rect">
            <a:avLst/>
          </a:prstGeom>
          <a:noFill/>
          <a:ln/>
        </p:spPr>
        <p:txBody>
          <a:bodyPr wrap="square" lIns="0" tIns="0" rIns="0" bIns="0" rtlCol="0" anchor="ctr"/>
          <a:lstStyle/>
          <a:p>
            <a:pPr marL="0" indent="0" algn="l">
              <a:buNone/>
            </a:pPr>
            <a:r>
              <a:rPr lang="es-419" sz="1100" noProof="0">
                <a:solidFill>
                  <a:srgbClr val="33373D"/>
                </a:solidFill>
                <a:latin typeface="Roboto Condensed" pitchFamily="34" charset="0"/>
                <a:ea typeface="Roboto Condensed" pitchFamily="34" charset="-122"/>
                <a:cs typeface="Roboto Condensed" pitchFamily="34" charset="-120"/>
              </a:rPr>
              <a:t>Validar consumo</a:t>
            </a:r>
            <a:endParaRPr lang="es-419" sz="1100" noProof="0" dirty="0"/>
          </a:p>
        </p:txBody>
      </p:sp>
      <p:sp>
        <p:nvSpPr>
          <p:cNvPr id="33" name="step badge">
            <a:extLst>
              <a:ext uri="{C183D7F6-B498-43B3-948B-1728B52AA6E4}">
                <adec:decorative xmlns:adec="http://schemas.microsoft.com/office/drawing/2017/decorative" val="1"/>
              </a:ext>
            </a:extLst>
          </p:cNvPr>
          <p:cNvSpPr/>
          <p:nvPr/>
        </p:nvSpPr>
        <p:spPr>
          <a:xfrm>
            <a:off x="8549640" y="3227832"/>
            <a:ext cx="237744" cy="237744"/>
          </a:xfrm>
          <a:prstGeom prst="ellipse">
            <a:avLst/>
          </a:prstGeom>
          <a:solidFill>
            <a:srgbClr val="2A3FE0"/>
          </a:solidFill>
          <a:ln/>
        </p:spPr>
        <p:txBody>
          <a:bodyPr/>
          <a:lstStyle/>
          <a:p>
            <a:endParaRPr lang="es-419" noProof="0" dirty="0"/>
          </a:p>
        </p:txBody>
      </p:sp>
      <p:sp>
        <p:nvSpPr>
          <p:cNvPr id="34" name="Text 32"/>
          <p:cNvSpPr/>
          <p:nvPr/>
        </p:nvSpPr>
        <p:spPr>
          <a:xfrm>
            <a:off x="8549640" y="3227832"/>
            <a:ext cx="237744" cy="237744"/>
          </a:xfrm>
          <a:prstGeom prst="rect">
            <a:avLst/>
          </a:prstGeom>
          <a:noFill/>
          <a:ln/>
        </p:spPr>
        <p:txBody>
          <a:bodyPr wrap="square" lIns="0" tIns="0" rIns="0" bIns="0" rtlCol="0" anchor="ctr"/>
          <a:lstStyle/>
          <a:p>
            <a:pPr marL="0" indent="0" algn="ctr">
              <a:buNone/>
            </a:pPr>
            <a:r>
              <a:rPr lang="es-419" sz="1000" b="1" noProof="0">
                <a:solidFill>
                  <a:srgbClr val="FFFFFF"/>
                </a:solidFill>
                <a:latin typeface="Roboto Condensed Medium" pitchFamily="34" charset="0"/>
                <a:ea typeface="Roboto Condensed Medium" pitchFamily="34" charset="-122"/>
                <a:cs typeface="Roboto Condensed Medium" pitchFamily="34" charset="-120"/>
              </a:rPr>
              <a:t>3</a:t>
            </a:r>
            <a:endParaRPr lang="es-419" sz="1000" noProof="0" dirty="0"/>
          </a:p>
        </p:txBody>
      </p:sp>
      <p:sp>
        <p:nvSpPr>
          <p:cNvPr id="35" name="Text 33"/>
          <p:cNvSpPr/>
          <p:nvPr/>
        </p:nvSpPr>
        <p:spPr>
          <a:xfrm>
            <a:off x="8897112" y="3200400"/>
            <a:ext cx="2706624" cy="310896"/>
          </a:xfrm>
          <a:prstGeom prst="rect">
            <a:avLst/>
          </a:prstGeom>
          <a:noFill/>
          <a:ln/>
        </p:spPr>
        <p:txBody>
          <a:bodyPr wrap="square" lIns="0" tIns="0" rIns="0" bIns="0" rtlCol="0" anchor="ctr"/>
          <a:lstStyle/>
          <a:p>
            <a:pPr marL="0" indent="0" algn="l">
              <a:buNone/>
            </a:pPr>
            <a:r>
              <a:rPr lang="es-419" sz="1100" noProof="0">
                <a:solidFill>
                  <a:srgbClr val="33373D"/>
                </a:solidFill>
                <a:latin typeface="Roboto Condensed" pitchFamily="34" charset="0"/>
                <a:ea typeface="Roboto Condensed" pitchFamily="34" charset="-122"/>
                <a:cs typeface="Roboto Condensed" pitchFamily="34" charset="-120"/>
              </a:rPr>
              <a:t>Definir gobierno y límites</a:t>
            </a:r>
            <a:endParaRPr lang="es-419" sz="1100" noProof="0" dirty="0"/>
          </a:p>
        </p:txBody>
      </p:sp>
      <p:sp>
        <p:nvSpPr>
          <p:cNvPr id="36" name="step badge">
            <a:extLst>
              <a:ext uri="{C183D7F6-B498-43B3-948B-1728B52AA6E4}">
                <adec:decorative xmlns:adec="http://schemas.microsoft.com/office/drawing/2017/decorative" val="1"/>
              </a:ext>
            </a:extLst>
          </p:cNvPr>
          <p:cNvSpPr/>
          <p:nvPr/>
        </p:nvSpPr>
        <p:spPr>
          <a:xfrm>
            <a:off x="8549640" y="3671316"/>
            <a:ext cx="237744" cy="237744"/>
          </a:xfrm>
          <a:prstGeom prst="ellipse">
            <a:avLst/>
          </a:prstGeom>
          <a:solidFill>
            <a:srgbClr val="2A3FE0"/>
          </a:solidFill>
          <a:ln/>
        </p:spPr>
        <p:txBody>
          <a:bodyPr/>
          <a:lstStyle/>
          <a:p>
            <a:endParaRPr lang="es-419" noProof="0" dirty="0"/>
          </a:p>
        </p:txBody>
      </p:sp>
      <p:sp>
        <p:nvSpPr>
          <p:cNvPr id="37" name="Text 35"/>
          <p:cNvSpPr/>
          <p:nvPr/>
        </p:nvSpPr>
        <p:spPr>
          <a:xfrm>
            <a:off x="8549640" y="3671316"/>
            <a:ext cx="237744" cy="237744"/>
          </a:xfrm>
          <a:prstGeom prst="rect">
            <a:avLst/>
          </a:prstGeom>
          <a:noFill/>
          <a:ln/>
        </p:spPr>
        <p:txBody>
          <a:bodyPr wrap="square" lIns="0" tIns="0" rIns="0" bIns="0" rtlCol="0" anchor="ctr"/>
          <a:lstStyle/>
          <a:p>
            <a:pPr marL="0" indent="0" algn="ctr">
              <a:buNone/>
            </a:pPr>
            <a:r>
              <a:rPr lang="es-419" sz="1000" b="1" noProof="0">
                <a:solidFill>
                  <a:srgbClr val="FFFFFF"/>
                </a:solidFill>
                <a:latin typeface="Roboto Condensed Medium" pitchFamily="34" charset="0"/>
                <a:ea typeface="Roboto Condensed Medium" pitchFamily="34" charset="-122"/>
                <a:cs typeface="Roboto Condensed Medium" pitchFamily="34" charset="-120"/>
              </a:rPr>
              <a:t>4</a:t>
            </a:r>
            <a:endParaRPr lang="es-419" sz="1000" noProof="0" dirty="0"/>
          </a:p>
        </p:txBody>
      </p:sp>
      <p:sp>
        <p:nvSpPr>
          <p:cNvPr id="38" name="Text 36"/>
          <p:cNvSpPr/>
          <p:nvPr/>
        </p:nvSpPr>
        <p:spPr>
          <a:xfrm>
            <a:off x="8897112" y="3643884"/>
            <a:ext cx="2706624" cy="310896"/>
          </a:xfrm>
          <a:prstGeom prst="rect">
            <a:avLst/>
          </a:prstGeom>
          <a:noFill/>
          <a:ln/>
        </p:spPr>
        <p:txBody>
          <a:bodyPr wrap="square" lIns="0" tIns="0" rIns="0" bIns="0" rtlCol="0" anchor="ctr"/>
          <a:lstStyle/>
          <a:p>
            <a:pPr marL="0" indent="0" algn="l">
              <a:buNone/>
            </a:pPr>
            <a:r>
              <a:rPr lang="es-419" sz="1100" noProof="0">
                <a:solidFill>
                  <a:srgbClr val="33373D"/>
                </a:solidFill>
                <a:latin typeface="Roboto Condensed" pitchFamily="34" charset="0"/>
                <a:ea typeface="Roboto Condensed" pitchFamily="34" charset="-122"/>
                <a:cs typeface="Roboto Condensed" pitchFamily="34" charset="-120"/>
              </a:rPr>
              <a:t>Alinear con responsables</a:t>
            </a:r>
            <a:endParaRPr lang="es-419" sz="1100" noProof="0" dirty="0"/>
          </a:p>
        </p:txBody>
      </p:sp>
      <p:sp>
        <p:nvSpPr>
          <p:cNvPr id="39" name="step badge">
            <a:extLst>
              <a:ext uri="{C183D7F6-B498-43B3-948B-1728B52AA6E4}">
                <adec:decorative xmlns:adec="http://schemas.microsoft.com/office/drawing/2017/decorative" val="1"/>
              </a:ext>
            </a:extLst>
          </p:cNvPr>
          <p:cNvSpPr/>
          <p:nvPr/>
        </p:nvSpPr>
        <p:spPr>
          <a:xfrm>
            <a:off x="8549640" y="4114800"/>
            <a:ext cx="237744" cy="237744"/>
          </a:xfrm>
          <a:prstGeom prst="ellipse">
            <a:avLst/>
          </a:prstGeom>
          <a:solidFill>
            <a:srgbClr val="2A3FE0"/>
          </a:solidFill>
          <a:ln/>
        </p:spPr>
        <p:txBody>
          <a:bodyPr/>
          <a:lstStyle/>
          <a:p>
            <a:endParaRPr lang="es-419" noProof="0" dirty="0"/>
          </a:p>
        </p:txBody>
      </p:sp>
      <p:sp>
        <p:nvSpPr>
          <p:cNvPr id="40" name="Text 38"/>
          <p:cNvSpPr/>
          <p:nvPr/>
        </p:nvSpPr>
        <p:spPr>
          <a:xfrm>
            <a:off x="8549640" y="4114800"/>
            <a:ext cx="237744" cy="237744"/>
          </a:xfrm>
          <a:prstGeom prst="rect">
            <a:avLst/>
          </a:prstGeom>
          <a:noFill/>
          <a:ln/>
        </p:spPr>
        <p:txBody>
          <a:bodyPr wrap="square" lIns="0" tIns="0" rIns="0" bIns="0" rtlCol="0" anchor="ctr"/>
          <a:lstStyle/>
          <a:p>
            <a:pPr marL="0" indent="0" algn="ctr">
              <a:buNone/>
            </a:pPr>
            <a:r>
              <a:rPr lang="es-419" sz="1000" b="1" noProof="0">
                <a:solidFill>
                  <a:srgbClr val="FFFFFF"/>
                </a:solidFill>
                <a:latin typeface="Roboto Condensed Medium" pitchFamily="34" charset="0"/>
                <a:ea typeface="Roboto Condensed Medium" pitchFamily="34" charset="-122"/>
                <a:cs typeface="Roboto Condensed Medium" pitchFamily="34" charset="-120"/>
              </a:rPr>
              <a:t>5</a:t>
            </a:r>
            <a:endParaRPr lang="es-419" sz="1000" noProof="0" dirty="0"/>
          </a:p>
        </p:txBody>
      </p:sp>
      <p:sp>
        <p:nvSpPr>
          <p:cNvPr id="41" name="Text 39"/>
          <p:cNvSpPr/>
          <p:nvPr/>
        </p:nvSpPr>
        <p:spPr>
          <a:xfrm>
            <a:off x="8897112" y="4087368"/>
            <a:ext cx="2706624" cy="310896"/>
          </a:xfrm>
          <a:prstGeom prst="rect">
            <a:avLst/>
          </a:prstGeom>
          <a:noFill/>
          <a:ln/>
        </p:spPr>
        <p:txBody>
          <a:bodyPr wrap="square" lIns="0" tIns="0" rIns="0" bIns="0" rtlCol="0" anchor="ctr"/>
          <a:lstStyle/>
          <a:p>
            <a:pPr marL="0" indent="0" algn="l">
              <a:buNone/>
            </a:pPr>
            <a:r>
              <a:rPr lang="es-419" sz="1100" noProof="0">
                <a:solidFill>
                  <a:srgbClr val="33373D"/>
                </a:solidFill>
                <a:latin typeface="Roboto Condensed" pitchFamily="34" charset="0"/>
                <a:ea typeface="Roboto Condensed" pitchFamily="34" charset="-122"/>
                <a:cs typeface="Roboto Condensed" pitchFamily="34" charset="-120"/>
              </a:rPr>
              <a:t>Determinar cantidad de licencias</a:t>
            </a:r>
            <a:endParaRPr lang="es-419" sz="1100" noProof="0" dirty="0"/>
          </a:p>
        </p:txBody>
      </p:sp>
      <p:sp>
        <p:nvSpPr>
          <p:cNvPr id="42" name="step badge">
            <a:extLst>
              <a:ext uri="{C183D7F6-B498-43B3-948B-1728B52AA6E4}">
                <adec:decorative xmlns:adec="http://schemas.microsoft.com/office/drawing/2017/decorative" val="1"/>
              </a:ext>
            </a:extLst>
          </p:cNvPr>
          <p:cNvSpPr/>
          <p:nvPr/>
        </p:nvSpPr>
        <p:spPr>
          <a:xfrm>
            <a:off x="8549640" y="4558284"/>
            <a:ext cx="237744" cy="237744"/>
          </a:xfrm>
          <a:prstGeom prst="ellipse">
            <a:avLst/>
          </a:prstGeom>
          <a:solidFill>
            <a:srgbClr val="2A3FE0"/>
          </a:solidFill>
          <a:ln/>
        </p:spPr>
        <p:txBody>
          <a:bodyPr/>
          <a:lstStyle/>
          <a:p>
            <a:endParaRPr lang="es-419" noProof="0" dirty="0"/>
          </a:p>
        </p:txBody>
      </p:sp>
      <p:sp>
        <p:nvSpPr>
          <p:cNvPr id="43" name="Text 41"/>
          <p:cNvSpPr/>
          <p:nvPr/>
        </p:nvSpPr>
        <p:spPr>
          <a:xfrm>
            <a:off x="8549640" y="4558284"/>
            <a:ext cx="237744" cy="237744"/>
          </a:xfrm>
          <a:prstGeom prst="rect">
            <a:avLst/>
          </a:prstGeom>
          <a:noFill/>
          <a:ln/>
        </p:spPr>
        <p:txBody>
          <a:bodyPr wrap="square" lIns="0" tIns="0" rIns="0" bIns="0" rtlCol="0" anchor="ctr"/>
          <a:lstStyle/>
          <a:p>
            <a:pPr marL="0" indent="0" algn="ctr">
              <a:buNone/>
            </a:pPr>
            <a:r>
              <a:rPr lang="es-419" sz="1000" b="1" noProof="0">
                <a:solidFill>
                  <a:srgbClr val="FFFFFF"/>
                </a:solidFill>
                <a:latin typeface="Roboto Condensed Medium" pitchFamily="34" charset="0"/>
                <a:ea typeface="Roboto Condensed Medium" pitchFamily="34" charset="-122"/>
                <a:cs typeface="Roboto Condensed Medium" pitchFamily="34" charset="-120"/>
              </a:rPr>
              <a:t>6</a:t>
            </a:r>
            <a:endParaRPr lang="es-419" sz="1000" noProof="0" dirty="0"/>
          </a:p>
        </p:txBody>
      </p:sp>
      <p:sp>
        <p:nvSpPr>
          <p:cNvPr id="44" name="Text 42"/>
          <p:cNvSpPr/>
          <p:nvPr/>
        </p:nvSpPr>
        <p:spPr>
          <a:xfrm>
            <a:off x="8897112" y="4530852"/>
            <a:ext cx="2706624" cy="310896"/>
          </a:xfrm>
          <a:prstGeom prst="rect">
            <a:avLst/>
          </a:prstGeom>
          <a:noFill/>
          <a:ln/>
        </p:spPr>
        <p:txBody>
          <a:bodyPr wrap="square" lIns="0" tIns="0" rIns="0" bIns="0" rtlCol="0" anchor="ctr"/>
          <a:lstStyle/>
          <a:p>
            <a:pPr marL="0" indent="0" algn="l">
              <a:buNone/>
            </a:pPr>
            <a:r>
              <a:rPr lang="es-419" sz="1100" b="1" noProof="0">
                <a:solidFill>
                  <a:srgbClr val="000000"/>
                </a:solidFill>
                <a:latin typeface="Roboto Condensed" pitchFamily="34" charset="0"/>
                <a:ea typeface="Roboto Condensed" pitchFamily="34" charset="-122"/>
                <a:cs typeface="Roboto Condensed" pitchFamily="34" charset="-120"/>
              </a:rPr>
              <a:t>Decidir escalamiento</a:t>
            </a:r>
            <a:endParaRPr lang="es-419" sz="1100" noProof="0" dirty="0"/>
          </a:p>
        </p:txBody>
      </p:sp>
      <p:sp>
        <p:nvSpPr>
          <p:cNvPr id="45" name="message">
            <a:extLst>
              <a:ext uri="{C183D7F6-B498-43B3-948B-1728B52AA6E4}">
                <adec:decorative xmlns:adec="http://schemas.microsoft.com/office/drawing/2017/decorative" val="1"/>
              </a:ext>
            </a:extLst>
          </p:cNvPr>
          <p:cNvSpPr/>
          <p:nvPr/>
        </p:nvSpPr>
        <p:spPr>
          <a:xfrm>
            <a:off x="685800" y="5349240"/>
            <a:ext cx="10817352" cy="841248"/>
          </a:xfrm>
          <a:prstGeom prst="rect">
            <a:avLst/>
          </a:prstGeom>
          <a:solidFill>
            <a:srgbClr val="2A3FE0"/>
          </a:solidFill>
          <a:ln w="12700">
            <a:solidFill>
              <a:srgbClr val="2A3FE0"/>
            </a:solidFill>
            <a:prstDash val="solid"/>
          </a:ln>
          <a:effectLst>
            <a:outerShdw blurRad="114300" dist="38100" dir="5400000" algn="bl" rotWithShape="0">
              <a:srgbClr val="5B6068">
                <a:alpha val="9000"/>
              </a:srgbClr>
            </a:outerShdw>
          </a:effectLst>
        </p:spPr>
        <p:txBody>
          <a:bodyPr/>
          <a:lstStyle/>
          <a:p>
            <a:endParaRPr lang="es-419" noProof="0" dirty="0"/>
          </a:p>
        </p:txBody>
      </p:sp>
      <p:sp>
        <p:nvSpPr>
          <p:cNvPr id="46" name="Text 44"/>
          <p:cNvSpPr/>
          <p:nvPr/>
        </p:nvSpPr>
        <p:spPr>
          <a:xfrm>
            <a:off x="1005840" y="5349240"/>
            <a:ext cx="10177272" cy="841248"/>
          </a:xfrm>
          <a:prstGeom prst="rect">
            <a:avLst/>
          </a:prstGeom>
          <a:noFill/>
          <a:ln/>
        </p:spPr>
        <p:txBody>
          <a:bodyPr wrap="square" lIns="0" tIns="0" rIns="0" bIns="0" rtlCol="0" anchor="ctr"/>
          <a:lstStyle/>
          <a:p>
            <a:pPr marL="0" indent="0" algn="ctr">
              <a:buNone/>
            </a:pPr>
            <a:r>
              <a:rPr lang="es-419" sz="1450" b="1" noProof="0">
                <a:solidFill>
                  <a:srgbClr val="FFFFFF"/>
                </a:solidFill>
                <a:latin typeface="Roboto Condensed Medium" pitchFamily="34" charset="0"/>
                <a:ea typeface="Roboto Condensed Medium" pitchFamily="34" charset="-122"/>
                <a:cs typeface="Roboto Condensed Medium" pitchFamily="34" charset="-120"/>
              </a:rPr>
              <a:t>La decisión de escalamiento debe considerar simultáneamente productividad, consumo, costo y capacidad de gobierno.</a:t>
            </a:r>
            <a:endParaRPr lang="es-419" sz="1450" noProof="0" dirty="0"/>
          </a:p>
        </p:txBody>
      </p:sp>
      <p:sp>
        <p:nvSpPr>
          <p:cNvPr id="47" name="Text 45"/>
          <p:cNvSpPr/>
          <p:nvPr/>
        </p:nvSpPr>
        <p:spPr>
          <a:xfrm>
            <a:off x="685800" y="6437376"/>
            <a:ext cx="8686800" cy="292608"/>
          </a:xfrm>
          <a:prstGeom prst="rect">
            <a:avLst/>
          </a:prstGeom>
          <a:noFill/>
          <a:ln/>
        </p:spPr>
        <p:txBody>
          <a:bodyPr wrap="square" lIns="0" tIns="0" rIns="0" bIns="0" rtlCol="0" anchor="ctr"/>
          <a:lstStyle/>
          <a:p>
            <a:pPr marL="0" indent="0" algn="l">
              <a:buNone/>
            </a:pPr>
            <a:r>
              <a:rPr lang="es-419" sz="850" b="1" noProof="0">
                <a:solidFill>
                  <a:srgbClr val="000000"/>
                </a:solidFill>
                <a:latin typeface="Roboto Condensed" pitchFamily="34" charset="0"/>
                <a:ea typeface="Roboto Condensed" pitchFamily="34" charset="-122"/>
                <a:cs typeface="Roboto Condensed" pitchFamily="34" charset="-120"/>
              </a:rPr>
              <a:t>Tuya</a:t>
            </a:r>
            <a:r>
              <a:rPr lang="es-419" sz="850" noProof="0">
                <a:solidFill>
                  <a:srgbClr val="5B6068"/>
                </a:solidFill>
                <a:latin typeface="Roboto Condensed" pitchFamily="34" charset="0"/>
                <a:ea typeface="Roboto Condensed" pitchFamily="34" charset="-122"/>
                <a:cs typeface="Roboto Condensed" pitchFamily="34" charset="-120"/>
              </a:rPr>
              <a:t>   ·   GitHub </a:t>
            </a:r>
            <a:r>
              <a:rPr lang="es-419" sz="850" noProof="0" err="1">
                <a:solidFill>
                  <a:srgbClr val="5B6068"/>
                </a:solidFill>
                <a:latin typeface="Roboto Condensed" pitchFamily="34" charset="0"/>
                <a:ea typeface="Roboto Condensed" pitchFamily="34" charset="-122"/>
                <a:cs typeface="Roboto Condensed" pitchFamily="34" charset="-120"/>
              </a:rPr>
              <a:t>Copilot</a:t>
            </a:r>
            <a:r>
              <a:rPr lang="es-419" sz="850" noProof="0">
                <a:solidFill>
                  <a:srgbClr val="5B6068"/>
                </a:solidFill>
                <a:latin typeface="Roboto Condensed" pitchFamily="34" charset="0"/>
                <a:ea typeface="Roboto Condensed" pitchFamily="34" charset="-122"/>
                <a:cs typeface="Roboto Condensed" pitchFamily="34" charset="-120"/>
              </a:rPr>
              <a:t> - Resultados de la Prueba de Concepto</a:t>
            </a:r>
            <a:endParaRPr lang="es-419" sz="850" noProof="0" dirty="0"/>
          </a:p>
        </p:txBody>
      </p:sp>
      <p:sp>
        <p:nvSpPr>
          <p:cNvPr id="48" name="Text 46"/>
          <p:cNvSpPr/>
          <p:nvPr/>
        </p:nvSpPr>
        <p:spPr>
          <a:xfrm>
            <a:off x="10972800" y="6437376"/>
            <a:ext cx="530352" cy="292608"/>
          </a:xfrm>
          <a:prstGeom prst="rect">
            <a:avLst/>
          </a:prstGeom>
          <a:noFill/>
          <a:ln/>
        </p:spPr>
        <p:txBody>
          <a:bodyPr wrap="square" lIns="0" tIns="0" rIns="0" bIns="0" rtlCol="0" anchor="ctr"/>
          <a:lstStyle/>
          <a:p>
            <a:pPr marL="0" indent="0" algn="r">
              <a:buNone/>
            </a:pPr>
            <a:r>
              <a:rPr lang="es-419" sz="900" b="1" noProof="0">
                <a:solidFill>
                  <a:srgbClr val="2A3FE0"/>
                </a:solidFill>
                <a:latin typeface="Roboto Condensed Medium" pitchFamily="34" charset="0"/>
                <a:ea typeface="Roboto Condensed Medium" pitchFamily="34" charset="-122"/>
                <a:cs typeface="Roboto Condensed Medium" pitchFamily="34" charset="-120"/>
              </a:rPr>
              <a:t>10</a:t>
            </a:r>
            <a:endParaRPr lang="es-419" sz="900" noProof="0" dirty="0"/>
          </a:p>
        </p:txBody>
      </p:sp>
      <p:pic>
        <p:nvPicPr>
          <p:cNvPr id="950" name="Logo Tuya"/>
          <p:cNvPicPr>
            <a:picLocks noChangeAspect="1"/>
          </p:cNvPicPr>
          <p:nvPr/>
        </p:nvPicPr>
        <p:blipFill>
          <a:blip r:embed="rId3"/>
          <a:stretch>
            <a:fillRect/>
          </a:stretch>
        </p:blipFill>
        <p:spPr>
          <a:xfrm>
            <a:off x="11152200" y="321276"/>
            <a:ext cx="640080" cy="320040"/>
          </a:xfrm>
          <a:prstGeom prst="rect">
            <a:avLst/>
          </a:prstGeom>
        </p:spPr>
      </p:pic>
    </p:spTree>
  </p:cSld>
  <p:clrMapOvr>
    <a:masterClrMapping/>
  </p:clrMapOvr>
</p:sld>
</file>

<file path=ppt/theme/theme1.xml><?xml version="1.0" encoding="utf-8"?>
<a:theme xmlns:a="http://schemas.openxmlformats.org/drawingml/2006/main" name="Office Theme">
  <a:themeElements>
    <a:clrScheme name="TUYA Colombia">
      <a:dk1>
        <a:sysClr val="windowText" lastClr="000000"/>
      </a:dk1>
      <a:lt1>
        <a:sysClr val="window" lastClr="FFFFFF"/>
      </a:lt1>
      <a:dk2>
        <a:srgbClr val="000000"/>
      </a:dk2>
      <a:lt2>
        <a:srgbClr val="F5F6FA"/>
      </a:lt2>
      <a:accent1>
        <a:srgbClr val="2A3FE0"/>
      </a:accent1>
      <a:accent2>
        <a:srgbClr val="000000"/>
      </a:accent2>
      <a:accent3>
        <a:srgbClr val="7A7A7A"/>
      </a:accent3>
      <a:accent4>
        <a:srgbClr val="77C3CD"/>
      </a:accent4>
      <a:accent5>
        <a:srgbClr val="9CCB49"/>
      </a:accent5>
      <a:accent6>
        <a:srgbClr val="C9E4DC"/>
      </a:accent6>
      <a:hlink>
        <a:srgbClr val="2A3FE0"/>
      </a:hlink>
      <a:folHlink>
        <a:srgbClr val="1E2FB5"/>
      </a:folHlink>
    </a:clrScheme>
    <a:fontScheme name="Office">
      <a:majorFont>
        <a:latin typeface="Roboto Condensed Medium"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Roboto Condensed"/>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oboto Condensed" panose="020F0502020204030204"/>
        <a:ea typeface=""/>
        <a:cs typeface=""/>
        <a:font script="Jpan" typeface="游ゴシック"/>
        <a:font script="Hang" typeface="맑은 고딕"/>
        <a:font script="Hans" typeface="等线"/>
        <a:font script="Hant" typeface="新細明體"/>
        <a:font script="Arab" typeface="Roboto Condensed"/>
        <a:font script="Hebr" typeface="Roboto Condensed"/>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Roboto Condensed"/>
        <a:font script="Uigh" typeface="Microsoft Uighur"/>
        <a:font script="Geor" typeface="Sylfaen"/>
        <a:font script="Armn" typeface="Roboto Condensed"/>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TUYA Colombia">
      <a:dk1>
        <a:sysClr val="windowText" lastClr="000000"/>
      </a:dk1>
      <a:lt1>
        <a:sysClr val="window" lastClr="FFFFFF"/>
      </a:lt1>
      <a:dk2>
        <a:srgbClr val="000000"/>
      </a:dk2>
      <a:lt2>
        <a:srgbClr val="F5F6FA"/>
      </a:lt2>
      <a:accent1>
        <a:srgbClr val="2A3FE0"/>
      </a:accent1>
      <a:accent2>
        <a:srgbClr val="000000"/>
      </a:accent2>
      <a:accent3>
        <a:srgbClr val="7A7A7A"/>
      </a:accent3>
      <a:accent4>
        <a:srgbClr val="77C3CD"/>
      </a:accent4>
      <a:accent5>
        <a:srgbClr val="9CCB49"/>
      </a:accent5>
      <a:accent6>
        <a:srgbClr val="C9E4DC"/>
      </a:accent6>
      <a:hlink>
        <a:srgbClr val="2A3FE0"/>
      </a:hlink>
      <a:folHlink>
        <a:srgbClr val="1E2FB5"/>
      </a:folHlink>
    </a:clrScheme>
    <a:fontScheme name="Office">
      <a:majorFont>
        <a:latin typeface="Roboto Condensed Medium"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Roboto Condensed"/>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oboto Condensed" panose="020F0502020204030204"/>
        <a:ea typeface=""/>
        <a:cs typeface=""/>
        <a:font script="Jpan" typeface="游ゴシック"/>
        <a:font script="Hang" typeface="맑은 고딕"/>
        <a:font script="Hans" typeface="等线"/>
        <a:font script="Hant" typeface="新細明體"/>
        <a:font script="Arab" typeface="Roboto Condensed"/>
        <a:font script="Hebr" typeface="Roboto Condensed"/>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Roboto Condensed"/>
        <a:font script="Uigh" typeface="Microsoft Uighur"/>
        <a:font script="Geor" typeface="Sylfaen"/>
        <a:font script="Armn" typeface="Roboto Condensed"/>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501</TotalTime>
  <Words>1944</Words>
  <Application>Microsoft Office PowerPoint</Application>
  <PresentationFormat>Panorámica</PresentationFormat>
  <Paragraphs>243</Paragraphs>
  <Slides>10</Slides>
  <Notes>10</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10</vt:i4>
      </vt:variant>
    </vt:vector>
  </HeadingPairs>
  <TitlesOfParts>
    <vt:vector size="13" baseType="lpstr">
      <vt:lpstr>Roboto Condensed</vt:lpstr>
      <vt:lpstr>Roboto Condensed Medium</vt:lpstr>
      <vt:lpstr>Office Theme</vt:lpstr>
      <vt:lpstr>GitHub Copilot Resultados de la Prueba de Concepto</vt:lpstr>
      <vt:lpstr>Qué evaluamos y bajo qué condiciones</vt:lpstr>
      <vt:lpstr>Cómo evaluamos el impacto de GitHub Copilot</vt:lpstr>
      <vt:lpstr>Qué resultados obtuvimos</vt:lpstr>
      <vt:lpstr>Cuánto consumimos y cómo se factura hoy</vt:lpstr>
      <vt:lpstr>Inversión base para 70 desarrolladores</vt:lpstr>
      <vt:lpstr>Punto de equilibrio de la inversión</vt:lpstr>
      <vt:lpstr>Cómo se puede gobernar y controlar el consumo</vt:lpstr>
      <vt:lpstr>Cómo se administra Copilot de forma central</vt:lpstr>
      <vt:lpstr>Qué observamos y qué falta decidir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Ricardo Andres Leyva</dc:creator>
  <cp:lastModifiedBy>Ricardo Andres Leyva</cp:lastModifiedBy>
  <cp:revision>11</cp:revision>
  <dcterms:created xsi:type="dcterms:W3CDTF">2026-07-21T13:52:08Z</dcterms:created>
  <dcterms:modified xsi:type="dcterms:W3CDTF">2026-07-27T13:34:16Z</dcterms:modified>
</cp:coreProperties>
</file>