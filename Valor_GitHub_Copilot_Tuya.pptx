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62" r:id="rId3"/>
    <p:sldId id="258" r:id="rId4"/>
    <p:sldId id="266" r:id="rId5"/>
    <p:sldId id="261" r:id="rId6"/>
    <p:sldId id="267" r:id="rId7"/>
    <p:sldId id="270" r:id="rId8"/>
    <p:sldId id="260" r:id="rId9"/>
    <p:sldId id="273" r:id="rId10"/>
    <p:sldId id="259" r:id="rId11"/>
    <p:sldId id="269" r:id="rId12"/>
    <p:sldId id="268" r:id="rId13"/>
    <p:sldId id="265" r:id="rId14"/>
    <p:sldId id="274" r:id="rId15"/>
    <p:sldId id="275" r:id="rId16"/>
  </p:sldIdLst>
  <p:sldSz cx="12192000" cy="6858000"/>
  <p:notesSz cx="6858000" cy="9144000"/>
  <p:defaultTextStyle>
    <a:defPPr>
      <a:defRPr lang="es-419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6813" autoAdjust="0"/>
  </p:normalViewPr>
  <p:slideViewPr>
    <p:cSldViewPr snapToGrid="0">
      <p:cViewPr varScale="1">
        <p:scale>
          <a:sx n="73" d="100"/>
          <a:sy n="73" d="100"/>
        </p:scale>
        <p:origin x="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419" dirty="0"/>
              <a:t>~1 min · Apertura</a:t>
            </a:r>
            <a:endParaRPr dirty="0"/>
          </a:p>
          <a:p>
            <a:endParaRPr dirty="0"/>
          </a:p>
          <a:p>
            <a:r>
              <a:rPr lang="es-419"/>
              <a:t>Hoy no venimos a hablar de cuantas horas ahorra GitHub Copilot, sino de que puede hacer cada equipo con la capacidad que Copilot genera.</a:t>
            </a:r>
          </a:p>
          <a:p>
            <a:endParaRPr dirty="0"/>
          </a:p>
          <a:p>
            <a:r>
              <a:rPr lang="es-419"/>
              <a:t>La pregunta que guia la sesion: como convertimos capacidad tecnica en resultados medibles para el negocio.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419"/>
              <a:t>~2 min · Lo que Copilot ya demostró en la PoC</a:t>
            </a:r>
          </a:p>
          <a:p>
            <a:endParaRPr/>
          </a:p>
          <a:p>
            <a:r>
              <a:rPr lang="es-419"/>
              <a:t>Arrancamos con evidencia interna. En la prueba de concepto de migración, la estimación construida mediante juicio experto era de 50 horas y la ejecución con Copilot tomó 2 horas y 18 minutos: una diferencia de 47 horas y 42 minutos, </a:t>
            </a:r>
            <a:r>
              <a:rPr lang="es-ES"/>
              <a:t>equivalente a una reducción estimada del esfuerzo del 95,4 %.</a:t>
            </a:r>
          </a:p>
          <a:p>
            <a:endParaRPr lang="es-ES"/>
          </a:p>
          <a:p>
            <a:r>
              <a:rPr lang="es-ES"/>
              <a:t>Conviene </a:t>
            </a:r>
            <a:r>
              <a:rPr lang="es-419"/>
              <a:t>decirlo con precisión: esto es capacidad técnica potencialmente liberada frente a una estimación, no ROI ni ahorro financiero. Nadie dejó de pagar 47 horas.</a:t>
            </a:r>
          </a:p>
          <a:p>
            <a:endParaRPr/>
          </a:p>
          <a:p>
            <a:r>
              <a:rPr lang="es-419"/>
              <a:t>Los datos de soporte dan contexto: cinco casos con medición completa, todos terminaron el flujo entre 15 y 35 minutos, y las estimaciones previas iban de 2 a 24 horas</a:t>
            </a:r>
            <a:r>
              <a:rPr lang="es-ES"/>
              <a:t>. Los casos cubrieron aplicaciones desde .NET Core 3.1 y versiones intermedias hasta .NET 8, migrando hacia .NET 10, aplicando los estándares y prácticas de desarrollo de Tuya. El código generado requirió pocas correcciones en la etapa evaluada.</a:t>
            </a:r>
          </a:p>
          <a:p>
            <a:endParaRPr lang="es-ES"/>
          </a:p>
          <a:p>
            <a:r>
              <a:rPr lang="es-ES"/>
              <a:t>La nota metodológica es parte del mensaje: comparamos contra juicio experto</a:t>
            </a:r>
            <a:r>
              <a:rPr lang="es-419"/>
              <a:t>, no hubo migraciones manuales paralelas como grupo de control y las pruebas funcionales estaban pendientes al cerrar la medición.</a:t>
            </a:r>
          </a:p>
          <a:p>
            <a:endParaRPr/>
          </a:p>
          <a:p>
            <a:r>
              <a:rPr lang="es-419"/>
              <a:t>Cierre de la lámina: la PoC demostró capacidad técnica. La conversación de hoy es qué hacemos con esa capacidad y qué resultado produce.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419"/>
              <a:t>~2 min · Productividad no es ROI</a:t>
            </a:r>
          </a:p>
          <a:p>
            <a:endParaRPr/>
          </a:p>
          <a:p>
            <a:r>
              <a:rPr lang="es-419"/>
              <a:t>La lámina anterior mostró capacidad. Aquí decimos lo siguiente con claridad: capacidad no significa automáticamente valor económico.</a:t>
            </a:r>
          </a:p>
          <a:p>
            <a:endParaRPr lang="es-419"/>
          </a:p>
          <a:p>
            <a:r>
              <a:rPr lang="es-419"/>
              <a:t>La productividad técnica responde a si cambió la forma de trabajar y se mide con esfuerzo, tiempo, entregas y capacidad. La valida el equipo técnico y su líder, y demuestra que existe capacidad adicional.</a:t>
            </a:r>
          </a:p>
          <a:p>
            <a:endParaRPr lang="es-419"/>
          </a:p>
          <a:p>
            <a:r>
              <a:rPr lang="es-419"/>
              <a:t>El valor para el negocio responde a qué resultado produjo utilizar esa capacidad y se observa en costo, resultado del producto, time-to-market, pérdida evitada y, cuando corresponda, ingreso o margen. Lo validan Product Owner, Negocio y Finanzas, con Talento Humano cuando el caso toca habilidades o workforce planning.</a:t>
            </a:r>
          </a:p>
          <a:p>
            <a:endParaRPr/>
          </a:p>
          <a:p>
            <a:r>
              <a:rPr lang="es-419"/>
              <a:t>La idea que debe quedar fija: las horas liberadas son capacidad y solo se convierten en ahorro cuando permiten reducir o evitar un costo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~2 min · Cómo la capacidad técnica se convierte en valor</a:t>
            </a:r>
          </a:p>
          <a:p>
            <a:endParaRPr lang="es-ES"/>
          </a:p>
          <a:p>
            <a:r>
              <a:rPr lang="es-ES"/>
              <a:t>Copilot participa en generar capacidad, pero no decide cómo se convierte en valor. Esa decisión es del equipo y del negocio.</a:t>
            </a:r>
          </a:p>
          <a:p>
            <a:endParaRPr lang="es-ES"/>
          </a:p>
          <a:p>
            <a:r>
              <a:rPr lang="es-ES"/>
              <a:t>Primero aparece la capacidad: Copilot apoya actividades de desarrollo, baja el esfuerzo, el tiempo de ciclo y el reproceso, y eso libera tiempo y foco.</a:t>
            </a:r>
          </a:p>
          <a:p>
            <a:endParaRPr lang="es-ES"/>
          </a:p>
          <a:p>
            <a:r>
              <a:rPr lang="es-ES"/>
              <a:t>Después, el equipo y el Product Owner deciden dónde utilizarla: priorizar trabajo adicional, adelantar una iniciativa o absorber trabajo hoy externo. Observamos qué cambió (más entregas, menor costo, menor time-to-market) y validamos qué cambió realmente: un costo reducido o evitado, trabajo adicional, un beneficio adelantado o una pérdida evitada.</a:t>
            </a:r>
          </a:p>
          <a:p>
            <a:endParaRPr lang="es-ES"/>
          </a:p>
          <a:p>
            <a:r>
              <a:rPr lang="es-ES"/>
              <a:t>Insistir aquí: la capacidad no genera valor por sí sola.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419"/>
              <a:t>~2 min · Qué podemos medir hoy</a:t>
            </a:r>
          </a:p>
          <a:p>
            <a:endParaRPr/>
          </a:p>
          <a:p>
            <a:r>
              <a:rPr lang="es-419"/>
              <a:t>Los repositorios no están hoy en GitHub y la telemetría de Copilot es limitada, pero eso no bloquea el ejercicio. Copilot es la intervención; la evidencia del resultado vive en otras partes de la organización.</a:t>
            </a:r>
          </a:p>
          <a:p>
            <a:endParaRPr lang="es-CO"/>
          </a:p>
          <a:p>
            <a:r>
              <a:rPr lang="es-419"/>
              <a:t>Tecnología aporta herramientas de gestión, releases, defectos, incidentes, tiempo de ciclo y retrabajo. Producto aporta backlog, funcionalidades, adopción, transacciones, </a:t>
            </a:r>
            <a:r>
              <a:rPr lang="es-ES"/>
              <a:t>KPI del producto y time-to-market.</a:t>
            </a:r>
          </a:p>
          <a:p>
            <a:endParaRPr lang="es-ES"/>
          </a:p>
          <a:p>
            <a:r>
              <a:rPr lang="es-ES"/>
              <a:t>Finanzas aporta </a:t>
            </a:r>
            <a:r>
              <a:rPr lang="es-419"/>
              <a:t>contratos, facturación de proveedores, presupuesto, costos operacionales y capacidad externa contratada. </a:t>
            </a:r>
            <a:r>
              <a:rPr lang="es-ES"/>
              <a:t>Talento Humano aporta onboarding, desarrollo de habilidades, reskilling, movilidad, evolución de roles y workforce planning.</a:t>
            </a:r>
          </a:p>
          <a:p>
            <a:endParaRPr lang="es-ES"/>
          </a:p>
          <a:p>
            <a:r>
              <a:rPr lang="es-ES"/>
              <a:t>La invitación es simple: identificar qué datos ya existen antes de pedir datos nuevos.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~2 min · Cuatro mecanismos de valor</a:t>
            </a:r>
          </a:p>
          <a:p>
            <a:endParaRPr lang="es-ES"/>
          </a:p>
          <a:p>
            <a:r>
              <a:rPr lang="es-ES"/>
              <a:t>Hay cuatro formas de convertir capacidad en resultado y cada equipo elige la que mejor representa su realidad; no necesita usar las cuatro.</a:t>
            </a:r>
          </a:p>
          <a:p>
            <a:endParaRPr lang="es-ES"/>
          </a:p>
          <a:p>
            <a:r>
              <a:rPr lang="es-ES"/>
              <a:t>Lo mismo con menos es mantener resultado, alcance y nivel de servicio con menor costo total o evitando capacidad externa adicional: terceros, contratos, costo evitado. No hablamos de reducir desarrolladores internos. La pregunta es qué costo dejamos realmente de tener o evitamos.</a:t>
            </a:r>
          </a:p>
          <a:p>
            <a:endParaRPr lang="es-ES"/>
          </a:p>
          <a:p>
            <a:r>
              <a:rPr lang="es-ES"/>
              <a:t>Más con lo mismo es que la misma estructura entregue más: más iniciativas, más funcionalidades, más backlog atendido. La pregunta es qué podemos hacer adicionalmente con la misma estructura.</a:t>
            </a:r>
          </a:p>
          <a:p>
            <a:endParaRPr lang="es-ES"/>
          </a:p>
          <a:p>
            <a:r>
              <a:rPr lang="es-ES"/>
              <a:t>Valor antes es que el resultado o beneficio ocurra antes; la pregunta es cuánto adelantamos la captura de valor. Menos pérdida y riesgo es reducir defectos, incidentes, reprocesos, fallas e interrupciones; la pregunta es qué pérdida o costo evitamos.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419"/>
              <a:t>~2 min · Cómo lo podemos medir</a:t>
            </a:r>
          </a:p>
          <a:p>
            <a:endParaRPr/>
          </a:p>
          <a:p>
            <a:r>
              <a:rPr lang="es-419"/>
              <a:t>No necesitamos telemetría perfecta, pero sí disciplina. Definimos un baseline con período de referencia y trabajo comparable, formulamos una hipótesis concreta y usamos Copilot en trabajo cotidiano, no solo en actividades extraordinarias.</a:t>
            </a:r>
          </a:p>
          <a:p>
            <a:endParaRPr/>
          </a:p>
          <a:p>
            <a:r>
              <a:rPr lang="es-419"/>
              <a:t>En la observación comparamos velocidad, calidad, estabilidad y retrabajo, porque una mejora local no sirve si traslada el problema a pruebas, revisión o soporte.</a:t>
            </a:r>
          </a:p>
          <a:p>
            <a:endParaRPr lang="es-ES"/>
          </a:p>
          <a:p>
            <a:r>
              <a:rPr lang="es-ES"/>
              <a:t>El paso 05, destino, está resaltado a propósito: qué hicimos con la capacidad generada. Ahí es donde entra directamente el Product Owner. No basta con demostrar que algo terminó más rápido; hay que decir explícitamente si eso redujo un costo, permitió trabajo adicional, adelantó una entrega o evitó reprocesos.</a:t>
            </a:r>
          </a:p>
          <a:p>
            <a:endParaRPr lang="es-ES"/>
          </a:p>
          <a:p>
            <a:r>
              <a:rPr lang="es-ES"/>
              <a:t>Y el paso 06 conecta esa decisión con un resultado operativo o de negocio observable, siempre con la condición de comparabilidad: mismo tipo de trabajo, equipo relativamente estable y período definido.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419"/>
              <a:t>~2 min · Ejemplos de captura de valor, parte 1</a:t>
            </a:r>
          </a:p>
          <a:p>
            <a:endParaRPr lang="es-ES"/>
          </a:p>
          <a:p>
            <a:r>
              <a:rPr lang="es-ES"/>
              <a:t>Estos son ejemplos ilustrativos, no resultados medidos en Tuya. Sirven para que cada equipo reconozca cuál cadena se parece a su realidad.</a:t>
            </a:r>
          </a:p>
          <a:p>
            <a:endParaRPr lang="es-ES"/>
          </a:p>
          <a:p>
            <a:r>
              <a:rPr lang="es-ES"/>
              <a:t>Lo mismo con menos: Copilot genera mayor capacidad interna, el equipo absorbe parte de una actividad hoy tercerizada, disminuye la capacidad externa requerida y aparece un menor costo operacional. Solo cuenta si mantenemos alcance, calidad y nivel de servicio. La pregunta es qué dejamos realmente de gastar.</a:t>
            </a:r>
          </a:p>
          <a:p>
            <a:endParaRPr lang="es-ES"/>
          </a:p>
          <a:p>
            <a:r>
              <a:rPr lang="es-ES"/>
              <a:t>Más </a:t>
            </a:r>
            <a:r>
              <a:rPr lang="es-419"/>
              <a:t>con lo mismo: aparece capacidad liberada, el Product Owner prioriza trabajo adicional, el mismo equipo entrega una iniciativa adicional y se afecta un KPI del producto o del negocio</a:t>
            </a:r>
            <a:r>
              <a:rPr lang="es-ES"/>
              <a:t>. La pregunta es qué hacemos ahora que antes no cabía.</a:t>
            </a:r>
          </a:p>
          <a:p>
            <a:endParaRPr lang="es-ES"/>
          </a:p>
          <a:p>
            <a:r>
              <a:rPr lang="es-ES"/>
              <a:t>Nótese quién decide en ambos casos: el mecanismo cambia según la decisión, no según la herramienta</a:t>
            </a:r>
            <a:r>
              <a:rPr lang="es-419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419"/>
              <a:t>~2 min · Ejemplos de captura de valor, parte 2</a:t>
            </a:r>
          </a:p>
          <a:p>
            <a:endParaRPr/>
          </a:p>
          <a:p>
            <a:r>
              <a:rPr lang="es-419"/>
              <a:t>Seguimos con ejemplos ilustrativos; no representan resultados medidos en Tuya.</a:t>
            </a:r>
          </a:p>
          <a:p>
            <a:endParaRPr/>
          </a:p>
          <a:p>
            <a:r>
              <a:rPr lang="es-419"/>
              <a:t>Valor antes: Copilot reduce el tiempo de ciclo técnico, la iniciativa llega antes a producción, el beneficio comienza antes y capturamos valor adelantado. Es el mismo beneficio, no uno adicional. La pregunta es qué beneficio capturamos antes.</a:t>
            </a:r>
          </a:p>
          <a:p>
            <a:endParaRPr/>
          </a:p>
          <a:p>
            <a:r>
              <a:rPr lang="es-419"/>
              <a:t>Menos pérdida o riesgo: Copilot apoya pruebas, revisión o debugging, hay menos defectos y reprocesos, menos incidentes y esfuerzo correctivo, y con eso menor pérdida operacional. La pregunta es qué pérdida evitamos.</a:t>
            </a:r>
          </a:p>
          <a:p>
            <a:endParaRPr/>
          </a:p>
          <a:p>
            <a:r>
              <a:rPr lang="es-419"/>
              <a:t>Con las cuatro cadenas completas, cada equipo debe reconocer cuál describe mejor su realidad antes de pasar al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419"/>
              <a:t>~2 min · Responsabilidades</a:t>
            </a:r>
          </a:p>
          <a:p>
            <a:endParaRPr/>
          </a:p>
          <a:p>
            <a:r>
              <a:rPr lang="es-ES"/>
              <a:t>El caso no lo construye Tecnología sola. El líder técnico conoce dónde se consume capacidad, cómo se distribuye el trabajo, la complejidad, los cuellos de botella, las métricas técnicas y los guardrails de calidad.</a:t>
            </a:r>
          </a:p>
          <a:p>
            <a:endParaRPr lang="es-ES"/>
          </a:p>
          <a:p>
            <a:r>
              <a:rPr lang="es-ES"/>
              <a:t>El Product Owner tiene un papel central: decide dónde reinvertir la capacidad, ajusta backlog y prioridades, y define qué KPI del producto y qué resultado esperamos afectar.</a:t>
            </a:r>
          </a:p>
          <a:p>
            <a:endParaRPr lang="es-ES"/>
          </a:p>
          <a:p>
            <a:r>
              <a:rPr lang="es-ES"/>
              <a:t>Talento Humano acompaña adopción, habilidades, onboarding, reskilling, movilidad, evolución de roles y workforce planning. Finanzas valida costo real, costos evitados, inversión, impacto financiero y el beneficio. Liderazgo prioriza, valida supuestos, decide la inversión y determina si el caso justifica presupuesto.</a:t>
            </a:r>
          </a:p>
          <a:p>
            <a:endParaRPr/>
          </a:p>
          <a:p>
            <a:r>
              <a:rPr lang="es-419"/>
              <a:t>Cada rol valida una parte del caso y ninguno puede construirlo por sí solo; el Product Owner tampoco es responsable único.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~2 min · Canvas de valor</a:t>
            </a:r>
          </a:p>
          <a:p>
            <a:endParaRPr lang="es-ES"/>
          </a:p>
          <a:p>
            <a:r>
              <a:rPr lang="es-ES"/>
              <a:t>Este es el ejercicio central de la sesión.</a:t>
            </a:r>
          </a:p>
          <a:p>
            <a:endParaRPr lang="es-ES"/>
          </a:p>
          <a:p>
            <a:r>
              <a:rPr lang="es-ES"/>
              <a:t>Para demostrar el cambio: dónde consume capacidad hoy el equipo, dónde puede Copilot generar una mejora, qué debería cambiar si realmente funciona y cómo podemos observar ese cambio. Y qué debe mantenerse estable: calidad, incidentes, alcance y nivel de servicio.</a:t>
            </a:r>
          </a:p>
          <a:p>
            <a:endParaRPr lang="es-ES"/>
          </a:p>
          <a:p>
            <a:r>
              <a:rPr lang="es-ES"/>
              <a:t>La pregunta destacada ordena toda la sesión: qué haríamos realmente con la capacidad adicional. Si demostramos capacidad pero no sabemos qué haríamos con ella, todavía no hay caso de valor.</a:t>
            </a:r>
          </a:p>
          <a:p>
            <a:endParaRPr lang="es-ES"/>
          </a:p>
          <a:p>
            <a:r>
              <a:rPr lang="es-ES"/>
              <a:t>Para demostrar el valor: la decisión sobre el destino de la capacidad, el KPI de negocio que podría cambiar, la traducción a menor costo, más resultado, valor adelantado o menor pérdida, y quién valida el dato.</a:t>
            </a:r>
          </a:p>
          <a:p>
            <a:endParaRPr lang="es-ES"/>
          </a:p>
          <a:p>
            <a:r>
              <a:rPr lang="es-ES"/>
              <a:t>Toda hipótesis debe terminar definiendo baseline, objetivo, indicador, guardrail, período de medición, fuente del dato y responsable.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~2 min · Resultado esperado de la sesión</a:t>
            </a:r>
          </a:p>
          <a:p>
            <a:endParaRPr lang="es-ES"/>
          </a:p>
          <a:p>
            <a:r>
              <a:rPr lang="es-419"/>
              <a:t>No esperamos que el equipo demuestre hoy un ROI que todavía no ha observado. Esperamos una o dos hipótesis de valor por equipo, concretas y medibles.</a:t>
            </a:r>
          </a:p>
          <a:p>
            <a:endParaRPr lang="es-CO"/>
          </a:p>
          <a:p>
            <a:r>
              <a:rPr lang="es-419"/>
              <a:t>La ficha se llena en dos frentes. Para demostrar el cambio: hipótesis, baseline, indicador, guardrail, objetivo y período. Para demostrar el valor: destino de la capacidad, KPI de negocio, fuente y responsable.</a:t>
            </a:r>
          </a:p>
          <a:p>
            <a:endParaRPr lang="es-CO"/>
          </a:p>
          <a:p>
            <a:r>
              <a:rPr lang="es-419"/>
              <a:t>El primer frente prueba que algo cambió sin deteriorar otra cosa; el segundo prueba que ese cambio produjo un resultado que el negocio reconoce.</a:t>
            </a:r>
          </a:p>
          <a:p>
            <a:endParaRPr lang="es-ES"/>
          </a:p>
          <a:p>
            <a:r>
              <a:rPr lang="es-ES"/>
              <a:t>Cada equipo debe salir con </a:t>
            </a:r>
            <a:r>
              <a:rPr lang="es-419"/>
              <a:t>una o dos hipótesis suficientemente concretas para medirlas después.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419"/>
              <a:t>~2 min · Del caso a la decisión</a:t>
            </a:r>
          </a:p>
          <a:p>
            <a:endParaRPr/>
          </a:p>
          <a:p>
            <a:r>
              <a:rPr lang="es-ES"/>
              <a:t>Todo el ejercicio aterriza aquí: si el valor esperado justifica la inversión.</a:t>
            </a:r>
          </a:p>
          <a:p>
            <a:endParaRPr lang="es-ES"/>
          </a:p>
          <a:p>
            <a:r>
              <a:rPr lang="es-ES"/>
              <a:t>Comparamos el valor esperado de la hipótesis contra el costo de inversión —las licencias de GitHub Copilot que requiere el equipo— y sobre esa comparación se toma la decisión de presupuesto, validada entre líder técnico, Product Owner y Finanzas.</a:t>
            </a:r>
          </a:p>
          <a:p>
            <a:endParaRPr lang="es-ES"/>
          </a:p>
          <a:p>
            <a:r>
              <a:rPr lang="es-ES"/>
              <a:t>El ejemplo es ilustrativo y no representa valores ni resultados de Tuya: si el equipo puede absorber parte de una actividad hoy tercerizada, el baseline es el costo y la capacidad contratados, el indicador es el alcance y el gasto real, el guardrail es mantener alcance, calidad y nivel de servicio, y el resultado buscado es disminuir el costo o la capacidad externa requerida sin perder resultados.</a:t>
            </a:r>
          </a:p>
          <a:p>
            <a:endParaRPr lang="es-ES"/>
          </a:p>
          <a:p>
            <a:r>
              <a:rPr lang="es-ES"/>
              <a:t>Cierre</a:t>
            </a:r>
            <a:r>
              <a:rPr lang="es-419"/>
              <a:t>: el presupuesto se sustenta comparando una inversión real con una hipótesis de valor medible. La continuidad de la inversión se sustenta después con evidencia observada.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07EB1B0-9209-4743-A5FD-8504D5188A2F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685800" y="658368"/>
            <a:ext cx="10789920" cy="822960"/>
          </a:xfrm>
          <a:prstGeom prst="rect">
            <a:avLst/>
          </a:prstGeom>
          <a:noFill/>
        </p:spPr>
        <p:txBody>
          <a:bodyPr wrap="square"/>
          <a:lstStyle>
            <a:lvl1pPr marL="0" indent="0">
              <a:buNone/>
              <a:defRPr/>
            </a:lvl1pPr>
          </a:lstStyle>
          <a:p>
            <a:pPr marL="0" indent="0"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119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DA7C326-F063-4B6C-AAAF-5C8667C1C18F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777240" y="2331720"/>
            <a:ext cx="7680960" cy="1737360"/>
          </a:xfrm>
          <a:prstGeom prst="rect">
            <a:avLst/>
          </a:prstGeom>
          <a:noFill/>
        </p:spPr>
        <p:txBody>
          <a:bodyPr wrap="square"/>
          <a:lstStyle>
            <a:lvl1pPr marL="0" indent="0">
              <a:buNone/>
              <a:defRPr/>
            </a:lvl1pPr>
          </a:lstStyle>
          <a:p>
            <a:pPr marL="0" indent="0"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1C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94A7FF53-E78D-4830-9BA8-B8E75FBE78D3}"/>
              </a:ext>
            </a:extLst>
          </p:cNvPr>
          <p:cNvSpPr>
            <a:spLocks noGrp="1"/>
          </p:cNvSpPr>
          <p:nvPr/>
        </p:nvSpPr>
        <p:spPr>
          <a:xfrm>
            <a:off x="822960" y="1847088"/>
            <a:ext cx="73152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1250" b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TECNOLOGÍA Y NEGOCIO  ·  2026</a:t>
            </a:r>
            <a:endParaRPr sz="1250" b="1">
              <a:solidFill>
                <a:srgbClr val="FFFFFF"/>
              </a:solidFill>
              <a:latin typeface="Trebuchet MS"/>
              <a:ea typeface="Trebuchet MS"/>
              <a:cs typeface="Trebuchet MS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5D9BD458-659F-4214-9D81-FF6E9AA3F414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777240" y="2331720"/>
            <a:ext cx="7680960" cy="1737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3100" b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De la productividad</a:t>
            </a:r>
          </a:p>
          <a:p>
            <a:pPr marL="0" indent="0" algn="l">
              <a:buNone/>
            </a:pPr>
            <a:r>
              <a:rPr lang="en-US" sz="3100" b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al valor</a:t>
            </a:r>
            <a:endParaRPr sz="3100" b="1">
              <a:solidFill>
                <a:srgbClr val="FFFFFF"/>
              </a:solidFill>
              <a:latin typeface="Trebuchet MS"/>
              <a:ea typeface="Trebuchet MS"/>
              <a:cs typeface="Trebuchet MS"/>
            </a:endParaRPr>
          </a:p>
        </p:txBody>
      </p:sp>
      <p:sp>
        <p:nvSpPr>
          <p:cNvPr id="6" name="accent">
            <a:extLst>
              <a:ext uri="{FF2B5EF4-FFF2-40B4-BE49-F238E27FC236}">
                <a16:creationId xmlns:a16="http://schemas.microsoft.com/office/drawing/2014/main" id="{0734481B-9832-426D-830A-FBB69D420518}"/>
              </a:ext>
            </a:extLst>
          </p:cNvPr>
          <p:cNvSpPr>
            <a:spLocks noGrp="1"/>
          </p:cNvSpPr>
          <p:nvPr/>
        </p:nvSpPr>
        <p:spPr>
          <a:xfrm>
            <a:off x="822960" y="4224528"/>
            <a:ext cx="1051560" cy="54864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78C9822-7C11-461A-B4C7-8C0A464B37B4}"/>
              </a:ext>
            </a:extLst>
          </p:cNvPr>
          <p:cNvSpPr>
            <a:spLocks noGrp="1"/>
          </p:cNvSpPr>
          <p:nvPr/>
        </p:nvSpPr>
        <p:spPr>
          <a:xfrm>
            <a:off x="804672" y="4407408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1550">
                <a:solidFill>
                  <a:srgbClr val="E7E2DF"/>
                </a:solidFill>
                <a:latin typeface="Calibri"/>
                <a:ea typeface="Calibri"/>
                <a:cs typeface="Calibri"/>
              </a:rPr>
              <a:t>Cómo medir el impacto de GitHub Copilot</a:t>
            </a:r>
            <a:endParaRPr sz="1550">
              <a:solidFill>
                <a:srgbClr val="E7E2D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3730261-8883-470D-936E-A3EE4308BDF4}"/>
              </a:ext>
            </a:extLst>
          </p:cNvPr>
          <p:cNvSpPr>
            <a:spLocks noGrp="1"/>
          </p:cNvSpPr>
          <p:nvPr/>
        </p:nvSpPr>
        <p:spPr>
          <a:xfrm>
            <a:off x="804672" y="513892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Tuya      Sesión ejecutiva      Tecnología y Negocio</a:t>
            </a:r>
            <a:endParaRPr sz="125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FDE7B6D-7954-4AF2-89FA-15912E1E9C50}"/>
              </a:ext>
            </a:extLst>
          </p:cNvPr>
          <p:cNvSpPr>
            <a:spLocks noGrp="1"/>
          </p:cNvSpPr>
          <p:nvPr/>
        </p:nvSpPr>
        <p:spPr>
          <a:xfrm>
            <a:off x="8778240" y="6272784"/>
            <a:ext cx="28803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9A928C"/>
                </a:solidFill>
                <a:latin typeface="Trebuchet MS"/>
                <a:ea typeface="Trebuchet MS"/>
                <a:cs typeface="Trebuchet MS"/>
              </a:rPr>
              <a:t>Copilot  ·  Valor</a:t>
            </a:r>
            <a:endParaRPr sz="1000" b="1">
              <a:solidFill>
                <a:srgbClr val="9A928C"/>
              </a:solidFill>
              <a:latin typeface="Trebuchet MS"/>
              <a:ea typeface="Trebuchet MS"/>
              <a:cs typeface="Trebuchet MS"/>
            </a:endParaRPr>
          </a:p>
        </p:txBody>
      </p:sp>
      <p:sp>
        <p:nvSpPr>
          <p:cNvPr id="20" name="Logo Card">
            <a:extLst>
              <a:ext uri="{FF2B5EF4-FFF2-40B4-BE49-F238E27FC236}">
                <a16:creationId xmlns:a16="http://schemas.microsoft.com/office/drawing/2014/main" id="{20EA5C85-926F-40D8-9F8F-441A18E914B8}"/>
              </a:ext>
            </a:extLst>
          </p:cNvPr>
          <p:cNvSpPr>
            <a:spLocks noGrp="1"/>
          </p:cNvSpPr>
          <p:nvPr/>
        </p:nvSpPr>
        <p:spPr>
          <a:xfrm>
            <a:off x="822960" y="470000"/>
            <a:ext cx="24384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29" name="Imagen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60" y="660080"/>
            <a:ext cx="1800000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984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101"/>
          <p:cNvSpPr/>
          <p:nvPr/>
        </p:nvSpPr>
        <p:spPr>
          <a:xfrm>
            <a:off x="658368" y="384048"/>
            <a:ext cx="146304" cy="14630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02" name="tb102"/>
          <p:cNvSpPr txBox="1"/>
          <p:nvPr/>
        </p:nvSpPr>
        <p:spPr>
          <a:xfrm>
            <a:off x="914400" y="36576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 spc="50">
                <a:solidFill>
                  <a:srgbClr val="ED1C29"/>
                </a:solidFill>
              </a:rPr>
              <a:t>EVIDENCIA INTERNA · PRUEBA DE CONCEPTO</a:t>
            </a:r>
          </a:p>
        </p:txBody>
      </p:sp>
      <p:sp>
        <p:nvSpPr>
          <p:cNvPr id="103" name="tb103"/>
          <p:cNvSpPr txBox="1"/>
          <p:nvPr/>
        </p:nvSpPr>
        <p:spPr>
          <a:xfrm>
            <a:off x="658368" y="713232"/>
            <a:ext cx="9326880" cy="56692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3000" b="1" i="0">
                <a:solidFill>
                  <a:srgbClr val="211915"/>
                </a:solidFill>
              </a:rPr>
              <a:t>Lo que Copilot ya demostró en la PoC</a:t>
            </a:r>
          </a:p>
        </p:txBody>
      </p:sp>
      <p:sp>
        <p:nvSpPr>
          <p:cNvPr id="104" name="tb104"/>
          <p:cNvSpPr txBox="1"/>
          <p:nvPr/>
        </p:nvSpPr>
        <p:spPr>
          <a:xfrm>
            <a:off x="658368" y="1316736"/>
            <a:ext cx="9692640" cy="3840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350" b="0" i="0">
                <a:solidFill>
                  <a:srgbClr val="7A7A7A"/>
                </a:solidFill>
              </a:rPr>
              <a:t>La migración permitió comprobar que Copilot puede liberar una capacidad técnica significativa.</a:t>
            </a:r>
          </a:p>
        </p:txBody>
      </p:sp>
      <p:sp>
        <p:nvSpPr>
          <p:cNvPr id="105" name="tb105"/>
          <p:cNvSpPr txBox="1"/>
          <p:nvPr/>
        </p:nvSpPr>
        <p:spPr>
          <a:xfrm>
            <a:off x="658368" y="6272784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211915"/>
                </a:solidFill>
              </a:rPr>
              <a:t>Tuya   ·   Del valor de GitHub Copilot</a:t>
            </a:r>
          </a:p>
        </p:txBody>
      </p:sp>
      <p:sp>
        <p:nvSpPr>
          <p:cNvPr id="106" name="tb106"/>
          <p:cNvSpPr txBox="1"/>
          <p:nvPr/>
        </p:nvSpPr>
        <p:spPr>
          <a:xfrm>
            <a:off x="10433304" y="6272784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ED1C29"/>
                </a:solidFill>
              </a:rPr>
              <a:t>02</a:t>
            </a:r>
          </a:p>
        </p:txBody>
      </p:sp>
      <p:pic>
        <p:nvPicPr>
          <p:cNvPr id="900" name="Logo Tuy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2200" y="321276"/>
            <a:ext cx="640080" cy="320040"/>
          </a:xfrm>
          <a:prstGeom prst="rect">
            <a:avLst/>
          </a:prstGeom>
        </p:spPr>
      </p:pic>
      <p:sp>
        <p:nvSpPr>
          <p:cNvPr id="107" name="sh107"/>
          <p:cNvSpPr/>
          <p:nvPr/>
        </p:nvSpPr>
        <p:spPr>
          <a:xfrm>
            <a:off x="658368" y="1847088"/>
            <a:ext cx="4114800" cy="1783080"/>
          </a:xfrm>
          <a:prstGeom prst="rect">
            <a:avLst/>
          </a:prstGeom>
          <a:noFill/>
          <a:ln w="12700">
            <a:solidFill>
              <a:srgbClr val="E3E0DE"/>
            </a:solidFill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08" name="tb108"/>
          <p:cNvSpPr txBox="1"/>
          <p:nvPr/>
        </p:nvSpPr>
        <p:spPr>
          <a:xfrm>
            <a:off x="658368" y="2167128"/>
            <a:ext cx="4114800" cy="658368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4000" b="1" i="0">
                <a:solidFill>
                  <a:srgbClr val="211915"/>
                </a:solidFill>
              </a:rPr>
              <a:t>50 h</a:t>
            </a:r>
          </a:p>
        </p:txBody>
      </p:sp>
      <p:sp>
        <p:nvSpPr>
          <p:cNvPr id="109" name="tb109"/>
          <p:cNvSpPr txBox="1"/>
          <p:nvPr/>
        </p:nvSpPr>
        <p:spPr>
          <a:xfrm>
            <a:off x="658368" y="2971800"/>
            <a:ext cx="4114800" cy="457200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200" b="1" i="0">
                <a:solidFill>
                  <a:srgbClr val="211915"/>
                </a:solidFill>
              </a:rPr>
              <a:t>Estimación sin Copilot</a:t>
            </a: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lang="es-ES" sz="1000" b="0" i="0">
                <a:solidFill>
                  <a:srgbClr val="7A7A7A"/>
                </a:solidFill>
              </a:rPr>
              <a:t>Juicio experto</a:t>
            </a:r>
          </a:p>
        </p:txBody>
      </p:sp>
      <p:sp>
        <p:nvSpPr>
          <p:cNvPr id="110" name="sh110"/>
          <p:cNvSpPr/>
          <p:nvPr/>
        </p:nvSpPr>
        <p:spPr>
          <a:xfrm>
            <a:off x="4956048" y="1847088"/>
            <a:ext cx="6574536" cy="1783080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11" name="tb111"/>
          <p:cNvSpPr txBox="1"/>
          <p:nvPr/>
        </p:nvSpPr>
        <p:spPr>
          <a:xfrm>
            <a:off x="4956048" y="2121408"/>
            <a:ext cx="6574536" cy="850392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5400" b="1" i="0">
                <a:solidFill>
                  <a:srgbClr val="FFFFFF"/>
                </a:solidFill>
              </a:rPr>
              <a:t>2 h 18 min</a:t>
            </a:r>
          </a:p>
        </p:txBody>
      </p:sp>
      <p:sp>
        <p:nvSpPr>
          <p:cNvPr id="112" name="tb112"/>
          <p:cNvSpPr txBox="1"/>
          <p:nvPr/>
        </p:nvSpPr>
        <p:spPr>
          <a:xfrm>
            <a:off x="4956048" y="2971800"/>
            <a:ext cx="6574536" cy="457200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200" b="1" i="0">
                <a:solidFill>
                  <a:srgbClr val="FFFFFF"/>
                </a:solidFill>
              </a:rPr>
              <a:t>Ejecución con Copilot</a:t>
            </a: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lang="es-ES" sz="1000" b="0" i="0">
                <a:solidFill>
                  <a:srgbClr val="FBD3D5"/>
                </a:solidFill>
              </a:rPr>
              <a:t>Tiempo real observado</a:t>
            </a:r>
          </a:p>
        </p:txBody>
      </p:sp>
      <p:sp>
        <p:nvSpPr>
          <p:cNvPr id="113" name="sh113"/>
          <p:cNvSpPr/>
          <p:nvPr/>
        </p:nvSpPr>
        <p:spPr>
          <a:xfrm>
            <a:off x="658368" y="3794760"/>
            <a:ext cx="5120640" cy="914400"/>
          </a:xfrm>
          <a:prstGeom prst="rect">
            <a:avLst/>
          </a:prstGeom>
          <a:solidFill>
            <a:srgbClr val="211915"/>
          </a:solidFill>
          <a:ln>
            <a:noFill/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14" name="tb114"/>
          <p:cNvSpPr txBox="1"/>
          <p:nvPr/>
        </p:nvSpPr>
        <p:spPr>
          <a:xfrm>
            <a:off x="658368" y="3886200"/>
            <a:ext cx="5120640" cy="411480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 lnSpcReduction="10000"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3000" b="1" i="0">
                <a:solidFill>
                  <a:srgbClr val="FFFFFF"/>
                </a:solidFill>
              </a:rPr>
              <a:t>95,4 %</a:t>
            </a:r>
          </a:p>
        </p:txBody>
      </p:sp>
      <p:sp>
        <p:nvSpPr>
          <p:cNvPr id="115" name="tb115"/>
          <p:cNvSpPr txBox="1"/>
          <p:nvPr/>
        </p:nvSpPr>
        <p:spPr>
          <a:xfrm>
            <a:off x="658368" y="4297680"/>
            <a:ext cx="5120640" cy="365760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100" b="1" i="0">
                <a:solidFill>
                  <a:srgbClr val="FFFFFF"/>
                </a:solidFill>
              </a:rPr>
              <a:t>Reducción estimada del esfuerzo</a:t>
            </a: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lang="es-ES" sz="900" b="0" i="0">
                <a:solidFill>
                  <a:srgbClr val="BFB9B6"/>
                </a:solidFill>
              </a:rPr>
              <a:t>Diferencia de 47 h 42 min frente a la estimación</a:t>
            </a:r>
          </a:p>
        </p:txBody>
      </p:sp>
      <p:sp>
        <p:nvSpPr>
          <p:cNvPr id="116" name="sh116"/>
          <p:cNvSpPr/>
          <p:nvPr/>
        </p:nvSpPr>
        <p:spPr>
          <a:xfrm>
            <a:off x="6035040" y="3794760"/>
            <a:ext cx="1783080" cy="19050"/>
          </a:xfrm>
          <a:prstGeom prst="rect">
            <a:avLst/>
          </a:prstGeom>
          <a:solidFill>
            <a:srgbClr val="D0CCCA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17" name="tb117"/>
          <p:cNvSpPr txBox="1"/>
          <p:nvPr/>
        </p:nvSpPr>
        <p:spPr>
          <a:xfrm>
            <a:off x="6035040" y="397764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1" i="0">
                <a:solidFill>
                  <a:srgbClr val="211915"/>
                </a:solidFill>
              </a:rPr>
              <a:t>5</a:t>
            </a:r>
          </a:p>
        </p:txBody>
      </p:sp>
      <p:sp>
        <p:nvSpPr>
          <p:cNvPr id="118" name="tb118"/>
          <p:cNvSpPr txBox="1"/>
          <p:nvPr/>
        </p:nvSpPr>
        <p:spPr>
          <a:xfrm>
            <a:off x="6035040" y="425196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0" i="0">
                <a:solidFill>
                  <a:srgbClr val="7A7A7A"/>
                </a:solidFill>
              </a:rPr>
              <a:t>casos medidos con flujo completo</a:t>
            </a:r>
          </a:p>
        </p:txBody>
      </p:sp>
      <p:sp>
        <p:nvSpPr>
          <p:cNvPr id="119" name="sh119"/>
          <p:cNvSpPr/>
          <p:nvPr/>
        </p:nvSpPr>
        <p:spPr>
          <a:xfrm>
            <a:off x="7863840" y="3794760"/>
            <a:ext cx="1783080" cy="19050"/>
          </a:xfrm>
          <a:prstGeom prst="rect">
            <a:avLst/>
          </a:prstGeom>
          <a:solidFill>
            <a:srgbClr val="D0CCCA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20" name="tb120"/>
          <p:cNvSpPr txBox="1"/>
          <p:nvPr/>
        </p:nvSpPr>
        <p:spPr>
          <a:xfrm>
            <a:off x="7863840" y="397764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1" i="0">
                <a:solidFill>
                  <a:srgbClr val="211915"/>
                </a:solidFill>
              </a:rPr>
              <a:t>15 a 35 min</a:t>
            </a:r>
          </a:p>
        </p:txBody>
      </p:sp>
      <p:sp>
        <p:nvSpPr>
          <p:cNvPr id="121" name="tb121"/>
          <p:cNvSpPr txBox="1"/>
          <p:nvPr/>
        </p:nvSpPr>
        <p:spPr>
          <a:xfrm>
            <a:off x="7863840" y="425196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0" i="0">
                <a:solidFill>
                  <a:srgbClr val="7A7A7A"/>
                </a:solidFill>
              </a:rPr>
              <a:t>por migración medida</a:t>
            </a:r>
          </a:p>
        </p:txBody>
      </p:sp>
      <p:sp>
        <p:nvSpPr>
          <p:cNvPr id="122" name="sh122"/>
          <p:cNvSpPr/>
          <p:nvPr/>
        </p:nvSpPr>
        <p:spPr>
          <a:xfrm>
            <a:off x="9692640" y="3794760"/>
            <a:ext cx="1783080" cy="19050"/>
          </a:xfrm>
          <a:prstGeom prst="rect">
            <a:avLst/>
          </a:prstGeom>
          <a:solidFill>
            <a:srgbClr val="D0CCCA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23" name="tb123"/>
          <p:cNvSpPr txBox="1"/>
          <p:nvPr/>
        </p:nvSpPr>
        <p:spPr>
          <a:xfrm>
            <a:off x="9692640" y="397764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00" b="1" i="0">
                <a:solidFill>
                  <a:srgbClr val="211915"/>
                </a:solidFill>
              </a:rPr>
              <a:t>.NET Core 3.1 a .NET 8</a:t>
            </a:r>
          </a:p>
        </p:txBody>
      </p:sp>
      <p:sp>
        <p:nvSpPr>
          <p:cNvPr id="124" name="tb124"/>
          <p:cNvSpPr txBox="1"/>
          <p:nvPr/>
        </p:nvSpPr>
        <p:spPr>
          <a:xfrm>
            <a:off x="9692640" y="425196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0" i="0">
                <a:solidFill>
                  <a:srgbClr val="7A7A7A"/>
                </a:solidFill>
              </a:rPr>
              <a:t>migraciones hacia .NET 10</a:t>
            </a:r>
          </a:p>
        </p:txBody>
      </p:sp>
      <p:sp>
        <p:nvSpPr>
          <p:cNvPr id="125" name="sh125"/>
          <p:cNvSpPr/>
          <p:nvPr/>
        </p:nvSpPr>
        <p:spPr>
          <a:xfrm>
            <a:off x="658368" y="4864608"/>
            <a:ext cx="10872216" cy="566928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26" name="tb126"/>
          <p:cNvSpPr txBox="1"/>
          <p:nvPr/>
        </p:nvSpPr>
        <p:spPr>
          <a:xfrm>
            <a:off x="658368" y="5010912"/>
            <a:ext cx="10872216" cy="310896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350" b="1" i="0">
                <a:solidFill>
                  <a:srgbClr val="FFFFFF"/>
                </a:solidFill>
              </a:rPr>
              <a:t>La PoC demostró capacidad técnica. Ahora debemos determinar qué hacemos con esa capacidad y qué resultado produce.</a:t>
            </a:r>
          </a:p>
        </p:txBody>
      </p:sp>
      <p:sp>
        <p:nvSpPr>
          <p:cNvPr id="127" name="tb127"/>
          <p:cNvSpPr txBox="1"/>
          <p:nvPr/>
        </p:nvSpPr>
        <p:spPr>
          <a:xfrm>
            <a:off x="658368" y="5614416"/>
            <a:ext cx="10872216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1">
                <a:solidFill>
                  <a:srgbClr val="7A7A7A"/>
                </a:solidFill>
              </a:rPr>
              <a:t>Nota metodológica: la comparación se realizó contra estimaciones definidas mediante juicio experto. No se realizaron migraciones manuales paralelas como grupo de control. El código generado requirió pocas correcciones en la etapa evaluada y las pruebas funcionales estaban pendientes.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47"/>
          <p:cNvSpPr/>
          <p:nvPr/>
        </p:nvSpPr>
        <p:spPr>
          <a:xfrm>
            <a:off x="658368" y="384048"/>
            <a:ext cx="146304" cy="14630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146304" tIns="73152" rIns="146304" bIns="73152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48" name="tb48"/>
          <p:cNvSpPr txBox="1"/>
          <p:nvPr/>
        </p:nvSpPr>
        <p:spPr>
          <a:xfrm>
            <a:off x="914400" y="36576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 spc="50">
                <a:solidFill>
                  <a:srgbClr val="ED1C29"/>
                </a:solidFill>
              </a:rPr>
              <a:t>PRODUCTIVIDAD NO ES ROI</a:t>
            </a:r>
          </a:p>
        </p:txBody>
      </p:sp>
      <p:sp>
        <p:nvSpPr>
          <p:cNvPr id="49" name="tb49"/>
          <p:cNvSpPr txBox="1"/>
          <p:nvPr/>
        </p:nvSpPr>
        <p:spPr>
          <a:xfrm>
            <a:off x="658368" y="713232"/>
            <a:ext cx="9326880" cy="685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3000" b="1" i="0">
                <a:solidFill>
                  <a:srgbClr val="211915"/>
                </a:solidFill>
              </a:rPr>
              <a:t>Medir horas no es medir valor</a:t>
            </a:r>
            <a:endParaRPr lang="es-ES" sz="3000" b="1" i="0" dirty="0">
              <a:solidFill>
                <a:srgbClr val="211915"/>
              </a:solidFill>
            </a:endParaRPr>
          </a:p>
        </p:txBody>
      </p:sp>
      <p:sp>
        <p:nvSpPr>
          <p:cNvPr id="31" name="tb31"/>
          <p:cNvSpPr txBox="1"/>
          <p:nvPr/>
        </p:nvSpPr>
        <p:spPr>
          <a:xfrm>
            <a:off x="658368" y="157276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50" b="0" i="1">
                <a:solidFill>
                  <a:srgbClr val="7A7A7A"/>
                </a:solidFill>
              </a:rPr>
              <a:t>Dos preguntas distintas, las dos necesarias</a:t>
            </a:r>
            <a:r>
              <a:rPr lang="es-ES" sz="1250" b="0" i="1" dirty="0">
                <a:solidFill>
                  <a:srgbClr val="7A7A7A"/>
                </a:solidFill>
              </a:rPr>
              <a:t>.</a:t>
            </a:r>
          </a:p>
        </p:txBody>
      </p:sp>
      <p:sp>
        <p:nvSpPr>
          <p:cNvPr id="32" name="sh32"/>
          <p:cNvSpPr/>
          <p:nvPr/>
        </p:nvSpPr>
        <p:spPr>
          <a:xfrm>
            <a:off x="658368" y="1993392"/>
            <a:ext cx="4937760" cy="420624"/>
          </a:xfrm>
          <a:prstGeom prst="rect">
            <a:avLst/>
          </a:prstGeom>
          <a:solidFill>
            <a:srgbClr val="F3F1F0"/>
          </a:solidFill>
          <a:ln>
            <a:noFill/>
          </a:ln>
        </p:spPr>
        <p:txBody>
          <a:bodyPr lIns="146304" tIns="73152" rIns="146304" bIns="73152" anchor="ctr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1" i="0" spc="50">
                <a:solidFill>
                  <a:srgbClr val="211915"/>
                </a:solidFill>
              </a:rPr>
              <a:t>PRODUCTIVIDAD TÉCNICA</a:t>
            </a:r>
          </a:p>
        </p:txBody>
      </p:sp>
      <p:sp>
        <p:nvSpPr>
          <p:cNvPr id="33" name="sh33"/>
          <p:cNvSpPr/>
          <p:nvPr/>
        </p:nvSpPr>
        <p:spPr>
          <a:xfrm>
            <a:off x="6035040" y="1993392"/>
            <a:ext cx="5486400" cy="42062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146304" tIns="73152" rIns="146304" bIns="73152" anchor="ctr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1" i="0" spc="50">
                <a:solidFill>
                  <a:srgbClr val="FFFFFF"/>
                </a:solidFill>
              </a:rPr>
              <a:t>VALOR PARA EL NEGOCIO</a:t>
            </a:r>
          </a:p>
        </p:txBody>
      </p:sp>
      <p:sp>
        <p:nvSpPr>
          <p:cNvPr id="35" name="tb35"/>
          <p:cNvSpPr txBox="1"/>
          <p:nvPr/>
        </p:nvSpPr>
        <p:spPr>
          <a:xfrm>
            <a:off x="658368" y="2606040"/>
            <a:ext cx="4937760" cy="10515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2200" b="1" i="0">
                <a:solidFill>
                  <a:srgbClr val="211915"/>
                </a:solidFill>
              </a:rPr>
              <a:t>¿Cambió nuestra forma de trabajar?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00" b="0" i="0">
                <a:solidFill>
                  <a:srgbClr val="7A7A7A"/>
                </a:solidFill>
              </a:rPr>
              <a:t>Esfuerzo, tiempo, entregas y capacidad.</a:t>
            </a:r>
          </a:p>
        </p:txBody>
      </p:sp>
      <p:sp>
        <p:nvSpPr>
          <p:cNvPr id="36" name="tb36"/>
          <p:cNvSpPr txBox="1"/>
          <p:nvPr/>
        </p:nvSpPr>
        <p:spPr>
          <a:xfrm>
            <a:off x="6035040" y="2606040"/>
            <a:ext cx="5486400" cy="10515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2200" b="1" i="0">
                <a:solidFill>
                  <a:srgbClr val="ED1C29"/>
                </a:solidFill>
              </a:rPr>
              <a:t>¿Qué resultado produjo ese cambio?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00" b="0" i="0">
                <a:solidFill>
                  <a:srgbClr val="7A7A7A"/>
                </a:solidFill>
              </a:rPr>
              <a:t>Costo, resultado del producto, time-to-market, pérdida evitada, ingreso o margen cuando corresponda.</a:t>
            </a:r>
          </a:p>
        </p:txBody>
      </p:sp>
      <p:sp>
        <p:nvSpPr>
          <p:cNvPr id="37" name="sh37"/>
          <p:cNvSpPr/>
          <p:nvPr/>
        </p:nvSpPr>
        <p:spPr>
          <a:xfrm>
            <a:off x="658368" y="3767328"/>
            <a:ext cx="10875234" cy="10973"/>
          </a:xfrm>
          <a:prstGeom prst="rect">
            <a:avLst/>
          </a:prstGeom>
          <a:solidFill>
            <a:srgbClr val="E3E0DE"/>
          </a:solidFill>
          <a:ln>
            <a:noFill/>
          </a:ln>
        </p:spPr>
        <p:txBody>
          <a:bodyPr lIns="146304" tIns="73152" rIns="146304" bIns="73152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38" name="tb38"/>
          <p:cNvSpPr txBox="1"/>
          <p:nvPr/>
        </p:nvSpPr>
        <p:spPr>
          <a:xfrm>
            <a:off x="658368" y="3931920"/>
            <a:ext cx="493776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QUIÉN LO VALIDA</a:t>
            </a:r>
          </a:p>
        </p:txBody>
      </p:sp>
      <p:sp>
        <p:nvSpPr>
          <p:cNvPr id="39" name="tb39"/>
          <p:cNvSpPr txBox="1"/>
          <p:nvPr/>
        </p:nvSpPr>
        <p:spPr>
          <a:xfrm>
            <a:off x="658368" y="4187952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50" b="0" i="0">
                <a:solidFill>
                  <a:srgbClr val="211915"/>
                </a:solidFill>
              </a:rPr>
              <a:t>Equipo técnico y líder técnico.</a:t>
            </a:r>
          </a:p>
        </p:txBody>
      </p:sp>
      <p:sp>
        <p:nvSpPr>
          <p:cNvPr id="40" name="tb40"/>
          <p:cNvSpPr txBox="1"/>
          <p:nvPr/>
        </p:nvSpPr>
        <p:spPr>
          <a:xfrm>
            <a:off x="6035040" y="4187952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50" b="0" i="0">
                <a:solidFill>
                  <a:srgbClr val="211915"/>
                </a:solidFill>
              </a:rPr>
              <a:t>Product Owner, Negocio y Finanzas. Talento Humano participa cuando el caso afecta capacidades, habilidades o workforce planning.</a:t>
            </a:r>
          </a:p>
        </p:txBody>
      </p:sp>
      <p:sp>
        <p:nvSpPr>
          <p:cNvPr id="41" name="sh41"/>
          <p:cNvSpPr/>
          <p:nvPr/>
        </p:nvSpPr>
        <p:spPr>
          <a:xfrm>
            <a:off x="658368" y="4892040"/>
            <a:ext cx="10875234" cy="10973"/>
          </a:xfrm>
          <a:prstGeom prst="rect">
            <a:avLst/>
          </a:prstGeom>
          <a:solidFill>
            <a:srgbClr val="E3E0DE"/>
          </a:solidFill>
          <a:ln>
            <a:noFill/>
          </a:ln>
        </p:spPr>
        <p:txBody>
          <a:bodyPr lIns="146304" tIns="73152" rIns="146304" bIns="73152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42" name="tb42"/>
          <p:cNvSpPr txBox="1"/>
          <p:nvPr/>
        </p:nvSpPr>
        <p:spPr>
          <a:xfrm>
            <a:off x="658368" y="5047488"/>
            <a:ext cx="493776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QUÉ DEMUESTRA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658368" y="5285232"/>
            <a:ext cx="4937760" cy="502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50" b="0" i="0">
                <a:solidFill>
                  <a:srgbClr val="211915"/>
                </a:solidFill>
              </a:rPr>
              <a:t>Que se generó capacidad.</a:t>
            </a:r>
          </a:p>
        </p:txBody>
      </p:sp>
      <p:sp>
        <p:nvSpPr>
          <p:cNvPr id="44" name="tb44"/>
          <p:cNvSpPr txBox="1"/>
          <p:nvPr/>
        </p:nvSpPr>
        <p:spPr>
          <a:xfrm>
            <a:off x="6035040" y="5285232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50" b="0" i="0">
                <a:solidFill>
                  <a:srgbClr val="211915"/>
                </a:solidFill>
              </a:rPr>
              <a:t>Que la capacidad produjo un resultado.</a:t>
            </a:r>
          </a:p>
        </p:txBody>
      </p:sp>
      <p:sp>
        <p:nvSpPr>
          <p:cNvPr id="45" name="sh45"/>
          <p:cNvSpPr/>
          <p:nvPr/>
        </p:nvSpPr>
        <p:spPr>
          <a:xfrm>
            <a:off x="658368" y="5806440"/>
            <a:ext cx="10875234" cy="10973"/>
          </a:xfrm>
          <a:prstGeom prst="rect">
            <a:avLst/>
          </a:prstGeom>
          <a:solidFill>
            <a:srgbClr val="E3E0DE"/>
          </a:solidFill>
          <a:ln>
            <a:noFill/>
          </a:ln>
        </p:spPr>
        <p:txBody>
          <a:bodyPr lIns="146304" tIns="73152" rIns="146304" bIns="73152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46" name="tb46"/>
          <p:cNvSpPr txBox="1"/>
          <p:nvPr/>
        </p:nvSpPr>
        <p:spPr>
          <a:xfrm>
            <a:off x="658368" y="5897880"/>
            <a:ext cx="1088136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1">
                <a:solidFill>
                  <a:srgbClr val="7A7A7A"/>
                </a:solidFill>
              </a:rPr>
              <a:t>Las horas liberadas son capacidad. Solo se convierten en ahorro cuando permiten reducir o evitar un costo real.</a:t>
            </a:r>
          </a:p>
        </p:txBody>
      </p:sp>
      <p:sp>
        <p:nvSpPr>
          <p:cNvPr id="50" name="tb50"/>
          <p:cNvSpPr txBox="1"/>
          <p:nvPr/>
        </p:nvSpPr>
        <p:spPr>
          <a:xfrm>
            <a:off x="658368" y="6272784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 dirty="0">
                <a:solidFill>
                  <a:srgbClr val="211915"/>
                </a:solidFill>
              </a:rPr>
              <a:t>Tuya   ·   </a:t>
            </a:r>
            <a:r>
              <a:rPr lang="es-ES" sz="900" b="1" i="0">
                <a:solidFill>
                  <a:srgbClr val="211915"/>
                </a:solidFill>
              </a:rPr>
              <a:t>Del valor de GitHub Copilot</a:t>
            </a:r>
            <a:endParaRPr lang="es-ES" sz="900" b="1" i="0" dirty="0">
              <a:solidFill>
                <a:srgbClr val="211915"/>
              </a:solidFill>
            </a:endParaRPr>
          </a:p>
        </p:txBody>
      </p:sp>
      <p:sp>
        <p:nvSpPr>
          <p:cNvPr id="51" name="tb51"/>
          <p:cNvSpPr txBox="1"/>
          <p:nvPr/>
        </p:nvSpPr>
        <p:spPr>
          <a:xfrm>
            <a:off x="10436322" y="6272784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ED1C29"/>
                </a:solidFill>
              </a:rPr>
              <a:t>03</a:t>
            </a:r>
            <a:endParaRPr lang="es-ES" sz="900" b="1" i="0" dirty="0">
              <a:solidFill>
                <a:srgbClr val="ED1C29"/>
              </a:solidFill>
            </a:endParaRPr>
          </a:p>
        </p:txBody>
      </p:sp>
      <p:pic>
        <p:nvPicPr>
          <p:cNvPr id="900" name="Logo Tuy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2200" y="321276"/>
            <a:ext cx="6400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101"/>
          <p:cNvSpPr/>
          <p:nvPr/>
        </p:nvSpPr>
        <p:spPr>
          <a:xfrm>
            <a:off x="658368" y="384048"/>
            <a:ext cx="146304" cy="14630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02" name="tb102"/>
          <p:cNvSpPr txBox="1"/>
          <p:nvPr/>
        </p:nvSpPr>
        <p:spPr>
          <a:xfrm>
            <a:off x="914400" y="36576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 spc="50">
                <a:solidFill>
                  <a:srgbClr val="ED1C29"/>
                </a:solidFill>
              </a:rPr>
              <a:t>CADENA DE VALOR</a:t>
            </a:r>
          </a:p>
        </p:txBody>
      </p:sp>
      <p:sp>
        <p:nvSpPr>
          <p:cNvPr id="103" name="tb103"/>
          <p:cNvSpPr txBox="1"/>
          <p:nvPr/>
        </p:nvSpPr>
        <p:spPr>
          <a:xfrm>
            <a:off x="658368" y="713232"/>
            <a:ext cx="9326880" cy="56692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3000" b="1" i="0">
                <a:solidFill>
                  <a:srgbClr val="211915"/>
                </a:solidFill>
              </a:rPr>
              <a:t>Cómo la capacidad técnica se convierte en valor</a:t>
            </a:r>
          </a:p>
        </p:txBody>
      </p:sp>
      <p:sp>
        <p:nvSpPr>
          <p:cNvPr id="104" name="tb104"/>
          <p:cNvSpPr txBox="1"/>
          <p:nvPr/>
        </p:nvSpPr>
        <p:spPr>
          <a:xfrm>
            <a:off x="658368" y="1316736"/>
            <a:ext cx="9692640" cy="3840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350" b="0" i="0">
                <a:solidFill>
                  <a:srgbClr val="7A7A7A"/>
                </a:solidFill>
              </a:rPr>
              <a:t>Copilot puede generar capacidad. El equipo decide cómo utilizarla y el negocio valida el resultado.</a:t>
            </a:r>
          </a:p>
        </p:txBody>
      </p:sp>
      <p:sp>
        <p:nvSpPr>
          <p:cNvPr id="105" name="tb105"/>
          <p:cNvSpPr txBox="1"/>
          <p:nvPr/>
        </p:nvSpPr>
        <p:spPr>
          <a:xfrm>
            <a:off x="658368" y="6272784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211915"/>
                </a:solidFill>
              </a:rPr>
              <a:t>Tuya   ·   Del valor de GitHub Copilot</a:t>
            </a:r>
          </a:p>
        </p:txBody>
      </p:sp>
      <p:sp>
        <p:nvSpPr>
          <p:cNvPr id="106" name="tb106"/>
          <p:cNvSpPr txBox="1"/>
          <p:nvPr/>
        </p:nvSpPr>
        <p:spPr>
          <a:xfrm>
            <a:off x="10433304" y="6272784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ED1C29"/>
                </a:solidFill>
              </a:rPr>
              <a:t>04</a:t>
            </a:r>
          </a:p>
        </p:txBody>
      </p:sp>
      <p:pic>
        <p:nvPicPr>
          <p:cNvPr id="900" name="Logo Tuy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2200" y="321276"/>
            <a:ext cx="640080" cy="320040"/>
          </a:xfrm>
          <a:prstGeom prst="rect">
            <a:avLst/>
          </a:prstGeom>
        </p:spPr>
      </p:pic>
      <p:sp>
        <p:nvSpPr>
          <p:cNvPr id="107" name="sh107"/>
          <p:cNvSpPr/>
          <p:nvPr/>
        </p:nvSpPr>
        <p:spPr>
          <a:xfrm>
            <a:off x="658368" y="2057400"/>
            <a:ext cx="5257800" cy="402336"/>
          </a:xfrm>
          <a:prstGeom prst="rect">
            <a:avLst/>
          </a:prstGeom>
          <a:solidFill>
            <a:srgbClr val="211915"/>
          </a:solidFill>
          <a:ln>
            <a:noFill/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08" name="tb108"/>
          <p:cNvSpPr txBox="1"/>
          <p:nvPr/>
        </p:nvSpPr>
        <p:spPr>
          <a:xfrm>
            <a:off x="658368" y="2157984"/>
            <a:ext cx="5257800" cy="274320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150" b="1" i="0" spc="50">
                <a:solidFill>
                  <a:srgbClr val="FFFFFF"/>
                </a:solidFill>
              </a:rPr>
              <a:t>GENERAR CAPACIDAD</a:t>
            </a:r>
          </a:p>
        </p:txBody>
      </p:sp>
      <p:sp>
        <p:nvSpPr>
          <p:cNvPr id="109" name="sh109"/>
          <p:cNvSpPr/>
          <p:nvPr/>
        </p:nvSpPr>
        <p:spPr>
          <a:xfrm>
            <a:off x="658368" y="2459736"/>
            <a:ext cx="5257800" cy="1874520"/>
          </a:xfrm>
          <a:prstGeom prst="rect">
            <a:avLst/>
          </a:prstGeom>
          <a:solidFill>
            <a:srgbClr val="F7F5F4"/>
          </a:solidFill>
          <a:ln>
            <a:noFill/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10" name="sh110"/>
          <p:cNvSpPr/>
          <p:nvPr/>
        </p:nvSpPr>
        <p:spPr>
          <a:xfrm>
            <a:off x="886968" y="3310128"/>
            <a:ext cx="4800600" cy="18288"/>
          </a:xfrm>
          <a:prstGeom prst="rect">
            <a:avLst/>
          </a:prstGeom>
          <a:solidFill>
            <a:srgbClr val="D8D2CF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cxnSp>
        <p:nvCxnSpPr>
          <p:cNvPr id="201" name="cn201"/>
          <p:cNvCxnSpPr/>
          <p:nvPr/>
        </p:nvCxnSpPr>
        <p:spPr>
          <a:xfrm>
            <a:off x="2359152" y="3000000"/>
            <a:ext cx="219456" cy="0"/>
          </a:xfrm>
          <a:prstGeom prst="straightConnector1">
            <a:avLst/>
          </a:prstGeom>
          <a:ln w="12700">
            <a:solidFill>
              <a:srgbClr val="A8A8A8"/>
            </a:solidFill>
            <a:tailEnd type="triangle" w="med" len="med"/>
          </a:ln>
        </p:spPr>
      </p:cxnSp>
      <p:cxnSp>
        <p:nvCxnSpPr>
          <p:cNvPr id="202" name="cn202"/>
          <p:cNvCxnSpPr/>
          <p:nvPr/>
        </p:nvCxnSpPr>
        <p:spPr>
          <a:xfrm>
            <a:off x="4096512" y="3000000"/>
            <a:ext cx="219456" cy="0"/>
          </a:xfrm>
          <a:prstGeom prst="straightConnector1">
            <a:avLst/>
          </a:prstGeom>
          <a:ln w="12700">
            <a:solidFill>
              <a:srgbClr val="A8A8A8"/>
            </a:solidFill>
            <a:tailEnd type="triangle" w="med" len="med"/>
          </a:ln>
        </p:spPr>
      </p:cxnSp>
      <p:sp>
        <p:nvSpPr>
          <p:cNvPr id="113" name="tb113"/>
          <p:cNvSpPr txBox="1"/>
          <p:nvPr/>
        </p:nvSpPr>
        <p:spPr>
          <a:xfrm>
            <a:off x="868680" y="2587752"/>
            <a:ext cx="1463040" cy="685800"/>
          </a:xfrm>
          <a:prstGeom prst="rect">
            <a:avLst/>
          </a:prstGeom>
          <a:noFill/>
        </p:spPr>
        <p:txBody>
          <a:bodyPr wrap="square" lIns="45720" tIns="0" rIns="4572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200" b="1" i="0">
                <a:solidFill>
                  <a:srgbClr val="211915"/>
                </a:solidFill>
              </a:rPr>
              <a:t>Copilot</a:t>
            </a:r>
          </a:p>
        </p:txBody>
      </p:sp>
      <p:sp>
        <p:nvSpPr>
          <p:cNvPr id="114" name="tb114"/>
          <p:cNvSpPr txBox="1"/>
          <p:nvPr/>
        </p:nvSpPr>
        <p:spPr>
          <a:xfrm>
            <a:off x="868680" y="3401568"/>
            <a:ext cx="1463040" cy="896112"/>
          </a:xfrm>
          <a:prstGeom prst="rect">
            <a:avLst/>
          </a:prstGeom>
          <a:noFill/>
        </p:spPr>
        <p:txBody>
          <a:bodyPr wrap="square" lIns="45720" tIns="0" rIns="4572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7A7A7A"/>
                </a:solidFill>
              </a:rPr>
              <a:t>Apoya actividades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</a:pPr>
            <a:r>
              <a:rPr lang="es-ES" sz="1000" b="0" i="0">
                <a:solidFill>
                  <a:srgbClr val="7A7A7A"/>
                </a:solidFill>
              </a:rPr>
              <a:t>de desarrollo</a:t>
            </a:r>
          </a:p>
        </p:txBody>
      </p:sp>
      <p:sp>
        <p:nvSpPr>
          <p:cNvPr id="117" name="tb117"/>
          <p:cNvSpPr txBox="1"/>
          <p:nvPr/>
        </p:nvSpPr>
        <p:spPr>
          <a:xfrm>
            <a:off x="2606040" y="2587752"/>
            <a:ext cx="1463040" cy="685800"/>
          </a:xfrm>
          <a:prstGeom prst="rect">
            <a:avLst/>
          </a:prstGeom>
          <a:noFill/>
        </p:spPr>
        <p:txBody>
          <a:bodyPr wrap="square" lIns="45720" tIns="0" rIns="4572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200" b="1" i="0">
                <a:solidFill>
                  <a:srgbClr val="211915"/>
                </a:solidFill>
              </a:rPr>
              <a:t>Cambia la forma de trabajar</a:t>
            </a:r>
          </a:p>
        </p:txBody>
      </p:sp>
      <p:sp>
        <p:nvSpPr>
          <p:cNvPr id="118" name="tb118"/>
          <p:cNvSpPr txBox="1"/>
          <p:nvPr/>
        </p:nvSpPr>
        <p:spPr>
          <a:xfrm>
            <a:off x="2606040" y="3401568"/>
            <a:ext cx="1463040" cy="896112"/>
          </a:xfrm>
          <a:prstGeom prst="rect">
            <a:avLst/>
          </a:prstGeom>
          <a:noFill/>
        </p:spPr>
        <p:txBody>
          <a:bodyPr wrap="square" lIns="45720" tIns="0" rIns="4572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7A7A7A"/>
                </a:solidFill>
              </a:rPr>
              <a:t>Menor esfuerzo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</a:pPr>
            <a:r>
              <a:rPr lang="es-ES" sz="1000" b="0" i="0">
                <a:solidFill>
                  <a:srgbClr val="7A7A7A"/>
                </a:solidFill>
              </a:rPr>
              <a:t>Menor tiempo de ciclo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</a:pPr>
            <a:r>
              <a:rPr lang="es-ES" sz="1000" b="0" i="0">
                <a:solidFill>
                  <a:srgbClr val="7A7A7A"/>
                </a:solidFill>
              </a:rPr>
              <a:t>Menos reproceso</a:t>
            </a:r>
          </a:p>
        </p:txBody>
      </p:sp>
      <p:sp>
        <p:nvSpPr>
          <p:cNvPr id="121" name="tb121"/>
          <p:cNvSpPr txBox="1"/>
          <p:nvPr/>
        </p:nvSpPr>
        <p:spPr>
          <a:xfrm>
            <a:off x="4343400" y="2587752"/>
            <a:ext cx="1463040" cy="685800"/>
          </a:xfrm>
          <a:prstGeom prst="rect">
            <a:avLst/>
          </a:prstGeom>
          <a:noFill/>
        </p:spPr>
        <p:txBody>
          <a:bodyPr wrap="square" lIns="45720" tIns="0" rIns="4572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200" b="1" i="0">
                <a:solidFill>
                  <a:srgbClr val="ED1C29"/>
                </a:solidFill>
              </a:rPr>
              <a:t>Aparece capacidad</a:t>
            </a:r>
          </a:p>
        </p:txBody>
      </p:sp>
      <p:sp>
        <p:nvSpPr>
          <p:cNvPr id="122" name="tb122"/>
          <p:cNvSpPr txBox="1"/>
          <p:nvPr/>
        </p:nvSpPr>
        <p:spPr>
          <a:xfrm>
            <a:off x="4343400" y="3401568"/>
            <a:ext cx="1463040" cy="896112"/>
          </a:xfrm>
          <a:prstGeom prst="rect">
            <a:avLst/>
          </a:prstGeom>
          <a:noFill/>
        </p:spPr>
        <p:txBody>
          <a:bodyPr wrap="square" lIns="45720" tIns="0" rIns="4572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7A7A7A"/>
                </a:solidFill>
              </a:rPr>
              <a:t>Tiempo y foco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</a:pPr>
            <a:r>
              <a:rPr lang="es-ES" sz="1000" b="0" i="0">
                <a:solidFill>
                  <a:srgbClr val="7A7A7A"/>
                </a:solidFill>
              </a:rPr>
              <a:t>disponibles</a:t>
            </a:r>
          </a:p>
        </p:txBody>
      </p:sp>
      <p:sp>
        <p:nvSpPr>
          <p:cNvPr id="123" name="sh123"/>
          <p:cNvSpPr/>
          <p:nvPr/>
        </p:nvSpPr>
        <p:spPr>
          <a:xfrm>
            <a:off x="6272784" y="2057400"/>
            <a:ext cx="5257800" cy="402336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24" name="tb124"/>
          <p:cNvSpPr txBox="1"/>
          <p:nvPr/>
        </p:nvSpPr>
        <p:spPr>
          <a:xfrm>
            <a:off x="6272784" y="2157984"/>
            <a:ext cx="5257800" cy="274320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150" b="1" i="0" spc="50">
                <a:solidFill>
                  <a:srgbClr val="FFFFFF"/>
                </a:solidFill>
              </a:rPr>
              <a:t>CAPTURAR VALOR</a:t>
            </a:r>
          </a:p>
        </p:txBody>
      </p:sp>
      <p:sp>
        <p:nvSpPr>
          <p:cNvPr id="125" name="sh125"/>
          <p:cNvSpPr/>
          <p:nvPr/>
        </p:nvSpPr>
        <p:spPr>
          <a:xfrm>
            <a:off x="6272784" y="2459736"/>
            <a:ext cx="5257800" cy="1874520"/>
          </a:xfrm>
          <a:prstGeom prst="rect">
            <a:avLst/>
          </a:prstGeom>
          <a:solidFill>
            <a:srgbClr val="F7F5F4"/>
          </a:solidFill>
          <a:ln>
            <a:noFill/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26" name="sh126"/>
          <p:cNvSpPr/>
          <p:nvPr/>
        </p:nvSpPr>
        <p:spPr>
          <a:xfrm>
            <a:off x="6501384" y="3310128"/>
            <a:ext cx="4800600" cy="18288"/>
          </a:xfrm>
          <a:prstGeom prst="rect">
            <a:avLst/>
          </a:prstGeom>
          <a:solidFill>
            <a:srgbClr val="D8D2CF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29" name="tb129"/>
          <p:cNvSpPr txBox="1"/>
          <p:nvPr/>
        </p:nvSpPr>
        <p:spPr>
          <a:xfrm>
            <a:off x="6492240" y="2587752"/>
            <a:ext cx="1463040" cy="685800"/>
          </a:xfrm>
          <a:prstGeom prst="rect">
            <a:avLst/>
          </a:prstGeom>
          <a:noFill/>
        </p:spPr>
        <p:txBody>
          <a:bodyPr wrap="square" lIns="45720" tIns="0" rIns="4572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200" b="1" i="0">
                <a:solidFill>
                  <a:srgbClr val="211915"/>
                </a:solidFill>
              </a:rPr>
              <a:t>Equipo y Product Owner deciden dónde utilizarla</a:t>
            </a:r>
          </a:p>
        </p:txBody>
      </p:sp>
      <p:sp>
        <p:nvSpPr>
          <p:cNvPr id="130" name="tb130"/>
          <p:cNvSpPr txBox="1"/>
          <p:nvPr/>
        </p:nvSpPr>
        <p:spPr>
          <a:xfrm>
            <a:off x="6492240" y="3401568"/>
            <a:ext cx="1463040" cy="896112"/>
          </a:xfrm>
          <a:prstGeom prst="rect">
            <a:avLst/>
          </a:prstGeom>
          <a:noFill/>
        </p:spPr>
        <p:txBody>
          <a:bodyPr wrap="square" lIns="45720" tIns="0" rIns="4572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7A7A7A"/>
                </a:solidFill>
              </a:rPr>
              <a:t>Priorizar trabajo adicional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</a:pPr>
            <a:r>
              <a:rPr lang="es-ES" sz="1000" b="0" i="0">
                <a:solidFill>
                  <a:srgbClr val="7A7A7A"/>
                </a:solidFill>
              </a:rPr>
              <a:t>Adelantar una iniciativa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</a:pPr>
            <a:r>
              <a:rPr lang="es-ES" sz="1000" b="0" i="0">
                <a:solidFill>
                  <a:srgbClr val="7A7A7A"/>
                </a:solidFill>
              </a:rPr>
              <a:t>Absorber trabajo externo</a:t>
            </a:r>
          </a:p>
        </p:txBody>
      </p:sp>
      <p:sp>
        <p:nvSpPr>
          <p:cNvPr id="133" name="tb133"/>
          <p:cNvSpPr txBox="1"/>
          <p:nvPr/>
        </p:nvSpPr>
        <p:spPr>
          <a:xfrm>
            <a:off x="8229600" y="2587752"/>
            <a:ext cx="1463040" cy="685800"/>
          </a:xfrm>
          <a:prstGeom prst="rect">
            <a:avLst/>
          </a:prstGeom>
          <a:noFill/>
        </p:spPr>
        <p:txBody>
          <a:bodyPr wrap="square" lIns="45720" tIns="0" rIns="4572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200" b="1" i="0">
                <a:solidFill>
                  <a:srgbClr val="211915"/>
                </a:solidFill>
              </a:rPr>
              <a:t>Observamos qué cambió</a:t>
            </a:r>
          </a:p>
        </p:txBody>
      </p:sp>
      <p:sp>
        <p:nvSpPr>
          <p:cNvPr id="134" name="tb134"/>
          <p:cNvSpPr txBox="1"/>
          <p:nvPr/>
        </p:nvSpPr>
        <p:spPr>
          <a:xfrm>
            <a:off x="8229600" y="3401568"/>
            <a:ext cx="1463040" cy="896112"/>
          </a:xfrm>
          <a:prstGeom prst="rect">
            <a:avLst/>
          </a:prstGeom>
          <a:noFill/>
        </p:spPr>
        <p:txBody>
          <a:bodyPr wrap="square" lIns="45720" tIns="0" rIns="4572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7A7A7A"/>
                </a:solidFill>
              </a:rPr>
              <a:t>Más entregas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</a:pPr>
            <a:r>
              <a:rPr lang="es-ES" sz="1000" b="0" i="0">
                <a:solidFill>
                  <a:srgbClr val="7A7A7A"/>
                </a:solidFill>
              </a:rPr>
              <a:t>Menor costo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</a:pPr>
            <a:r>
              <a:rPr lang="es-ES" sz="1000" b="0" i="0">
                <a:solidFill>
                  <a:srgbClr val="7A7A7A"/>
                </a:solidFill>
              </a:rPr>
              <a:t>Menor time-to-market</a:t>
            </a:r>
          </a:p>
        </p:txBody>
      </p:sp>
      <p:sp>
        <p:nvSpPr>
          <p:cNvPr id="137" name="tb137"/>
          <p:cNvSpPr txBox="1"/>
          <p:nvPr/>
        </p:nvSpPr>
        <p:spPr>
          <a:xfrm>
            <a:off x="9966960" y="2587752"/>
            <a:ext cx="1554480" cy="685800"/>
          </a:xfrm>
          <a:prstGeom prst="rect">
            <a:avLst/>
          </a:prstGeom>
          <a:noFill/>
        </p:spPr>
        <p:txBody>
          <a:bodyPr wrap="square" lIns="45720" tIns="0" rIns="4572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200" b="1" i="0">
                <a:solidFill>
                  <a:srgbClr val="ED1C29"/>
                </a:solidFill>
              </a:rPr>
              <a:t>Comprobamos el impacto</a:t>
            </a:r>
          </a:p>
        </p:txBody>
      </p:sp>
      <p:sp>
        <p:nvSpPr>
          <p:cNvPr id="138" name="tb138"/>
          <p:cNvSpPr txBox="1"/>
          <p:nvPr/>
        </p:nvSpPr>
        <p:spPr>
          <a:xfrm>
            <a:off x="9966960" y="3401568"/>
            <a:ext cx="1554480" cy="914400"/>
          </a:xfrm>
          <a:prstGeom prst="rect">
            <a:avLst/>
          </a:prstGeom>
          <a:noFill/>
        </p:spPr>
        <p:txBody>
          <a:bodyPr wrap="square" lIns="45720" tIns="0" rIns="4572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7A7A7A"/>
                </a:solidFill>
              </a:rPr>
              <a:t>Costo reducido o evitado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7A7A7A"/>
                </a:solidFill>
              </a:rPr>
              <a:t>Trabajo adicional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7A7A7A"/>
                </a:solidFill>
              </a:rPr>
              <a:t>Beneficio adelantado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7A7A7A"/>
                </a:solidFill>
              </a:rPr>
              <a:t>Pérdida evitada</a:t>
            </a:r>
          </a:p>
        </p:txBody>
      </p:sp>
      <p:sp>
        <p:nvSpPr>
          <p:cNvPr id="139" name="sh139"/>
          <p:cNvSpPr/>
          <p:nvPr/>
        </p:nvSpPr>
        <p:spPr>
          <a:xfrm>
            <a:off x="658368" y="4983480"/>
            <a:ext cx="10872216" cy="548640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40" name="tb140"/>
          <p:cNvSpPr txBox="1"/>
          <p:nvPr/>
        </p:nvSpPr>
        <p:spPr>
          <a:xfrm>
            <a:off x="658368" y="5129784"/>
            <a:ext cx="10872216" cy="310896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350" b="1" i="0">
                <a:solidFill>
                  <a:srgbClr val="FFFFFF"/>
                </a:solidFill>
              </a:rPr>
              <a:t>La capacidad no genera valor por sí sola. El equipo y el negocio deciden dónde utilizarla.</a:t>
            </a:r>
          </a:p>
        </p:txBody>
      </p:sp>
      <p:cxnSp>
        <p:nvCxnSpPr>
          <p:cNvPr id="203" name="cn203"/>
          <p:cNvCxnSpPr/>
          <p:nvPr/>
        </p:nvCxnSpPr>
        <p:spPr>
          <a:xfrm>
            <a:off x="7982712" y="3000000"/>
            <a:ext cx="219456" cy="0"/>
          </a:xfrm>
          <a:prstGeom prst="straightConnector1">
            <a:avLst/>
          </a:prstGeom>
          <a:ln w="12700">
            <a:solidFill>
              <a:srgbClr val="A8A8A8"/>
            </a:solidFill>
            <a:tailEnd type="triangle" w="med" len="med"/>
          </a:ln>
        </p:spPr>
      </p:cxnSp>
      <p:cxnSp>
        <p:nvCxnSpPr>
          <p:cNvPr id="204" name="cn204"/>
          <p:cNvCxnSpPr/>
          <p:nvPr/>
        </p:nvCxnSpPr>
        <p:spPr>
          <a:xfrm>
            <a:off x="9720072" y="3000000"/>
            <a:ext cx="219456" cy="0"/>
          </a:xfrm>
          <a:prstGeom prst="straightConnector1">
            <a:avLst/>
          </a:prstGeom>
          <a:ln w="12700">
            <a:solidFill>
              <a:srgbClr val="E9A0A4"/>
            </a:solidFill>
            <a:tailEnd type="triangl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sh123"/>
          <p:cNvSpPr/>
          <p:nvPr/>
        </p:nvSpPr>
        <p:spPr>
          <a:xfrm>
            <a:off x="658368" y="384048"/>
            <a:ext cx="146304" cy="14630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146304" tIns="73152" rIns="146304" bIns="73152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24" name="tb124"/>
          <p:cNvSpPr txBox="1"/>
          <p:nvPr/>
        </p:nvSpPr>
        <p:spPr>
          <a:xfrm>
            <a:off x="914400" y="36576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 spc="50">
                <a:solidFill>
                  <a:srgbClr val="ED1C29"/>
                </a:solidFill>
              </a:rPr>
              <a:t>QUÉ PODEMOS MEDIR HOY</a:t>
            </a:r>
          </a:p>
        </p:txBody>
      </p:sp>
      <p:sp>
        <p:nvSpPr>
          <p:cNvPr id="125" name="tb125"/>
          <p:cNvSpPr txBox="1"/>
          <p:nvPr/>
        </p:nvSpPr>
        <p:spPr>
          <a:xfrm>
            <a:off x="658368" y="713232"/>
            <a:ext cx="9326880" cy="685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3000" b="1" i="0">
                <a:solidFill>
                  <a:srgbClr val="211915"/>
                </a:solidFill>
              </a:rPr>
              <a:t>La evidencia no tiene que vivir en GitHub</a:t>
            </a:r>
            <a:endParaRPr lang="es-ES" sz="3000" b="1" i="0" dirty="0">
              <a:solidFill>
                <a:srgbClr val="211915"/>
              </a:solidFill>
            </a:endParaRPr>
          </a:p>
        </p:txBody>
      </p:sp>
      <p:sp>
        <p:nvSpPr>
          <p:cNvPr id="100" name="sh100"/>
          <p:cNvSpPr/>
          <p:nvPr/>
        </p:nvSpPr>
        <p:spPr>
          <a:xfrm>
            <a:off x="658368" y="1645920"/>
            <a:ext cx="10881360" cy="548640"/>
          </a:xfrm>
          <a:prstGeom prst="rect">
            <a:avLst/>
          </a:prstGeom>
          <a:solidFill>
            <a:srgbClr val="F3F1F0"/>
          </a:solidFill>
          <a:ln>
            <a:noFill/>
          </a:ln>
        </p:spPr>
        <p:txBody>
          <a:bodyPr lIns="146304" tIns="73152" rIns="146304" bIns="73152" anchor="ctr">
            <a:normAutofit/>
          </a:bodyPr>
          <a:lstStyle/>
          <a:p>
            <a:endParaRPr lang="es-ES"/>
          </a:p>
        </p:txBody>
      </p:sp>
      <p:sp>
        <p:nvSpPr>
          <p:cNvPr id="101" name="tb101"/>
          <p:cNvSpPr txBox="1">
            <a:spLocks/>
          </p:cNvSpPr>
          <p:nvPr/>
        </p:nvSpPr>
        <p:spPr>
          <a:xfrm>
            <a:off x="804672" y="1801368"/>
            <a:ext cx="10588752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0" i="0">
                <a:solidFill>
                  <a:srgbClr val="5F5A57"/>
                </a:solidFill>
              </a:rPr>
              <a:t>Los repositorios no están en GitHub y la telemetría de Copilot es limitada. No impide medir.</a:t>
            </a:r>
          </a:p>
        </p:txBody>
      </p:sp>
      <p:sp>
        <p:nvSpPr>
          <p:cNvPr id="102" name="sh102"/>
          <p:cNvSpPr/>
          <p:nvPr/>
        </p:nvSpPr>
        <p:spPr>
          <a:xfrm>
            <a:off x="658368" y="2331720"/>
            <a:ext cx="5074920" cy="1188720"/>
          </a:xfrm>
          <a:prstGeom prst="rect">
            <a:avLst/>
          </a:prstGeom>
          <a:solidFill>
            <a:srgbClr val="FBE9EA"/>
          </a:solidFill>
          <a:ln>
            <a:noFill/>
          </a:ln>
        </p:spPr>
        <p:txBody>
          <a:bodyPr lIns="146304" tIns="73152" rIns="146304" bIns="73152" anchor="ctr">
            <a:normAutofit/>
          </a:bodyPr>
          <a:lstStyle/>
          <a:p>
            <a:endParaRPr lang="es-ES"/>
          </a:p>
        </p:txBody>
      </p:sp>
      <p:sp>
        <p:nvSpPr>
          <p:cNvPr id="103" name="sh103"/>
          <p:cNvSpPr/>
          <p:nvPr/>
        </p:nvSpPr>
        <p:spPr>
          <a:xfrm>
            <a:off x="658368" y="2331720"/>
            <a:ext cx="5074920" cy="50292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146304" tIns="73152" rIns="146304" bIns="73152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04" name="tb104"/>
          <p:cNvSpPr txBox="1"/>
          <p:nvPr/>
        </p:nvSpPr>
        <p:spPr>
          <a:xfrm>
            <a:off x="932688" y="2633472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300" b="1" i="0" spc="50">
                <a:solidFill>
                  <a:srgbClr val="ED1C29"/>
                </a:solidFill>
              </a:rPr>
              <a:t>TECNOLOGÍA</a:t>
            </a:r>
          </a:p>
        </p:txBody>
      </p:sp>
      <p:sp>
        <p:nvSpPr>
          <p:cNvPr id="105" name="tb105"/>
          <p:cNvSpPr txBox="1"/>
          <p:nvPr/>
        </p:nvSpPr>
        <p:spPr>
          <a:xfrm>
            <a:off x="932688" y="2926080"/>
            <a:ext cx="4526280" cy="502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00" b="0" i="0">
                <a:solidFill>
                  <a:srgbClr val="211915"/>
                </a:solidFill>
              </a:rPr>
              <a:t>Releases · defectos · incidentes · tiempo de ciclo · retrabajo</a:t>
            </a:r>
          </a:p>
        </p:txBody>
      </p:sp>
      <p:sp>
        <p:nvSpPr>
          <p:cNvPr id="106" name="sh106"/>
          <p:cNvSpPr/>
          <p:nvPr/>
        </p:nvSpPr>
        <p:spPr>
          <a:xfrm>
            <a:off x="6053328" y="2331720"/>
            <a:ext cx="5477256" cy="1188720"/>
          </a:xfrm>
          <a:prstGeom prst="rect">
            <a:avLst/>
          </a:prstGeom>
          <a:solidFill>
            <a:srgbClr val="F3F1F0"/>
          </a:solidFill>
          <a:ln>
            <a:noFill/>
          </a:ln>
        </p:spPr>
        <p:txBody>
          <a:bodyPr lIns="146304" tIns="73152" rIns="146304" bIns="73152" anchor="ctr">
            <a:normAutofit/>
          </a:bodyPr>
          <a:lstStyle/>
          <a:p>
            <a:endParaRPr lang="es-ES"/>
          </a:p>
        </p:txBody>
      </p:sp>
      <p:sp>
        <p:nvSpPr>
          <p:cNvPr id="107" name="sh107"/>
          <p:cNvSpPr>
            <a:spLocks/>
          </p:cNvSpPr>
          <p:nvPr/>
        </p:nvSpPr>
        <p:spPr>
          <a:xfrm>
            <a:off x="6053328" y="2331720"/>
            <a:ext cx="5477256" cy="50292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 lIns="146304" tIns="73152" rIns="146304" bIns="73152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08" name="tb108"/>
          <p:cNvSpPr txBox="1">
            <a:spLocks/>
          </p:cNvSpPr>
          <p:nvPr/>
        </p:nvSpPr>
        <p:spPr>
          <a:xfrm>
            <a:off x="6327648" y="2633472"/>
            <a:ext cx="492876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300" b="1" i="0" spc="50">
                <a:solidFill>
                  <a:srgbClr val="5F5A57"/>
                </a:solidFill>
              </a:rPr>
              <a:t>PRODUCTO</a:t>
            </a:r>
          </a:p>
        </p:txBody>
      </p:sp>
      <p:sp>
        <p:nvSpPr>
          <p:cNvPr id="109" name="tb109"/>
          <p:cNvSpPr txBox="1"/>
          <p:nvPr/>
        </p:nvSpPr>
        <p:spPr>
          <a:xfrm>
            <a:off x="6327648" y="2926080"/>
            <a:ext cx="4928760" cy="502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00" b="0" i="0">
                <a:solidFill>
                  <a:srgbClr val="211915"/>
                </a:solidFill>
              </a:rPr>
              <a:t>Backlog · adopción · transacciones · KPI del producto · time-to-market</a:t>
            </a:r>
          </a:p>
        </p:txBody>
      </p:sp>
      <p:sp>
        <p:nvSpPr>
          <p:cNvPr id="111" name="sh111"/>
          <p:cNvSpPr>
            <a:spLocks/>
          </p:cNvSpPr>
          <p:nvPr/>
        </p:nvSpPr>
        <p:spPr>
          <a:xfrm>
            <a:off x="658368" y="3703320"/>
            <a:ext cx="5074920" cy="1188720"/>
          </a:xfrm>
          <a:prstGeom prst="rect">
            <a:avLst/>
          </a:prstGeom>
          <a:solidFill>
            <a:srgbClr val="FBE9EA"/>
          </a:solidFill>
          <a:ln>
            <a:noFill/>
          </a:ln>
        </p:spPr>
        <p:txBody>
          <a:bodyPr lIns="146304" tIns="73152" rIns="146304" bIns="73152" anchor="ctr">
            <a:normAutofit/>
          </a:bodyPr>
          <a:lstStyle/>
          <a:p>
            <a:endParaRPr lang="es-ES"/>
          </a:p>
        </p:txBody>
      </p:sp>
      <p:sp>
        <p:nvSpPr>
          <p:cNvPr id="151" name="sh151"/>
          <p:cNvSpPr/>
          <p:nvPr/>
        </p:nvSpPr>
        <p:spPr>
          <a:xfrm>
            <a:off x="658368" y="3703320"/>
            <a:ext cx="5074920" cy="50292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0" tIns="0" rIns="0" bIns="0" anchor="ctr"/>
          <a:lstStyle/>
          <a:p>
            <a:endParaRPr lang="es-ES"/>
          </a:p>
        </p:txBody>
      </p:sp>
      <p:sp>
        <p:nvSpPr>
          <p:cNvPr id="152" name="sh152"/>
          <p:cNvSpPr/>
          <p:nvPr/>
        </p:nvSpPr>
        <p:spPr>
          <a:xfrm>
            <a:off x="6053328" y="3703320"/>
            <a:ext cx="5477256" cy="50292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 lIns="0" tIns="0" rIns="0" bIns="0" anchor="ctr"/>
          <a:lstStyle/>
          <a:p>
            <a:endParaRPr lang="es-ES"/>
          </a:p>
        </p:txBody>
      </p:sp>
      <p:sp>
        <p:nvSpPr>
          <p:cNvPr id="112" name="tb112"/>
          <p:cNvSpPr txBox="1">
            <a:spLocks/>
          </p:cNvSpPr>
          <p:nvPr/>
        </p:nvSpPr>
        <p:spPr>
          <a:xfrm>
            <a:off x="932688" y="3931920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300" b="1" i="0" spc="50">
                <a:solidFill>
                  <a:srgbClr val="ED1C29"/>
                </a:solidFill>
              </a:rPr>
              <a:t>FINANZAS</a:t>
            </a:r>
          </a:p>
        </p:txBody>
      </p:sp>
      <p:sp>
        <p:nvSpPr>
          <p:cNvPr id="113" name="tb113"/>
          <p:cNvSpPr txBox="1"/>
          <p:nvPr/>
        </p:nvSpPr>
        <p:spPr>
          <a:xfrm>
            <a:off x="932688" y="4297680"/>
            <a:ext cx="4526280" cy="502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00" b="0" i="0">
                <a:solidFill>
                  <a:srgbClr val="211915"/>
                </a:solidFill>
              </a:rPr>
              <a:t>Contratos · proveedores · presupuesto · costo operacional · capacidad externa</a:t>
            </a:r>
          </a:p>
        </p:txBody>
      </p:sp>
      <p:sp>
        <p:nvSpPr>
          <p:cNvPr id="115" name="sh115"/>
          <p:cNvSpPr>
            <a:spLocks/>
          </p:cNvSpPr>
          <p:nvPr/>
        </p:nvSpPr>
        <p:spPr>
          <a:xfrm>
            <a:off x="6053328" y="3703320"/>
            <a:ext cx="5477256" cy="1188720"/>
          </a:xfrm>
          <a:prstGeom prst="rect">
            <a:avLst/>
          </a:prstGeom>
          <a:solidFill>
            <a:srgbClr val="F3F1F0"/>
          </a:solidFill>
          <a:ln>
            <a:noFill/>
          </a:ln>
        </p:spPr>
        <p:txBody>
          <a:bodyPr lIns="146304" tIns="73152" rIns="146304" bIns="73152" anchor="ctr">
            <a:normAutofit/>
          </a:bodyPr>
          <a:lstStyle/>
          <a:p>
            <a:endParaRPr lang="es-ES"/>
          </a:p>
        </p:txBody>
      </p:sp>
      <p:sp>
        <p:nvSpPr>
          <p:cNvPr id="116" name="tb116"/>
          <p:cNvSpPr txBox="1">
            <a:spLocks/>
          </p:cNvSpPr>
          <p:nvPr/>
        </p:nvSpPr>
        <p:spPr>
          <a:xfrm>
            <a:off x="6327648" y="3931920"/>
            <a:ext cx="492876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300" b="1" i="0" spc="50">
                <a:solidFill>
                  <a:srgbClr val="5F5A57"/>
                </a:solidFill>
              </a:rPr>
              <a:t>TALENTO HUMANO</a:t>
            </a:r>
          </a:p>
        </p:txBody>
      </p:sp>
      <p:sp>
        <p:nvSpPr>
          <p:cNvPr id="117" name="tb117"/>
          <p:cNvSpPr txBox="1"/>
          <p:nvPr/>
        </p:nvSpPr>
        <p:spPr>
          <a:xfrm>
            <a:off x="6327648" y="4297680"/>
            <a:ext cx="4928760" cy="502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00" b="0" i="0">
                <a:solidFill>
                  <a:srgbClr val="211915"/>
                </a:solidFill>
              </a:rPr>
              <a:t>Onboarding · habilidades · reskilling · movilidad · workforce planning</a:t>
            </a:r>
          </a:p>
        </p:txBody>
      </p:sp>
      <p:sp>
        <p:nvSpPr>
          <p:cNvPr id="118" name="sh118"/>
          <p:cNvSpPr/>
          <p:nvPr/>
        </p:nvSpPr>
        <p:spPr>
          <a:xfrm>
            <a:off x="658368" y="5074920"/>
            <a:ext cx="10881360" cy="548640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146304" tIns="73152" rIns="146304" bIns="73152" anchor="ctr">
            <a:normAutofit/>
          </a:bodyPr>
          <a:lstStyle/>
          <a:p>
            <a:endParaRPr lang="es-ES"/>
          </a:p>
        </p:txBody>
      </p:sp>
      <p:sp>
        <p:nvSpPr>
          <p:cNvPr id="119" name="tb119"/>
          <p:cNvSpPr txBox="1"/>
          <p:nvPr/>
        </p:nvSpPr>
        <p:spPr>
          <a:xfrm>
            <a:off x="932688" y="5230368"/>
            <a:ext cx="103327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300" b="1" i="0">
                <a:solidFill>
                  <a:srgbClr val="FFFFFF"/>
                </a:solidFill>
              </a:rPr>
              <a:t>Copilot puede ser la intervención. La evidencia del valor puede estar en varias fuentes internas.</a:t>
            </a:r>
          </a:p>
        </p:txBody>
      </p:sp>
      <p:sp>
        <p:nvSpPr>
          <p:cNvPr id="126" name="tb126"/>
          <p:cNvSpPr txBox="1"/>
          <p:nvPr/>
        </p:nvSpPr>
        <p:spPr>
          <a:xfrm>
            <a:off x="658368" y="6272784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 dirty="0">
                <a:solidFill>
                  <a:srgbClr val="211915"/>
                </a:solidFill>
              </a:rPr>
              <a:t>Tuya   ·   </a:t>
            </a:r>
            <a:r>
              <a:rPr lang="es-ES" sz="900" b="1" i="0">
                <a:solidFill>
                  <a:srgbClr val="211915"/>
                </a:solidFill>
              </a:rPr>
              <a:t>Del valor de GitHub Copilot</a:t>
            </a:r>
            <a:endParaRPr lang="es-ES" sz="900" b="1" i="0" dirty="0">
              <a:solidFill>
                <a:srgbClr val="211915"/>
              </a:solidFill>
            </a:endParaRPr>
          </a:p>
        </p:txBody>
      </p:sp>
      <p:sp>
        <p:nvSpPr>
          <p:cNvPr id="127" name="tb127"/>
          <p:cNvSpPr txBox="1"/>
          <p:nvPr/>
        </p:nvSpPr>
        <p:spPr>
          <a:xfrm>
            <a:off x="10436322" y="6272784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ED1C29"/>
                </a:solidFill>
              </a:rPr>
              <a:t>05</a:t>
            </a:r>
            <a:endParaRPr lang="es-ES" sz="900" b="1" i="0" dirty="0">
              <a:solidFill>
                <a:srgbClr val="ED1C29"/>
              </a:solidFill>
            </a:endParaRPr>
          </a:p>
        </p:txBody>
      </p:sp>
      <p:pic>
        <p:nvPicPr>
          <p:cNvPr id="900" name="Logo Tuy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2200" y="321276"/>
            <a:ext cx="6400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84048"/>
            <a:ext cx="146304" cy="14630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0" tIns="0" rIns="0" bIns="0" anchor="ctr">
            <a:normAutofit fontScale="62500" lnSpcReduction="20000"/>
          </a:bodyPr>
          <a:lstStyle/>
          <a:p>
            <a:endParaRPr lang="es-ES"/>
          </a:p>
        </p:txBody>
      </p:sp>
      <p:sp>
        <p:nvSpPr>
          <p:cNvPr id="27" name="tb27"/>
          <p:cNvSpPr txBox="1"/>
          <p:nvPr/>
        </p:nvSpPr>
        <p:spPr>
          <a:xfrm>
            <a:off x="914400" y="36576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1" i="0" spc="50">
                <a:solidFill>
                  <a:srgbClr val="ED1C29"/>
                </a:solidFill>
              </a:rPr>
              <a:t>CUATRO MECANISMOS DE VALOR</a:t>
            </a:r>
          </a:p>
        </p:txBody>
      </p:sp>
      <p:sp>
        <p:nvSpPr>
          <p:cNvPr id="28" name="tb28"/>
          <p:cNvSpPr txBox="1"/>
          <p:nvPr/>
        </p:nvSpPr>
        <p:spPr>
          <a:xfrm>
            <a:off x="658368" y="713232"/>
            <a:ext cx="9326880" cy="685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3000" b="1" i="0">
                <a:solidFill>
                  <a:srgbClr val="211915"/>
                </a:solidFill>
              </a:rPr>
              <a:t>Cómo la capacidad se convierte en resultado</a:t>
            </a:r>
          </a:p>
        </p:txBody>
      </p:sp>
      <p:sp>
        <p:nvSpPr>
          <p:cNvPr id="40" name="rule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194560"/>
            <a:ext cx="2788920" cy="5486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0" tIns="0" rIns="0" bIns="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41" name="tbA"/>
          <p:cNvSpPr txBox="1"/>
          <p:nvPr/>
        </p:nvSpPr>
        <p:spPr>
          <a:xfrm>
            <a:off x="658368" y="2514600"/>
            <a:ext cx="2788920" cy="23317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lang="en-US" sz="1500" b="1" i="0" spc="50">
                <a:solidFill>
                  <a:srgbClr val="211915"/>
                </a:solidFill>
              </a:rPr>
              <a:t>LO MISMO CON MENOS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lang="en-US" sz="1200" b="0" i="0">
                <a:solidFill>
                  <a:srgbClr val="5A5A5A"/>
                </a:solidFill>
              </a:rPr>
              <a:t>Mismo resultado, alcance y nivel de servicio con menor costo total o menor capacidad externa requerida.</a:t>
            </a:r>
          </a:p>
          <a:p>
            <a:pPr algn="l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</a:pPr>
            <a:r>
              <a:rPr lang="en-US" sz="1400" b="1" i="0">
                <a:solidFill>
                  <a:srgbClr val="ED1C29"/>
                </a:solidFill>
              </a:rPr>
              <a:t>¿Qué costo dejamos de tener o evitamos realmente?</a:t>
            </a:r>
            <a:endParaRPr lang="es-ES" sz="1100" b="0" i="0">
              <a:solidFill>
                <a:srgbClr val="7A7A7A"/>
              </a:solidFill>
            </a:endParaRPr>
          </a:p>
        </p:txBody>
      </p:sp>
      <p:sp>
        <p:nvSpPr>
          <p:cNvPr id="43" name="ruleB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03320" y="2194560"/>
            <a:ext cx="2606040" cy="54864"/>
          </a:xfrm>
          <a:prstGeom prst="rect">
            <a:avLst/>
          </a:prstGeom>
          <a:solidFill>
            <a:srgbClr val="211915"/>
          </a:solidFill>
          <a:ln>
            <a:noFill/>
          </a:ln>
        </p:spPr>
        <p:txBody>
          <a:bodyPr lIns="0" tIns="0" rIns="0" bIns="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44" name="tbB"/>
          <p:cNvSpPr txBox="1"/>
          <p:nvPr/>
        </p:nvSpPr>
        <p:spPr>
          <a:xfrm>
            <a:off x="3703320" y="2514600"/>
            <a:ext cx="2606040" cy="23317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lang="es-ES" sz="1500" b="1" i="0" spc="50">
                <a:solidFill>
                  <a:srgbClr val="211915"/>
                </a:solidFill>
              </a:rPr>
              <a:t>MÁS CON LO MISMO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lang="es-ES" sz="1200" b="0" i="0">
                <a:solidFill>
                  <a:srgbClr val="5A5A5A"/>
                </a:solidFill>
              </a:rPr>
              <a:t>La misma estructura genera más resultados.</a:t>
            </a:r>
          </a:p>
          <a:p>
            <a:pPr algn="l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</a:pPr>
            <a:r>
              <a:rPr lang="es-ES" sz="1400" b="1" i="0">
                <a:solidFill>
                  <a:srgbClr val="ED1C29"/>
                </a:solidFill>
              </a:rPr>
              <a:t>¿Qué podemos hacer adicionalmente con la misma estructura?</a:t>
            </a:r>
            <a:endParaRPr lang="es-ES" sz="1100" b="0" i="0">
              <a:solidFill>
                <a:srgbClr val="7A7A7A"/>
              </a:solidFill>
            </a:endParaRPr>
          </a:p>
        </p:txBody>
      </p:sp>
      <p:sp>
        <p:nvSpPr>
          <p:cNvPr id="46" name="ruleC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37960" y="2194560"/>
            <a:ext cx="2331720" cy="5486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0" tIns="0" rIns="0" bIns="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47" name="tbC"/>
          <p:cNvSpPr txBox="1"/>
          <p:nvPr/>
        </p:nvSpPr>
        <p:spPr>
          <a:xfrm>
            <a:off x="6537960" y="2514600"/>
            <a:ext cx="2331720" cy="23317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lang="en-US" sz="1500" b="1" i="0" spc="50">
                <a:solidFill>
                  <a:srgbClr val="211915"/>
                </a:solidFill>
              </a:rPr>
              <a:t>VALOR ANTES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lang="en-US" sz="1200" b="0" i="0">
                <a:solidFill>
                  <a:srgbClr val="5A5A5A"/>
                </a:solidFill>
              </a:rPr>
              <a:t>El mismo resultado genera beneficios antes.</a:t>
            </a:r>
          </a:p>
          <a:p>
            <a:pPr algn="l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</a:pPr>
            <a:r>
              <a:rPr lang="en-US" sz="1400" b="1" i="0">
                <a:solidFill>
                  <a:srgbClr val="ED1C29"/>
                </a:solidFill>
              </a:rPr>
              <a:t>¿Qué beneficio podemos capturar antes?</a:t>
            </a:r>
            <a:endParaRPr lang="es-ES" sz="1100" b="0" i="0">
              <a:solidFill>
                <a:srgbClr val="7A7A7A"/>
              </a:solidFill>
            </a:endParaRPr>
          </a:p>
        </p:txBody>
      </p:sp>
      <p:sp>
        <p:nvSpPr>
          <p:cNvPr id="49" name="rule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98280" y="2194560"/>
            <a:ext cx="2423160" cy="54864"/>
          </a:xfrm>
          <a:prstGeom prst="rect">
            <a:avLst/>
          </a:prstGeom>
          <a:solidFill>
            <a:srgbClr val="211915"/>
          </a:solidFill>
          <a:ln>
            <a:noFill/>
          </a:ln>
        </p:spPr>
        <p:txBody>
          <a:bodyPr lIns="0" tIns="0" rIns="0" bIns="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50" name="tbD"/>
          <p:cNvSpPr txBox="1"/>
          <p:nvPr/>
        </p:nvSpPr>
        <p:spPr>
          <a:xfrm>
            <a:off x="9098280" y="2514600"/>
            <a:ext cx="2423160" cy="23317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lang="en-US" sz="1500" b="1" i="0" spc="50">
                <a:solidFill>
                  <a:srgbClr val="211915"/>
                </a:solidFill>
              </a:rPr>
              <a:t>MENOS PÉRDIDA Y RIESGO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lang="en-US" sz="1200" b="0" i="0">
                <a:solidFill>
                  <a:srgbClr val="5A5A5A"/>
                </a:solidFill>
              </a:rPr>
              <a:t>Reducimos pérdidas o costos asociados a defectos, incidentes, reprocesos, fallas o interrupciones.</a:t>
            </a:r>
          </a:p>
          <a:p>
            <a:pPr algn="l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</a:pPr>
            <a:r>
              <a:rPr lang="en-US" sz="1400" b="1" i="0">
                <a:solidFill>
                  <a:srgbClr val="ED1C29"/>
                </a:solidFill>
              </a:rPr>
              <a:t>¿Qué pérdida o costo evitamos?</a:t>
            </a:r>
            <a:endParaRPr lang="es-ES" sz="1100" b="0" i="0">
              <a:solidFill>
                <a:srgbClr val="7A7A7A"/>
              </a:solidFill>
            </a:endParaRPr>
          </a:p>
        </p:txBody>
      </p:sp>
      <p:sp>
        <p:nvSpPr>
          <p:cNvPr id="25" name="sh25"/>
          <p:cNvSpPr/>
          <p:nvPr/>
        </p:nvSpPr>
        <p:spPr>
          <a:xfrm>
            <a:off x="658368" y="5074920"/>
            <a:ext cx="10875234" cy="457200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146304" tIns="73152" rIns="146304" bIns="73152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400" b="1" i="0">
                <a:solidFill>
                  <a:srgbClr val="FFFFFF"/>
                </a:solidFill>
              </a:rPr>
              <a:t>Cada equipo elige </a:t>
            </a:r>
            <a:r>
              <a:rPr lang="es-ES" sz="1400" b="1" i="0" dirty="0">
                <a:solidFill>
                  <a:srgbClr val="FFFFFF"/>
                </a:solidFill>
              </a:rPr>
              <a:t>el </a:t>
            </a:r>
            <a:r>
              <a:rPr lang="es-ES" sz="1400" b="1" i="0">
                <a:solidFill>
                  <a:srgbClr val="FFFFFF"/>
                </a:solidFill>
              </a:rPr>
              <a:t>mecanismo </a:t>
            </a:r>
            <a:r>
              <a:rPr lang="es-ES" sz="1400" b="1" i="0" dirty="0">
                <a:solidFill>
                  <a:srgbClr val="FFFFFF"/>
                </a:solidFill>
              </a:rPr>
              <a:t>que </a:t>
            </a:r>
            <a:r>
              <a:rPr lang="es-ES" sz="1400" b="1" i="0">
                <a:solidFill>
                  <a:srgbClr val="FFFFFF"/>
                </a:solidFill>
              </a:rPr>
              <a:t>mejor representa su realidad. No necesita utilizar los cuatro</a:t>
            </a:r>
            <a:r>
              <a:rPr lang="es-ES" sz="1400" b="1" i="0" dirty="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29" name="tb29"/>
          <p:cNvSpPr txBox="1"/>
          <p:nvPr/>
        </p:nvSpPr>
        <p:spPr>
          <a:xfrm>
            <a:off x="658368" y="6272784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211915"/>
                </a:solidFill>
              </a:rPr>
              <a:t>Tuya   ·   Del valor de GitHub Copilot</a:t>
            </a:r>
          </a:p>
        </p:txBody>
      </p:sp>
      <p:sp>
        <p:nvSpPr>
          <p:cNvPr id="30" name="tb30"/>
          <p:cNvSpPr txBox="1"/>
          <p:nvPr/>
        </p:nvSpPr>
        <p:spPr>
          <a:xfrm>
            <a:off x="10436322" y="6272784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ED1C29"/>
                </a:solidFill>
              </a:rPr>
              <a:t>06</a:t>
            </a:r>
          </a:p>
        </p:txBody>
      </p:sp>
      <p:pic>
        <p:nvPicPr>
          <p:cNvPr id="900" name="Logo Tuya" descr="Logo corporativo Tuy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2200" y="321276"/>
            <a:ext cx="6400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84048"/>
            <a:ext cx="146304" cy="14630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0" tIns="0" rIns="0" bIns="0" anchor="ctr">
            <a:normAutofit fontScale="62500" lnSpcReduction="20000"/>
          </a:bodyPr>
          <a:lstStyle/>
          <a:p>
            <a:endParaRPr lang="es-ES"/>
          </a:p>
        </p:txBody>
      </p:sp>
      <p:sp>
        <p:nvSpPr>
          <p:cNvPr id="27" name="tb27"/>
          <p:cNvSpPr txBox="1"/>
          <p:nvPr/>
        </p:nvSpPr>
        <p:spPr>
          <a:xfrm>
            <a:off x="914400" y="36576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 spc="50">
                <a:solidFill>
                  <a:srgbClr val="ED1C29"/>
                </a:solidFill>
              </a:rPr>
              <a:t>CÓMO LO PODEMOS MEDIR</a:t>
            </a:r>
          </a:p>
        </p:txBody>
      </p:sp>
      <p:sp>
        <p:nvSpPr>
          <p:cNvPr id="28" name="tb28"/>
          <p:cNvSpPr txBox="1"/>
          <p:nvPr/>
        </p:nvSpPr>
        <p:spPr>
          <a:xfrm>
            <a:off x="658368" y="713232"/>
            <a:ext cx="932688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2800" b="1" i="0">
                <a:solidFill>
                  <a:srgbClr val="211915"/>
                </a:solidFill>
              </a:rPr>
              <a:t>No necesitamos empezar con telemetría perfecta</a:t>
            </a:r>
          </a:p>
        </p:txBody>
      </p:sp>
      <p:sp>
        <p:nvSpPr>
          <p:cNvPr id="55" name="bandaFlujo"/>
          <p:cNvSpPr/>
          <p:nvPr/>
        </p:nvSpPr>
        <p:spPr>
          <a:xfrm>
            <a:off x="658368" y="1417320"/>
            <a:ext cx="10400000" cy="329184"/>
          </a:xfrm>
          <a:prstGeom prst="rect">
            <a:avLst/>
          </a:prstGeom>
          <a:solidFill>
            <a:srgbClr val="211915"/>
          </a:solidFill>
          <a:ln>
            <a:noFill/>
          </a:ln>
        </p:spPr>
        <p:txBody>
          <a:bodyPr lIns="146304" tIns="18288" rIns="146304" bIns="18288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s-ES" sz="1000" b="1" i="0" spc="50">
                <a:solidFill>
                  <a:srgbClr val="FFFFFF"/>
                </a:solidFill>
              </a:rPr>
              <a:t>SEIS PASOS: DEL PUNTO DE PARTIDA AL RESULTADO</a:t>
            </a:r>
          </a:p>
        </p:txBody>
      </p:sp>
      <p:sp>
        <p:nvSpPr>
          <p:cNvPr id="60" name="routeBase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154680"/>
            <a:ext cx="10872216" cy="1828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0" tIns="0" rIns="0" bIns="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61" name="station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9324" y="3108960"/>
            <a:ext cx="109728" cy="109728"/>
          </a:xfrm>
          <a:prstGeom prst="rect">
            <a:avLst/>
          </a:prstGeom>
          <a:solidFill>
            <a:srgbClr val="211915"/>
          </a:solidFill>
          <a:ln>
            <a:noFill/>
          </a:ln>
        </p:spPr>
        <p:txBody>
          <a:bodyPr lIns="0" tIns="0" rIns="0" bIns="0" anchor="ctr">
            <a:normAutofit fontScale="40000" lnSpcReduction="20000"/>
          </a:bodyPr>
          <a:lstStyle/>
          <a:p>
            <a:endParaRPr lang="es-ES"/>
          </a:p>
        </p:txBody>
      </p:sp>
      <p:sp>
        <p:nvSpPr>
          <p:cNvPr id="62" name="station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78124" y="3108960"/>
            <a:ext cx="109728" cy="109728"/>
          </a:xfrm>
          <a:prstGeom prst="rect">
            <a:avLst/>
          </a:prstGeom>
          <a:solidFill>
            <a:srgbClr val="211915"/>
          </a:solidFill>
          <a:ln>
            <a:noFill/>
          </a:ln>
        </p:spPr>
        <p:txBody>
          <a:bodyPr lIns="0" tIns="0" rIns="0" bIns="0" anchor="ctr">
            <a:normAutofit fontScale="40000" lnSpcReduction="20000"/>
          </a:bodyPr>
          <a:lstStyle/>
          <a:p>
            <a:endParaRPr lang="es-ES"/>
          </a:p>
        </p:txBody>
      </p:sp>
      <p:sp>
        <p:nvSpPr>
          <p:cNvPr id="63" name="station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06924" y="3108960"/>
            <a:ext cx="109728" cy="109728"/>
          </a:xfrm>
          <a:prstGeom prst="rect">
            <a:avLst/>
          </a:prstGeom>
          <a:solidFill>
            <a:srgbClr val="211915"/>
          </a:solidFill>
          <a:ln>
            <a:noFill/>
          </a:ln>
        </p:spPr>
        <p:txBody>
          <a:bodyPr lIns="0" tIns="0" rIns="0" bIns="0" anchor="ctr">
            <a:normAutofit fontScale="40000" lnSpcReduction="20000"/>
          </a:bodyPr>
          <a:lstStyle/>
          <a:p>
            <a:endParaRPr lang="es-ES"/>
          </a:p>
        </p:txBody>
      </p:sp>
      <p:sp>
        <p:nvSpPr>
          <p:cNvPr id="64" name="station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935724" y="3108960"/>
            <a:ext cx="109728" cy="109728"/>
          </a:xfrm>
          <a:prstGeom prst="rect">
            <a:avLst/>
          </a:prstGeom>
          <a:solidFill>
            <a:srgbClr val="211915"/>
          </a:solidFill>
          <a:ln>
            <a:noFill/>
          </a:ln>
        </p:spPr>
        <p:txBody>
          <a:bodyPr lIns="0" tIns="0" rIns="0" bIns="0" anchor="ctr">
            <a:normAutofit fontScale="40000" lnSpcReduction="20000"/>
          </a:bodyPr>
          <a:lstStyle/>
          <a:p>
            <a:endParaRPr lang="es-ES"/>
          </a:p>
        </p:txBody>
      </p:sp>
      <p:sp>
        <p:nvSpPr>
          <p:cNvPr id="65" name="station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98864" y="3081528"/>
            <a:ext cx="164592" cy="164592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0" tIns="0" rIns="0" bIns="0" anchor="ctr">
            <a:normAutofit fontScale="70000" lnSpcReduction="20000"/>
          </a:bodyPr>
          <a:lstStyle/>
          <a:p>
            <a:endParaRPr lang="es-ES"/>
          </a:p>
        </p:txBody>
      </p:sp>
      <p:sp>
        <p:nvSpPr>
          <p:cNvPr id="66" name="station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762488" y="3108960"/>
            <a:ext cx="109728" cy="109728"/>
          </a:xfrm>
          <a:prstGeom prst="rect">
            <a:avLst/>
          </a:prstGeom>
          <a:solidFill>
            <a:srgbClr val="211915"/>
          </a:solidFill>
          <a:ln>
            <a:noFill/>
          </a:ln>
        </p:spPr>
        <p:txBody>
          <a:bodyPr lIns="0" tIns="0" rIns="0" bIns="0" anchor="ctr">
            <a:normAutofit fontScale="40000" lnSpcReduction="20000"/>
          </a:bodyPr>
          <a:lstStyle/>
          <a:p>
            <a:endParaRPr lang="es-ES"/>
          </a:p>
        </p:txBody>
      </p:sp>
      <p:sp>
        <p:nvSpPr>
          <p:cNvPr id="41" name="tb1"/>
          <p:cNvSpPr txBox="1"/>
          <p:nvPr/>
        </p:nvSpPr>
        <p:spPr>
          <a:xfrm>
            <a:off x="658368" y="2057400"/>
            <a:ext cx="1691640" cy="100584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lang="en-US" sz="1000" b="1" i="0" spc="50" dirty="0">
                <a:solidFill>
                  <a:srgbClr val="7A7A7A"/>
                </a:solidFill>
              </a:rPr>
              <a:t>01 · BASELINE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lang="en-US" sz="1100" b="1" i="0" dirty="0">
                <a:solidFill>
                  <a:srgbClr val="211915"/>
                </a:solidFill>
              </a:rPr>
              <a:t>¿</a:t>
            </a:r>
            <a:r>
              <a:rPr lang="en-US" sz="1100" b="1" i="0" dirty="0" err="1">
                <a:solidFill>
                  <a:srgbClr val="211915"/>
                </a:solidFill>
              </a:rPr>
              <a:t>Cómo</a:t>
            </a:r>
            <a:r>
              <a:rPr lang="en-US" sz="1100" b="1" i="0" dirty="0">
                <a:solidFill>
                  <a:srgbClr val="211915"/>
                </a:solidFill>
              </a:rPr>
              <a:t> </a:t>
            </a:r>
            <a:r>
              <a:rPr lang="en-US" sz="1100" b="1" i="0" dirty="0" err="1">
                <a:solidFill>
                  <a:srgbClr val="211915"/>
                </a:solidFill>
              </a:rPr>
              <a:t>trabaja</a:t>
            </a:r>
            <a:r>
              <a:rPr lang="en-US" sz="1100" b="1" i="0" dirty="0">
                <a:solidFill>
                  <a:srgbClr val="211915"/>
                </a:solidFill>
              </a:rPr>
              <a:t> hoy el </a:t>
            </a:r>
            <a:r>
              <a:rPr lang="en-US" sz="1100" b="1" i="0" dirty="0" err="1">
                <a:solidFill>
                  <a:srgbClr val="211915"/>
                </a:solidFill>
              </a:rPr>
              <a:t>equipo</a:t>
            </a:r>
            <a:r>
              <a:rPr lang="en-US" sz="1100" b="1" i="0" dirty="0">
                <a:solidFill>
                  <a:srgbClr val="211915"/>
                </a:solidFill>
              </a:rPr>
              <a:t>?</a:t>
            </a:r>
          </a:p>
          <a:p>
            <a:pPr algn="l">
              <a:lnSpc>
                <a:spcPct val="110000"/>
              </a:lnSpc>
            </a:pPr>
            <a:r>
              <a:rPr lang="en-US" sz="950" b="0" i="0" dirty="0" err="1">
                <a:solidFill>
                  <a:srgbClr val="7A7A7A"/>
                </a:solidFill>
              </a:rPr>
              <a:t>Período</a:t>
            </a:r>
            <a:r>
              <a:rPr lang="en-US" sz="950" b="0" i="0" dirty="0">
                <a:solidFill>
                  <a:srgbClr val="7A7A7A"/>
                </a:solidFill>
              </a:rPr>
              <a:t> de </a:t>
            </a:r>
            <a:r>
              <a:rPr lang="en-US" sz="950" b="0" i="0" dirty="0" err="1">
                <a:solidFill>
                  <a:srgbClr val="7A7A7A"/>
                </a:solidFill>
              </a:rPr>
              <a:t>referencia</a:t>
            </a:r>
            <a:r>
              <a:rPr lang="en-US" sz="950" b="0" i="0" dirty="0">
                <a:solidFill>
                  <a:srgbClr val="7A7A7A"/>
                </a:solidFill>
              </a:rPr>
              <a:t> con </a:t>
            </a:r>
            <a:r>
              <a:rPr lang="en-US" sz="950" b="0" i="0" dirty="0" err="1">
                <a:solidFill>
                  <a:srgbClr val="7A7A7A"/>
                </a:solidFill>
              </a:rPr>
              <a:t>trabajo</a:t>
            </a:r>
            <a:r>
              <a:rPr lang="en-US" sz="950" b="0" i="0" dirty="0">
                <a:solidFill>
                  <a:srgbClr val="7A7A7A"/>
                </a:solidFill>
              </a:rPr>
              <a:t> comparable.</a:t>
            </a:r>
            <a:endParaRPr lang="es-ES" sz="1100" b="0" i="0" dirty="0">
              <a:solidFill>
                <a:srgbClr val="7A7A7A"/>
              </a:solidFill>
            </a:endParaRPr>
          </a:p>
        </p:txBody>
      </p:sp>
      <p:sp>
        <p:nvSpPr>
          <p:cNvPr id="44" name="tb2"/>
          <p:cNvSpPr txBox="1"/>
          <p:nvPr/>
        </p:nvSpPr>
        <p:spPr>
          <a:xfrm>
            <a:off x="2487168" y="3337560"/>
            <a:ext cx="1691640" cy="10058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lang="en-US" sz="1000" b="1" i="0" spc="50">
                <a:solidFill>
                  <a:srgbClr val="7A7A7A"/>
                </a:solidFill>
              </a:rPr>
              <a:t>02 · HIPÓTESIS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lang="en-US" sz="1100" b="1" i="0">
                <a:solidFill>
                  <a:srgbClr val="211915"/>
                </a:solidFill>
              </a:rPr>
              <a:t>¿Qué creemos que cambiará?</a:t>
            </a:r>
          </a:p>
          <a:p>
            <a:pPr algn="l">
              <a:lnSpc>
                <a:spcPct val="110000"/>
              </a:lnSpc>
            </a:pPr>
            <a:r>
              <a:rPr lang="en-US" sz="950" b="0" i="0">
                <a:solidFill>
                  <a:srgbClr val="7A7A7A"/>
                </a:solidFill>
              </a:rPr>
              <a:t>Un cambio concreto y observable.</a:t>
            </a:r>
            <a:endParaRPr lang="es-ES" sz="1100" b="0" i="0">
              <a:solidFill>
                <a:srgbClr val="7A7A7A"/>
              </a:solidFill>
            </a:endParaRPr>
          </a:p>
        </p:txBody>
      </p:sp>
      <p:sp>
        <p:nvSpPr>
          <p:cNvPr id="47" name="tb3"/>
          <p:cNvSpPr txBox="1"/>
          <p:nvPr/>
        </p:nvSpPr>
        <p:spPr>
          <a:xfrm>
            <a:off x="4315968" y="2057400"/>
            <a:ext cx="1691640" cy="100584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lang="en-US" sz="1000" b="1" i="0" spc="50">
                <a:solidFill>
                  <a:srgbClr val="7A7A7A"/>
                </a:solidFill>
              </a:rPr>
              <a:t>03 · INTERVENCIÓN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lang="en-US" sz="1100" b="1" i="0">
                <a:solidFill>
                  <a:srgbClr val="211915"/>
                </a:solidFill>
              </a:rPr>
              <a:t>¿Dónde usamos Copilot?</a:t>
            </a:r>
          </a:p>
          <a:p>
            <a:pPr algn="l">
              <a:lnSpc>
                <a:spcPct val="110000"/>
              </a:lnSpc>
            </a:pPr>
            <a:r>
              <a:rPr lang="en-US" sz="950" b="0" i="0">
                <a:solidFill>
                  <a:srgbClr val="7A7A7A"/>
                </a:solidFill>
              </a:rPr>
              <a:t>En trabajo cotidiano, no solo en migraciones.</a:t>
            </a:r>
            <a:endParaRPr lang="es-ES" sz="1100" b="0" i="0">
              <a:solidFill>
                <a:srgbClr val="7A7A7A"/>
              </a:solidFill>
            </a:endParaRPr>
          </a:p>
        </p:txBody>
      </p:sp>
      <p:sp>
        <p:nvSpPr>
          <p:cNvPr id="50" name="tb4"/>
          <p:cNvSpPr txBox="1"/>
          <p:nvPr/>
        </p:nvSpPr>
        <p:spPr>
          <a:xfrm>
            <a:off x="6144768" y="3337560"/>
            <a:ext cx="1691640" cy="10058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lang="en-US" sz="1000" b="1" i="0" spc="50">
                <a:solidFill>
                  <a:srgbClr val="7A7A7A"/>
                </a:solidFill>
              </a:rPr>
              <a:t>04 · OBSERVACIÓN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lang="en-US" sz="1100" b="1" i="0">
                <a:solidFill>
                  <a:srgbClr val="211915"/>
                </a:solidFill>
              </a:rPr>
              <a:t>¿Cambió el indicador?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lang="en-US" sz="950" b="0" i="0">
                <a:solidFill>
                  <a:srgbClr val="7A7A7A"/>
                </a:solidFill>
              </a:rPr>
              <a:t>Antes y después, sin deteriorar calidad.</a:t>
            </a:r>
            <a:endParaRPr lang="es-ES" sz="1100" b="0" i="0">
              <a:solidFill>
                <a:srgbClr val="7A7A7A"/>
              </a:solidFill>
            </a:endParaRPr>
          </a:p>
        </p:txBody>
      </p:sp>
      <p:sp>
        <p:nvSpPr>
          <p:cNvPr id="52" name="tb5"/>
          <p:cNvSpPr txBox="1"/>
          <p:nvPr/>
        </p:nvSpPr>
        <p:spPr>
          <a:xfrm>
            <a:off x="8275320" y="2011680"/>
            <a:ext cx="2011680" cy="1051560"/>
          </a:xfrm>
          <a:prstGeom prst="rect">
            <a:avLst/>
          </a:prstGeom>
          <a:noFill/>
        </p:spPr>
        <p:txBody>
          <a:bodyPr wrap="square" lIns="0" tIns="0" rIns="0" bIns="0" anchor="b">
            <a:normAutofit lnSpcReduction="10000"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lang="en-US" sz="1000" b="1" i="0" spc="50">
                <a:solidFill>
                  <a:srgbClr val="ED1C29"/>
                </a:solidFill>
              </a:rPr>
              <a:t>05 · DESTINO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lang="en-US" sz="1600" b="1" i="0">
                <a:solidFill>
                  <a:srgbClr val="ED1C29"/>
                </a:solidFill>
              </a:rPr>
              <a:t>¿Qué hicimos con la capacidad generada?</a:t>
            </a:r>
          </a:p>
          <a:p>
            <a:pPr algn="l">
              <a:lnSpc>
                <a:spcPct val="110000"/>
              </a:lnSpc>
            </a:pPr>
            <a:r>
              <a:rPr lang="en-US" sz="950" b="0" i="0">
                <a:solidFill>
                  <a:srgbClr val="7A7A7A"/>
                </a:solidFill>
              </a:rPr>
              <a:t>Costo, trabajo adicional, entrega adelantada o menos reproceso.</a:t>
            </a:r>
            <a:endParaRPr lang="es-ES" sz="1100" b="0" i="0">
              <a:solidFill>
                <a:srgbClr val="7A7A7A"/>
              </a:solidFill>
            </a:endParaRPr>
          </a:p>
        </p:txBody>
      </p:sp>
      <p:sp>
        <p:nvSpPr>
          <p:cNvPr id="56" name="tb6"/>
          <p:cNvSpPr txBox="1"/>
          <p:nvPr/>
        </p:nvSpPr>
        <p:spPr>
          <a:xfrm>
            <a:off x="10104120" y="3337560"/>
            <a:ext cx="1426464" cy="10058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lang="en-US" sz="1000" b="1" i="0" spc="50">
                <a:solidFill>
                  <a:srgbClr val="7A7A7A"/>
                </a:solidFill>
              </a:rPr>
              <a:t>06 · RESULTADO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lang="en-US" sz="1100" b="1" i="0">
                <a:solidFill>
                  <a:srgbClr val="211915"/>
                </a:solidFill>
              </a:rPr>
              <a:t>¿Cambió un resultado operativo o de negocio?</a:t>
            </a:r>
          </a:p>
          <a:p>
            <a:pPr algn="l">
              <a:lnSpc>
                <a:spcPct val="110000"/>
              </a:lnSpc>
            </a:pPr>
            <a:r>
              <a:rPr lang="en-US" sz="950" b="0" i="0">
                <a:solidFill>
                  <a:srgbClr val="7A7A7A"/>
                </a:solidFill>
              </a:rPr>
              <a:t>Un KPI observable del negocio.</a:t>
            </a:r>
            <a:endParaRPr lang="es-ES" sz="1100" b="0" i="0">
              <a:solidFill>
                <a:srgbClr val="7A7A7A"/>
              </a:solidFill>
            </a:endParaRPr>
          </a:p>
        </p:txBody>
      </p:sp>
      <p:sp>
        <p:nvSpPr>
          <p:cNvPr id="25" name="sh25"/>
          <p:cNvSpPr/>
          <p:nvPr/>
        </p:nvSpPr>
        <p:spPr>
          <a:xfrm>
            <a:off x="658368" y="4892040"/>
            <a:ext cx="10400000" cy="475488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146304" tIns="73152" rIns="146304" bIns="73152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400" b="1" i="0">
                <a:solidFill>
                  <a:srgbClr val="FFFFFF"/>
                </a:solidFill>
              </a:rPr>
              <a:t>Primero el cambio técnico. Después, qué hicimos con esa capacidad y qué resultado produjo.</a:t>
            </a:r>
          </a:p>
        </p:txBody>
      </p:sp>
      <p:sp>
        <p:nvSpPr>
          <p:cNvPr id="57" name="chipCondicionB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577840"/>
            <a:ext cx="10400000" cy="330200"/>
          </a:xfrm>
          <a:prstGeom prst="rect">
            <a:avLst/>
          </a:prstGeom>
          <a:solidFill>
            <a:srgbClr val="211915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endParaRPr lang="es-ES"/>
          </a:p>
        </p:txBody>
      </p:sp>
      <p:sp>
        <p:nvSpPr>
          <p:cNvPr id="58" name="chipCondicionTxt"/>
          <p:cNvSpPr txBox="1"/>
          <p:nvPr/>
        </p:nvSpPr>
        <p:spPr>
          <a:xfrm>
            <a:off x="804672" y="5614416"/>
            <a:ext cx="10100000" cy="258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s-ES" sz="900" b="1" i="0" spc="50">
                <a:solidFill>
                  <a:srgbClr val="FFFFFF"/>
                </a:solidFill>
              </a:rPr>
              <a:t>COMPARABILIDAD · </a:t>
            </a:r>
            <a:r>
              <a:rPr lang="es-ES" sz="900" b="0" i="0" spc="50">
                <a:solidFill>
                  <a:srgbClr val="FFFFFF"/>
                </a:solidFill>
              </a:rPr>
              <a:t>Mismo tipo de trabajo · equipo estable · período definido</a:t>
            </a:r>
            <a:endParaRPr lang="es-ES" sz="1000" b="0" i="0">
              <a:solidFill>
                <a:srgbClr val="FFFFFF"/>
              </a:solidFill>
            </a:endParaRPr>
          </a:p>
        </p:txBody>
      </p:sp>
      <p:sp>
        <p:nvSpPr>
          <p:cNvPr id="29" name="tb29"/>
          <p:cNvSpPr txBox="1"/>
          <p:nvPr/>
        </p:nvSpPr>
        <p:spPr>
          <a:xfrm>
            <a:off x="658368" y="6272784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211915"/>
                </a:solidFill>
              </a:rPr>
              <a:t>Tuya   ·   Del valor de GitHub Copilot</a:t>
            </a:r>
          </a:p>
        </p:txBody>
      </p:sp>
      <p:sp>
        <p:nvSpPr>
          <p:cNvPr id="30" name="tb30"/>
          <p:cNvSpPr txBox="1"/>
          <p:nvPr/>
        </p:nvSpPr>
        <p:spPr>
          <a:xfrm>
            <a:off x="10436322" y="6272784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ED1C29"/>
                </a:solidFill>
              </a:rPr>
              <a:t>07</a:t>
            </a:r>
          </a:p>
        </p:txBody>
      </p:sp>
      <p:pic>
        <p:nvPicPr>
          <p:cNvPr id="900" name="Logo Tuya" descr="Logo corporativo Tuy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2200" y="321276"/>
            <a:ext cx="6400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101"/>
          <p:cNvSpPr/>
          <p:nvPr/>
        </p:nvSpPr>
        <p:spPr>
          <a:xfrm>
            <a:off x="658368" y="384048"/>
            <a:ext cx="146304" cy="14630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02" name="tb102"/>
          <p:cNvSpPr txBox="1"/>
          <p:nvPr/>
        </p:nvSpPr>
        <p:spPr>
          <a:xfrm>
            <a:off x="914400" y="36576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 spc="50">
                <a:solidFill>
                  <a:srgbClr val="ED1C29"/>
                </a:solidFill>
              </a:rPr>
              <a:t>EJEMPLOS ILUSTRATIVOS</a:t>
            </a:r>
          </a:p>
        </p:txBody>
      </p:sp>
      <p:sp>
        <p:nvSpPr>
          <p:cNvPr id="103" name="tb103"/>
          <p:cNvSpPr txBox="1"/>
          <p:nvPr/>
        </p:nvSpPr>
        <p:spPr>
          <a:xfrm>
            <a:off x="658368" y="713232"/>
            <a:ext cx="9326880" cy="56692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3000" b="1" i="0">
                <a:solidFill>
                  <a:srgbClr val="211915"/>
                </a:solidFill>
              </a:rPr>
              <a:t>Cómo se vería cada mecanismo en la práctica</a:t>
            </a:r>
          </a:p>
        </p:txBody>
      </p:sp>
      <p:sp>
        <p:nvSpPr>
          <p:cNvPr id="105" name="tb105"/>
          <p:cNvSpPr txBox="1"/>
          <p:nvPr/>
        </p:nvSpPr>
        <p:spPr>
          <a:xfrm>
            <a:off x="658368" y="6272784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211915"/>
                </a:solidFill>
              </a:rPr>
              <a:t>Tuya   ·   Del valor de GitHub Copilot</a:t>
            </a:r>
          </a:p>
        </p:txBody>
      </p:sp>
      <p:sp>
        <p:nvSpPr>
          <p:cNvPr id="106" name="tb106"/>
          <p:cNvSpPr txBox="1"/>
          <p:nvPr/>
        </p:nvSpPr>
        <p:spPr>
          <a:xfrm>
            <a:off x="10433304" y="6272784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ED1C29"/>
                </a:solidFill>
              </a:rPr>
              <a:t>08</a:t>
            </a:r>
          </a:p>
        </p:txBody>
      </p:sp>
      <p:pic>
        <p:nvPicPr>
          <p:cNvPr id="900" name="Logo Tuy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2200" y="321276"/>
            <a:ext cx="640080" cy="320040"/>
          </a:xfrm>
          <a:prstGeom prst="rect">
            <a:avLst/>
          </a:prstGeom>
        </p:spPr>
      </p:pic>
      <p:sp>
        <p:nvSpPr>
          <p:cNvPr id="107" name="sh107"/>
          <p:cNvSpPr/>
          <p:nvPr/>
        </p:nvSpPr>
        <p:spPr>
          <a:xfrm>
            <a:off x="658368" y="1700784"/>
            <a:ext cx="5440680" cy="3968496"/>
          </a:xfrm>
          <a:prstGeom prst="rect">
            <a:avLst/>
          </a:prstGeom>
          <a:noFill/>
          <a:ln w="12700">
            <a:solidFill>
              <a:srgbClr val="E3E0DE"/>
            </a:solidFill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09" name="tb109"/>
          <p:cNvSpPr txBox="1"/>
          <p:nvPr/>
        </p:nvSpPr>
        <p:spPr>
          <a:xfrm>
            <a:off x="932688" y="1975104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800" b="1" i="0">
                <a:solidFill>
                  <a:srgbClr val="211915"/>
                </a:solidFill>
              </a:rPr>
              <a:t>Lo mismo con menos</a:t>
            </a:r>
          </a:p>
        </p:txBody>
      </p:sp>
      <p:sp>
        <p:nvSpPr>
          <p:cNvPr id="110" name="sh110"/>
          <p:cNvSpPr/>
          <p:nvPr/>
        </p:nvSpPr>
        <p:spPr>
          <a:xfrm>
            <a:off x="932688" y="2670048"/>
            <a:ext cx="82296" cy="82296"/>
          </a:xfrm>
          <a:prstGeom prst="rect">
            <a:avLst/>
          </a:prstGeom>
          <a:solidFill>
            <a:srgbClr val="C9C3C0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11" name="tb111"/>
          <p:cNvSpPr txBox="1"/>
          <p:nvPr/>
        </p:nvSpPr>
        <p:spPr>
          <a:xfrm>
            <a:off x="1161288" y="2578608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7A7A7A"/>
                </a:solidFill>
              </a:rPr>
              <a:t>Copilot</a:t>
            </a:r>
          </a:p>
        </p:txBody>
      </p:sp>
      <p:sp>
        <p:nvSpPr>
          <p:cNvPr id="112" name="sh112"/>
          <p:cNvSpPr/>
          <p:nvPr/>
        </p:nvSpPr>
        <p:spPr>
          <a:xfrm>
            <a:off x="932688" y="3072384"/>
            <a:ext cx="82296" cy="82296"/>
          </a:xfrm>
          <a:prstGeom prst="rect">
            <a:avLst/>
          </a:prstGeom>
          <a:solidFill>
            <a:srgbClr val="C9C3C0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13" name="tb113"/>
          <p:cNvSpPr txBox="1"/>
          <p:nvPr/>
        </p:nvSpPr>
        <p:spPr>
          <a:xfrm>
            <a:off x="1161288" y="2980944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7A7A7A"/>
                </a:solidFill>
              </a:rPr>
              <a:t>Mayor capacidad interna</a:t>
            </a:r>
          </a:p>
        </p:txBody>
      </p:sp>
      <p:sp>
        <p:nvSpPr>
          <p:cNvPr id="114" name="sh114"/>
          <p:cNvSpPr/>
          <p:nvPr/>
        </p:nvSpPr>
        <p:spPr>
          <a:xfrm>
            <a:off x="932688" y="3474720"/>
            <a:ext cx="82296" cy="82296"/>
          </a:xfrm>
          <a:prstGeom prst="rect">
            <a:avLst/>
          </a:prstGeom>
          <a:solidFill>
            <a:srgbClr val="C9C3C0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15" name="tb115"/>
          <p:cNvSpPr txBox="1"/>
          <p:nvPr/>
        </p:nvSpPr>
        <p:spPr>
          <a:xfrm>
            <a:off x="1161288" y="3383280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7A7A7A"/>
                </a:solidFill>
              </a:rPr>
              <a:t>El equipo absorbe una actividad hoy tercerizada</a:t>
            </a:r>
          </a:p>
        </p:txBody>
      </p:sp>
      <p:sp>
        <p:nvSpPr>
          <p:cNvPr id="116" name="sh116"/>
          <p:cNvSpPr/>
          <p:nvPr/>
        </p:nvSpPr>
        <p:spPr>
          <a:xfrm>
            <a:off x="932688" y="3877056"/>
            <a:ext cx="82296" cy="82296"/>
          </a:xfrm>
          <a:prstGeom prst="rect">
            <a:avLst/>
          </a:prstGeom>
          <a:solidFill>
            <a:srgbClr val="C9C3C0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17" name="tb117"/>
          <p:cNvSpPr txBox="1"/>
          <p:nvPr/>
        </p:nvSpPr>
        <p:spPr>
          <a:xfrm>
            <a:off x="1161288" y="3785616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7A7A7A"/>
                </a:solidFill>
              </a:rPr>
              <a:t>Menos capacidad externa requerida</a:t>
            </a:r>
          </a:p>
        </p:txBody>
      </p:sp>
      <p:sp>
        <p:nvSpPr>
          <p:cNvPr id="118" name="sh118"/>
          <p:cNvSpPr/>
          <p:nvPr/>
        </p:nvSpPr>
        <p:spPr>
          <a:xfrm>
            <a:off x="932688" y="4279392"/>
            <a:ext cx="82296" cy="82296"/>
          </a:xfrm>
          <a:prstGeom prst="rect">
            <a:avLst/>
          </a:prstGeom>
          <a:solidFill>
            <a:srgbClr val="211915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19" name="tb119"/>
          <p:cNvSpPr txBox="1"/>
          <p:nvPr/>
        </p:nvSpPr>
        <p:spPr>
          <a:xfrm>
            <a:off x="1161288" y="4187952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50" b="1" i="0">
                <a:solidFill>
                  <a:srgbClr val="211915"/>
                </a:solidFill>
              </a:rPr>
              <a:t>Menor costo operacional</a:t>
            </a:r>
          </a:p>
        </p:txBody>
      </p:sp>
      <p:sp>
        <p:nvSpPr>
          <p:cNvPr id="120" name="tb120"/>
          <p:cNvSpPr txBox="1"/>
          <p:nvPr/>
        </p:nvSpPr>
        <p:spPr>
          <a:xfrm>
            <a:off x="1161288" y="4608576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0" i="1">
                <a:solidFill>
                  <a:srgbClr val="7A7A7A"/>
                </a:solidFill>
              </a:rPr>
              <a:t>Manteniendo alcance, calidad y servicio.</a:t>
            </a:r>
          </a:p>
        </p:txBody>
      </p:sp>
      <p:sp>
        <p:nvSpPr>
          <p:cNvPr id="121" name="sh121"/>
          <p:cNvSpPr/>
          <p:nvPr/>
        </p:nvSpPr>
        <p:spPr>
          <a:xfrm>
            <a:off x="932688" y="4937760"/>
            <a:ext cx="4983480" cy="18288"/>
          </a:xfrm>
          <a:prstGeom prst="rect">
            <a:avLst/>
          </a:prstGeom>
          <a:solidFill>
            <a:srgbClr val="E3E0DE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22" name="tb122"/>
          <p:cNvSpPr txBox="1"/>
          <p:nvPr/>
        </p:nvSpPr>
        <p:spPr>
          <a:xfrm>
            <a:off x="932688" y="5084064"/>
            <a:ext cx="4983480" cy="502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2000" b="1" i="0">
                <a:solidFill>
                  <a:srgbClr val="ED1C29"/>
                </a:solidFill>
              </a:rPr>
              <a:t>¿Qué dejamos realmente de gastar?</a:t>
            </a:r>
          </a:p>
        </p:txBody>
      </p:sp>
      <p:sp>
        <p:nvSpPr>
          <p:cNvPr id="123" name="sh123"/>
          <p:cNvSpPr/>
          <p:nvPr/>
        </p:nvSpPr>
        <p:spPr>
          <a:xfrm>
            <a:off x="6355080" y="1700784"/>
            <a:ext cx="5175504" cy="3968496"/>
          </a:xfrm>
          <a:prstGeom prst="rect">
            <a:avLst/>
          </a:prstGeom>
          <a:noFill/>
          <a:ln w="12700">
            <a:solidFill>
              <a:srgbClr val="E3E0DE"/>
            </a:solidFill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25" name="tb125"/>
          <p:cNvSpPr txBox="1"/>
          <p:nvPr/>
        </p:nvSpPr>
        <p:spPr>
          <a:xfrm>
            <a:off x="6547104" y="1975104"/>
            <a:ext cx="4718304" cy="365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800" b="1" i="0">
                <a:solidFill>
                  <a:srgbClr val="211915"/>
                </a:solidFill>
              </a:rPr>
              <a:t>Más con lo mismo</a:t>
            </a:r>
          </a:p>
        </p:txBody>
      </p:sp>
      <p:sp>
        <p:nvSpPr>
          <p:cNvPr id="126" name="sh126"/>
          <p:cNvSpPr/>
          <p:nvPr/>
        </p:nvSpPr>
        <p:spPr>
          <a:xfrm>
            <a:off x="6629400" y="2670048"/>
            <a:ext cx="82296" cy="82296"/>
          </a:xfrm>
          <a:prstGeom prst="rect">
            <a:avLst/>
          </a:prstGeom>
          <a:solidFill>
            <a:srgbClr val="C9C3C0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27" name="tb127"/>
          <p:cNvSpPr txBox="1"/>
          <p:nvPr/>
        </p:nvSpPr>
        <p:spPr>
          <a:xfrm>
            <a:off x="6858000" y="2578608"/>
            <a:ext cx="4480560" cy="3840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7A7A7A"/>
                </a:solidFill>
              </a:rPr>
              <a:t>Copilot</a:t>
            </a:r>
          </a:p>
        </p:txBody>
      </p:sp>
      <p:sp>
        <p:nvSpPr>
          <p:cNvPr id="128" name="sh128"/>
          <p:cNvSpPr/>
          <p:nvPr/>
        </p:nvSpPr>
        <p:spPr>
          <a:xfrm>
            <a:off x="6629400" y="3072384"/>
            <a:ext cx="82296" cy="82296"/>
          </a:xfrm>
          <a:prstGeom prst="rect">
            <a:avLst/>
          </a:prstGeom>
          <a:solidFill>
            <a:srgbClr val="C9C3C0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29" name="tb129"/>
          <p:cNvSpPr txBox="1"/>
          <p:nvPr/>
        </p:nvSpPr>
        <p:spPr>
          <a:xfrm>
            <a:off x="6858000" y="2980944"/>
            <a:ext cx="4480560" cy="3840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7A7A7A"/>
                </a:solidFill>
              </a:rPr>
              <a:t>Capacidad liberada</a:t>
            </a:r>
          </a:p>
        </p:txBody>
      </p:sp>
      <p:sp>
        <p:nvSpPr>
          <p:cNvPr id="130" name="sh130"/>
          <p:cNvSpPr/>
          <p:nvPr/>
        </p:nvSpPr>
        <p:spPr>
          <a:xfrm>
            <a:off x="6629400" y="3474720"/>
            <a:ext cx="82296" cy="82296"/>
          </a:xfrm>
          <a:prstGeom prst="rect">
            <a:avLst/>
          </a:prstGeom>
          <a:solidFill>
            <a:srgbClr val="C9C3C0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31" name="tb131"/>
          <p:cNvSpPr txBox="1"/>
          <p:nvPr/>
        </p:nvSpPr>
        <p:spPr>
          <a:xfrm>
            <a:off x="6858000" y="3383280"/>
            <a:ext cx="4480560" cy="3840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7A7A7A"/>
                </a:solidFill>
              </a:rPr>
              <a:t>El Product Owner prioriza trabajo adicional</a:t>
            </a:r>
          </a:p>
        </p:txBody>
      </p:sp>
      <p:sp>
        <p:nvSpPr>
          <p:cNvPr id="132" name="sh132"/>
          <p:cNvSpPr/>
          <p:nvPr/>
        </p:nvSpPr>
        <p:spPr>
          <a:xfrm>
            <a:off x="6629400" y="3877056"/>
            <a:ext cx="82296" cy="82296"/>
          </a:xfrm>
          <a:prstGeom prst="rect">
            <a:avLst/>
          </a:prstGeom>
          <a:solidFill>
            <a:srgbClr val="C9C3C0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33" name="tb133"/>
          <p:cNvSpPr txBox="1"/>
          <p:nvPr/>
        </p:nvSpPr>
        <p:spPr>
          <a:xfrm>
            <a:off x="6858000" y="3785616"/>
            <a:ext cx="4480560" cy="3840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7A7A7A"/>
                </a:solidFill>
              </a:rPr>
              <a:t>Una iniciativa adicional entregada</a:t>
            </a:r>
          </a:p>
        </p:txBody>
      </p:sp>
      <p:sp>
        <p:nvSpPr>
          <p:cNvPr id="134" name="sh134"/>
          <p:cNvSpPr/>
          <p:nvPr/>
        </p:nvSpPr>
        <p:spPr>
          <a:xfrm>
            <a:off x="6629400" y="4279392"/>
            <a:ext cx="82296" cy="82296"/>
          </a:xfrm>
          <a:prstGeom prst="rect">
            <a:avLst/>
          </a:prstGeom>
          <a:solidFill>
            <a:srgbClr val="211915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35" name="tb135"/>
          <p:cNvSpPr txBox="1"/>
          <p:nvPr/>
        </p:nvSpPr>
        <p:spPr>
          <a:xfrm>
            <a:off x="6858000" y="4187952"/>
            <a:ext cx="4480560" cy="3840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50" b="1" i="0">
                <a:solidFill>
                  <a:srgbClr val="211915"/>
                </a:solidFill>
              </a:rPr>
              <a:t>Se afecta un KPI del producto o del negocio</a:t>
            </a:r>
          </a:p>
        </p:txBody>
      </p:sp>
      <p:sp>
        <p:nvSpPr>
          <p:cNvPr id="136" name="tb136"/>
          <p:cNvSpPr txBox="1"/>
          <p:nvPr/>
        </p:nvSpPr>
        <p:spPr>
          <a:xfrm>
            <a:off x="6858000" y="4608576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0" i="1">
                <a:solidFill>
                  <a:srgbClr val="7A7A7A"/>
                </a:solidFill>
              </a:rPr>
              <a:t>Con la misma estructura y el mismo equipo.</a:t>
            </a:r>
          </a:p>
        </p:txBody>
      </p:sp>
      <p:sp>
        <p:nvSpPr>
          <p:cNvPr id="137" name="sh137"/>
          <p:cNvSpPr/>
          <p:nvPr/>
        </p:nvSpPr>
        <p:spPr>
          <a:xfrm>
            <a:off x="6629400" y="4937760"/>
            <a:ext cx="4718304" cy="18288"/>
          </a:xfrm>
          <a:prstGeom prst="rect">
            <a:avLst/>
          </a:prstGeom>
          <a:solidFill>
            <a:srgbClr val="E3E0DE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38" name="tb138"/>
          <p:cNvSpPr txBox="1"/>
          <p:nvPr/>
        </p:nvSpPr>
        <p:spPr>
          <a:xfrm>
            <a:off x="6629400" y="5084064"/>
            <a:ext cx="4718304" cy="502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2000" b="1" i="0">
                <a:solidFill>
                  <a:srgbClr val="ED1C29"/>
                </a:solidFill>
              </a:rPr>
              <a:t>¿Qué hacemos ahora que antes no cabía?</a:t>
            </a:r>
          </a:p>
        </p:txBody>
      </p:sp>
      <p:sp>
        <p:nvSpPr>
          <p:cNvPr id="139" name="tb139"/>
          <p:cNvSpPr txBox="1"/>
          <p:nvPr/>
        </p:nvSpPr>
        <p:spPr>
          <a:xfrm>
            <a:off x="658368" y="5760720"/>
            <a:ext cx="10872216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50" b="0" i="1">
                <a:solidFill>
                  <a:srgbClr val="7A7A7A"/>
                </a:solidFill>
              </a:rPr>
              <a:t>Ejemplos ilustrativos. No representan resultados medidos en Tuya.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101"/>
          <p:cNvSpPr/>
          <p:nvPr/>
        </p:nvSpPr>
        <p:spPr>
          <a:xfrm>
            <a:off x="658368" y="384048"/>
            <a:ext cx="146304" cy="14630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02" name="tb102"/>
          <p:cNvSpPr txBox="1"/>
          <p:nvPr/>
        </p:nvSpPr>
        <p:spPr>
          <a:xfrm>
            <a:off x="914400" y="36576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 spc="50">
                <a:solidFill>
                  <a:srgbClr val="ED1C29"/>
                </a:solidFill>
              </a:rPr>
              <a:t>EJEMPLOS ILUSTRATIVOS</a:t>
            </a:r>
          </a:p>
        </p:txBody>
      </p:sp>
      <p:sp>
        <p:nvSpPr>
          <p:cNvPr id="103" name="tb103"/>
          <p:cNvSpPr txBox="1"/>
          <p:nvPr/>
        </p:nvSpPr>
        <p:spPr>
          <a:xfrm>
            <a:off x="658368" y="713232"/>
            <a:ext cx="9326880" cy="56692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3000" b="1" i="0">
                <a:solidFill>
                  <a:srgbClr val="211915"/>
                </a:solidFill>
              </a:rPr>
              <a:t>Cómo se vería cada mecanismo en la práctica</a:t>
            </a:r>
          </a:p>
        </p:txBody>
      </p:sp>
      <p:sp>
        <p:nvSpPr>
          <p:cNvPr id="105" name="tb105"/>
          <p:cNvSpPr txBox="1"/>
          <p:nvPr/>
        </p:nvSpPr>
        <p:spPr>
          <a:xfrm>
            <a:off x="658368" y="6272784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211915"/>
                </a:solidFill>
              </a:rPr>
              <a:t>Tuya   ·   Del valor de GitHub Copilot</a:t>
            </a:r>
          </a:p>
        </p:txBody>
      </p:sp>
      <p:sp>
        <p:nvSpPr>
          <p:cNvPr id="106" name="tb106"/>
          <p:cNvSpPr txBox="1"/>
          <p:nvPr/>
        </p:nvSpPr>
        <p:spPr>
          <a:xfrm>
            <a:off x="10433304" y="6272784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ED1C29"/>
                </a:solidFill>
              </a:rPr>
              <a:t>09</a:t>
            </a:r>
          </a:p>
        </p:txBody>
      </p:sp>
      <p:pic>
        <p:nvPicPr>
          <p:cNvPr id="900" name="Logo Tuy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2200" y="321276"/>
            <a:ext cx="640080" cy="320040"/>
          </a:xfrm>
          <a:prstGeom prst="rect">
            <a:avLst/>
          </a:prstGeom>
        </p:spPr>
      </p:pic>
      <p:sp>
        <p:nvSpPr>
          <p:cNvPr id="107" name="sh107"/>
          <p:cNvSpPr/>
          <p:nvPr/>
        </p:nvSpPr>
        <p:spPr>
          <a:xfrm>
            <a:off x="658368" y="1700784"/>
            <a:ext cx="5075940" cy="3968496"/>
          </a:xfrm>
          <a:prstGeom prst="rect">
            <a:avLst/>
          </a:prstGeom>
          <a:noFill/>
          <a:ln w="12700">
            <a:solidFill>
              <a:srgbClr val="E3E0DE"/>
            </a:solidFill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09" name="tb109"/>
          <p:cNvSpPr txBox="1"/>
          <p:nvPr/>
        </p:nvSpPr>
        <p:spPr>
          <a:xfrm>
            <a:off x="932688" y="1975104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800" b="1" i="0">
                <a:solidFill>
                  <a:srgbClr val="211915"/>
                </a:solidFill>
              </a:rPr>
              <a:t>Valor antes</a:t>
            </a:r>
          </a:p>
        </p:txBody>
      </p:sp>
      <p:sp>
        <p:nvSpPr>
          <p:cNvPr id="110" name="sh110"/>
          <p:cNvSpPr/>
          <p:nvPr/>
        </p:nvSpPr>
        <p:spPr>
          <a:xfrm>
            <a:off x="932688" y="2670048"/>
            <a:ext cx="82296" cy="82296"/>
          </a:xfrm>
          <a:prstGeom prst="rect">
            <a:avLst/>
          </a:prstGeom>
          <a:solidFill>
            <a:srgbClr val="C9C3C0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11" name="tb111"/>
          <p:cNvSpPr txBox="1"/>
          <p:nvPr/>
        </p:nvSpPr>
        <p:spPr>
          <a:xfrm>
            <a:off x="1161288" y="2578608"/>
            <a:ext cx="4344420" cy="3840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5F5A57"/>
                </a:solidFill>
              </a:rPr>
              <a:t>Copilot</a:t>
            </a:r>
          </a:p>
        </p:txBody>
      </p:sp>
      <p:sp>
        <p:nvSpPr>
          <p:cNvPr id="112" name="sh112"/>
          <p:cNvSpPr/>
          <p:nvPr/>
        </p:nvSpPr>
        <p:spPr>
          <a:xfrm>
            <a:off x="932688" y="3072384"/>
            <a:ext cx="82296" cy="82296"/>
          </a:xfrm>
          <a:prstGeom prst="rect">
            <a:avLst/>
          </a:prstGeom>
          <a:solidFill>
            <a:srgbClr val="C9C3C0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13" name="tb113"/>
          <p:cNvSpPr txBox="1"/>
          <p:nvPr/>
        </p:nvSpPr>
        <p:spPr>
          <a:xfrm>
            <a:off x="1161288" y="2980944"/>
            <a:ext cx="4344420" cy="3840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5F5A57"/>
                </a:solidFill>
              </a:rPr>
              <a:t>Menor tiempo de ciclo técnico</a:t>
            </a:r>
          </a:p>
        </p:txBody>
      </p:sp>
      <p:sp>
        <p:nvSpPr>
          <p:cNvPr id="114" name="sh114"/>
          <p:cNvSpPr/>
          <p:nvPr/>
        </p:nvSpPr>
        <p:spPr>
          <a:xfrm>
            <a:off x="932688" y="3474720"/>
            <a:ext cx="82296" cy="82296"/>
          </a:xfrm>
          <a:prstGeom prst="rect">
            <a:avLst/>
          </a:prstGeom>
          <a:solidFill>
            <a:srgbClr val="C9C3C0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15" name="tb115"/>
          <p:cNvSpPr txBox="1"/>
          <p:nvPr/>
        </p:nvSpPr>
        <p:spPr>
          <a:xfrm>
            <a:off x="1161288" y="3383280"/>
            <a:ext cx="4344420" cy="3840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5F5A57"/>
                </a:solidFill>
              </a:rPr>
              <a:t>La iniciativa llega antes a producción</a:t>
            </a:r>
          </a:p>
        </p:txBody>
      </p:sp>
      <p:sp>
        <p:nvSpPr>
          <p:cNvPr id="116" name="sh116"/>
          <p:cNvSpPr/>
          <p:nvPr/>
        </p:nvSpPr>
        <p:spPr>
          <a:xfrm>
            <a:off x="932688" y="3877056"/>
            <a:ext cx="82296" cy="82296"/>
          </a:xfrm>
          <a:prstGeom prst="rect">
            <a:avLst/>
          </a:prstGeom>
          <a:solidFill>
            <a:srgbClr val="C9C3C0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17" name="tb117"/>
          <p:cNvSpPr txBox="1"/>
          <p:nvPr/>
        </p:nvSpPr>
        <p:spPr>
          <a:xfrm>
            <a:off x="1161288" y="3785616"/>
            <a:ext cx="4344420" cy="3840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5F5A57"/>
                </a:solidFill>
              </a:rPr>
              <a:t>El beneficio comienza antes</a:t>
            </a:r>
          </a:p>
        </p:txBody>
      </p:sp>
      <p:sp>
        <p:nvSpPr>
          <p:cNvPr id="118" name="sh118"/>
          <p:cNvSpPr/>
          <p:nvPr/>
        </p:nvSpPr>
        <p:spPr>
          <a:xfrm>
            <a:off x="932688" y="4279392"/>
            <a:ext cx="82296" cy="82296"/>
          </a:xfrm>
          <a:prstGeom prst="rect">
            <a:avLst/>
          </a:prstGeom>
          <a:solidFill>
            <a:srgbClr val="211915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19" name="tb119"/>
          <p:cNvSpPr txBox="1"/>
          <p:nvPr/>
        </p:nvSpPr>
        <p:spPr>
          <a:xfrm>
            <a:off x="1161288" y="4187952"/>
            <a:ext cx="4344420" cy="3840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50" b="1" i="0">
                <a:solidFill>
                  <a:srgbClr val="211915"/>
                </a:solidFill>
              </a:rPr>
              <a:t>Valor adelantado</a:t>
            </a:r>
          </a:p>
        </p:txBody>
      </p:sp>
      <p:sp>
        <p:nvSpPr>
          <p:cNvPr id="120" name="tb120"/>
          <p:cNvSpPr txBox="1"/>
          <p:nvPr/>
        </p:nvSpPr>
        <p:spPr>
          <a:xfrm>
            <a:off x="1161288" y="4608576"/>
            <a:ext cx="43444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0" i="1">
                <a:solidFill>
                  <a:srgbClr val="7A7A7A"/>
                </a:solidFill>
              </a:rPr>
              <a:t>El beneficio llega antes, no es adicional.</a:t>
            </a:r>
          </a:p>
        </p:txBody>
      </p:sp>
      <p:sp>
        <p:nvSpPr>
          <p:cNvPr id="121" name="sh121"/>
          <p:cNvSpPr/>
          <p:nvPr/>
        </p:nvSpPr>
        <p:spPr>
          <a:xfrm>
            <a:off x="932688" y="4937760"/>
            <a:ext cx="4709160" cy="18288"/>
          </a:xfrm>
          <a:prstGeom prst="rect">
            <a:avLst/>
          </a:prstGeom>
          <a:solidFill>
            <a:srgbClr val="E3E0DE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22" name="tb122"/>
          <p:cNvSpPr txBox="1"/>
          <p:nvPr/>
        </p:nvSpPr>
        <p:spPr>
          <a:xfrm>
            <a:off x="932688" y="5084064"/>
            <a:ext cx="4526280" cy="502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2000" b="1" i="0">
                <a:solidFill>
                  <a:srgbClr val="ED1C29"/>
                </a:solidFill>
              </a:rPr>
              <a:t>¿Qué beneficio capturamos antes?</a:t>
            </a:r>
          </a:p>
        </p:txBody>
      </p:sp>
      <p:sp>
        <p:nvSpPr>
          <p:cNvPr id="123" name="sh123"/>
          <p:cNvSpPr/>
          <p:nvPr/>
        </p:nvSpPr>
        <p:spPr>
          <a:xfrm>
            <a:off x="6144768" y="1700784"/>
            <a:ext cx="5386776" cy="3968496"/>
          </a:xfrm>
          <a:prstGeom prst="rect">
            <a:avLst/>
          </a:prstGeom>
          <a:noFill/>
          <a:ln w="12700">
            <a:solidFill>
              <a:srgbClr val="E3E0DE"/>
            </a:solidFill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25" name="tb125"/>
          <p:cNvSpPr txBox="1"/>
          <p:nvPr/>
        </p:nvSpPr>
        <p:spPr>
          <a:xfrm>
            <a:off x="6419088" y="1975104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800" b="1" i="0">
                <a:solidFill>
                  <a:srgbClr val="211915"/>
                </a:solidFill>
              </a:rPr>
              <a:t>Menos pérdida o riesgo</a:t>
            </a:r>
          </a:p>
        </p:txBody>
      </p:sp>
      <p:sp>
        <p:nvSpPr>
          <p:cNvPr id="126" name="sh126"/>
          <p:cNvSpPr/>
          <p:nvPr/>
        </p:nvSpPr>
        <p:spPr>
          <a:xfrm>
            <a:off x="6419088" y="2670048"/>
            <a:ext cx="82296" cy="82296"/>
          </a:xfrm>
          <a:prstGeom prst="rect">
            <a:avLst/>
          </a:prstGeom>
          <a:solidFill>
            <a:srgbClr val="C9C3C0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27" name="tb127"/>
          <p:cNvSpPr txBox="1"/>
          <p:nvPr/>
        </p:nvSpPr>
        <p:spPr>
          <a:xfrm>
            <a:off x="6647688" y="2578608"/>
            <a:ext cx="4655256" cy="3840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5F5A57"/>
                </a:solidFill>
              </a:rPr>
              <a:t>Copilot</a:t>
            </a:r>
          </a:p>
        </p:txBody>
      </p:sp>
      <p:sp>
        <p:nvSpPr>
          <p:cNvPr id="128" name="sh128"/>
          <p:cNvSpPr/>
          <p:nvPr/>
        </p:nvSpPr>
        <p:spPr>
          <a:xfrm>
            <a:off x="6419088" y="3072384"/>
            <a:ext cx="82296" cy="82296"/>
          </a:xfrm>
          <a:prstGeom prst="rect">
            <a:avLst/>
          </a:prstGeom>
          <a:solidFill>
            <a:srgbClr val="C9C3C0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29" name="tb129"/>
          <p:cNvSpPr txBox="1"/>
          <p:nvPr/>
        </p:nvSpPr>
        <p:spPr>
          <a:xfrm>
            <a:off x="6647688" y="2980944"/>
            <a:ext cx="4655256" cy="3840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5F5A57"/>
                </a:solidFill>
              </a:rPr>
              <a:t>Apoyo en pruebas, revisión o debugging</a:t>
            </a:r>
          </a:p>
        </p:txBody>
      </p:sp>
      <p:sp>
        <p:nvSpPr>
          <p:cNvPr id="130" name="sh130"/>
          <p:cNvSpPr/>
          <p:nvPr/>
        </p:nvSpPr>
        <p:spPr>
          <a:xfrm>
            <a:off x="6419088" y="3474720"/>
            <a:ext cx="82296" cy="82296"/>
          </a:xfrm>
          <a:prstGeom prst="rect">
            <a:avLst/>
          </a:prstGeom>
          <a:solidFill>
            <a:srgbClr val="C9C3C0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31" name="tb131"/>
          <p:cNvSpPr txBox="1"/>
          <p:nvPr/>
        </p:nvSpPr>
        <p:spPr>
          <a:xfrm>
            <a:off x="6647688" y="3383280"/>
            <a:ext cx="4655256" cy="3840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5F5A57"/>
                </a:solidFill>
              </a:rPr>
              <a:t>Menos defectos o reprocesos</a:t>
            </a:r>
          </a:p>
        </p:txBody>
      </p:sp>
      <p:sp>
        <p:nvSpPr>
          <p:cNvPr id="132" name="sh132"/>
          <p:cNvSpPr/>
          <p:nvPr/>
        </p:nvSpPr>
        <p:spPr>
          <a:xfrm>
            <a:off x="6419088" y="3877056"/>
            <a:ext cx="82296" cy="82296"/>
          </a:xfrm>
          <a:prstGeom prst="rect">
            <a:avLst/>
          </a:prstGeom>
          <a:solidFill>
            <a:srgbClr val="C9C3C0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33" name="tb133"/>
          <p:cNvSpPr txBox="1"/>
          <p:nvPr/>
        </p:nvSpPr>
        <p:spPr>
          <a:xfrm>
            <a:off x="6647688" y="3785616"/>
            <a:ext cx="4655256" cy="3840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5F5A57"/>
                </a:solidFill>
              </a:rPr>
              <a:t>Menos incidentes y esfuerzo correctivo</a:t>
            </a:r>
          </a:p>
        </p:txBody>
      </p:sp>
      <p:sp>
        <p:nvSpPr>
          <p:cNvPr id="134" name="sh134"/>
          <p:cNvSpPr/>
          <p:nvPr/>
        </p:nvSpPr>
        <p:spPr>
          <a:xfrm>
            <a:off x="6419088" y="4279392"/>
            <a:ext cx="82296" cy="82296"/>
          </a:xfrm>
          <a:prstGeom prst="rect">
            <a:avLst/>
          </a:prstGeom>
          <a:solidFill>
            <a:srgbClr val="211915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35" name="tb135"/>
          <p:cNvSpPr txBox="1"/>
          <p:nvPr/>
        </p:nvSpPr>
        <p:spPr>
          <a:xfrm>
            <a:off x="6647688" y="4187952"/>
            <a:ext cx="4655256" cy="3840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50" b="1" i="0">
                <a:solidFill>
                  <a:srgbClr val="211915"/>
                </a:solidFill>
              </a:rPr>
              <a:t>Menor pérdida operacional</a:t>
            </a:r>
          </a:p>
        </p:txBody>
      </p:sp>
      <p:sp>
        <p:nvSpPr>
          <p:cNvPr id="136" name="tb136"/>
          <p:cNvSpPr txBox="1"/>
          <p:nvPr/>
        </p:nvSpPr>
        <p:spPr>
          <a:xfrm>
            <a:off x="6647688" y="4608576"/>
            <a:ext cx="4655256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0" i="1">
                <a:solidFill>
                  <a:srgbClr val="7A7A7A"/>
                </a:solidFill>
              </a:rPr>
              <a:t>Menos esfuerzo correctivo en el flujo.</a:t>
            </a:r>
          </a:p>
        </p:txBody>
      </p:sp>
      <p:sp>
        <p:nvSpPr>
          <p:cNvPr id="137" name="sh137"/>
          <p:cNvSpPr/>
          <p:nvPr/>
        </p:nvSpPr>
        <p:spPr>
          <a:xfrm>
            <a:off x="6419088" y="4937760"/>
            <a:ext cx="4838700" cy="18288"/>
          </a:xfrm>
          <a:prstGeom prst="rect">
            <a:avLst/>
          </a:prstGeom>
          <a:solidFill>
            <a:srgbClr val="E3E0DE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38" name="tb138"/>
          <p:cNvSpPr txBox="1"/>
          <p:nvPr/>
        </p:nvSpPr>
        <p:spPr>
          <a:xfrm>
            <a:off x="6419088" y="5084064"/>
            <a:ext cx="4838700" cy="502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2000" b="1" i="0">
                <a:solidFill>
                  <a:srgbClr val="ED1C29"/>
                </a:solidFill>
              </a:rPr>
              <a:t>¿Qué pérdida evitamos?</a:t>
            </a:r>
          </a:p>
        </p:txBody>
      </p:sp>
      <p:sp>
        <p:nvSpPr>
          <p:cNvPr id="139" name="tb139"/>
          <p:cNvSpPr txBox="1"/>
          <p:nvPr/>
        </p:nvSpPr>
        <p:spPr>
          <a:xfrm>
            <a:off x="658368" y="5760720"/>
            <a:ext cx="10872216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50" b="0" i="1">
                <a:solidFill>
                  <a:srgbClr val="7A7A7A"/>
                </a:solidFill>
              </a:rPr>
              <a:t>Ejemplos ilustrativos. No representan resultados medidos en Tuya.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sh73"/>
          <p:cNvSpPr/>
          <p:nvPr/>
        </p:nvSpPr>
        <p:spPr>
          <a:xfrm>
            <a:off x="658368" y="384048"/>
            <a:ext cx="146304" cy="14630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146304" tIns="73152" rIns="146304" bIns="73152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74" name="tb74"/>
          <p:cNvSpPr txBox="1"/>
          <p:nvPr/>
        </p:nvSpPr>
        <p:spPr>
          <a:xfrm>
            <a:off x="914400" y="36576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 spc="50">
                <a:solidFill>
                  <a:srgbClr val="ED1C29"/>
                </a:solidFill>
              </a:rPr>
              <a:t>RESPONSABILIDADES</a:t>
            </a:r>
          </a:p>
        </p:txBody>
      </p:sp>
      <p:sp>
        <p:nvSpPr>
          <p:cNvPr id="75" name="tb75"/>
          <p:cNvSpPr txBox="1"/>
          <p:nvPr/>
        </p:nvSpPr>
        <p:spPr>
          <a:xfrm>
            <a:off x="658368" y="713232"/>
            <a:ext cx="9326880" cy="685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3000" b="1" i="0">
                <a:solidFill>
                  <a:srgbClr val="211915"/>
                </a:solidFill>
              </a:rPr>
              <a:t>Ningún rol construye el caso por sí solo</a:t>
            </a:r>
            <a:endParaRPr lang="es-ES" sz="3000" b="1" i="0" dirty="0">
              <a:solidFill>
                <a:srgbClr val="211915"/>
              </a:solidFill>
            </a:endParaRPr>
          </a:p>
        </p:txBody>
      </p:sp>
      <p:sp>
        <p:nvSpPr>
          <p:cNvPr id="52" name="sh52"/>
          <p:cNvSpPr/>
          <p:nvPr/>
        </p:nvSpPr>
        <p:spPr>
          <a:xfrm>
            <a:off x="658368" y="1627632"/>
            <a:ext cx="10875234" cy="786384"/>
          </a:xfrm>
          <a:prstGeom prst="rect">
            <a:avLst/>
          </a:prstGeom>
          <a:solidFill>
            <a:srgbClr val="F3F1F0"/>
          </a:solidFill>
          <a:ln>
            <a:noFill/>
          </a:ln>
        </p:spPr>
        <p:txBody>
          <a:bodyPr lIns="274320" tIns="73152" rIns="274320" bIns="73152" anchor="ctr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450" b="1" i="0">
                <a:solidFill>
                  <a:srgbClr val="211915"/>
                </a:solidFill>
              </a:rPr>
              <a:t>No llegamos con una fórmula cerrada de ROI: cada equipo aporta su conocimiento del producto</a:t>
            </a:r>
            <a:r>
              <a:rPr lang="es-ES" sz="1450" b="1" i="0" dirty="0">
                <a:solidFill>
                  <a:srgbClr val="211915"/>
                </a:solidFill>
              </a:rPr>
              <a:t>, </a:t>
            </a:r>
            <a:r>
              <a:rPr lang="es-ES" sz="1450" b="1" i="0">
                <a:solidFill>
                  <a:srgbClr val="211915"/>
                </a:solidFill>
              </a:rPr>
              <a:t>de su operación </a:t>
            </a:r>
            <a:r>
              <a:rPr lang="es-ES" sz="1450" b="1" i="0" dirty="0">
                <a:solidFill>
                  <a:srgbClr val="211915"/>
                </a:solidFill>
              </a:rPr>
              <a:t>y </a:t>
            </a:r>
            <a:r>
              <a:rPr lang="es-ES" sz="1450" b="1" i="0">
                <a:solidFill>
                  <a:srgbClr val="211915"/>
                </a:solidFill>
              </a:rPr>
              <a:t>de su distribución de capacidad</a:t>
            </a:r>
            <a:r>
              <a:rPr lang="es-ES" sz="1450" b="1" i="0" dirty="0">
                <a:solidFill>
                  <a:srgbClr val="211915"/>
                </a:solidFill>
              </a:rPr>
              <a:t>.</a:t>
            </a:r>
          </a:p>
        </p:txBody>
      </p:sp>
      <p:sp>
        <p:nvSpPr>
          <p:cNvPr id="53" name="sh53"/>
          <p:cNvSpPr/>
          <p:nvPr/>
        </p:nvSpPr>
        <p:spPr>
          <a:xfrm>
            <a:off x="5257800" y="2540000"/>
            <a:ext cx="2926080" cy="18288"/>
          </a:xfrm>
          <a:prstGeom prst="rect">
            <a:avLst/>
          </a:prstGeom>
          <a:solidFill>
            <a:srgbClr val="C9C4C1"/>
          </a:solidFill>
          <a:ln>
            <a:noFill/>
          </a:ln>
        </p:spPr>
        <p:txBody>
          <a:bodyPr lIns="146304" tIns="73152" rIns="146304" bIns="73152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54" name="tb54"/>
          <p:cNvSpPr txBox="1"/>
          <p:nvPr/>
        </p:nvSpPr>
        <p:spPr>
          <a:xfrm>
            <a:off x="5257800" y="260604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300" b="1" i="0">
                <a:solidFill>
                  <a:srgbClr val="211915"/>
                </a:solidFill>
              </a:rPr>
              <a:t>Líder técnico</a:t>
            </a:r>
            <a:endParaRPr lang="es-ES" sz="1300" b="1" i="0">
              <a:solidFill>
                <a:srgbClr val="211915"/>
              </a:solidFill>
            </a:endParaRPr>
          </a:p>
        </p:txBody>
      </p:sp>
      <p:sp>
        <p:nvSpPr>
          <p:cNvPr id="55" name="tb55"/>
          <p:cNvSpPr txBox="1"/>
          <p:nvPr/>
        </p:nvSpPr>
        <p:spPr>
          <a:xfrm>
            <a:off x="5257800" y="2880360"/>
            <a:ext cx="2926080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0" i="0">
                <a:solidFill>
                  <a:srgbClr val="7A7A7A"/>
                </a:solidFill>
              </a:rPr>
              <a:t>Dónde se consume capacidad, distribución del trabajo, complejidad, cuellos de botella, métricas técnicas y guardrails de calidad.</a:t>
            </a:r>
          </a:p>
        </p:txBody>
      </p:sp>
      <p:sp>
        <p:nvSpPr>
          <p:cNvPr id="57" name="sh57"/>
          <p:cNvSpPr/>
          <p:nvPr/>
        </p:nvSpPr>
        <p:spPr>
          <a:xfrm>
            <a:off x="658368" y="2540000"/>
            <a:ext cx="4206240" cy="45720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146304" tIns="73152" rIns="146304" bIns="73152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58" name="tb58"/>
          <p:cNvSpPr txBox="1"/>
          <p:nvPr/>
        </p:nvSpPr>
        <p:spPr>
          <a:xfrm>
            <a:off x="658368" y="2606040"/>
            <a:ext cx="420624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2200" b="1" i="0">
                <a:solidFill>
                  <a:srgbClr val="ED1C29"/>
                </a:solidFill>
              </a:rPr>
              <a:t>Product Owner</a:t>
            </a:r>
            <a:endParaRPr lang="es-ES" sz="2200" b="1" i="0">
              <a:solidFill>
                <a:srgbClr val="ED1C29"/>
              </a:solidFill>
            </a:endParaRPr>
          </a:p>
        </p:txBody>
      </p:sp>
      <p:sp>
        <p:nvSpPr>
          <p:cNvPr id="59" name="tb59"/>
          <p:cNvSpPr txBox="1"/>
          <p:nvPr/>
        </p:nvSpPr>
        <p:spPr>
          <a:xfrm>
            <a:off x="658368" y="3063240"/>
            <a:ext cx="4206240" cy="11887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50" b="0" i="0">
                <a:solidFill>
                  <a:srgbClr val="211915"/>
                </a:solidFill>
              </a:rPr>
              <a:t>Dónde reinvertir capacidad: backlog, prioridades, KPI del producto y resultado esperado.</a:t>
            </a:r>
          </a:p>
        </p:txBody>
      </p:sp>
      <p:sp>
        <p:nvSpPr>
          <p:cNvPr id="61" name="sh61"/>
          <p:cNvSpPr/>
          <p:nvPr/>
        </p:nvSpPr>
        <p:spPr>
          <a:xfrm>
            <a:off x="5257800" y="3868928"/>
            <a:ext cx="2926080" cy="18288"/>
          </a:xfrm>
          <a:prstGeom prst="rect">
            <a:avLst/>
          </a:prstGeom>
          <a:solidFill>
            <a:srgbClr val="C9C4C1"/>
          </a:solidFill>
          <a:ln>
            <a:noFill/>
          </a:ln>
        </p:spPr>
        <p:txBody>
          <a:bodyPr lIns="146304" tIns="73152" rIns="146304" bIns="73152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62" name="tb62"/>
          <p:cNvSpPr txBox="1"/>
          <p:nvPr/>
        </p:nvSpPr>
        <p:spPr>
          <a:xfrm>
            <a:off x="5257800" y="393192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300" b="1" i="0">
                <a:solidFill>
                  <a:srgbClr val="211915"/>
                </a:solidFill>
              </a:rPr>
              <a:t>Talento Humano</a:t>
            </a:r>
            <a:endParaRPr lang="es-ES" sz="1300" b="1" i="0">
              <a:solidFill>
                <a:srgbClr val="211915"/>
              </a:solidFill>
            </a:endParaRPr>
          </a:p>
        </p:txBody>
      </p:sp>
      <p:sp>
        <p:nvSpPr>
          <p:cNvPr id="63" name="tb63"/>
          <p:cNvSpPr txBox="1"/>
          <p:nvPr/>
        </p:nvSpPr>
        <p:spPr>
          <a:xfrm>
            <a:off x="5257800" y="4206240"/>
            <a:ext cx="2926080" cy="868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0" i="0">
                <a:solidFill>
                  <a:srgbClr val="7A7A7A"/>
                </a:solidFill>
              </a:rPr>
              <a:t>Adopción, habilidades, onboarding, reskilling, movilidad, evolución de roles y workforce planning.</a:t>
            </a:r>
          </a:p>
        </p:txBody>
      </p:sp>
      <p:sp>
        <p:nvSpPr>
          <p:cNvPr id="65" name="sh65"/>
          <p:cNvSpPr/>
          <p:nvPr/>
        </p:nvSpPr>
        <p:spPr>
          <a:xfrm>
            <a:off x="8412480" y="2540000"/>
            <a:ext cx="2926080" cy="18288"/>
          </a:xfrm>
          <a:prstGeom prst="rect">
            <a:avLst/>
          </a:prstGeom>
          <a:solidFill>
            <a:srgbClr val="C9C4C1"/>
          </a:solidFill>
          <a:ln>
            <a:noFill/>
          </a:ln>
        </p:spPr>
        <p:txBody>
          <a:bodyPr lIns="146304" tIns="73152" rIns="146304" bIns="73152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66" name="tb66"/>
          <p:cNvSpPr txBox="1"/>
          <p:nvPr/>
        </p:nvSpPr>
        <p:spPr>
          <a:xfrm>
            <a:off x="8412480" y="260604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300" b="1" i="0">
                <a:solidFill>
                  <a:srgbClr val="211915"/>
                </a:solidFill>
              </a:rPr>
              <a:t>Finanzas</a:t>
            </a:r>
            <a:endParaRPr lang="es-ES" sz="1300" b="1" i="0">
              <a:solidFill>
                <a:srgbClr val="211915"/>
              </a:solidFill>
            </a:endParaRPr>
          </a:p>
        </p:txBody>
      </p:sp>
      <p:sp>
        <p:nvSpPr>
          <p:cNvPr id="67" name="tb67"/>
          <p:cNvSpPr txBox="1"/>
          <p:nvPr/>
        </p:nvSpPr>
        <p:spPr>
          <a:xfrm>
            <a:off x="8412480" y="2880360"/>
            <a:ext cx="2926080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0" i="0">
                <a:solidFill>
                  <a:srgbClr val="7A7A7A"/>
                </a:solidFill>
              </a:rPr>
              <a:t>Validar costo real, costos evitados, inversión, impacto financiero y criterios de reconocimiento del beneficio.</a:t>
            </a:r>
          </a:p>
        </p:txBody>
      </p:sp>
      <p:sp>
        <p:nvSpPr>
          <p:cNvPr id="69" name="sh69"/>
          <p:cNvSpPr/>
          <p:nvPr/>
        </p:nvSpPr>
        <p:spPr>
          <a:xfrm>
            <a:off x="8412480" y="3868928"/>
            <a:ext cx="2926080" cy="18288"/>
          </a:xfrm>
          <a:prstGeom prst="rect">
            <a:avLst/>
          </a:prstGeom>
          <a:solidFill>
            <a:srgbClr val="C9C4C1"/>
          </a:solidFill>
          <a:ln>
            <a:noFill/>
          </a:ln>
        </p:spPr>
        <p:txBody>
          <a:bodyPr lIns="146304" tIns="73152" rIns="146304" bIns="73152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70" name="tb70"/>
          <p:cNvSpPr txBox="1"/>
          <p:nvPr/>
        </p:nvSpPr>
        <p:spPr>
          <a:xfrm>
            <a:off x="8412480" y="393192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300" b="1" i="0">
                <a:solidFill>
                  <a:srgbClr val="211915"/>
                </a:solidFill>
              </a:rPr>
              <a:t>Liderazgo</a:t>
            </a:r>
            <a:endParaRPr lang="es-ES" sz="1300" b="1" i="0">
              <a:solidFill>
                <a:srgbClr val="211915"/>
              </a:solidFill>
            </a:endParaRPr>
          </a:p>
        </p:txBody>
      </p:sp>
      <p:sp>
        <p:nvSpPr>
          <p:cNvPr id="71" name="tb71"/>
          <p:cNvSpPr txBox="1"/>
          <p:nvPr/>
        </p:nvSpPr>
        <p:spPr>
          <a:xfrm>
            <a:off x="8412480" y="4206240"/>
            <a:ext cx="2926080" cy="868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0" i="0">
                <a:solidFill>
                  <a:srgbClr val="7A7A7A"/>
                </a:solidFill>
              </a:rPr>
              <a:t>Priorizar, validar supuestos, decidir inversión y determinar si el caso justifica presupuesto.</a:t>
            </a:r>
          </a:p>
        </p:txBody>
      </p:sp>
      <p:sp>
        <p:nvSpPr>
          <p:cNvPr id="72" name="tb72"/>
          <p:cNvSpPr txBox="1"/>
          <p:nvPr/>
        </p:nvSpPr>
        <p:spPr>
          <a:xfrm>
            <a:off x="658368" y="512064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50" b="0" i="1">
                <a:solidFill>
                  <a:srgbClr val="7A7A7A"/>
                </a:solidFill>
              </a:rPr>
              <a:t>Cada rol valida una parte del caso. Ninguno puede construirlo por sí solo</a:t>
            </a:r>
            <a:r>
              <a:rPr lang="es-ES" sz="1250" b="0" i="1" dirty="0">
                <a:solidFill>
                  <a:srgbClr val="7A7A7A"/>
                </a:solidFill>
              </a:rPr>
              <a:t>.</a:t>
            </a:r>
          </a:p>
        </p:txBody>
      </p:sp>
      <p:sp>
        <p:nvSpPr>
          <p:cNvPr id="76" name="tb76"/>
          <p:cNvSpPr txBox="1"/>
          <p:nvPr/>
        </p:nvSpPr>
        <p:spPr>
          <a:xfrm>
            <a:off x="658368" y="6272784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 dirty="0">
                <a:solidFill>
                  <a:srgbClr val="211915"/>
                </a:solidFill>
              </a:rPr>
              <a:t>Tuya   ·   </a:t>
            </a:r>
            <a:r>
              <a:rPr lang="es-ES" sz="900" b="1" i="0">
                <a:solidFill>
                  <a:srgbClr val="211915"/>
                </a:solidFill>
              </a:rPr>
              <a:t>Del valor de GitHub Copilot</a:t>
            </a:r>
            <a:endParaRPr lang="es-ES" sz="900" b="1" i="0" dirty="0">
              <a:solidFill>
                <a:srgbClr val="211915"/>
              </a:solidFill>
            </a:endParaRPr>
          </a:p>
        </p:txBody>
      </p:sp>
      <p:sp>
        <p:nvSpPr>
          <p:cNvPr id="77" name="tb77"/>
          <p:cNvSpPr txBox="1"/>
          <p:nvPr/>
        </p:nvSpPr>
        <p:spPr>
          <a:xfrm>
            <a:off x="10436322" y="6272784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ED1C29"/>
                </a:solidFill>
              </a:rPr>
              <a:t>10</a:t>
            </a:r>
            <a:endParaRPr lang="es-ES" sz="900" b="1" i="0" dirty="0">
              <a:solidFill>
                <a:srgbClr val="ED1C29"/>
              </a:solidFill>
            </a:endParaRPr>
          </a:p>
        </p:txBody>
      </p:sp>
      <p:pic>
        <p:nvPicPr>
          <p:cNvPr id="900" name="Logo Tuy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2200" y="321276"/>
            <a:ext cx="6400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101"/>
          <p:cNvSpPr/>
          <p:nvPr/>
        </p:nvSpPr>
        <p:spPr>
          <a:xfrm>
            <a:off x="658368" y="384048"/>
            <a:ext cx="146304" cy="14630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02" name="tb102"/>
          <p:cNvSpPr txBox="1"/>
          <p:nvPr/>
        </p:nvSpPr>
        <p:spPr>
          <a:xfrm>
            <a:off x="914400" y="36576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 spc="50">
                <a:solidFill>
                  <a:srgbClr val="ED1C29"/>
                </a:solidFill>
              </a:rPr>
              <a:t>CANVAS DE VALOR</a:t>
            </a:r>
          </a:p>
        </p:txBody>
      </p:sp>
      <p:sp>
        <p:nvSpPr>
          <p:cNvPr id="103" name="tb103"/>
          <p:cNvSpPr txBox="1"/>
          <p:nvPr/>
        </p:nvSpPr>
        <p:spPr>
          <a:xfrm>
            <a:off x="658368" y="713232"/>
            <a:ext cx="9326880" cy="56692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3000" b="1" i="0">
                <a:solidFill>
                  <a:srgbClr val="211915"/>
                </a:solidFill>
              </a:rPr>
              <a:t>Ocho preguntas para construir tu hipótesis</a:t>
            </a:r>
          </a:p>
        </p:txBody>
      </p:sp>
      <p:sp>
        <p:nvSpPr>
          <p:cNvPr id="105" name="tb105"/>
          <p:cNvSpPr txBox="1"/>
          <p:nvPr/>
        </p:nvSpPr>
        <p:spPr>
          <a:xfrm>
            <a:off x="658368" y="6272784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211915"/>
                </a:solidFill>
              </a:rPr>
              <a:t>Tuya   ·   Del valor de GitHub Copilot</a:t>
            </a:r>
          </a:p>
        </p:txBody>
      </p:sp>
      <p:sp>
        <p:nvSpPr>
          <p:cNvPr id="106" name="tb106"/>
          <p:cNvSpPr txBox="1"/>
          <p:nvPr/>
        </p:nvSpPr>
        <p:spPr>
          <a:xfrm>
            <a:off x="10433304" y="6272784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ED1C29"/>
                </a:solidFill>
              </a:rPr>
              <a:t>11</a:t>
            </a:r>
          </a:p>
        </p:txBody>
      </p:sp>
      <p:pic>
        <p:nvPicPr>
          <p:cNvPr id="900" name="Logo Tuy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2200" y="321276"/>
            <a:ext cx="640080" cy="320040"/>
          </a:xfrm>
          <a:prstGeom prst="rect">
            <a:avLst/>
          </a:prstGeom>
        </p:spPr>
      </p:pic>
      <p:sp>
        <p:nvSpPr>
          <p:cNvPr id="107" name="sh107"/>
          <p:cNvSpPr/>
          <p:nvPr/>
        </p:nvSpPr>
        <p:spPr>
          <a:xfrm>
            <a:off x="658368" y="1627632"/>
            <a:ext cx="10872216" cy="365760"/>
          </a:xfrm>
          <a:prstGeom prst="rect">
            <a:avLst/>
          </a:prstGeom>
          <a:solidFill>
            <a:srgbClr val="211915"/>
          </a:solidFill>
          <a:ln>
            <a:noFill/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08" name="tb108"/>
          <p:cNvSpPr txBox="1"/>
          <p:nvPr/>
        </p:nvSpPr>
        <p:spPr>
          <a:xfrm>
            <a:off x="822960" y="1709928"/>
            <a:ext cx="105156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 spc="50">
                <a:solidFill>
                  <a:srgbClr val="FFFFFF"/>
                </a:solidFill>
              </a:rPr>
              <a:t>DEMOSTRAMOS EL CAMBIO</a:t>
            </a:r>
          </a:p>
        </p:txBody>
      </p:sp>
      <p:sp>
        <p:nvSpPr>
          <p:cNvPr id="109" name="sh109"/>
          <p:cNvSpPr/>
          <p:nvPr/>
        </p:nvSpPr>
        <p:spPr>
          <a:xfrm>
            <a:off x="658368" y="2084832"/>
            <a:ext cx="2697480" cy="13716"/>
          </a:xfrm>
          <a:prstGeom prst="rect">
            <a:avLst/>
          </a:prstGeom>
          <a:solidFill>
            <a:srgbClr val="E3E0DE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10" name="tb110"/>
          <p:cNvSpPr txBox="1"/>
          <p:nvPr/>
        </p:nvSpPr>
        <p:spPr>
          <a:xfrm>
            <a:off x="658368" y="2176272"/>
            <a:ext cx="269748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1" i="0" spc="50">
                <a:solidFill>
                  <a:srgbClr val="7A7A7A"/>
                </a:solidFill>
              </a:rPr>
              <a:t>01 · CAPACIDAD ACTUAL</a:t>
            </a:r>
          </a:p>
        </p:txBody>
      </p:sp>
      <p:sp>
        <p:nvSpPr>
          <p:cNvPr id="111" name="tb111"/>
          <p:cNvSpPr txBox="1"/>
          <p:nvPr/>
        </p:nvSpPr>
        <p:spPr>
          <a:xfrm>
            <a:off x="658368" y="2414016"/>
            <a:ext cx="2697480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50" b="0" i="0">
                <a:solidFill>
                  <a:srgbClr val="211915"/>
                </a:solidFill>
              </a:rPr>
              <a:t>¿Dónde consume capacidad actualmente el equipo?</a:t>
            </a:r>
          </a:p>
        </p:txBody>
      </p:sp>
      <p:sp>
        <p:nvSpPr>
          <p:cNvPr id="112" name="sh112"/>
          <p:cNvSpPr/>
          <p:nvPr/>
        </p:nvSpPr>
        <p:spPr>
          <a:xfrm>
            <a:off x="3520440" y="2084832"/>
            <a:ext cx="2560320" cy="13716"/>
          </a:xfrm>
          <a:prstGeom prst="rect">
            <a:avLst/>
          </a:prstGeom>
          <a:solidFill>
            <a:srgbClr val="E3E0DE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13" name="tb113"/>
          <p:cNvSpPr txBox="1"/>
          <p:nvPr/>
        </p:nvSpPr>
        <p:spPr>
          <a:xfrm>
            <a:off x="3520440" y="2176272"/>
            <a:ext cx="256032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1" i="0" spc="50">
                <a:solidFill>
                  <a:srgbClr val="7A7A7A"/>
                </a:solidFill>
              </a:rPr>
              <a:t>02 · OPORTUNIDAD</a:t>
            </a:r>
          </a:p>
        </p:txBody>
      </p:sp>
      <p:sp>
        <p:nvSpPr>
          <p:cNvPr id="114" name="tb114"/>
          <p:cNvSpPr txBox="1"/>
          <p:nvPr/>
        </p:nvSpPr>
        <p:spPr>
          <a:xfrm>
            <a:off x="3520440" y="2414016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50" b="0" i="0">
                <a:solidFill>
                  <a:srgbClr val="211915"/>
                </a:solidFill>
              </a:rPr>
              <a:t>¿Dónde puede Copilot generar una mejora?</a:t>
            </a:r>
          </a:p>
        </p:txBody>
      </p:sp>
      <p:sp>
        <p:nvSpPr>
          <p:cNvPr id="115" name="sh115"/>
          <p:cNvSpPr/>
          <p:nvPr/>
        </p:nvSpPr>
        <p:spPr>
          <a:xfrm>
            <a:off x="6263640" y="2084832"/>
            <a:ext cx="2651760" cy="13716"/>
          </a:xfrm>
          <a:prstGeom prst="rect">
            <a:avLst/>
          </a:prstGeom>
          <a:solidFill>
            <a:srgbClr val="E3E0DE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16" name="tb116"/>
          <p:cNvSpPr txBox="1"/>
          <p:nvPr/>
        </p:nvSpPr>
        <p:spPr>
          <a:xfrm>
            <a:off x="6263640" y="2176272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1" i="0" spc="50">
                <a:solidFill>
                  <a:srgbClr val="7A7A7A"/>
                </a:solidFill>
              </a:rPr>
              <a:t>03 · CAMBIO ESPERADO</a:t>
            </a:r>
          </a:p>
        </p:txBody>
      </p:sp>
      <p:sp>
        <p:nvSpPr>
          <p:cNvPr id="117" name="tb117"/>
          <p:cNvSpPr txBox="1"/>
          <p:nvPr/>
        </p:nvSpPr>
        <p:spPr>
          <a:xfrm>
            <a:off x="6263640" y="2414016"/>
            <a:ext cx="2651760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50" b="0" i="0">
                <a:solidFill>
                  <a:srgbClr val="211915"/>
                </a:solidFill>
              </a:rPr>
              <a:t>¿Qué debería cambiar si realmente funciona?</a:t>
            </a:r>
          </a:p>
        </p:txBody>
      </p:sp>
      <p:sp>
        <p:nvSpPr>
          <p:cNvPr id="118" name="sh118"/>
          <p:cNvSpPr/>
          <p:nvPr/>
        </p:nvSpPr>
        <p:spPr>
          <a:xfrm>
            <a:off x="9098280" y="2084832"/>
            <a:ext cx="2432304" cy="13716"/>
          </a:xfrm>
          <a:prstGeom prst="rect">
            <a:avLst/>
          </a:prstGeom>
          <a:solidFill>
            <a:srgbClr val="E3E0DE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19" name="tb119"/>
          <p:cNvSpPr txBox="1"/>
          <p:nvPr/>
        </p:nvSpPr>
        <p:spPr>
          <a:xfrm>
            <a:off x="9098280" y="21762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1" i="0" spc="50">
                <a:solidFill>
                  <a:srgbClr val="7A7A7A"/>
                </a:solidFill>
              </a:rPr>
              <a:t>04 · OBSERVACIÓN</a:t>
            </a:r>
          </a:p>
        </p:txBody>
      </p:sp>
      <p:sp>
        <p:nvSpPr>
          <p:cNvPr id="120" name="tb120"/>
          <p:cNvSpPr txBox="1"/>
          <p:nvPr/>
        </p:nvSpPr>
        <p:spPr>
          <a:xfrm>
            <a:off x="9098280" y="2414016"/>
            <a:ext cx="2432304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50" b="0" i="0">
                <a:solidFill>
                  <a:srgbClr val="211915"/>
                </a:solidFill>
              </a:rPr>
              <a:t>¿Cómo podemos observar ese cambio?</a:t>
            </a:r>
          </a:p>
        </p:txBody>
      </p:sp>
      <p:sp>
        <p:nvSpPr>
          <p:cNvPr id="121" name="tb121"/>
          <p:cNvSpPr txBox="1"/>
          <p:nvPr/>
        </p:nvSpPr>
        <p:spPr>
          <a:xfrm>
            <a:off x="658368" y="3072384"/>
            <a:ext cx="1087221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1">
                <a:solidFill>
                  <a:srgbClr val="7A7A7A"/>
                </a:solidFill>
              </a:rPr>
              <a:t>Estable: calidad, incidentes, alcance y servicio.</a:t>
            </a:r>
          </a:p>
        </p:txBody>
      </p:sp>
      <p:sp>
        <p:nvSpPr>
          <p:cNvPr id="122" name="sh122"/>
          <p:cNvSpPr/>
          <p:nvPr/>
        </p:nvSpPr>
        <p:spPr>
          <a:xfrm>
            <a:off x="658368" y="3419856"/>
            <a:ext cx="10872216" cy="749808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23" name="tb123"/>
          <p:cNvSpPr txBox="1"/>
          <p:nvPr/>
        </p:nvSpPr>
        <p:spPr>
          <a:xfrm>
            <a:off x="658368" y="3419856"/>
            <a:ext cx="10872216" cy="749808"/>
          </a:xfrm>
          <a:prstGeom prst="rect">
            <a:avLst/>
          </a:prstGeom>
          <a:noFill/>
        </p:spPr>
        <p:txBody>
          <a:bodyPr wrap="square" lIns="91440" tIns="0" rIns="91440" bIns="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2200" b="1" i="0" spc="50">
                <a:solidFill>
                  <a:srgbClr val="FFFFFF"/>
                </a:solidFill>
              </a:rPr>
              <a:t>¿QUÉ HARÍAMOS REALMENTE CON LA CAPACIDAD ADICIONAL?</a:t>
            </a:r>
          </a:p>
        </p:txBody>
      </p:sp>
      <p:sp>
        <p:nvSpPr>
          <p:cNvPr id="124" name="sh124"/>
          <p:cNvSpPr/>
          <p:nvPr/>
        </p:nvSpPr>
        <p:spPr>
          <a:xfrm>
            <a:off x="658368" y="4352544"/>
            <a:ext cx="10872216" cy="365760"/>
          </a:xfrm>
          <a:prstGeom prst="rect">
            <a:avLst/>
          </a:prstGeom>
          <a:solidFill>
            <a:srgbClr val="211915"/>
          </a:solidFill>
          <a:ln>
            <a:noFill/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25" name="tb125"/>
          <p:cNvSpPr txBox="1"/>
          <p:nvPr/>
        </p:nvSpPr>
        <p:spPr>
          <a:xfrm>
            <a:off x="822960" y="4434840"/>
            <a:ext cx="105156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 spc="50">
                <a:solidFill>
                  <a:srgbClr val="FFFFFF"/>
                </a:solidFill>
              </a:rPr>
              <a:t>DEMOSTRAMOS EL VALOR</a:t>
            </a:r>
          </a:p>
        </p:txBody>
      </p:sp>
      <p:sp>
        <p:nvSpPr>
          <p:cNvPr id="126" name="sh126"/>
          <p:cNvSpPr/>
          <p:nvPr/>
        </p:nvSpPr>
        <p:spPr>
          <a:xfrm>
            <a:off x="658368" y="4809744"/>
            <a:ext cx="2423160" cy="13716"/>
          </a:xfrm>
          <a:prstGeom prst="rect">
            <a:avLst/>
          </a:prstGeom>
          <a:solidFill>
            <a:srgbClr val="E3E0DE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27" name="tb127"/>
          <p:cNvSpPr txBox="1"/>
          <p:nvPr/>
        </p:nvSpPr>
        <p:spPr>
          <a:xfrm>
            <a:off x="658368" y="4901184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1" i="0" spc="50">
                <a:solidFill>
                  <a:srgbClr val="7A7A7A"/>
                </a:solidFill>
              </a:rPr>
              <a:t>05 · DESTINO</a:t>
            </a:r>
          </a:p>
        </p:txBody>
      </p:sp>
      <p:sp>
        <p:nvSpPr>
          <p:cNvPr id="128" name="tb128"/>
          <p:cNvSpPr txBox="1"/>
          <p:nvPr/>
        </p:nvSpPr>
        <p:spPr>
          <a:xfrm>
            <a:off x="658368" y="5138928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50" b="0" i="0">
                <a:solidFill>
                  <a:srgbClr val="211915"/>
                </a:solidFill>
              </a:rPr>
              <a:t>Destino de la capacidad.</a:t>
            </a:r>
          </a:p>
        </p:txBody>
      </p:sp>
      <p:sp>
        <p:nvSpPr>
          <p:cNvPr id="129" name="sh129"/>
          <p:cNvSpPr/>
          <p:nvPr/>
        </p:nvSpPr>
        <p:spPr>
          <a:xfrm>
            <a:off x="3292560" y="4809744"/>
            <a:ext cx="2834640" cy="13716"/>
          </a:xfrm>
          <a:prstGeom prst="rect">
            <a:avLst/>
          </a:prstGeom>
          <a:solidFill>
            <a:srgbClr val="E3E0DE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30" name="tb130"/>
          <p:cNvSpPr txBox="1"/>
          <p:nvPr/>
        </p:nvSpPr>
        <p:spPr>
          <a:xfrm>
            <a:off x="3292560" y="4901184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1" i="0" spc="50">
                <a:solidFill>
                  <a:srgbClr val="7A7A7A"/>
                </a:solidFill>
              </a:rPr>
              <a:t>06 · KPI</a:t>
            </a:r>
          </a:p>
        </p:txBody>
      </p:sp>
      <p:sp>
        <p:nvSpPr>
          <p:cNvPr id="131" name="tb131"/>
          <p:cNvSpPr txBox="1"/>
          <p:nvPr/>
        </p:nvSpPr>
        <p:spPr>
          <a:xfrm>
            <a:off x="3292560" y="5138928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50" b="0" i="0">
                <a:solidFill>
                  <a:srgbClr val="211915"/>
                </a:solidFill>
              </a:rPr>
              <a:t>¿Qué KPI del negocio podría cambiar?</a:t>
            </a:r>
          </a:p>
        </p:txBody>
      </p:sp>
      <p:sp>
        <p:nvSpPr>
          <p:cNvPr id="132" name="sh132"/>
          <p:cNvSpPr/>
          <p:nvPr/>
        </p:nvSpPr>
        <p:spPr>
          <a:xfrm>
            <a:off x="6309360" y="4809744"/>
            <a:ext cx="2697480" cy="13716"/>
          </a:xfrm>
          <a:prstGeom prst="rect">
            <a:avLst/>
          </a:prstGeom>
          <a:solidFill>
            <a:srgbClr val="E3E0DE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33" name="tb133"/>
          <p:cNvSpPr txBox="1"/>
          <p:nvPr/>
        </p:nvSpPr>
        <p:spPr>
          <a:xfrm>
            <a:off x="6309360" y="4901184"/>
            <a:ext cx="269748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1" i="0" spc="50">
                <a:solidFill>
                  <a:srgbClr val="7A7A7A"/>
                </a:solidFill>
              </a:rPr>
              <a:t>07 · TRADUCCIÓN</a:t>
            </a:r>
          </a:p>
        </p:txBody>
      </p:sp>
      <p:sp>
        <p:nvSpPr>
          <p:cNvPr id="134" name="tb134"/>
          <p:cNvSpPr txBox="1"/>
          <p:nvPr/>
        </p:nvSpPr>
        <p:spPr>
          <a:xfrm>
            <a:off x="6309360" y="5138928"/>
            <a:ext cx="269748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50" b="0" i="0">
                <a:solidFill>
                  <a:srgbClr val="211915"/>
                </a:solidFill>
              </a:rPr>
              <a:t>Menor costo, más resultado, valor antes o menos pérdida.</a:t>
            </a:r>
          </a:p>
        </p:txBody>
      </p:sp>
      <p:sp>
        <p:nvSpPr>
          <p:cNvPr id="135" name="sh135"/>
          <p:cNvSpPr/>
          <p:nvPr/>
        </p:nvSpPr>
        <p:spPr>
          <a:xfrm>
            <a:off x="9235440" y="4809744"/>
            <a:ext cx="2295144" cy="13716"/>
          </a:xfrm>
          <a:prstGeom prst="rect">
            <a:avLst/>
          </a:prstGeom>
          <a:solidFill>
            <a:srgbClr val="E3E0DE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36" name="tb136"/>
          <p:cNvSpPr txBox="1"/>
          <p:nvPr/>
        </p:nvSpPr>
        <p:spPr>
          <a:xfrm>
            <a:off x="9235440" y="4901184"/>
            <a:ext cx="2295144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1" i="0" spc="50">
                <a:solidFill>
                  <a:srgbClr val="7A7A7A"/>
                </a:solidFill>
              </a:rPr>
              <a:t>08 · VALIDACIÓN</a:t>
            </a:r>
          </a:p>
        </p:txBody>
      </p:sp>
      <p:sp>
        <p:nvSpPr>
          <p:cNvPr id="137" name="tb137"/>
          <p:cNvSpPr txBox="1"/>
          <p:nvPr/>
        </p:nvSpPr>
        <p:spPr>
          <a:xfrm>
            <a:off x="9235440" y="5138928"/>
            <a:ext cx="2295144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50" b="0" i="0">
                <a:solidFill>
                  <a:srgbClr val="211915"/>
                </a:solidFill>
              </a:rPr>
              <a:t>¿Quién puede validar el dato?</a:t>
            </a:r>
          </a:p>
        </p:txBody>
      </p:sp>
      <p:sp>
        <p:nvSpPr>
          <p:cNvPr id="138" name="tb138"/>
          <p:cNvSpPr txBox="1"/>
          <p:nvPr/>
        </p:nvSpPr>
        <p:spPr>
          <a:xfrm>
            <a:off x="658368" y="5815584"/>
            <a:ext cx="10872216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>
                <a:solidFill>
                  <a:srgbClr val="211915"/>
                </a:solidFill>
              </a:rPr>
              <a:t>Toda hipótesis define: baseline · indicador · objetivo · guardrail · período · fuente · responsable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sh95"/>
          <p:cNvSpPr/>
          <p:nvPr/>
        </p:nvSpPr>
        <p:spPr>
          <a:xfrm>
            <a:off x="658368" y="384048"/>
            <a:ext cx="146304" cy="14630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146304" tIns="73152" rIns="146304" bIns="73152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96" name="tb96"/>
          <p:cNvSpPr txBox="1"/>
          <p:nvPr/>
        </p:nvSpPr>
        <p:spPr>
          <a:xfrm>
            <a:off x="914400" y="36576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 spc="50">
                <a:solidFill>
                  <a:srgbClr val="ED1C29"/>
                </a:solidFill>
              </a:rPr>
              <a:t>RESULTADO ESPERADO DE LA SESIÓN</a:t>
            </a:r>
          </a:p>
        </p:txBody>
      </p:sp>
      <p:sp>
        <p:nvSpPr>
          <p:cNvPr id="97" name="tb97"/>
          <p:cNvSpPr txBox="1"/>
          <p:nvPr/>
        </p:nvSpPr>
        <p:spPr>
          <a:xfrm>
            <a:off x="658368" y="713232"/>
            <a:ext cx="9326880" cy="685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3000" b="1" i="0">
                <a:solidFill>
                  <a:srgbClr val="211915"/>
                </a:solidFill>
              </a:rPr>
              <a:t>Una o dos hipótesis de valor por equipo</a:t>
            </a:r>
          </a:p>
        </p:txBody>
      </p:sp>
      <p:sp>
        <p:nvSpPr>
          <p:cNvPr id="78" name="sh78"/>
          <p:cNvSpPr/>
          <p:nvPr/>
        </p:nvSpPr>
        <p:spPr>
          <a:xfrm>
            <a:off x="658368" y="1783080"/>
            <a:ext cx="10875234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E"/>
            </a:solidFill>
          </a:ln>
        </p:spPr>
        <p:txBody>
          <a:bodyPr lIns="146304" tIns="73152" rIns="146304" bIns="73152" anchor="ctr">
            <a:normAutofit/>
          </a:bodyPr>
          <a:lstStyle/>
          <a:p>
            <a:endParaRPr lang="es-ES"/>
          </a:p>
        </p:txBody>
      </p:sp>
      <p:sp>
        <p:nvSpPr>
          <p:cNvPr id="79" name="tb79"/>
          <p:cNvSpPr txBox="1"/>
          <p:nvPr/>
        </p:nvSpPr>
        <p:spPr>
          <a:xfrm>
            <a:off x="1005840" y="2011680"/>
            <a:ext cx="50000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00" b="1" i="0" spc="50">
                <a:solidFill>
                  <a:srgbClr val="ED1C29"/>
                </a:solidFill>
              </a:rPr>
              <a:t>FICHA DE CASO DE VALOR</a:t>
            </a:r>
          </a:p>
        </p:txBody>
      </p:sp>
      <p:sp>
        <p:nvSpPr>
          <p:cNvPr id="100" name="tb100"/>
          <p:cNvSpPr txBox="1"/>
          <p:nvPr/>
        </p:nvSpPr>
        <p:spPr>
          <a:xfrm>
            <a:off x="1005840" y="2570000"/>
            <a:ext cx="48000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 spc="50">
                <a:solidFill>
                  <a:srgbClr val="211915"/>
                </a:solidFill>
              </a:rPr>
              <a:t>HIPÓTESIS</a:t>
            </a:r>
          </a:p>
        </p:txBody>
      </p:sp>
      <p:sp>
        <p:nvSpPr>
          <p:cNvPr id="101" name="tb101"/>
          <p:cNvSpPr txBox="1"/>
          <p:nvPr/>
        </p:nvSpPr>
        <p:spPr>
          <a:xfrm>
            <a:off x="1005840" y="2775000"/>
            <a:ext cx="4800000" cy="21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0" i="0">
                <a:solidFill>
                  <a:srgbClr val="7A7A7A"/>
                </a:solidFill>
              </a:rPr>
              <a:t>Qué creemos que puede cambiar.</a:t>
            </a:r>
          </a:p>
        </p:txBody>
      </p:sp>
      <p:sp>
        <p:nvSpPr>
          <p:cNvPr id="102" name="tb102"/>
          <p:cNvSpPr txBox="1"/>
          <p:nvPr/>
        </p:nvSpPr>
        <p:spPr>
          <a:xfrm>
            <a:off x="1005840" y="3015000"/>
            <a:ext cx="48000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 spc="50">
                <a:solidFill>
                  <a:srgbClr val="211915"/>
                </a:solidFill>
              </a:rPr>
              <a:t>BASELINE</a:t>
            </a:r>
          </a:p>
        </p:txBody>
      </p:sp>
      <p:sp>
        <p:nvSpPr>
          <p:cNvPr id="103" name="tb103"/>
          <p:cNvSpPr txBox="1"/>
          <p:nvPr/>
        </p:nvSpPr>
        <p:spPr>
          <a:xfrm>
            <a:off x="1005840" y="3220000"/>
            <a:ext cx="4800000" cy="21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0" i="0">
                <a:solidFill>
                  <a:srgbClr val="7A7A7A"/>
                </a:solidFill>
              </a:rPr>
              <a:t>Cómo estamos hoy.</a:t>
            </a:r>
          </a:p>
        </p:txBody>
      </p:sp>
      <p:sp>
        <p:nvSpPr>
          <p:cNvPr id="104" name="tb104"/>
          <p:cNvSpPr txBox="1"/>
          <p:nvPr/>
        </p:nvSpPr>
        <p:spPr>
          <a:xfrm>
            <a:off x="1005840" y="3460000"/>
            <a:ext cx="48000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 spc="50">
                <a:solidFill>
                  <a:srgbClr val="211915"/>
                </a:solidFill>
              </a:rPr>
              <a:t>INDICADOR</a:t>
            </a:r>
          </a:p>
        </p:txBody>
      </p:sp>
      <p:sp>
        <p:nvSpPr>
          <p:cNvPr id="105" name="tb105"/>
          <p:cNvSpPr txBox="1"/>
          <p:nvPr/>
        </p:nvSpPr>
        <p:spPr>
          <a:xfrm>
            <a:off x="1005840" y="3665000"/>
            <a:ext cx="4800000" cy="21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0" i="0">
                <a:solidFill>
                  <a:srgbClr val="7A7A7A"/>
                </a:solidFill>
              </a:rPr>
              <a:t>Qué vamos a observar.</a:t>
            </a:r>
          </a:p>
        </p:txBody>
      </p:sp>
      <p:sp>
        <p:nvSpPr>
          <p:cNvPr id="106" name="tb106"/>
          <p:cNvSpPr txBox="1"/>
          <p:nvPr/>
        </p:nvSpPr>
        <p:spPr>
          <a:xfrm>
            <a:off x="1005840" y="3905000"/>
            <a:ext cx="48000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 spc="50">
                <a:solidFill>
                  <a:srgbClr val="211915"/>
                </a:solidFill>
              </a:rPr>
              <a:t>OBJETIVO</a:t>
            </a:r>
          </a:p>
        </p:txBody>
      </p:sp>
      <p:sp>
        <p:nvSpPr>
          <p:cNvPr id="107" name="tb107"/>
          <p:cNvSpPr txBox="1"/>
          <p:nvPr/>
        </p:nvSpPr>
        <p:spPr>
          <a:xfrm>
            <a:off x="1005840" y="4110000"/>
            <a:ext cx="4800000" cy="21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0" i="0">
                <a:solidFill>
                  <a:srgbClr val="7A7A7A"/>
                </a:solidFill>
              </a:rPr>
              <a:t>Qué cambio esperamos.</a:t>
            </a:r>
          </a:p>
        </p:txBody>
      </p:sp>
      <p:sp>
        <p:nvSpPr>
          <p:cNvPr id="108" name="tb108"/>
          <p:cNvSpPr txBox="1"/>
          <p:nvPr/>
        </p:nvSpPr>
        <p:spPr>
          <a:xfrm>
            <a:off x="6300000" y="2570000"/>
            <a:ext cx="48850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 spc="50">
                <a:solidFill>
                  <a:srgbClr val="211915"/>
                </a:solidFill>
              </a:rPr>
              <a:t>DESTINO DE LA CAPACIDAD</a:t>
            </a:r>
          </a:p>
        </p:txBody>
      </p:sp>
      <p:sp>
        <p:nvSpPr>
          <p:cNvPr id="109" name="tb109"/>
          <p:cNvSpPr txBox="1"/>
          <p:nvPr/>
        </p:nvSpPr>
        <p:spPr>
          <a:xfrm>
            <a:off x="6300000" y="2775000"/>
            <a:ext cx="4885000" cy="21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0" i="0">
                <a:solidFill>
                  <a:srgbClr val="7A7A7A"/>
                </a:solidFill>
              </a:rPr>
              <a:t>Qué haríamos si efectivamente aparece.</a:t>
            </a:r>
          </a:p>
        </p:txBody>
      </p:sp>
      <p:sp>
        <p:nvSpPr>
          <p:cNvPr id="110" name="tb110"/>
          <p:cNvSpPr txBox="1"/>
          <p:nvPr/>
        </p:nvSpPr>
        <p:spPr>
          <a:xfrm>
            <a:off x="6300000" y="3015000"/>
            <a:ext cx="48850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 spc="50">
                <a:solidFill>
                  <a:srgbClr val="211915"/>
                </a:solidFill>
              </a:rPr>
              <a:t>KPI DE NEGOCIO</a:t>
            </a:r>
          </a:p>
        </p:txBody>
      </p:sp>
      <p:sp>
        <p:nvSpPr>
          <p:cNvPr id="111" name="tb111"/>
          <p:cNvSpPr txBox="1"/>
          <p:nvPr/>
        </p:nvSpPr>
        <p:spPr>
          <a:xfrm>
            <a:off x="6300000" y="3220000"/>
            <a:ext cx="4885000" cy="21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0" i="0">
                <a:solidFill>
                  <a:srgbClr val="7A7A7A"/>
                </a:solidFill>
              </a:rPr>
              <a:t>Qué resultado queremos afectar.</a:t>
            </a:r>
          </a:p>
        </p:txBody>
      </p:sp>
      <p:sp>
        <p:nvSpPr>
          <p:cNvPr id="112" name="tb112"/>
          <p:cNvSpPr txBox="1"/>
          <p:nvPr/>
        </p:nvSpPr>
        <p:spPr>
          <a:xfrm>
            <a:off x="6300000" y="3460000"/>
            <a:ext cx="48850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 spc="50">
                <a:solidFill>
                  <a:srgbClr val="211915"/>
                </a:solidFill>
              </a:rPr>
              <a:t>FUENTE</a:t>
            </a:r>
          </a:p>
        </p:txBody>
      </p:sp>
      <p:sp>
        <p:nvSpPr>
          <p:cNvPr id="113" name="tb113"/>
          <p:cNvSpPr txBox="1"/>
          <p:nvPr/>
        </p:nvSpPr>
        <p:spPr>
          <a:xfrm>
            <a:off x="6300000" y="3665000"/>
            <a:ext cx="4885000" cy="21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0" i="0">
                <a:solidFill>
                  <a:srgbClr val="7A7A7A"/>
                </a:solidFill>
              </a:rPr>
              <a:t>De dónde saldrá la evidencia.</a:t>
            </a:r>
          </a:p>
        </p:txBody>
      </p:sp>
      <p:sp>
        <p:nvSpPr>
          <p:cNvPr id="114" name="tb114"/>
          <p:cNvSpPr txBox="1"/>
          <p:nvPr/>
        </p:nvSpPr>
        <p:spPr>
          <a:xfrm>
            <a:off x="6300000" y="3905000"/>
            <a:ext cx="48850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 spc="50">
                <a:solidFill>
                  <a:srgbClr val="211915"/>
                </a:solidFill>
              </a:rPr>
              <a:t>RESPONSABLE</a:t>
            </a:r>
          </a:p>
        </p:txBody>
      </p:sp>
      <p:sp>
        <p:nvSpPr>
          <p:cNvPr id="115" name="tb115"/>
          <p:cNvSpPr txBox="1"/>
          <p:nvPr/>
        </p:nvSpPr>
        <p:spPr>
          <a:xfrm>
            <a:off x="6300000" y="4110000"/>
            <a:ext cx="4885000" cy="21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0" i="0">
                <a:solidFill>
                  <a:srgbClr val="7A7A7A"/>
                </a:solidFill>
              </a:rPr>
              <a:t>Quién validará el dato.</a:t>
            </a:r>
          </a:p>
        </p:txBody>
      </p:sp>
      <p:sp>
        <p:nvSpPr>
          <p:cNvPr id="120" name="tb120" descr="Encabezado del grupo de campos sobre cómo demostramos el cambio"/>
          <p:cNvSpPr txBox="1"/>
          <p:nvPr/>
        </p:nvSpPr>
        <p:spPr>
          <a:xfrm>
            <a:off x="1005840" y="2320000"/>
            <a:ext cx="48000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 spc="50">
                <a:solidFill>
                  <a:srgbClr val="ED1C29"/>
                </a:solidFill>
              </a:rPr>
              <a:t>DEMOSTRAMOS EL CAMBIO</a:t>
            </a:r>
          </a:p>
        </p:txBody>
      </p:sp>
      <p:sp>
        <p:nvSpPr>
          <p:cNvPr id="121" name="tb121" descr="Encabezado del grupo de campos sobre cómo demostramos el valor"/>
          <p:cNvSpPr txBox="1"/>
          <p:nvPr/>
        </p:nvSpPr>
        <p:spPr>
          <a:xfrm>
            <a:off x="6300000" y="2320000"/>
            <a:ext cx="48850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 spc="50">
                <a:solidFill>
                  <a:srgbClr val="ED1C29"/>
                </a:solidFill>
              </a:rPr>
              <a:t>DEMOSTRAMOS EL VALOR</a:t>
            </a:r>
          </a:p>
        </p:txBody>
      </p:sp>
      <p:sp>
        <p:nvSpPr>
          <p:cNvPr id="122" name="tb122" descr="Etiqueta del campo Guardrail"/>
          <p:cNvSpPr txBox="1"/>
          <p:nvPr/>
        </p:nvSpPr>
        <p:spPr>
          <a:xfrm>
            <a:off x="1005840" y="4350000"/>
            <a:ext cx="48000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 spc="50">
                <a:solidFill>
                  <a:srgbClr val="211915"/>
                </a:solidFill>
              </a:rPr>
              <a:t>GUARDRAIL</a:t>
            </a:r>
          </a:p>
        </p:txBody>
      </p:sp>
      <p:sp>
        <p:nvSpPr>
          <p:cNvPr id="123" name="tb123" descr="Descripción del campo Guardrail"/>
          <p:cNvSpPr txBox="1"/>
          <p:nvPr/>
        </p:nvSpPr>
        <p:spPr>
          <a:xfrm>
            <a:off x="1005840" y="4555000"/>
            <a:ext cx="4800000" cy="21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0" i="0">
                <a:solidFill>
                  <a:srgbClr val="7A7A7A"/>
                </a:solidFill>
              </a:rPr>
              <a:t>Qué no puede deteriorarse.</a:t>
            </a:r>
          </a:p>
        </p:txBody>
      </p:sp>
      <p:sp>
        <p:nvSpPr>
          <p:cNvPr id="124" name="tb124" descr="Etiqueta del campo Período"/>
          <p:cNvSpPr txBox="1"/>
          <p:nvPr/>
        </p:nvSpPr>
        <p:spPr>
          <a:xfrm>
            <a:off x="6300000" y="4350000"/>
            <a:ext cx="48850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 spc="50">
                <a:solidFill>
                  <a:srgbClr val="211915"/>
                </a:solidFill>
              </a:rPr>
              <a:t>PERÍODO</a:t>
            </a:r>
          </a:p>
        </p:txBody>
      </p:sp>
      <p:sp>
        <p:nvSpPr>
          <p:cNvPr id="125" name="tb125" descr="Descripción del campo Período"/>
          <p:cNvSpPr txBox="1"/>
          <p:nvPr/>
        </p:nvSpPr>
        <p:spPr>
          <a:xfrm>
            <a:off x="6300000" y="4555000"/>
            <a:ext cx="4885000" cy="21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0" i="0">
                <a:solidFill>
                  <a:srgbClr val="7A7A7A"/>
                </a:solidFill>
              </a:rPr>
              <a:t>Durante cuánto tiempo lo evaluaremos.</a:t>
            </a:r>
          </a:p>
        </p:txBody>
      </p:sp>
      <p:sp>
        <p:nvSpPr>
          <p:cNvPr id="94" name="tb94"/>
          <p:cNvSpPr txBox="1"/>
          <p:nvPr/>
        </p:nvSpPr>
        <p:spPr>
          <a:xfrm>
            <a:off x="658368" y="525780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50" b="0" i="1">
                <a:solidFill>
                  <a:srgbClr val="7A7A7A"/>
                </a:solidFill>
              </a:rPr>
              <a:t>Una hipótesis concreta permite decidir si vale la pena invertir y comprobar después si se cumplió.</a:t>
            </a:r>
          </a:p>
        </p:txBody>
      </p:sp>
      <p:sp>
        <p:nvSpPr>
          <p:cNvPr id="98" name="tb98"/>
          <p:cNvSpPr txBox="1"/>
          <p:nvPr/>
        </p:nvSpPr>
        <p:spPr>
          <a:xfrm>
            <a:off x="658368" y="6272784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211915"/>
                </a:solidFill>
              </a:rPr>
              <a:t>Tuya   ·   Del valor de GitHub Copilot</a:t>
            </a:r>
          </a:p>
        </p:txBody>
      </p:sp>
      <p:sp>
        <p:nvSpPr>
          <p:cNvPr id="160" name="divCol"/>
          <p:cNvSpPr/>
          <p:nvPr/>
        </p:nvSpPr>
        <p:spPr>
          <a:xfrm>
            <a:off x="5990000" y="2286000"/>
            <a:ext cx="9144" cy="25146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lIns="0" tIns="0" rIns="0" bIns="0" anchor="ctr"/>
          <a:lstStyle/>
          <a:p>
            <a:endParaRPr lang="es-ES"/>
          </a:p>
        </p:txBody>
      </p:sp>
      <p:sp>
        <p:nvSpPr>
          <p:cNvPr id="99" name="tb99"/>
          <p:cNvSpPr txBox="1"/>
          <p:nvPr/>
        </p:nvSpPr>
        <p:spPr>
          <a:xfrm>
            <a:off x="10436322" y="6272784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ED1C29"/>
                </a:solidFill>
              </a:rPr>
              <a:t>12</a:t>
            </a:r>
          </a:p>
        </p:txBody>
      </p:sp>
      <p:pic>
        <p:nvPicPr>
          <p:cNvPr id="900" name="Logo Tuy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2200" y="321276"/>
            <a:ext cx="640080" cy="320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902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101"/>
          <p:cNvSpPr/>
          <p:nvPr/>
        </p:nvSpPr>
        <p:spPr>
          <a:xfrm>
            <a:off x="658368" y="384048"/>
            <a:ext cx="146304" cy="14630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02" name="tb102"/>
          <p:cNvSpPr txBox="1"/>
          <p:nvPr/>
        </p:nvSpPr>
        <p:spPr>
          <a:xfrm>
            <a:off x="914400" y="36576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 spc="50">
                <a:solidFill>
                  <a:srgbClr val="ED1C29"/>
                </a:solidFill>
              </a:rPr>
              <a:t>DEL CASO A LA DECISIÓN</a:t>
            </a:r>
          </a:p>
        </p:txBody>
      </p:sp>
      <p:sp>
        <p:nvSpPr>
          <p:cNvPr id="103" name="tb103"/>
          <p:cNvSpPr txBox="1"/>
          <p:nvPr/>
        </p:nvSpPr>
        <p:spPr>
          <a:xfrm>
            <a:off x="658368" y="713232"/>
            <a:ext cx="9326880" cy="56692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3000" b="1" i="0">
                <a:solidFill>
                  <a:srgbClr val="211915"/>
                </a:solidFill>
              </a:rPr>
              <a:t>Cómo sustentar la solicitud de presupuesto</a:t>
            </a:r>
          </a:p>
        </p:txBody>
      </p:sp>
      <p:sp>
        <p:nvSpPr>
          <p:cNvPr id="105" name="tb105"/>
          <p:cNvSpPr txBox="1"/>
          <p:nvPr/>
        </p:nvSpPr>
        <p:spPr>
          <a:xfrm>
            <a:off x="658368" y="6272784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211915"/>
                </a:solidFill>
              </a:rPr>
              <a:t>Tuya   ·   Del valor de GitHub Copilot</a:t>
            </a:r>
          </a:p>
        </p:txBody>
      </p:sp>
      <p:sp>
        <p:nvSpPr>
          <p:cNvPr id="106" name="tb106"/>
          <p:cNvSpPr txBox="1"/>
          <p:nvPr/>
        </p:nvSpPr>
        <p:spPr>
          <a:xfrm>
            <a:off x="10433304" y="6272784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ED1C29"/>
                </a:solidFill>
              </a:rPr>
              <a:t>13</a:t>
            </a:r>
          </a:p>
        </p:txBody>
      </p:sp>
      <p:pic>
        <p:nvPicPr>
          <p:cNvPr id="900" name="Logo Tuy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2200" y="321276"/>
            <a:ext cx="640080" cy="320040"/>
          </a:xfrm>
          <a:prstGeom prst="rect">
            <a:avLst/>
          </a:prstGeom>
        </p:spPr>
      </p:pic>
      <p:sp>
        <p:nvSpPr>
          <p:cNvPr id="107" name="sh107"/>
          <p:cNvSpPr/>
          <p:nvPr/>
        </p:nvSpPr>
        <p:spPr>
          <a:xfrm>
            <a:off x="658368" y="1417320"/>
            <a:ext cx="10872216" cy="731520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08" name="tb108"/>
          <p:cNvSpPr txBox="1"/>
          <p:nvPr/>
        </p:nvSpPr>
        <p:spPr>
          <a:xfrm>
            <a:off x="658368" y="1590000"/>
            <a:ext cx="10872216" cy="402336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 lnSpcReduction="10000"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2800" b="1" i="0" spc="50">
                <a:solidFill>
                  <a:srgbClr val="FFFFFF"/>
                </a:solidFill>
              </a:rPr>
              <a:t>¿EL VALOR ESPERADO JUSTIFICA LA INVERSIÓN?</a:t>
            </a:r>
          </a:p>
        </p:txBody>
      </p:sp>
      <p:sp>
        <p:nvSpPr>
          <p:cNvPr id="134" name="sh134"/>
          <p:cNvSpPr/>
          <p:nvPr/>
        </p:nvSpPr>
        <p:spPr>
          <a:xfrm>
            <a:off x="5285232" y="2514600"/>
            <a:ext cx="9525" cy="1188720"/>
          </a:xfrm>
          <a:prstGeom prst="rect">
            <a:avLst/>
          </a:prstGeom>
          <a:solidFill>
            <a:srgbClr val="BFB9B6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endParaRPr lang="es-ES"/>
          </a:p>
        </p:txBody>
      </p:sp>
      <p:sp>
        <p:nvSpPr>
          <p:cNvPr id="135" name="sh135"/>
          <p:cNvSpPr/>
          <p:nvPr/>
        </p:nvSpPr>
        <p:spPr>
          <a:xfrm>
            <a:off x="658368" y="4224528"/>
            <a:ext cx="10872216" cy="9525"/>
          </a:xfrm>
          <a:prstGeom prst="rect">
            <a:avLst/>
          </a:prstGeom>
          <a:solidFill>
            <a:srgbClr val="E3E0DE"/>
          </a:solidFill>
          <a:ln>
            <a:noFill/>
          </a:ln>
        </p:spPr>
        <p:txBody>
          <a:bodyPr lIns="0" tIns="0" rIns="0" bIns="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09" name="sh109"/>
          <p:cNvSpPr/>
          <p:nvPr/>
        </p:nvSpPr>
        <p:spPr>
          <a:xfrm>
            <a:off x="658368" y="2395728"/>
            <a:ext cx="4480560" cy="1463040"/>
          </a:xfrm>
          <a:prstGeom prst="rect">
            <a:avLst/>
          </a:prstGeom>
          <a:solidFill>
            <a:srgbClr val="F5F3F2"/>
          </a:solidFill>
          <a:ln w="12700">
            <a:solidFill>
              <a:srgbClr val="E3E0DE"/>
            </a:solidFill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10" name="tb110"/>
          <p:cNvSpPr txBox="1"/>
          <p:nvPr/>
        </p:nvSpPr>
        <p:spPr>
          <a:xfrm>
            <a:off x="859536" y="2541905"/>
            <a:ext cx="4078224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1" i="0" spc="50">
                <a:solidFill>
                  <a:srgbClr val="211915"/>
                </a:solidFill>
              </a:rPr>
              <a:t>VALOR ESPERADO</a:t>
            </a:r>
          </a:p>
        </p:txBody>
      </p:sp>
      <p:sp>
        <p:nvSpPr>
          <p:cNvPr id="111" name="tb111"/>
          <p:cNvSpPr txBox="1"/>
          <p:nvPr/>
        </p:nvSpPr>
        <p:spPr>
          <a:xfrm>
            <a:off x="859536" y="2834640"/>
            <a:ext cx="4078224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7A7A7A"/>
                </a:solidFill>
              </a:rPr>
              <a:t>Resultado que la hipótesis busca producir: menor costo o menor capacidad externa requerida manteniendo alcance, calidad y nivel de servicio.</a:t>
            </a:r>
          </a:p>
        </p:txBody>
      </p:sp>
      <p:sp>
        <p:nvSpPr>
          <p:cNvPr id="112" name="sh112"/>
          <p:cNvSpPr/>
          <p:nvPr/>
        </p:nvSpPr>
        <p:spPr>
          <a:xfrm>
            <a:off x="5532120" y="2395728"/>
            <a:ext cx="3017520" cy="1463040"/>
          </a:xfrm>
          <a:prstGeom prst="rect">
            <a:avLst/>
          </a:prstGeom>
          <a:noFill/>
          <a:ln w="12700">
            <a:solidFill>
              <a:srgbClr val="E3E0DE"/>
            </a:solidFill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13" name="tb113"/>
          <p:cNvSpPr txBox="1"/>
          <p:nvPr/>
        </p:nvSpPr>
        <p:spPr>
          <a:xfrm>
            <a:off x="5733288" y="2541905"/>
            <a:ext cx="2615184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1" i="0" spc="50">
                <a:solidFill>
                  <a:srgbClr val="211915"/>
                </a:solidFill>
              </a:rPr>
              <a:t>COSTO DE INVERSIÓN</a:t>
            </a:r>
          </a:p>
        </p:txBody>
      </p:sp>
      <p:sp>
        <p:nvSpPr>
          <p:cNvPr id="114" name="tb114"/>
          <p:cNvSpPr txBox="1"/>
          <p:nvPr/>
        </p:nvSpPr>
        <p:spPr>
          <a:xfrm>
            <a:off x="5733288" y="2834640"/>
            <a:ext cx="2615184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7A7A7A"/>
                </a:solidFill>
              </a:rPr>
              <a:t>Costo de las licencias de GitHub Copilot requeridas por el equipo.</a:t>
            </a:r>
          </a:p>
        </p:txBody>
      </p:sp>
      <p:sp>
        <p:nvSpPr>
          <p:cNvPr id="115" name="sh115"/>
          <p:cNvSpPr/>
          <p:nvPr/>
        </p:nvSpPr>
        <p:spPr>
          <a:xfrm>
            <a:off x="8915400" y="2395728"/>
            <a:ext cx="2615184" cy="1463040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16" name="tb116"/>
          <p:cNvSpPr txBox="1"/>
          <p:nvPr/>
        </p:nvSpPr>
        <p:spPr>
          <a:xfrm>
            <a:off x="9116568" y="2541905"/>
            <a:ext cx="2212848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1" i="0" spc="50">
                <a:solidFill>
                  <a:srgbClr val="FFFFFF"/>
                </a:solidFill>
              </a:rPr>
              <a:t>DECISIÓN DE PRESUPUESTO</a:t>
            </a:r>
          </a:p>
        </p:txBody>
      </p:sp>
      <p:sp>
        <p:nvSpPr>
          <p:cNvPr id="117" name="tb117"/>
          <p:cNvSpPr txBox="1"/>
          <p:nvPr/>
        </p:nvSpPr>
        <p:spPr>
          <a:xfrm>
            <a:off x="9116568" y="2834640"/>
            <a:ext cx="2212848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FFFFFF"/>
                </a:solidFill>
              </a:rPr>
              <a:t>Validación conjunta: líder técnico, Product Owner y Finanzas.</a:t>
            </a:r>
          </a:p>
        </p:txBody>
      </p:sp>
      <p:sp>
        <p:nvSpPr>
          <p:cNvPr id="118" name="tb118"/>
          <p:cNvSpPr txBox="1"/>
          <p:nvPr/>
        </p:nvSpPr>
        <p:spPr>
          <a:xfrm>
            <a:off x="658368" y="3968496"/>
            <a:ext cx="10872216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00" b="1" i="0" spc="50">
                <a:solidFill>
                  <a:srgbClr val="7A7A7A"/>
                </a:solidFill>
              </a:rPr>
              <a:t>EJEMPLO · MECANISMO “LO MISMO CON MENOS”</a:t>
            </a:r>
          </a:p>
        </p:txBody>
      </p:sp>
      <p:sp>
        <p:nvSpPr>
          <p:cNvPr id="119" name="tb119"/>
          <p:cNvSpPr txBox="1"/>
          <p:nvPr/>
        </p:nvSpPr>
        <p:spPr>
          <a:xfrm>
            <a:off x="658368" y="4279392"/>
            <a:ext cx="16002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HIPÓTESIS</a:t>
            </a:r>
          </a:p>
        </p:txBody>
      </p:sp>
      <p:sp>
        <p:nvSpPr>
          <p:cNvPr id="120" name="tb120"/>
          <p:cNvSpPr txBox="1"/>
          <p:nvPr/>
        </p:nvSpPr>
        <p:spPr>
          <a:xfrm>
            <a:off x="2304288" y="4270248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211915"/>
                </a:solidFill>
              </a:rPr>
              <a:t>Copilot permite que el equipo absorba parte de una actividad actualmente tercerizada.</a:t>
            </a:r>
          </a:p>
        </p:txBody>
      </p:sp>
      <p:sp>
        <p:nvSpPr>
          <p:cNvPr id="121" name="tb121"/>
          <p:cNvSpPr txBox="1"/>
          <p:nvPr/>
        </p:nvSpPr>
        <p:spPr>
          <a:xfrm>
            <a:off x="658368" y="4663440"/>
            <a:ext cx="16002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BASELINE</a:t>
            </a:r>
          </a:p>
        </p:txBody>
      </p:sp>
      <p:sp>
        <p:nvSpPr>
          <p:cNvPr id="122" name="tb122"/>
          <p:cNvSpPr txBox="1"/>
          <p:nvPr/>
        </p:nvSpPr>
        <p:spPr>
          <a:xfrm>
            <a:off x="2304288" y="4654296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211915"/>
                </a:solidFill>
              </a:rPr>
              <a:t>Costo y capacidad actualmente contratados con el proveedor.</a:t>
            </a:r>
          </a:p>
        </p:txBody>
      </p:sp>
      <p:sp>
        <p:nvSpPr>
          <p:cNvPr id="123" name="tb123"/>
          <p:cNvSpPr txBox="1"/>
          <p:nvPr/>
        </p:nvSpPr>
        <p:spPr>
          <a:xfrm>
            <a:off x="658368" y="5047488"/>
            <a:ext cx="16002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INDICADOR</a:t>
            </a:r>
          </a:p>
        </p:txBody>
      </p:sp>
      <p:sp>
        <p:nvSpPr>
          <p:cNvPr id="124" name="tb124"/>
          <p:cNvSpPr txBox="1"/>
          <p:nvPr/>
        </p:nvSpPr>
        <p:spPr>
          <a:xfrm>
            <a:off x="2304288" y="5038344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211915"/>
                </a:solidFill>
              </a:rPr>
              <a:t>Alcance y gasto real contratado.</a:t>
            </a:r>
          </a:p>
        </p:txBody>
      </p:sp>
      <p:sp>
        <p:nvSpPr>
          <p:cNvPr id="125" name="tb125"/>
          <p:cNvSpPr txBox="1"/>
          <p:nvPr/>
        </p:nvSpPr>
        <p:spPr>
          <a:xfrm>
            <a:off x="658368" y="5431536"/>
            <a:ext cx="16002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GUARDRAIL</a:t>
            </a:r>
          </a:p>
        </p:txBody>
      </p:sp>
      <p:sp>
        <p:nvSpPr>
          <p:cNvPr id="126" name="tb126"/>
          <p:cNvSpPr txBox="1"/>
          <p:nvPr/>
        </p:nvSpPr>
        <p:spPr>
          <a:xfrm>
            <a:off x="2304288" y="5422392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211915"/>
                </a:solidFill>
              </a:rPr>
              <a:t>Mantener alcance, calidad y nivel de servicio.</a:t>
            </a:r>
          </a:p>
        </p:txBody>
      </p:sp>
      <p:sp>
        <p:nvSpPr>
          <p:cNvPr id="127" name="tb127"/>
          <p:cNvSpPr txBox="1"/>
          <p:nvPr/>
        </p:nvSpPr>
        <p:spPr>
          <a:xfrm>
            <a:off x="6272784" y="4279392"/>
            <a:ext cx="16002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RESULTADO BUSCADO</a:t>
            </a:r>
          </a:p>
        </p:txBody>
      </p:sp>
      <p:sp>
        <p:nvSpPr>
          <p:cNvPr id="128" name="tb128"/>
          <p:cNvSpPr txBox="1"/>
          <p:nvPr/>
        </p:nvSpPr>
        <p:spPr>
          <a:xfrm>
            <a:off x="7918704" y="4270248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211915"/>
                </a:solidFill>
              </a:rPr>
              <a:t>Disminuir el costo o capacidad externa requerida manteniendo los resultados esperados.</a:t>
            </a:r>
          </a:p>
        </p:txBody>
      </p:sp>
      <p:sp>
        <p:nvSpPr>
          <p:cNvPr id="129" name="tb129"/>
          <p:cNvSpPr txBox="1"/>
          <p:nvPr/>
        </p:nvSpPr>
        <p:spPr>
          <a:xfrm>
            <a:off x="6272784" y="4663440"/>
            <a:ext cx="16002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COSTO DE INVERSIÓN</a:t>
            </a:r>
          </a:p>
        </p:txBody>
      </p:sp>
      <p:sp>
        <p:nvSpPr>
          <p:cNvPr id="130" name="tb130"/>
          <p:cNvSpPr txBox="1"/>
          <p:nvPr/>
        </p:nvSpPr>
        <p:spPr>
          <a:xfrm>
            <a:off x="7918704" y="4654296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211915"/>
                </a:solidFill>
              </a:rPr>
              <a:t>Costo de las licencias de GitHub Copilot requeridas por el equipo.</a:t>
            </a:r>
          </a:p>
        </p:txBody>
      </p:sp>
      <p:sp>
        <p:nvSpPr>
          <p:cNvPr id="131" name="tb131"/>
          <p:cNvSpPr txBox="1"/>
          <p:nvPr/>
        </p:nvSpPr>
        <p:spPr>
          <a:xfrm>
            <a:off x="6272784" y="5047488"/>
            <a:ext cx="16002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VALIDACIÓN</a:t>
            </a:r>
          </a:p>
        </p:txBody>
      </p:sp>
      <p:sp>
        <p:nvSpPr>
          <p:cNvPr id="132" name="tb132"/>
          <p:cNvSpPr txBox="1"/>
          <p:nvPr/>
        </p:nvSpPr>
        <p:spPr>
          <a:xfrm>
            <a:off x="7918704" y="5038344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211915"/>
                </a:solidFill>
              </a:rPr>
              <a:t>Líder técnico + Product Owner + Finanzas.</a:t>
            </a:r>
          </a:p>
        </p:txBody>
      </p:sp>
      <p:sp>
        <p:nvSpPr>
          <p:cNvPr id="133" name="tb133"/>
          <p:cNvSpPr txBox="1"/>
          <p:nvPr/>
        </p:nvSpPr>
        <p:spPr>
          <a:xfrm>
            <a:off x="658368" y="5888736"/>
            <a:ext cx="1087221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2500"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1">
                <a:solidFill>
                  <a:srgbClr val="7A7A7A"/>
                </a:solidFill>
              </a:rPr>
              <a:t>Ejemplo ilustrativo. No representa valores ni resultados de Tuya. El presupuesto se sustenta comparando una inversión real con una hipótesis de valor medible; la continuidad se sustenta después con evidencia observada.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ccent"/>
          <p:cNvSpPr/>
          <p:nvPr/>
        </p:nvSpPr>
        <p:spPr>
          <a:xfrm>
            <a:off x="658368" y="384048"/>
            <a:ext cx="146304" cy="14630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0" tIns="0" rIns="0" bIns="0" anchor="ctr"/>
          <a:lstStyle/>
          <a:p>
            <a:endParaRPr lang="es-ES"/>
          </a:p>
        </p:txBody>
      </p:sp>
      <p:sp>
        <p:nvSpPr>
          <p:cNvPr id="11" name="tbEyebrow"/>
          <p:cNvSpPr txBox="1"/>
          <p:nvPr/>
        </p:nvSpPr>
        <p:spPr>
          <a:xfrm>
            <a:off x="914400" y="36576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s-ES" sz="1050" b="1" i="0">
                <a:solidFill>
                  <a:srgbClr val="ED1C29"/>
                </a:solidFill>
              </a:rPr>
              <a:t>EQUIPOS PARTICIPANTES</a:t>
            </a:r>
          </a:p>
        </p:txBody>
      </p:sp>
      <p:sp>
        <p:nvSpPr>
          <p:cNvPr id="12" name="bandaTitulo"/>
          <p:cNvSpPr/>
          <p:nvPr/>
        </p:nvSpPr>
        <p:spPr>
          <a:xfrm>
            <a:off x="658368" y="1554480"/>
            <a:ext cx="10873632" cy="2377440"/>
          </a:xfrm>
          <a:prstGeom prst="rect">
            <a:avLst/>
          </a:prstGeom>
          <a:solidFill>
            <a:srgbClr val="211915"/>
          </a:solidFill>
          <a:ln>
            <a:noFill/>
          </a:ln>
        </p:spPr>
        <p:txBody>
          <a:bodyPr lIns="0" tIns="0" rIns="0" bIns="0" anchor="ctr"/>
          <a:lstStyle/>
          <a:p>
            <a:endParaRPr lang="es-ES"/>
          </a:p>
        </p:txBody>
      </p:sp>
      <p:sp>
        <p:nvSpPr>
          <p:cNvPr id="13" name="tbTitulo"/>
          <p:cNvSpPr txBox="1"/>
          <p:nvPr/>
        </p:nvSpPr>
        <p:spPr>
          <a:xfrm>
            <a:off x="1005840" y="2103120"/>
            <a:ext cx="101600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s-ES" sz="4000" b="1" i="0">
                <a:solidFill>
                  <a:srgbClr val="FFFFFF"/>
                </a:solidFill>
              </a:rPr>
              <a:t>Product Owners y equipos de desarrollo</a:t>
            </a:r>
          </a:p>
        </p:txBody>
      </p:sp>
      <p:sp>
        <p:nvSpPr>
          <p:cNvPr id="14" name="tbSub"/>
          <p:cNvSpPr txBox="1"/>
          <p:nvPr/>
        </p:nvSpPr>
        <p:spPr>
          <a:xfrm>
            <a:off x="1005840" y="2926080"/>
            <a:ext cx="1016000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s-ES" sz="1600" b="0" i="0">
                <a:solidFill>
                  <a:srgbClr val="FFFFFF"/>
                </a:solidFill>
              </a:rPr>
              <a:t>Una ficha por Product Owner con sus Devs y QAs.</a:t>
            </a:r>
          </a:p>
        </p:txBody>
      </p:sp>
      <p:sp>
        <p:nvSpPr>
          <p:cNvPr id="15" name="ruleBottom"/>
          <p:cNvSpPr/>
          <p:nvPr/>
        </p:nvSpPr>
        <p:spPr>
          <a:xfrm>
            <a:off x="658368" y="4389120"/>
            <a:ext cx="2011680" cy="18288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0" tIns="0" rIns="0" bIns="0" anchor="ctr"/>
          <a:lstStyle/>
          <a:p>
            <a:endParaRPr lang="es-ES"/>
          </a:p>
        </p:txBody>
      </p:sp>
      <p:sp>
        <p:nvSpPr>
          <p:cNvPr id="20" name="tbFooter"/>
          <p:cNvSpPr txBox="1"/>
          <p:nvPr/>
        </p:nvSpPr>
        <p:spPr>
          <a:xfrm>
            <a:off x="658368" y="6272784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s-ES" sz="900" b="1" i="0">
                <a:solidFill>
                  <a:srgbClr val="211915"/>
                </a:solidFill>
              </a:rPr>
              <a:t>Tuya   ·   Del valor de GitHub Copilot</a:t>
            </a:r>
          </a:p>
        </p:txBody>
      </p:sp>
      <p:sp>
        <p:nvSpPr>
          <p:cNvPr id="21" name="tbNum"/>
          <p:cNvSpPr txBox="1"/>
          <p:nvPr/>
        </p:nvSpPr>
        <p:spPr>
          <a:xfrm>
            <a:off x="10436322" y="6272784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es-ES" sz="900" b="1" i="0">
                <a:solidFill>
                  <a:srgbClr val="ED1C29"/>
                </a:solidFill>
              </a:rPr>
              <a:t>14</a:t>
            </a:r>
          </a:p>
        </p:txBody>
      </p:sp>
      <p:pic>
        <p:nvPicPr>
          <p:cNvPr id="900" name="Logo Tuya" descr="Logo corporativo Tuy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2200" y="321276"/>
            <a:ext cx="6400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ccent"/>
          <p:cNvSpPr/>
          <p:nvPr/>
        </p:nvSpPr>
        <p:spPr>
          <a:xfrm>
            <a:off x="658368" y="384048"/>
            <a:ext cx="146304" cy="14630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0" tIns="0" rIns="0" bIns="0" anchor="ctr"/>
          <a:lstStyle/>
          <a:p>
            <a:endParaRPr lang="es-ES"/>
          </a:p>
        </p:txBody>
      </p:sp>
      <p:sp>
        <p:nvSpPr>
          <p:cNvPr id="11" name="tbEyebrow"/>
          <p:cNvSpPr txBox="1"/>
          <p:nvPr/>
        </p:nvSpPr>
        <p:spPr>
          <a:xfrm>
            <a:off x="914400" y="36576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s-ES" sz="1050" b="1" i="0">
                <a:solidFill>
                  <a:srgbClr val="ED1C29"/>
                </a:solidFill>
              </a:rPr>
              <a:t>EQUIPOS PARTICIPANTES</a:t>
            </a:r>
          </a:p>
        </p:txBody>
      </p:sp>
      <p:sp>
        <p:nvSpPr>
          <p:cNvPr id="12" name="tbTitulo"/>
          <p:cNvSpPr txBox="1"/>
          <p:nvPr/>
        </p:nvSpPr>
        <p:spPr>
          <a:xfrm>
            <a:off x="658368" y="713232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s-ES" sz="2800" b="1" i="0">
                <a:solidFill>
                  <a:srgbClr val="211915"/>
                </a:solidFill>
              </a:rPr>
              <a:t>Equipo por Product Owner</a:t>
            </a:r>
          </a:p>
        </p:txBody>
      </p:sp>
      <p:sp>
        <p:nvSpPr>
          <p:cNvPr id="13" name="tbSubtitulo"/>
          <p:cNvSpPr txBox="1"/>
          <p:nvPr/>
        </p:nvSpPr>
        <p:spPr>
          <a:xfrm>
            <a:off x="658368" y="1188720"/>
            <a:ext cx="932688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s-ES" sz="1600" b="1" i="0">
                <a:solidFill>
                  <a:srgbClr val="7A7A7A"/>
                </a:solidFill>
              </a:rPr>
              <a:t>[Nombre del Product Owner]</a:t>
            </a:r>
          </a:p>
        </p:txBody>
      </p:sp>
      <p:sp>
        <p:nvSpPr>
          <p:cNvPr id="14" name="poBg"/>
          <p:cNvSpPr/>
          <p:nvPr/>
        </p:nvSpPr>
        <p:spPr>
          <a:xfrm>
            <a:off x="658368" y="1691640"/>
            <a:ext cx="3474720" cy="1737360"/>
          </a:xfrm>
          <a:prstGeom prst="rect">
            <a:avLst/>
          </a:prstGeom>
          <a:solidFill>
            <a:srgbClr val="211915"/>
          </a:solidFill>
          <a:ln>
            <a:noFill/>
          </a:ln>
        </p:spPr>
        <p:txBody>
          <a:bodyPr lIns="0" tIns="0" rIns="0" bIns="0" anchor="ctr"/>
          <a:lstStyle/>
          <a:p>
            <a:endParaRPr lang="es-ES"/>
          </a:p>
        </p:txBody>
      </p:sp>
      <p:sp>
        <p:nvSpPr>
          <p:cNvPr id="15" name="tbPO"/>
          <p:cNvSpPr txBox="1"/>
          <p:nvPr/>
        </p:nvSpPr>
        <p:spPr>
          <a:xfrm>
            <a:off x="841248" y="1874520"/>
            <a:ext cx="3108960" cy="12344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lang="es-ES" sz="1000" b="1" i="0">
                <a:solidFill>
                  <a:srgbClr val="FFFFFF"/>
                </a:solidFill>
              </a:rPr>
              <a:t>PRODUCT OWNER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lang="es-ES" sz="2400" b="1" i="0">
                <a:solidFill>
                  <a:srgbClr val="FFFFFF"/>
                </a:solidFill>
              </a:rPr>
              <a:t>[Nombre PO]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s-ES" sz="1200" b="0" i="0">
                <a:solidFill>
                  <a:srgbClr val="FFFFFF"/>
                </a:solidFill>
              </a:rPr>
              <a:t>[Producto / dominio / célula]</a:t>
            </a:r>
          </a:p>
        </p:txBody>
      </p:sp>
      <p:sp>
        <p:nvSpPr>
          <p:cNvPr id="16" name="devRule"/>
          <p:cNvSpPr/>
          <p:nvPr/>
        </p:nvSpPr>
        <p:spPr>
          <a:xfrm>
            <a:off x="4297680" y="1691640"/>
            <a:ext cx="36576" cy="2560320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0" tIns="0" rIns="0" bIns="0" anchor="ctr"/>
          <a:lstStyle/>
          <a:p>
            <a:endParaRPr lang="es-ES"/>
          </a:p>
        </p:txBody>
      </p:sp>
      <p:sp>
        <p:nvSpPr>
          <p:cNvPr id="17" name="tbDevs"/>
          <p:cNvSpPr txBox="1"/>
          <p:nvPr/>
        </p:nvSpPr>
        <p:spPr>
          <a:xfrm>
            <a:off x="4480560" y="1691640"/>
            <a:ext cx="3200400" cy="2560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lang="es-ES" sz="1000" b="1" i="0">
                <a:solidFill>
                  <a:srgbClr val="ED1C29"/>
                </a:solidFill>
              </a:rPr>
              <a:t>DEVS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es-ES" sz="1500" b="0" i="0">
                <a:solidFill>
                  <a:srgbClr val="211915"/>
                </a:solidFill>
              </a:rPr>
              <a:t>[Nombre Dev 1]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es-ES" sz="1500" b="0" i="0">
                <a:solidFill>
                  <a:srgbClr val="211915"/>
                </a:solidFill>
              </a:rPr>
              <a:t>[Nombre Dev 2]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es-ES" sz="1500" b="0" i="0">
                <a:solidFill>
                  <a:srgbClr val="211915"/>
                </a:solidFill>
              </a:rPr>
              <a:t>[Nombre Dev 3]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s-ES" sz="1500" b="0" i="0">
                <a:solidFill>
                  <a:srgbClr val="211915"/>
                </a:solidFill>
              </a:rPr>
              <a:t>[Nombre Dev 4]</a:t>
            </a:r>
          </a:p>
        </p:txBody>
      </p:sp>
      <p:sp>
        <p:nvSpPr>
          <p:cNvPr id="18" name="qaRule"/>
          <p:cNvSpPr/>
          <p:nvPr/>
        </p:nvSpPr>
        <p:spPr>
          <a:xfrm>
            <a:off x="7863840" y="1691640"/>
            <a:ext cx="36576" cy="2560320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0" tIns="0" rIns="0" bIns="0" anchor="ctr"/>
          <a:lstStyle/>
          <a:p>
            <a:endParaRPr lang="es-ES"/>
          </a:p>
        </p:txBody>
      </p:sp>
      <p:sp>
        <p:nvSpPr>
          <p:cNvPr id="19" name="tbQAs"/>
          <p:cNvSpPr txBox="1"/>
          <p:nvPr/>
        </p:nvSpPr>
        <p:spPr>
          <a:xfrm>
            <a:off x="8046720" y="1691640"/>
            <a:ext cx="3200400" cy="2560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lang="es-ES" sz="1000" b="1" i="0">
                <a:solidFill>
                  <a:srgbClr val="ED1C29"/>
                </a:solidFill>
              </a:rPr>
              <a:t>QAS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es-ES" sz="1500" b="0" i="0">
                <a:solidFill>
                  <a:srgbClr val="211915"/>
                </a:solidFill>
              </a:rPr>
              <a:t>[Nombre QA 1]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es-ES" sz="1500" b="0" i="0">
                <a:solidFill>
                  <a:srgbClr val="211915"/>
                </a:solidFill>
              </a:rPr>
              <a:t>[Nombre QA 2]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s-ES" sz="1500" b="0" i="0">
                <a:solidFill>
                  <a:srgbClr val="211915"/>
                </a:solidFill>
              </a:rPr>
              <a:t>[Nombre QA 3]</a:t>
            </a:r>
          </a:p>
        </p:txBody>
      </p:sp>
      <p:sp>
        <p:nvSpPr>
          <p:cNvPr id="30" name="tbFooter"/>
          <p:cNvSpPr txBox="1"/>
          <p:nvPr/>
        </p:nvSpPr>
        <p:spPr>
          <a:xfrm>
            <a:off x="658368" y="6272784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s-ES" sz="900" b="1" i="0">
                <a:solidFill>
                  <a:srgbClr val="211915"/>
                </a:solidFill>
              </a:rPr>
              <a:t>Tuya   ·   Del valor de GitHub Copilot</a:t>
            </a:r>
          </a:p>
        </p:txBody>
      </p:sp>
      <p:sp>
        <p:nvSpPr>
          <p:cNvPr id="31" name="tbNum"/>
          <p:cNvSpPr txBox="1"/>
          <p:nvPr/>
        </p:nvSpPr>
        <p:spPr>
          <a:xfrm>
            <a:off x="10436322" y="6272784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es-ES" sz="900" b="1" i="0">
                <a:solidFill>
                  <a:srgbClr val="ED1C29"/>
                </a:solidFill>
              </a:rPr>
              <a:t>15</a:t>
            </a:r>
          </a:p>
        </p:txBody>
      </p:sp>
      <p:pic>
        <p:nvPicPr>
          <p:cNvPr id="900" name="Logo Tuya" descr="Logo corporativo Tuy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2200" y="321276"/>
            <a:ext cx="640080" cy="320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UYA Colombia">
      <a:dk1>
        <a:sysClr val="windowText" lastClr="000000"/>
      </a:dk1>
      <a:lt1>
        <a:sysClr val="window" lastClr="FFFFFF"/>
      </a:lt1>
      <a:dk2>
        <a:srgbClr val="211915"/>
      </a:dk2>
      <a:lt2>
        <a:srgbClr val="F3F1F0"/>
      </a:lt2>
      <a:accent1>
        <a:srgbClr val="ED1C29"/>
      </a:accent1>
      <a:accent2>
        <a:srgbClr val="211915"/>
      </a:accent2>
      <a:accent3>
        <a:srgbClr val="7A7A7A"/>
      </a:accent3>
      <a:accent4>
        <a:srgbClr val="77C3CD"/>
      </a:accent4>
      <a:accent5>
        <a:srgbClr val="9CCB49"/>
      </a:accent5>
      <a:accent6>
        <a:srgbClr val="C9E4DC"/>
      </a:accent6>
      <a:hlink>
        <a:srgbClr val="ED1C29"/>
      </a:hlink>
      <a:folHlink>
        <a:srgbClr val="B71C2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UYA Colombi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TUYA Colombia">
      <a:dk1>
        <a:sysClr val="windowText" lastClr="000000"/>
      </a:dk1>
      <a:lt1>
        <a:sysClr val="window" lastClr="FFFFFF"/>
      </a:lt1>
      <a:dk2>
        <a:srgbClr val="211915"/>
      </a:dk2>
      <a:lt2>
        <a:srgbClr val="F3F1F0"/>
      </a:lt2>
      <a:accent1>
        <a:srgbClr val="ED1C29"/>
      </a:accent1>
      <a:accent2>
        <a:srgbClr val="211915"/>
      </a:accent2>
      <a:accent3>
        <a:srgbClr val="7A7A7A"/>
      </a:accent3>
      <a:accent4>
        <a:srgbClr val="77C3CD"/>
      </a:accent4>
      <a:accent5>
        <a:srgbClr val="9CCB49"/>
      </a:accent5>
      <a:accent6>
        <a:srgbClr val="C9E4DC"/>
      </a:accent6>
      <a:hlink>
        <a:srgbClr val="ED1C29"/>
      </a:hlink>
      <a:folHlink>
        <a:srgbClr val="B71C2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UYA Colombi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538</TotalTime>
  <Words>3683</Words>
  <Application>Microsoft Office PowerPoint</Application>
  <DocSecurity>0</DocSecurity>
  <PresentationFormat>Panorámica</PresentationFormat>
  <Paragraphs>410</Paragraphs>
  <Slides>15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Arial</vt:lpstr>
      <vt:lpstr>Calibri</vt:lpstr>
      <vt:lpstr>Trebuchet MS</vt:lpstr>
      <vt:lpstr>Office Theme</vt:lpstr>
      <vt:lpstr>De la productividad al valor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Ricardo Andres Leyva</cp:lastModifiedBy>
  <cp:revision>16</cp:revision>
  <dcterms:created xsi:type="dcterms:W3CDTF">2026-08-06T14:34:46Z</dcterms:created>
  <dcterms:modified xsi:type="dcterms:W3CDTF">2026-08-24T23:59:39Z</dcterms:modified>
</cp:coreProperties>
</file>