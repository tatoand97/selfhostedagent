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6" r:id="rId8"/>
    <p:sldId id="262" r:id="rId9"/>
    <p:sldId id="263" r:id="rId10"/>
    <p:sldId id="264"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4" autoAdjust="0"/>
    <p:restoredTop sz="94660"/>
  </p:normalViewPr>
  <p:slideViewPr>
    <p:cSldViewPr snapToGrid="0">
      <p:cViewPr varScale="1">
        <p:scale>
          <a:sx n="142" d="100"/>
          <a:sy n="142" d="100"/>
        </p:scale>
        <p:origin x="150" y="3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‹Nº›</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419"/>
              <a:t>Detalle metodológico (movido desde la diapositiva):</a:t>
            </a:r>
          </a:p>
          <a:p>
            <a:r>
              <a:rPr lang="es-419"/>
              <a:t>No se realizaron migraciones manuales paralelas como grupo de control; la línea base es una estimación por juicio experto.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419"/>
              <a:t>Detalle metodológico (movido desde la diapositiva):</a:t>
            </a:r>
          </a:p>
          <a:p>
            <a:r>
              <a:rPr lang="es-419"/>
              <a:t>La validación humana y los controles técnicos estuvieron presentes durante todo el proceso. La comparación de tiempos se realizó contra una estimación por juicio experto; no se ejecutaron migraciones manuales paralelas como grupo de control.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419"/>
              <a:t>Detalle metodológico y comercial (movido desde la diapositiva):</a:t>
            </a:r>
          </a:p>
          <a:p>
            <a:r>
              <a:rPr lang="es-419"/>
              <a:t>Clientes existentes elegibles cuentan temporalmente con una asignación superior de AI Credits durante junio-agosto de 2026; la base permanente del caso de negocio son 1.900 AI Credits por usuario/mes para Copilot Business.</a:t>
            </a:r>
          </a:p>
          <a:p>
            <a:r>
              <a:rPr lang="es-419"/>
              <a:t>Desde el 1 de junio de 2026 las funcionalidades de Copilot que consumen AI Credits se miden bajo este modelo. Si 'AI credit paid usage' permanece deshabilitado, esas funcionalidades se bloquean al agotarse el pool compartido hasta el siguiente ciclo de facturación. El cargo adicional (USD 0,01 por AI Credit) aplica solo si se habilita 'AI credit paid usage' y el pool ya se agotó.</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419"/>
              <a:t>Notas metodológicas (movido desde la diapositiva):</a:t>
            </a:r>
          </a:p>
          <a:p>
            <a:r>
              <a:rPr lang="es-419"/>
              <a:t>El punto de equilibrio depende del valor hora de referencia y de la tasa de cambio (costo en USD vs. valor hora en COP). No representa ahorro directo de caja: representa capacidad de desarrollo liberada.</a:t>
            </a:r>
          </a:p>
          <a:p>
            <a:r>
              <a:rPr lang="es-419"/>
              <a:t>Las horas liberadas pueden provenir de cualquier actividad asistida por Copilot: generación de código, pruebas, refactorización, documentación, análisis, corrección de errores, desarrollos desde cero o modernización tecnológica. El consumo de AI Credits se administra vía el pool incluido y controles presupuestales, dentro del modelo de gobierno.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419"/>
              <a:t>Detalle de gobierno (movido desde la diapositiva):</a:t>
            </a:r>
          </a:p>
          <a:p>
            <a:r>
              <a:rPr lang="es-419"/>
              <a:t>Organización, cost center y enterprise controlan principalmente el consumo medido tras agotar el pool compartido. Para que detengan el consumo debe habilitarse 'Stop usage when budget limit is reached'; si no, el límite funciona como alerta y los cargos pueden seguir acumulándose.</a:t>
            </a:r>
          </a:p>
          <a:p>
            <a:r>
              <a:rPr lang="es-419"/>
              <a:t>El consumo adicional facturable requiere además habilitar 'AI credit paid usage'. GitHub recomienda configurar el presupuesto universal de usuario para aprovechar el pool compartido y establecer excepciones para usuarios con necesidades superiores.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BFAF9"/>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85800" y="658368"/>
            <a:ext cx="10789920" cy="822960"/>
          </a:xfrm>
          <a:prstGeom prst="rect">
            <a:avLst/>
          </a:prstGeom>
          <a:noFill/>
          <a:ln/>
        </p:spPr>
        <p:txBody>
          <a:bodyPr wrap="square" rtlCol="0"/>
          <a:lstStyle>
            <a:lvl1pPr marL="0" indent="0">
              <a:buNone/>
              <a:defRPr lang="en-US" dirty="0"/>
            </a:lvl1pPr>
          </a:lstStyle>
          <a:p>
            <a:pPr marL="0" indent="0">
              <a:buNone/>
            </a:pP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000000"/>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77240" y="2331720"/>
            <a:ext cx="7680960" cy="1737360"/>
          </a:xfrm>
          <a:prstGeom prst="rect">
            <a:avLst/>
          </a:prstGeom>
          <a:noFill/>
          <a:ln/>
        </p:spPr>
        <p:txBody>
          <a:bodyPr wrap="square" rtlCol="0"/>
          <a:lstStyle>
            <a:lvl1pPr marL="0" indent="0">
              <a:buNone/>
              <a:defRPr lang="en-US" dirty="0"/>
            </a:lvl1pPr>
          </a:lstStyle>
          <a:p>
            <a:pPr marL="0" indent="0">
              <a:buNone/>
            </a:pP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08032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Roboto Condensed"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Roboto Condensed"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Roboto Condensed"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Roboto Condensed"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Roboto Condensed"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Roboto Condensed"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Roboto Condensed"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Roboto Condensed"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Roboto Condensed"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A3FE0"/>
        </a:solidFill>
        <a:effectLst/>
      </p:bgPr>
    </p:bg>
    <p:spTree>
      <p:nvGrpSpPr>
        <p:cNvPr id="1" name=""/>
        <p:cNvGrpSpPr/>
        <p:nvPr/>
      </p:nvGrpSpPr>
      <p:grpSpPr>
        <a:xfrm>
          <a:off x="0" y="0"/>
          <a:ext cx="0" cy="0"/>
          <a:chOff x="0" y="0"/>
          <a:chExt cx="0" cy="0"/>
        </a:xfrm>
      </p:grpSpPr>
      <p:sp>
        <p:nvSpPr>
          <p:cNvPr id="4" name="Text 2"/>
          <p:cNvSpPr/>
          <p:nvPr/>
        </p:nvSpPr>
        <p:spPr>
          <a:xfrm>
            <a:off x="822960" y="1847088"/>
            <a:ext cx="7315200" cy="329184"/>
          </a:xfrm>
          <a:prstGeom prst="rect">
            <a:avLst/>
          </a:prstGeom>
          <a:noFill/>
          <a:ln/>
        </p:spPr>
        <p:txBody>
          <a:bodyPr wrap="square" lIns="0" tIns="0" rIns="0" bIns="0" rtlCol="0" anchor="ctr"/>
          <a:lstStyle/>
          <a:p>
            <a:pPr marL="0" indent="0" algn="l">
              <a:buNone/>
            </a:pPr>
            <a:r>
              <a:rPr lang="es-419" sz="1250" b="1" kern="0" spc="300" noProof="0">
                <a:solidFill>
                  <a:srgbClr val="FFFFFF"/>
                </a:solidFill>
                <a:latin typeface="Roboto Condensed Medium" pitchFamily="34" charset="0"/>
                <a:ea typeface="Roboto Condensed Medium" pitchFamily="34" charset="-122"/>
                <a:cs typeface="Roboto Condensed Medium" pitchFamily="34" charset="-120"/>
              </a:rPr>
              <a:t>PRUEBA DE CONCEPTO  ·  2026</a:t>
            </a:r>
            <a:endParaRPr lang="es-419" sz="1250" noProof="0" dirty="0"/>
          </a:p>
        </p:txBody>
      </p:sp>
      <p:sp>
        <p:nvSpPr>
          <p:cNvPr id="5" name="Text 0"/>
          <p:cNvSpPr>
            <a:spLocks noGrp="1"/>
          </p:cNvSpPr>
          <p:nvPr>
            <p:ph type="title" idx="100" hasCustomPrompt="1"/>
          </p:nvPr>
        </p:nvSpPr>
        <p:spPr>
          <a:xfrm>
            <a:off x="777240" y="2331720"/>
            <a:ext cx="7680960" cy="1737360"/>
          </a:xfrm>
          <a:prstGeom prst="rect">
            <a:avLst/>
          </a:prstGeom>
          <a:noFill/>
          <a:ln/>
        </p:spPr>
        <p:txBody>
          <a:bodyPr wrap="square" lIns="0" tIns="0" rIns="0" bIns="0" rtlCol="0" anchor="ctr"/>
          <a:lstStyle/>
          <a:p>
            <a:pPr marL="0" indent="0" algn="l">
              <a:buNone/>
            </a:pPr>
            <a:r>
              <a:rPr lang="es-419" sz="3100" b="1" noProof="0">
                <a:solidFill>
                  <a:srgbClr val="FFFFFF"/>
                </a:solidFill>
                <a:latin typeface="Roboto Condensed Medium" pitchFamily="34" charset="0"/>
                <a:ea typeface="Roboto Condensed Medium" pitchFamily="34" charset="-122"/>
                <a:cs typeface="Roboto Condensed Medium" pitchFamily="34" charset="-120"/>
              </a:rPr>
              <a:t>GitHub </a:t>
            </a:r>
            <a:r>
              <a:rPr lang="es-419" sz="3100" b="1" noProof="0" err="1">
                <a:solidFill>
                  <a:srgbClr val="FFFFFF"/>
                </a:solidFill>
                <a:latin typeface="Roboto Condensed Medium" pitchFamily="34" charset="0"/>
                <a:ea typeface="Roboto Condensed Medium" pitchFamily="34" charset="-122"/>
                <a:cs typeface="Roboto Condensed Medium" pitchFamily="34" charset="-120"/>
              </a:rPr>
              <a:t>Copilot</a:t>
            </a:r>
            <a:endParaRPr lang="es-419" sz="3100" noProof="0" dirty="0"/>
          </a:p>
          <a:p>
            <a:pPr marL="0" indent="0" algn="l">
              <a:buNone/>
            </a:pPr>
            <a:r>
              <a:rPr lang="es-419" sz="3100" b="1" noProof="0">
                <a:solidFill>
                  <a:srgbClr val="FFFFFF"/>
                </a:solidFill>
                <a:latin typeface="Roboto Condensed Medium" pitchFamily="34" charset="0"/>
                <a:ea typeface="Roboto Condensed Medium" pitchFamily="34" charset="-122"/>
                <a:cs typeface="Roboto Condensed Medium" pitchFamily="34" charset="-120"/>
              </a:rPr>
              <a:t>Resultados de la Prueba de Concepto</a:t>
            </a:r>
            <a:endParaRPr lang="es-419" sz="3100" noProof="0" dirty="0"/>
          </a:p>
        </p:txBody>
      </p:sp>
      <p:sp>
        <p:nvSpPr>
          <p:cNvPr id="6" name="accent">
            <a:extLst>
              <a:ext uri="{C183D7F6-B498-43B3-948B-1728B52AA6E4}">
                <adec:decorative xmlns:adec="http://schemas.microsoft.com/office/drawing/2017/decorative" val="1"/>
              </a:ext>
            </a:extLst>
          </p:cNvPr>
          <p:cNvSpPr/>
          <p:nvPr/>
        </p:nvSpPr>
        <p:spPr>
          <a:xfrm>
            <a:off x="822960" y="4224528"/>
            <a:ext cx="1051560" cy="54864"/>
          </a:xfrm>
          <a:prstGeom prst="rect">
            <a:avLst/>
          </a:prstGeom>
          <a:solidFill>
            <a:srgbClr val="FFFFFF"/>
          </a:solidFill>
          <a:ln/>
        </p:spPr>
        <p:txBody>
          <a:bodyPr/>
          <a:lstStyle/>
          <a:p>
            <a:endParaRPr lang="es-419" noProof="0" dirty="0"/>
          </a:p>
        </p:txBody>
      </p:sp>
      <p:sp>
        <p:nvSpPr>
          <p:cNvPr id="7" name="Text 5"/>
          <p:cNvSpPr/>
          <p:nvPr/>
        </p:nvSpPr>
        <p:spPr>
          <a:xfrm>
            <a:off x="804672" y="4407408"/>
            <a:ext cx="7498080" cy="457200"/>
          </a:xfrm>
          <a:prstGeom prst="rect">
            <a:avLst/>
          </a:prstGeom>
          <a:noFill/>
          <a:ln/>
        </p:spPr>
        <p:txBody>
          <a:bodyPr wrap="square" lIns="0" tIns="0" rIns="0" bIns="0" rtlCol="0" anchor="ctr"/>
          <a:lstStyle/>
          <a:p>
            <a:pPr marL="0" indent="0" algn="l">
              <a:buNone/>
            </a:pPr>
            <a:r>
              <a:rPr lang="es-419" sz="1550" noProof="0">
                <a:solidFill>
                  <a:srgbClr val="E6E8EF"/>
                </a:solidFill>
                <a:latin typeface="Roboto Condensed" pitchFamily="34" charset="0"/>
                <a:ea typeface="Roboto Condensed" pitchFamily="34" charset="-122"/>
                <a:cs typeface="Roboto Condensed" pitchFamily="34" charset="-120"/>
              </a:rPr>
              <a:t>Productividad, consumo, gobierno y caso de negocio</a:t>
            </a:r>
            <a:endParaRPr lang="es-419" sz="1550" noProof="0" dirty="0"/>
          </a:p>
        </p:txBody>
      </p:sp>
      <p:sp>
        <p:nvSpPr>
          <p:cNvPr id="8" name="Text 6"/>
          <p:cNvSpPr/>
          <p:nvPr/>
        </p:nvSpPr>
        <p:spPr>
          <a:xfrm>
            <a:off x="804672" y="5138928"/>
            <a:ext cx="8229600" cy="365760"/>
          </a:xfrm>
          <a:prstGeom prst="rect">
            <a:avLst/>
          </a:prstGeom>
          <a:noFill/>
          <a:ln/>
        </p:spPr>
        <p:txBody>
          <a:bodyPr wrap="square" lIns="0" tIns="0" rIns="0" bIns="0" rtlCol="0" anchor="ctr"/>
          <a:lstStyle/>
          <a:p>
            <a:pPr marL="0" indent="0" algn="l">
              <a:buNone/>
            </a:pPr>
            <a:r>
              <a:rPr lang="es-419" sz="1250" b="1" noProof="0" dirty="0">
                <a:solidFill>
                  <a:srgbClr val="FFFFFF"/>
                </a:solidFill>
                <a:latin typeface="Roboto Condensed" pitchFamily="34" charset="0"/>
                <a:ea typeface="Roboto Condensed" pitchFamily="34" charset="-122"/>
                <a:cs typeface="Roboto Condensed" pitchFamily="34" charset="-120"/>
              </a:rPr>
              <a:t>Tuya</a:t>
            </a:r>
            <a:r>
              <a:rPr lang="es-419" sz="1250" b="1" dirty="0">
                <a:solidFill>
                  <a:srgbClr val="AEB2BA"/>
                </a:solidFill>
                <a:latin typeface="Roboto Condensed" pitchFamily="34" charset="0"/>
                <a:ea typeface="Roboto Condensed" pitchFamily="34" charset="-122"/>
                <a:cs typeface="Roboto Condensed" pitchFamily="34" charset="-120"/>
              </a:rPr>
              <a:t>     </a:t>
            </a:r>
            <a:r>
              <a:rPr lang="es-419" sz="1250" dirty="0" err="1">
                <a:solidFill>
                  <a:srgbClr val="AEB2BA"/>
                </a:solidFill>
                <a:latin typeface="Roboto Condensed" pitchFamily="34" charset="0"/>
                <a:ea typeface="Roboto Condensed" pitchFamily="34" charset="-122"/>
                <a:cs typeface="Roboto Condensed" pitchFamily="34" charset="-120"/>
              </a:rPr>
              <a:t>CoE</a:t>
            </a:r>
            <a:r>
              <a:rPr lang="es-419" sz="1250" dirty="0">
                <a:solidFill>
                  <a:srgbClr val="AEB2BA"/>
                </a:solidFill>
                <a:latin typeface="Roboto Condensed" pitchFamily="34" charset="0"/>
                <a:ea typeface="Roboto Condensed" pitchFamily="34" charset="-122"/>
                <a:cs typeface="Roboto Condensed" pitchFamily="34" charset="-120"/>
              </a:rPr>
              <a:t> de </a:t>
            </a:r>
            <a:r>
              <a:rPr lang="es-419" sz="1250" noProof="0" dirty="0">
                <a:solidFill>
                  <a:srgbClr val="AEB2BA"/>
                </a:solidFill>
                <a:latin typeface="Roboto Condensed" pitchFamily="34" charset="0"/>
                <a:ea typeface="Roboto Condensed" pitchFamily="34" charset="-122"/>
                <a:cs typeface="Roboto Condensed" pitchFamily="34" charset="-120"/>
              </a:rPr>
              <a:t>Ingeniería de Software</a:t>
            </a:r>
            <a:endParaRPr lang="es-419" sz="1250" noProof="0" dirty="0"/>
          </a:p>
        </p:txBody>
      </p:sp>
      <p:sp>
        <p:nvSpPr>
          <p:cNvPr id="9" name="Text 7"/>
          <p:cNvSpPr/>
          <p:nvPr/>
        </p:nvSpPr>
        <p:spPr>
          <a:xfrm>
            <a:off x="8778240" y="6272784"/>
            <a:ext cx="2880360" cy="310896"/>
          </a:xfrm>
          <a:prstGeom prst="rect">
            <a:avLst/>
          </a:prstGeom>
          <a:noFill/>
          <a:ln/>
        </p:spPr>
        <p:txBody>
          <a:bodyPr wrap="square" lIns="0" tIns="0" rIns="0" bIns="0" rtlCol="0" anchor="ctr"/>
          <a:lstStyle/>
          <a:p>
            <a:pPr marL="0" indent="0" algn="r">
              <a:buNone/>
            </a:pPr>
            <a:r>
              <a:rPr lang="es-419" sz="1000" b="1" noProof="0">
                <a:solidFill>
                  <a:srgbClr val="DCE0FA"/>
                </a:solidFill>
                <a:latin typeface="Roboto Condensed Medium" pitchFamily="34" charset="0"/>
                <a:ea typeface="Roboto Condensed Medium" pitchFamily="34" charset="-122"/>
                <a:cs typeface="Roboto Condensed Medium" pitchFamily="34" charset="-120"/>
              </a:rPr>
              <a:t>GitHub  ·  GitHub </a:t>
            </a:r>
            <a:r>
              <a:rPr lang="es-419" sz="1000" b="1" noProof="0" err="1">
                <a:solidFill>
                  <a:srgbClr val="DCE0FA"/>
                </a:solidFill>
                <a:latin typeface="Roboto Condensed Medium" pitchFamily="34" charset="0"/>
                <a:ea typeface="Roboto Condensed Medium" pitchFamily="34" charset="-122"/>
                <a:cs typeface="Roboto Condensed Medium" pitchFamily="34" charset="-120"/>
              </a:rPr>
              <a:t>Copilot</a:t>
            </a:r>
            <a:endParaRPr lang="es-419" sz="1000" noProof="0" dirty="0"/>
          </a:p>
        </p:txBody>
      </p:sp>
      <p:sp>
        <p:nvSpPr>
          <p:cNvPr id="20" name="Logo Card"/>
          <p:cNvSpPr/>
          <p:nvPr/>
        </p:nvSpPr>
        <p:spPr>
          <a:xfrm>
            <a:off x="822960" y="470000"/>
            <a:ext cx="2438400" cy="1280160"/>
          </a:xfrm>
          <a:prstGeom prst="roundRect">
            <a:avLst>
              <a:gd name="adj" fmla="val 8000"/>
            </a:avLst>
          </a:prstGeom>
          <a:solidFill>
            <a:srgbClr val="2A3FE0"/>
          </a:solidFill>
          <a:ln>
            <a:noFill/>
          </a:ln>
        </p:spPr>
        <p:txBody>
          <a:bodyPr/>
          <a:lstStyle/>
          <a:p>
            <a:endParaRPr lang="es-419" noProof="0" dirty="0"/>
          </a:p>
        </p:txBody>
      </p:sp>
      <p:pic>
        <p:nvPicPr>
          <p:cNvPr id="10" name="Imagen 9" descr="Tuya vive una profunda transformación digital y de modelos de negocio | SAS">
            <a:extLst>
              <a:ext uri="{FF2B5EF4-FFF2-40B4-BE49-F238E27FC236}">
                <a16:creationId xmlns:a16="http://schemas.microsoft.com/office/drawing/2014/main" id="{11AD2E69-6247-1811-BE1D-8D98DF4D578A}"/>
              </a:ext>
            </a:extLst>
          </p:cNvPr>
          <p:cNvPicPr>
            <a:picLocks noChangeAspect="1"/>
          </p:cNvPicPr>
          <p:nvPr/>
        </p:nvPicPr>
        <p:blipFill>
          <a:blip r:embed="rId3"/>
          <a:stretch>
            <a:fillRect/>
          </a:stretch>
        </p:blipFill>
        <p:spPr>
          <a:xfrm>
            <a:off x="1142160" y="660080"/>
            <a:ext cx="1800000" cy="900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 mark">
            <a:extLst>
              <a:ext uri="{C183D7F6-B498-43B3-948B-1728B52AA6E4}">
                <adec:decorative xmlns:adec="http://schemas.microsoft.com/office/drawing/2017/decorative" val="1"/>
              </a:ext>
            </a:extLst>
          </p:cNvPr>
          <p:cNvSpPr/>
          <p:nvPr/>
        </p:nvSpPr>
        <p:spPr>
          <a:xfrm>
            <a:off x="685800" y="402336"/>
            <a:ext cx="146304" cy="146304"/>
          </a:xfrm>
          <a:prstGeom prst="rect">
            <a:avLst/>
          </a:prstGeom>
          <a:solidFill>
            <a:srgbClr val="2A3FE0"/>
          </a:solidFill>
          <a:ln/>
        </p:spPr>
        <p:txBody>
          <a:bodyPr/>
          <a:lstStyle/>
          <a:p>
            <a:endParaRPr lang="es-419" noProof="0" dirty="0"/>
          </a:p>
        </p:txBody>
      </p:sp>
      <p:sp>
        <p:nvSpPr>
          <p:cNvPr id="3" name="Text 1"/>
          <p:cNvSpPr/>
          <p:nvPr/>
        </p:nvSpPr>
        <p:spPr>
          <a:xfrm>
            <a:off x="932688" y="310896"/>
            <a:ext cx="9601200" cy="310896"/>
          </a:xfrm>
          <a:prstGeom prst="rect">
            <a:avLst/>
          </a:prstGeom>
          <a:noFill/>
          <a:ln/>
        </p:spPr>
        <p:txBody>
          <a:bodyPr wrap="square" lIns="0" tIns="0" rIns="0" bIns="0" rtlCol="0" anchor="ctr"/>
          <a:lstStyle/>
          <a:p>
            <a:pPr marL="0" indent="0" algn="l">
              <a:buNone/>
            </a:pPr>
            <a:r>
              <a:rPr lang="es-419" sz="1150" b="1" kern="0" spc="200" noProof="0">
                <a:solidFill>
                  <a:srgbClr val="2A3FE0"/>
                </a:solidFill>
                <a:latin typeface="Roboto Condensed Medium" pitchFamily="34" charset="0"/>
                <a:ea typeface="Roboto Condensed Medium" pitchFamily="34" charset="-122"/>
                <a:cs typeface="Roboto Condensed Medium" pitchFamily="34" charset="-120"/>
              </a:rPr>
              <a:t>OBJETIVO Y ALCANCE DE LA POC</a:t>
            </a:r>
            <a:endParaRPr lang="es-419" sz="1150" noProof="0" dirty="0"/>
          </a:p>
        </p:txBody>
      </p:sp>
      <p:sp>
        <p:nvSpPr>
          <p:cNvPr id="4" name="Text 0"/>
          <p:cNvSpPr>
            <a:spLocks noGrp="1"/>
          </p:cNvSpPr>
          <p:nvPr>
            <p:ph type="title" idx="100" hasCustomPrompt="1"/>
          </p:nvPr>
        </p:nvSpPr>
        <p:spPr>
          <a:xfrm>
            <a:off x="685800" y="658368"/>
            <a:ext cx="10789920" cy="822960"/>
          </a:xfrm>
          <a:prstGeom prst="rect">
            <a:avLst/>
          </a:prstGeom>
          <a:noFill/>
          <a:ln/>
        </p:spPr>
        <p:txBody>
          <a:bodyPr wrap="square" lIns="0" tIns="0" rIns="0" bIns="0" rtlCol="0" anchor="t"/>
          <a:lstStyle/>
          <a:p>
            <a:pPr marL="0" indent="0" algn="l">
              <a:buNone/>
            </a:pPr>
            <a:r>
              <a:rPr lang="es-419" sz="2700" b="1" noProof="0">
                <a:solidFill>
                  <a:srgbClr val="000000"/>
                </a:solidFill>
                <a:latin typeface="Roboto Condensed Medium" pitchFamily="34" charset="0"/>
                <a:ea typeface="Roboto Condensed Medium" pitchFamily="34" charset="-122"/>
                <a:cs typeface="Roboto Condensed Medium" pitchFamily="34" charset="-120"/>
              </a:rPr>
              <a:t>Qué evaluamos y bajo qué condiciones</a:t>
            </a:r>
            <a:endParaRPr lang="es-419" sz="2700" noProof="0" dirty="0"/>
          </a:p>
        </p:txBody>
      </p:sp>
      <p:sp>
        <p:nvSpPr>
          <p:cNvPr id="5" name="objetivo">
            <a:extLst>
              <a:ext uri="{C183D7F6-B498-43B3-948B-1728B52AA6E4}">
                <adec:decorative xmlns:adec="http://schemas.microsoft.com/office/drawing/2017/decorative" val="1"/>
              </a:ext>
            </a:extLst>
          </p:cNvPr>
          <p:cNvSpPr/>
          <p:nvPr/>
        </p:nvSpPr>
        <p:spPr>
          <a:xfrm>
            <a:off x="685800" y="1627632"/>
            <a:ext cx="10817352" cy="932688"/>
          </a:xfrm>
          <a:prstGeom prst="rect">
            <a:avLst/>
          </a:prstGeom>
          <a:solidFill>
            <a:srgbClr val="E7EAFC"/>
          </a:solidFill>
          <a:ln w="12700">
            <a:solidFill>
              <a:srgbClr val="CBD2F7"/>
            </a:solidFill>
            <a:prstDash val="solid"/>
          </a:ln>
        </p:spPr>
        <p:txBody>
          <a:bodyPr/>
          <a:lstStyle/>
          <a:p>
            <a:endParaRPr lang="es-419" noProof="0" dirty="0"/>
          </a:p>
        </p:txBody>
      </p:sp>
      <p:sp>
        <p:nvSpPr>
          <p:cNvPr id="6" name="accent">
            <a:extLst>
              <a:ext uri="{C183D7F6-B498-43B3-948B-1728B52AA6E4}">
                <adec:decorative xmlns:adec="http://schemas.microsoft.com/office/drawing/2017/decorative" val="1"/>
              </a:ext>
            </a:extLst>
          </p:cNvPr>
          <p:cNvSpPr/>
          <p:nvPr/>
        </p:nvSpPr>
        <p:spPr>
          <a:xfrm>
            <a:off x="685800" y="1627632"/>
            <a:ext cx="82296" cy="932688"/>
          </a:xfrm>
          <a:prstGeom prst="rect">
            <a:avLst/>
          </a:prstGeom>
          <a:solidFill>
            <a:srgbClr val="2A3FE0"/>
          </a:solidFill>
          <a:ln/>
        </p:spPr>
        <p:txBody>
          <a:bodyPr/>
          <a:lstStyle/>
          <a:p>
            <a:endParaRPr lang="es-419" noProof="0" dirty="0"/>
          </a:p>
        </p:txBody>
      </p:sp>
      <p:sp>
        <p:nvSpPr>
          <p:cNvPr id="7" name="Text 5"/>
          <p:cNvSpPr/>
          <p:nvPr/>
        </p:nvSpPr>
        <p:spPr>
          <a:xfrm>
            <a:off x="960120" y="1627632"/>
            <a:ext cx="10332720" cy="932688"/>
          </a:xfrm>
          <a:prstGeom prst="rect">
            <a:avLst/>
          </a:prstGeom>
          <a:noFill/>
          <a:ln/>
        </p:spPr>
        <p:txBody>
          <a:bodyPr wrap="square" lIns="0" tIns="0" rIns="0" bIns="0" rtlCol="0" anchor="ctr"/>
          <a:lstStyle/>
          <a:p>
            <a:pPr marL="0" indent="0" algn="l">
              <a:buNone/>
            </a:pPr>
            <a:r>
              <a:rPr lang="en-US" sz="1100" b="1">
                <a:solidFill>
                  <a:srgbClr val="2A3FE0"/>
                </a:solidFill>
                <a:latin typeface="Roboto Condensed Medium" pitchFamily="34" charset="0"/>
                <a:ea typeface="Roboto Condensed Medium" pitchFamily="34" charset="-122"/>
                <a:cs typeface="Roboto Condensed Medium" pitchFamily="34" charset="-120"/>
              </a:rPr>
              <a:t>OBJETIVO   </a:t>
            </a:r>
            <a:r>
              <a:rPr lang="en-US" sz="1350">
                <a:solidFill>
                  <a:srgbClr val="000000"/>
                </a:solidFill>
                <a:latin typeface="Roboto Condensed" pitchFamily="34" charset="0"/>
                <a:ea typeface="Roboto Condensed" pitchFamily="34" charset="-122"/>
                <a:cs typeface="Roboto Condensed" pitchFamily="34" charset="-120"/>
              </a:rPr>
              <a:t>Evaluar el impacto de GitHub Copilot y su viabilidad técnica, operativa y económica.</a:t>
            </a:r>
            <a:endParaRPr lang="es-419" sz="1100" noProof="0" dirty="0"/>
          </a:p>
        </p:txBody>
      </p:sp>
      <p:sp>
        <p:nvSpPr>
          <p:cNvPr id="8" name="Text 6"/>
          <p:cNvSpPr/>
          <p:nvPr/>
        </p:nvSpPr>
        <p:spPr>
          <a:xfrm>
            <a:off x="685800" y="2816352"/>
            <a:ext cx="10058400" cy="274320"/>
          </a:xfrm>
          <a:prstGeom prst="rect">
            <a:avLst/>
          </a:prstGeom>
          <a:noFill/>
          <a:ln/>
        </p:spPr>
        <p:txBody>
          <a:bodyPr wrap="square" lIns="0" tIns="0" rIns="0" bIns="0" rtlCol="0" anchor="ctr"/>
          <a:lstStyle/>
          <a:p>
            <a:pPr marL="0" indent="0">
              <a:buNone/>
            </a:pPr>
            <a:r>
              <a:rPr lang="es-419" sz="1100" b="1" kern="0" spc="200" noProof="0">
                <a:solidFill>
                  <a:srgbClr val="6E7278"/>
                </a:solidFill>
                <a:latin typeface="Roboto Condensed Medium" pitchFamily="34" charset="0"/>
                <a:ea typeface="Roboto Condensed Medium" pitchFamily="34" charset="-122"/>
                <a:cs typeface="Roboto Condensed Medium" pitchFamily="34" charset="-120"/>
              </a:rPr>
              <a:t>ALCANCE DE LA EVALUACIÓN</a:t>
            </a:r>
            <a:endParaRPr lang="es-419" sz="1100" noProof="0" dirty="0"/>
          </a:p>
        </p:txBody>
      </p:sp>
      <p:sp>
        <p:nvSpPr>
          <p:cNvPr id="9" name="card">
            <a:extLst>
              <a:ext uri="{C183D7F6-B498-43B3-948B-1728B52AA6E4}">
                <adec:decorative xmlns:adec="http://schemas.microsoft.com/office/drawing/2017/decorative" val="1"/>
              </a:ext>
            </a:extLst>
          </p:cNvPr>
          <p:cNvSpPr/>
          <p:nvPr/>
        </p:nvSpPr>
        <p:spPr>
          <a:xfrm>
            <a:off x="685800" y="3200400"/>
            <a:ext cx="1958645" cy="2331720"/>
          </a:xfrm>
          <a:prstGeom prst="rect">
            <a:avLst/>
          </a:prstGeom>
          <a:solidFill>
            <a:srgbClr val="FFFFFF"/>
          </a:solidFill>
          <a:ln w="12700">
            <a:solidFill>
              <a:srgbClr val="E6E8EF"/>
            </a:solidFill>
            <a:prstDash val="solid"/>
          </a:ln>
          <a:effectLst>
            <a:outerShdw blurRad="114300" dist="38100" dir="5400000" algn="bl" rotWithShape="0">
              <a:srgbClr val="5B6068">
                <a:alpha val="9000"/>
              </a:srgbClr>
            </a:outerShdw>
          </a:effectLst>
        </p:spPr>
        <p:txBody>
          <a:bodyPr/>
          <a:lstStyle/>
          <a:p>
            <a:endParaRPr lang="es-419" noProof="0" dirty="0"/>
          </a:p>
        </p:txBody>
      </p:sp>
      <p:sp>
        <p:nvSpPr>
          <p:cNvPr id="10" name="top accent">
            <a:extLst>
              <a:ext uri="{C183D7F6-B498-43B3-948B-1728B52AA6E4}">
                <adec:decorative xmlns:adec="http://schemas.microsoft.com/office/drawing/2017/decorative" val="1"/>
              </a:ext>
            </a:extLst>
          </p:cNvPr>
          <p:cNvSpPr/>
          <p:nvPr/>
        </p:nvSpPr>
        <p:spPr>
          <a:xfrm>
            <a:off x="685800" y="3200400"/>
            <a:ext cx="1958645" cy="100584"/>
          </a:xfrm>
          <a:prstGeom prst="rect">
            <a:avLst/>
          </a:prstGeom>
          <a:solidFill>
            <a:srgbClr val="2A3FE0"/>
          </a:solidFill>
          <a:ln/>
        </p:spPr>
        <p:txBody>
          <a:bodyPr/>
          <a:lstStyle/>
          <a:p>
            <a:endParaRPr lang="es-419" noProof="0" dirty="0"/>
          </a:p>
        </p:txBody>
      </p:sp>
      <p:sp>
        <p:nvSpPr>
          <p:cNvPr id="11" name="Text 9"/>
          <p:cNvSpPr/>
          <p:nvPr/>
        </p:nvSpPr>
        <p:spPr>
          <a:xfrm>
            <a:off x="850392" y="3456432"/>
            <a:ext cx="1629461" cy="457200"/>
          </a:xfrm>
          <a:prstGeom prst="rect">
            <a:avLst/>
          </a:prstGeom>
          <a:noFill/>
          <a:ln/>
        </p:spPr>
        <p:txBody>
          <a:bodyPr wrap="square" lIns="0" tIns="0" rIns="0" bIns="0" rtlCol="0" anchor="ctr"/>
          <a:lstStyle/>
          <a:p>
            <a:pPr marL="0" indent="0" algn="l">
              <a:buNone/>
            </a:pPr>
            <a:r>
              <a:rPr lang="es-419" sz="2000" b="1" noProof="0">
                <a:solidFill>
                  <a:srgbClr val="2A3FE0"/>
                </a:solidFill>
                <a:latin typeface="Roboto Condensed Medium" pitchFamily="34" charset="0"/>
                <a:ea typeface="Roboto Condensed Medium" pitchFamily="34" charset="-122"/>
                <a:cs typeface="Roboto Condensed Medium" pitchFamily="34" charset="-120"/>
              </a:rPr>
              <a:t>01</a:t>
            </a:r>
            <a:endParaRPr lang="es-419" sz="2000" noProof="0" dirty="0"/>
          </a:p>
        </p:txBody>
      </p:sp>
      <p:sp>
        <p:nvSpPr>
          <p:cNvPr id="12" name="Text 10"/>
          <p:cNvSpPr/>
          <p:nvPr/>
        </p:nvSpPr>
        <p:spPr>
          <a:xfrm>
            <a:off x="850392" y="4041648"/>
            <a:ext cx="1629461" cy="640080"/>
          </a:xfrm>
          <a:prstGeom prst="rect">
            <a:avLst/>
          </a:prstGeom>
          <a:noFill/>
          <a:ln/>
        </p:spPr>
        <p:txBody>
          <a:bodyPr wrap="square" lIns="0" tIns="0" rIns="0" bIns="0" rtlCol="0" anchor="t"/>
          <a:lstStyle/>
          <a:p>
            <a:pPr marL="0" indent="0" algn="l">
              <a:buNone/>
            </a:pPr>
            <a:r>
              <a:rPr lang="es-419" sz="1300" b="1" noProof="0">
                <a:solidFill>
                  <a:srgbClr val="000000"/>
                </a:solidFill>
                <a:latin typeface="Roboto Condensed Medium" pitchFamily="34" charset="0"/>
                <a:ea typeface="Roboto Condensed Medium" pitchFamily="34" charset="-122"/>
                <a:cs typeface="Roboto Condensed Medium" pitchFamily="34" charset="-120"/>
              </a:rPr>
              <a:t>Casos evaluados</a:t>
            </a:r>
            <a:endParaRPr lang="es-419" sz="1300" noProof="0" dirty="0"/>
          </a:p>
        </p:txBody>
      </p:sp>
      <p:sp>
        <p:nvSpPr>
          <p:cNvPr id="13" name="Text 11"/>
          <p:cNvSpPr/>
          <p:nvPr/>
        </p:nvSpPr>
        <p:spPr>
          <a:xfrm>
            <a:off x="850392" y="4681728"/>
            <a:ext cx="1629461" cy="731520"/>
          </a:xfrm>
          <a:prstGeom prst="rect">
            <a:avLst/>
          </a:prstGeom>
          <a:noFill/>
          <a:ln/>
        </p:spPr>
        <p:txBody>
          <a:bodyPr wrap="square" lIns="0" tIns="0" rIns="0" bIns="0" rtlCol="0" anchor="t"/>
          <a:lstStyle/>
          <a:p>
            <a:pPr marL="0" indent="0" algn="l">
              <a:buNone/>
            </a:pPr>
            <a:r>
              <a:rPr lang="es-419" sz="950" i="1" noProof="0">
                <a:solidFill>
                  <a:srgbClr val="2A3FE0"/>
                </a:solidFill>
                <a:latin typeface="Roboto Condensed" pitchFamily="34" charset="0"/>
                <a:ea typeface="Roboto Condensed" pitchFamily="34" charset="-122"/>
                <a:cs typeface="Roboto Condensed" pitchFamily="34" charset="-120"/>
              </a:rPr>
              <a:t>Migración de apps .NET a .NET 10 (desde .NET Core 3.1 hasta .NET 8).</a:t>
            </a:r>
            <a:endParaRPr lang="es-419" sz="1150" noProof="0" dirty="0"/>
          </a:p>
        </p:txBody>
      </p:sp>
      <p:sp>
        <p:nvSpPr>
          <p:cNvPr id="14" name="card">
            <a:extLst>
              <a:ext uri="{C183D7F6-B498-43B3-948B-1728B52AA6E4}">
                <adec:decorative xmlns:adec="http://schemas.microsoft.com/office/drawing/2017/decorative" val="1"/>
              </a:ext>
            </a:extLst>
          </p:cNvPr>
          <p:cNvSpPr/>
          <p:nvPr/>
        </p:nvSpPr>
        <p:spPr>
          <a:xfrm>
            <a:off x="2900477" y="3200400"/>
            <a:ext cx="1958645" cy="2331720"/>
          </a:xfrm>
          <a:prstGeom prst="rect">
            <a:avLst/>
          </a:prstGeom>
          <a:solidFill>
            <a:srgbClr val="FFFFFF"/>
          </a:solidFill>
          <a:ln w="12700">
            <a:solidFill>
              <a:srgbClr val="E6E8EF"/>
            </a:solidFill>
            <a:prstDash val="solid"/>
          </a:ln>
          <a:effectLst>
            <a:outerShdw blurRad="114300" dist="38100" dir="5400000" algn="bl" rotWithShape="0">
              <a:srgbClr val="5B6068">
                <a:alpha val="9000"/>
              </a:srgbClr>
            </a:outerShdw>
          </a:effectLst>
        </p:spPr>
        <p:txBody>
          <a:bodyPr/>
          <a:lstStyle/>
          <a:p>
            <a:endParaRPr lang="es-419" noProof="0" dirty="0"/>
          </a:p>
        </p:txBody>
      </p:sp>
      <p:sp>
        <p:nvSpPr>
          <p:cNvPr id="15" name="top accent">
            <a:extLst>
              <a:ext uri="{C183D7F6-B498-43B3-948B-1728B52AA6E4}">
                <adec:decorative xmlns:adec="http://schemas.microsoft.com/office/drawing/2017/decorative" val="1"/>
              </a:ext>
            </a:extLst>
          </p:cNvPr>
          <p:cNvSpPr/>
          <p:nvPr/>
        </p:nvSpPr>
        <p:spPr>
          <a:xfrm>
            <a:off x="2900477" y="3200400"/>
            <a:ext cx="1958645" cy="100584"/>
          </a:xfrm>
          <a:prstGeom prst="rect">
            <a:avLst/>
          </a:prstGeom>
          <a:solidFill>
            <a:srgbClr val="2A3FE0"/>
          </a:solidFill>
          <a:ln/>
        </p:spPr>
        <p:txBody>
          <a:bodyPr/>
          <a:lstStyle/>
          <a:p>
            <a:endParaRPr lang="es-419" noProof="0" dirty="0"/>
          </a:p>
        </p:txBody>
      </p:sp>
      <p:sp>
        <p:nvSpPr>
          <p:cNvPr id="16" name="Text 14"/>
          <p:cNvSpPr/>
          <p:nvPr/>
        </p:nvSpPr>
        <p:spPr>
          <a:xfrm>
            <a:off x="3065069" y="3456432"/>
            <a:ext cx="1629461" cy="457200"/>
          </a:xfrm>
          <a:prstGeom prst="rect">
            <a:avLst/>
          </a:prstGeom>
          <a:noFill/>
          <a:ln/>
        </p:spPr>
        <p:txBody>
          <a:bodyPr wrap="square" lIns="0" tIns="0" rIns="0" bIns="0" rtlCol="0" anchor="ctr"/>
          <a:lstStyle/>
          <a:p>
            <a:pPr marL="0" indent="0" algn="l">
              <a:buNone/>
            </a:pPr>
            <a:r>
              <a:rPr lang="es-419" sz="2000" b="1" noProof="0">
                <a:solidFill>
                  <a:srgbClr val="2A3FE0"/>
                </a:solidFill>
                <a:latin typeface="Roboto Condensed Medium" pitchFamily="34" charset="0"/>
                <a:ea typeface="Roboto Condensed Medium" pitchFamily="34" charset="-122"/>
                <a:cs typeface="Roboto Condensed Medium" pitchFamily="34" charset="-120"/>
              </a:rPr>
              <a:t>02</a:t>
            </a:r>
            <a:endParaRPr lang="es-419" sz="2000" noProof="0" dirty="0"/>
          </a:p>
        </p:txBody>
      </p:sp>
      <p:sp>
        <p:nvSpPr>
          <p:cNvPr id="17" name="Text 15"/>
          <p:cNvSpPr/>
          <p:nvPr/>
        </p:nvSpPr>
        <p:spPr>
          <a:xfrm>
            <a:off x="3065069" y="4041648"/>
            <a:ext cx="1629461" cy="640080"/>
          </a:xfrm>
          <a:prstGeom prst="rect">
            <a:avLst/>
          </a:prstGeom>
          <a:noFill/>
          <a:ln/>
        </p:spPr>
        <p:txBody>
          <a:bodyPr wrap="square" lIns="0" tIns="0" rIns="0" bIns="0" rtlCol="0" anchor="t"/>
          <a:lstStyle/>
          <a:p>
            <a:pPr marL="0" indent="0" algn="l">
              <a:buNone/>
            </a:pPr>
            <a:r>
              <a:rPr lang="es-419" sz="1300" b="1" noProof="0">
                <a:solidFill>
                  <a:srgbClr val="000000"/>
                </a:solidFill>
                <a:latin typeface="Roboto Condensed Medium" pitchFamily="34" charset="0"/>
                <a:ea typeface="Roboto Condensed Medium" pitchFamily="34" charset="-122"/>
                <a:cs typeface="Roboto Condensed Medium" pitchFamily="34" charset="-120"/>
              </a:rPr>
              <a:t>Participantes</a:t>
            </a:r>
            <a:endParaRPr lang="es-419" sz="1300" noProof="0" dirty="0"/>
          </a:p>
        </p:txBody>
      </p:sp>
      <p:sp>
        <p:nvSpPr>
          <p:cNvPr id="18" name="Text 16"/>
          <p:cNvSpPr/>
          <p:nvPr/>
        </p:nvSpPr>
        <p:spPr>
          <a:xfrm>
            <a:off x="3065069" y="4681728"/>
            <a:ext cx="1629461" cy="731520"/>
          </a:xfrm>
          <a:prstGeom prst="rect">
            <a:avLst/>
          </a:prstGeom>
          <a:noFill/>
          <a:ln/>
        </p:spPr>
        <p:txBody>
          <a:bodyPr wrap="square" lIns="0" tIns="0" rIns="0" bIns="0" rtlCol="0" anchor="t"/>
          <a:lstStyle/>
          <a:p>
            <a:pPr marL="0" indent="0" algn="l">
              <a:buNone/>
            </a:pPr>
            <a:r>
              <a:rPr lang="es-419" sz="1150" i="1" noProof="0">
                <a:solidFill>
                  <a:srgbClr val="2A3FE0"/>
                </a:solidFill>
                <a:latin typeface="Roboto Condensed" pitchFamily="34" charset="0"/>
                <a:ea typeface="Roboto Condensed" pitchFamily="34" charset="-122"/>
                <a:cs typeface="Roboto Condensed" pitchFamily="34" charset="-120"/>
              </a:rPr>
              <a:t>10 desarrolladores.</a:t>
            </a:r>
            <a:endParaRPr lang="es-419" sz="1150" noProof="0" dirty="0"/>
          </a:p>
        </p:txBody>
      </p:sp>
      <p:sp>
        <p:nvSpPr>
          <p:cNvPr id="19" name="card">
            <a:extLst>
              <a:ext uri="{C183D7F6-B498-43B3-948B-1728B52AA6E4}">
                <adec:decorative xmlns:adec="http://schemas.microsoft.com/office/drawing/2017/decorative" val="1"/>
              </a:ext>
            </a:extLst>
          </p:cNvPr>
          <p:cNvSpPr/>
          <p:nvPr/>
        </p:nvSpPr>
        <p:spPr>
          <a:xfrm>
            <a:off x="5115154" y="3200400"/>
            <a:ext cx="1958645" cy="2331720"/>
          </a:xfrm>
          <a:prstGeom prst="rect">
            <a:avLst/>
          </a:prstGeom>
          <a:solidFill>
            <a:srgbClr val="FFFFFF"/>
          </a:solidFill>
          <a:ln w="12700">
            <a:solidFill>
              <a:srgbClr val="E6E8EF"/>
            </a:solidFill>
            <a:prstDash val="solid"/>
          </a:ln>
          <a:effectLst>
            <a:outerShdw blurRad="114300" dist="38100" dir="5400000" algn="bl" rotWithShape="0">
              <a:srgbClr val="5B6068">
                <a:alpha val="9000"/>
              </a:srgbClr>
            </a:outerShdw>
          </a:effectLst>
        </p:spPr>
        <p:txBody>
          <a:bodyPr/>
          <a:lstStyle/>
          <a:p>
            <a:endParaRPr lang="es-419" noProof="0" dirty="0"/>
          </a:p>
        </p:txBody>
      </p:sp>
      <p:sp>
        <p:nvSpPr>
          <p:cNvPr id="20" name="top accent">
            <a:extLst>
              <a:ext uri="{C183D7F6-B498-43B3-948B-1728B52AA6E4}">
                <adec:decorative xmlns:adec="http://schemas.microsoft.com/office/drawing/2017/decorative" val="1"/>
              </a:ext>
            </a:extLst>
          </p:cNvPr>
          <p:cNvSpPr/>
          <p:nvPr/>
        </p:nvSpPr>
        <p:spPr>
          <a:xfrm>
            <a:off x="5115154" y="3200400"/>
            <a:ext cx="1958645" cy="100584"/>
          </a:xfrm>
          <a:prstGeom prst="rect">
            <a:avLst/>
          </a:prstGeom>
          <a:solidFill>
            <a:srgbClr val="2A3FE0"/>
          </a:solidFill>
          <a:ln/>
        </p:spPr>
        <p:txBody>
          <a:bodyPr/>
          <a:lstStyle/>
          <a:p>
            <a:endParaRPr lang="es-419" noProof="0" dirty="0"/>
          </a:p>
        </p:txBody>
      </p:sp>
      <p:sp>
        <p:nvSpPr>
          <p:cNvPr id="21" name="Text 19"/>
          <p:cNvSpPr/>
          <p:nvPr/>
        </p:nvSpPr>
        <p:spPr>
          <a:xfrm>
            <a:off x="5279746" y="3456432"/>
            <a:ext cx="1629461" cy="457200"/>
          </a:xfrm>
          <a:prstGeom prst="rect">
            <a:avLst/>
          </a:prstGeom>
          <a:noFill/>
          <a:ln/>
        </p:spPr>
        <p:txBody>
          <a:bodyPr wrap="square" lIns="0" tIns="0" rIns="0" bIns="0" rtlCol="0" anchor="ctr"/>
          <a:lstStyle/>
          <a:p>
            <a:pPr marL="0" indent="0" algn="l">
              <a:buNone/>
            </a:pPr>
            <a:r>
              <a:rPr lang="es-419" sz="2000" b="1" noProof="0">
                <a:solidFill>
                  <a:srgbClr val="2A3FE0"/>
                </a:solidFill>
                <a:latin typeface="Roboto Condensed Medium" pitchFamily="34" charset="0"/>
                <a:ea typeface="Roboto Condensed Medium" pitchFamily="34" charset="-122"/>
                <a:cs typeface="Roboto Condensed Medium" pitchFamily="34" charset="-120"/>
              </a:rPr>
              <a:t>03</a:t>
            </a:r>
            <a:endParaRPr lang="es-419" sz="2000" noProof="0" dirty="0"/>
          </a:p>
        </p:txBody>
      </p:sp>
      <p:sp>
        <p:nvSpPr>
          <p:cNvPr id="22" name="Text 20"/>
          <p:cNvSpPr/>
          <p:nvPr/>
        </p:nvSpPr>
        <p:spPr>
          <a:xfrm>
            <a:off x="5279746" y="4041648"/>
            <a:ext cx="1629461" cy="640080"/>
          </a:xfrm>
          <a:prstGeom prst="rect">
            <a:avLst/>
          </a:prstGeom>
          <a:noFill/>
          <a:ln/>
        </p:spPr>
        <p:txBody>
          <a:bodyPr wrap="square" lIns="0" tIns="0" rIns="0" bIns="0" rtlCol="0" anchor="t"/>
          <a:lstStyle/>
          <a:p>
            <a:pPr marL="0" indent="0" algn="l">
              <a:buNone/>
            </a:pPr>
            <a:r>
              <a:rPr lang="es-419" sz="1300" b="1" noProof="0">
                <a:solidFill>
                  <a:srgbClr val="000000"/>
                </a:solidFill>
                <a:latin typeface="Roboto Condensed Medium" pitchFamily="34" charset="0"/>
                <a:ea typeface="Roboto Condensed Medium" pitchFamily="34" charset="-122"/>
                <a:cs typeface="Roboto Condensed Medium" pitchFamily="34" charset="-120"/>
              </a:rPr>
              <a:t>Tecnologías</a:t>
            </a:r>
            <a:endParaRPr lang="es-419" sz="1300" noProof="0" dirty="0"/>
          </a:p>
        </p:txBody>
      </p:sp>
      <p:sp>
        <p:nvSpPr>
          <p:cNvPr id="23" name="Text 21"/>
          <p:cNvSpPr/>
          <p:nvPr/>
        </p:nvSpPr>
        <p:spPr>
          <a:xfrm>
            <a:off x="5279746" y="4681728"/>
            <a:ext cx="1629461" cy="731520"/>
          </a:xfrm>
          <a:prstGeom prst="rect">
            <a:avLst/>
          </a:prstGeom>
          <a:noFill/>
          <a:ln/>
        </p:spPr>
        <p:txBody>
          <a:bodyPr wrap="square" lIns="0" tIns="0" rIns="0" bIns="0" rtlCol="0" anchor="t"/>
          <a:lstStyle/>
          <a:p>
            <a:pPr marL="0" indent="0" algn="l">
              <a:buNone/>
            </a:pPr>
            <a:r>
              <a:rPr lang="es-419" sz="1150" i="1" noProof="0">
                <a:solidFill>
                  <a:srgbClr val="2A3FE0"/>
                </a:solidFill>
                <a:latin typeface="Roboto Condensed" pitchFamily="34" charset="0"/>
                <a:ea typeface="Roboto Condensed" pitchFamily="34" charset="-122"/>
                <a:cs typeface="Roboto Condensed" pitchFamily="34" charset="-120"/>
              </a:rPr>
              <a:t>.NET, .NET 10, GitHub </a:t>
            </a:r>
            <a:r>
              <a:rPr lang="es-419" sz="1150" i="1" noProof="0" err="1">
                <a:solidFill>
                  <a:srgbClr val="2A3FE0"/>
                </a:solidFill>
                <a:latin typeface="Roboto Condensed" pitchFamily="34" charset="0"/>
                <a:ea typeface="Roboto Condensed" pitchFamily="34" charset="-122"/>
                <a:cs typeface="Roboto Condensed" pitchFamily="34" charset="-120"/>
              </a:rPr>
              <a:t>Copilot</a:t>
            </a:r>
            <a:r>
              <a:rPr lang="es-419" sz="1150" i="1" noProof="0">
                <a:solidFill>
                  <a:srgbClr val="2A3FE0"/>
                </a:solidFill>
                <a:latin typeface="Roboto Condensed" pitchFamily="34" charset="0"/>
                <a:ea typeface="Roboto Condensed" pitchFamily="34" charset="-122"/>
                <a:cs typeface="Roboto Condensed" pitchFamily="34" charset="-120"/>
              </a:rPr>
              <a:t>.</a:t>
            </a:r>
            <a:endParaRPr lang="es-419" sz="1150" noProof="0" dirty="0"/>
          </a:p>
        </p:txBody>
      </p:sp>
      <p:sp>
        <p:nvSpPr>
          <p:cNvPr id="24" name="card">
            <a:extLst>
              <a:ext uri="{C183D7F6-B498-43B3-948B-1728B52AA6E4}">
                <adec:decorative xmlns:adec="http://schemas.microsoft.com/office/drawing/2017/decorative" val="1"/>
              </a:ext>
            </a:extLst>
          </p:cNvPr>
          <p:cNvSpPr/>
          <p:nvPr/>
        </p:nvSpPr>
        <p:spPr>
          <a:xfrm>
            <a:off x="7329830" y="3200400"/>
            <a:ext cx="1958645" cy="2331720"/>
          </a:xfrm>
          <a:prstGeom prst="rect">
            <a:avLst/>
          </a:prstGeom>
          <a:solidFill>
            <a:srgbClr val="FFFFFF"/>
          </a:solidFill>
          <a:ln w="12700">
            <a:solidFill>
              <a:srgbClr val="E6E8EF"/>
            </a:solidFill>
            <a:prstDash val="solid"/>
          </a:ln>
          <a:effectLst>
            <a:outerShdw blurRad="114300" dist="38100" dir="5400000" algn="bl" rotWithShape="0">
              <a:srgbClr val="5B6068">
                <a:alpha val="9000"/>
              </a:srgbClr>
            </a:outerShdw>
          </a:effectLst>
        </p:spPr>
        <p:txBody>
          <a:bodyPr/>
          <a:lstStyle/>
          <a:p>
            <a:endParaRPr lang="es-419" noProof="0" dirty="0"/>
          </a:p>
        </p:txBody>
      </p:sp>
      <p:sp>
        <p:nvSpPr>
          <p:cNvPr id="25" name="top accent">
            <a:extLst>
              <a:ext uri="{C183D7F6-B498-43B3-948B-1728B52AA6E4}">
                <adec:decorative xmlns:adec="http://schemas.microsoft.com/office/drawing/2017/decorative" val="1"/>
              </a:ext>
            </a:extLst>
          </p:cNvPr>
          <p:cNvSpPr/>
          <p:nvPr/>
        </p:nvSpPr>
        <p:spPr>
          <a:xfrm>
            <a:off x="7329830" y="3200400"/>
            <a:ext cx="1958645" cy="100584"/>
          </a:xfrm>
          <a:prstGeom prst="rect">
            <a:avLst/>
          </a:prstGeom>
          <a:solidFill>
            <a:srgbClr val="2A3FE0"/>
          </a:solidFill>
          <a:ln/>
        </p:spPr>
        <p:txBody>
          <a:bodyPr/>
          <a:lstStyle/>
          <a:p>
            <a:endParaRPr lang="es-419" noProof="0" dirty="0"/>
          </a:p>
        </p:txBody>
      </p:sp>
      <p:sp>
        <p:nvSpPr>
          <p:cNvPr id="26" name="Text 24"/>
          <p:cNvSpPr/>
          <p:nvPr/>
        </p:nvSpPr>
        <p:spPr>
          <a:xfrm>
            <a:off x="7494422" y="3456432"/>
            <a:ext cx="1629461" cy="457200"/>
          </a:xfrm>
          <a:prstGeom prst="rect">
            <a:avLst/>
          </a:prstGeom>
          <a:noFill/>
          <a:ln/>
        </p:spPr>
        <p:txBody>
          <a:bodyPr wrap="square" lIns="0" tIns="0" rIns="0" bIns="0" rtlCol="0" anchor="ctr"/>
          <a:lstStyle/>
          <a:p>
            <a:pPr marL="0" indent="0" algn="l">
              <a:buNone/>
            </a:pPr>
            <a:r>
              <a:rPr lang="es-419" sz="2000" b="1" noProof="0">
                <a:solidFill>
                  <a:srgbClr val="2A3FE0"/>
                </a:solidFill>
                <a:latin typeface="Roboto Condensed Medium" pitchFamily="34" charset="0"/>
                <a:ea typeface="Roboto Condensed Medium" pitchFamily="34" charset="-122"/>
                <a:cs typeface="Roboto Condensed Medium" pitchFamily="34" charset="-120"/>
              </a:rPr>
              <a:t>04</a:t>
            </a:r>
            <a:endParaRPr lang="es-419" sz="2000" noProof="0" dirty="0"/>
          </a:p>
        </p:txBody>
      </p:sp>
      <p:sp>
        <p:nvSpPr>
          <p:cNvPr id="27" name="Text 25"/>
          <p:cNvSpPr/>
          <p:nvPr/>
        </p:nvSpPr>
        <p:spPr>
          <a:xfrm>
            <a:off x="7494422" y="4041648"/>
            <a:ext cx="1629461" cy="640080"/>
          </a:xfrm>
          <a:prstGeom prst="rect">
            <a:avLst/>
          </a:prstGeom>
          <a:noFill/>
          <a:ln/>
        </p:spPr>
        <p:txBody>
          <a:bodyPr wrap="square" lIns="0" tIns="0" rIns="0" bIns="0" rtlCol="0" anchor="t"/>
          <a:lstStyle/>
          <a:p>
            <a:pPr marL="0" indent="0" algn="l">
              <a:buNone/>
            </a:pPr>
            <a:r>
              <a:rPr lang="es-419" sz="1300" b="1" noProof="0">
                <a:solidFill>
                  <a:srgbClr val="000000"/>
                </a:solidFill>
                <a:latin typeface="Roboto Condensed Medium" pitchFamily="34" charset="0"/>
                <a:ea typeface="Roboto Condensed Medium" pitchFamily="34" charset="-122"/>
                <a:cs typeface="Roboto Condensed Medium" pitchFamily="34" charset="-120"/>
              </a:rPr>
              <a:t>Duración</a:t>
            </a:r>
            <a:endParaRPr lang="es-419" sz="1300" noProof="0" dirty="0"/>
          </a:p>
        </p:txBody>
      </p:sp>
      <p:sp>
        <p:nvSpPr>
          <p:cNvPr id="28" name="Text 26"/>
          <p:cNvSpPr/>
          <p:nvPr/>
        </p:nvSpPr>
        <p:spPr>
          <a:xfrm>
            <a:off x="7494422" y="4681728"/>
            <a:ext cx="1629461" cy="731520"/>
          </a:xfrm>
          <a:prstGeom prst="rect">
            <a:avLst/>
          </a:prstGeom>
          <a:noFill/>
          <a:ln/>
        </p:spPr>
        <p:txBody>
          <a:bodyPr wrap="square" lIns="0" tIns="0" rIns="0" bIns="0" rtlCol="0" anchor="t"/>
          <a:lstStyle/>
          <a:p>
            <a:pPr marL="0" indent="0" algn="l">
              <a:buNone/>
            </a:pPr>
            <a:r>
              <a:rPr lang="es-419" sz="1150" i="1" noProof="0">
                <a:solidFill>
                  <a:srgbClr val="2A3FE0"/>
                </a:solidFill>
                <a:latin typeface="Roboto Condensed" pitchFamily="34" charset="0"/>
                <a:ea typeface="Roboto Condensed" pitchFamily="34" charset="-122"/>
                <a:cs typeface="Roboto Condensed" pitchFamily="34" charset="-120"/>
              </a:rPr>
              <a:t>2 semanas.</a:t>
            </a:r>
            <a:endParaRPr lang="es-419" sz="1150" noProof="0" dirty="0"/>
          </a:p>
        </p:txBody>
      </p:sp>
      <p:sp>
        <p:nvSpPr>
          <p:cNvPr id="29" name="card">
            <a:extLst>
              <a:ext uri="{C183D7F6-B498-43B3-948B-1728B52AA6E4}">
                <adec:decorative xmlns:adec="http://schemas.microsoft.com/office/drawing/2017/decorative" val="1"/>
              </a:ext>
            </a:extLst>
          </p:cNvPr>
          <p:cNvSpPr/>
          <p:nvPr/>
        </p:nvSpPr>
        <p:spPr>
          <a:xfrm>
            <a:off x="9544507" y="3200400"/>
            <a:ext cx="1958645" cy="2331720"/>
          </a:xfrm>
          <a:prstGeom prst="rect">
            <a:avLst/>
          </a:prstGeom>
          <a:solidFill>
            <a:srgbClr val="FFFFFF"/>
          </a:solidFill>
          <a:ln w="12700">
            <a:solidFill>
              <a:srgbClr val="E6E8EF"/>
            </a:solidFill>
            <a:prstDash val="solid"/>
          </a:ln>
          <a:effectLst>
            <a:outerShdw blurRad="114300" dist="38100" dir="5400000" algn="bl" rotWithShape="0">
              <a:srgbClr val="5B6068">
                <a:alpha val="9000"/>
              </a:srgbClr>
            </a:outerShdw>
          </a:effectLst>
        </p:spPr>
        <p:txBody>
          <a:bodyPr/>
          <a:lstStyle/>
          <a:p>
            <a:endParaRPr lang="es-419" noProof="0" dirty="0"/>
          </a:p>
        </p:txBody>
      </p:sp>
      <p:sp>
        <p:nvSpPr>
          <p:cNvPr id="30" name="top accent">
            <a:extLst>
              <a:ext uri="{C183D7F6-B498-43B3-948B-1728B52AA6E4}">
                <adec:decorative xmlns:adec="http://schemas.microsoft.com/office/drawing/2017/decorative" val="1"/>
              </a:ext>
            </a:extLst>
          </p:cNvPr>
          <p:cNvSpPr/>
          <p:nvPr/>
        </p:nvSpPr>
        <p:spPr>
          <a:xfrm>
            <a:off x="9544507" y="3200400"/>
            <a:ext cx="1958645" cy="100584"/>
          </a:xfrm>
          <a:prstGeom prst="rect">
            <a:avLst/>
          </a:prstGeom>
          <a:solidFill>
            <a:srgbClr val="2A3FE0"/>
          </a:solidFill>
          <a:ln/>
        </p:spPr>
        <p:txBody>
          <a:bodyPr/>
          <a:lstStyle/>
          <a:p>
            <a:endParaRPr lang="es-419" noProof="0" dirty="0"/>
          </a:p>
        </p:txBody>
      </p:sp>
      <p:sp>
        <p:nvSpPr>
          <p:cNvPr id="31" name="Text 29"/>
          <p:cNvSpPr/>
          <p:nvPr/>
        </p:nvSpPr>
        <p:spPr>
          <a:xfrm>
            <a:off x="9709099" y="3456432"/>
            <a:ext cx="1629461" cy="457200"/>
          </a:xfrm>
          <a:prstGeom prst="rect">
            <a:avLst/>
          </a:prstGeom>
          <a:noFill/>
          <a:ln/>
        </p:spPr>
        <p:txBody>
          <a:bodyPr wrap="square" lIns="0" tIns="0" rIns="0" bIns="0" rtlCol="0" anchor="ctr"/>
          <a:lstStyle/>
          <a:p>
            <a:pPr marL="0" indent="0" algn="l">
              <a:buNone/>
            </a:pPr>
            <a:r>
              <a:rPr lang="es-419" sz="2000" b="1" noProof="0">
                <a:solidFill>
                  <a:srgbClr val="2A3FE0"/>
                </a:solidFill>
                <a:latin typeface="Roboto Condensed Medium" pitchFamily="34" charset="0"/>
                <a:ea typeface="Roboto Condensed Medium" pitchFamily="34" charset="-122"/>
                <a:cs typeface="Roboto Condensed Medium" pitchFamily="34" charset="-120"/>
              </a:rPr>
              <a:t>05</a:t>
            </a:r>
            <a:endParaRPr lang="es-419" sz="2000" noProof="0" dirty="0"/>
          </a:p>
        </p:txBody>
      </p:sp>
      <p:sp>
        <p:nvSpPr>
          <p:cNvPr id="32" name="Text 30"/>
          <p:cNvSpPr/>
          <p:nvPr/>
        </p:nvSpPr>
        <p:spPr>
          <a:xfrm>
            <a:off x="9709099" y="4041648"/>
            <a:ext cx="1629461" cy="640080"/>
          </a:xfrm>
          <a:prstGeom prst="rect">
            <a:avLst/>
          </a:prstGeom>
          <a:noFill/>
          <a:ln/>
        </p:spPr>
        <p:txBody>
          <a:bodyPr wrap="square" lIns="0" tIns="0" rIns="0" bIns="0" rtlCol="0" anchor="t"/>
          <a:lstStyle/>
          <a:p>
            <a:pPr marL="0" indent="0" algn="l">
              <a:buNone/>
            </a:pPr>
            <a:r>
              <a:rPr lang="es-419" sz="1300" b="1" noProof="0">
                <a:solidFill>
                  <a:srgbClr val="000000"/>
                </a:solidFill>
                <a:latin typeface="Roboto Condensed Medium" pitchFamily="34" charset="0"/>
                <a:ea typeface="Roboto Condensed Medium" pitchFamily="34" charset="-122"/>
                <a:cs typeface="Roboto Condensed Medium" pitchFamily="34" charset="-120"/>
              </a:rPr>
              <a:t>Metodología</a:t>
            </a:r>
            <a:endParaRPr lang="es-419" sz="1300" noProof="0" dirty="0"/>
          </a:p>
        </p:txBody>
      </p:sp>
      <p:sp>
        <p:nvSpPr>
          <p:cNvPr id="33" name="Text 31"/>
          <p:cNvSpPr/>
          <p:nvPr/>
        </p:nvSpPr>
        <p:spPr>
          <a:xfrm>
            <a:off x="9709099" y="4681728"/>
            <a:ext cx="1629461" cy="731520"/>
          </a:xfrm>
          <a:prstGeom prst="rect">
            <a:avLst/>
          </a:prstGeom>
          <a:noFill/>
          <a:ln/>
        </p:spPr>
        <p:txBody>
          <a:bodyPr wrap="square" lIns="0" tIns="0" rIns="0" bIns="0" rtlCol="0" anchor="t"/>
          <a:lstStyle/>
          <a:p>
            <a:pPr marL="0" indent="0" algn="l">
              <a:buNone/>
            </a:pPr>
            <a:r>
              <a:rPr lang="es-419" sz="850" i="1" noProof="0">
                <a:solidFill>
                  <a:srgbClr val="2A3FE0"/>
                </a:solidFill>
                <a:latin typeface="Roboto Condensed" pitchFamily="34" charset="0"/>
                <a:ea typeface="Roboto Condensed" pitchFamily="34" charset="-122"/>
                <a:cs typeface="Roboto Condensed" pitchFamily="34" charset="-120"/>
              </a:rPr>
              <a:t>Comparación contra esfuerzo estimado por juicio experto; ejecución real medida con Copilot.</a:t>
            </a:r>
            <a:endParaRPr lang="es-419" sz="1150" noProof="0" dirty="0"/>
          </a:p>
        </p:txBody>
      </p:sp>
      <p:sp>
        <p:nvSpPr>
          <p:cNvPr id="34" name="Text 32"/>
          <p:cNvSpPr/>
          <p:nvPr/>
        </p:nvSpPr>
        <p:spPr>
          <a:xfrm>
            <a:off x="685800" y="6437376"/>
            <a:ext cx="8686800" cy="292608"/>
          </a:xfrm>
          <a:prstGeom prst="rect">
            <a:avLst/>
          </a:prstGeom>
          <a:noFill/>
          <a:ln/>
        </p:spPr>
        <p:txBody>
          <a:bodyPr wrap="square" lIns="0" tIns="0" rIns="0" bIns="0" rtlCol="0" anchor="ctr"/>
          <a:lstStyle/>
          <a:p>
            <a:pPr marL="0" indent="0" algn="l">
              <a:buNone/>
            </a:pPr>
            <a:r>
              <a:rPr lang="es-419" sz="850" b="1" noProof="0">
                <a:solidFill>
                  <a:srgbClr val="000000"/>
                </a:solidFill>
                <a:latin typeface="Roboto Condensed" pitchFamily="34" charset="0"/>
                <a:ea typeface="Roboto Condensed" pitchFamily="34" charset="-122"/>
                <a:cs typeface="Roboto Condensed" pitchFamily="34" charset="-120"/>
              </a:rPr>
              <a:t>Tuya</a:t>
            </a:r>
            <a:r>
              <a:rPr lang="es-419" sz="850" noProof="0">
                <a:solidFill>
                  <a:srgbClr val="5B6068"/>
                </a:solidFill>
                <a:latin typeface="Roboto Condensed" pitchFamily="34" charset="0"/>
                <a:ea typeface="Roboto Condensed" pitchFamily="34" charset="-122"/>
                <a:cs typeface="Roboto Condensed" pitchFamily="34" charset="-120"/>
              </a:rPr>
              <a:t>   ·   GitHub </a:t>
            </a:r>
            <a:r>
              <a:rPr lang="es-419" sz="850" noProof="0" err="1">
                <a:solidFill>
                  <a:srgbClr val="5B6068"/>
                </a:solidFill>
                <a:latin typeface="Roboto Condensed" pitchFamily="34" charset="0"/>
                <a:ea typeface="Roboto Condensed" pitchFamily="34" charset="-122"/>
                <a:cs typeface="Roboto Condensed" pitchFamily="34" charset="-120"/>
              </a:rPr>
              <a:t>Copilot</a:t>
            </a:r>
            <a:r>
              <a:rPr lang="es-419" sz="850" noProof="0">
                <a:solidFill>
                  <a:srgbClr val="5B6068"/>
                </a:solidFill>
                <a:latin typeface="Roboto Condensed" pitchFamily="34" charset="0"/>
                <a:ea typeface="Roboto Condensed" pitchFamily="34" charset="-122"/>
                <a:cs typeface="Roboto Condensed" pitchFamily="34" charset="-120"/>
              </a:rPr>
              <a:t> - Resultados de la Prueba de Concepto</a:t>
            </a:r>
            <a:endParaRPr lang="es-419" sz="850" noProof="0" dirty="0"/>
          </a:p>
        </p:txBody>
      </p:sp>
      <p:sp>
        <p:nvSpPr>
          <p:cNvPr id="35" name="Text 33"/>
          <p:cNvSpPr/>
          <p:nvPr/>
        </p:nvSpPr>
        <p:spPr>
          <a:xfrm>
            <a:off x="10972800" y="6437376"/>
            <a:ext cx="530352" cy="292608"/>
          </a:xfrm>
          <a:prstGeom prst="rect">
            <a:avLst/>
          </a:prstGeom>
          <a:noFill/>
          <a:ln/>
        </p:spPr>
        <p:txBody>
          <a:bodyPr wrap="square" lIns="0" tIns="0" rIns="0" bIns="0" rtlCol="0" anchor="ctr"/>
          <a:lstStyle/>
          <a:p>
            <a:pPr marL="0" indent="0" algn="r">
              <a:buNone/>
            </a:pPr>
            <a:r>
              <a:rPr lang="es-419" sz="900" b="1" noProof="0">
                <a:solidFill>
                  <a:srgbClr val="2A3FE0"/>
                </a:solidFill>
                <a:latin typeface="Roboto Condensed Medium" pitchFamily="34" charset="0"/>
                <a:ea typeface="Roboto Condensed Medium" pitchFamily="34" charset="-122"/>
                <a:cs typeface="Roboto Condensed Medium" pitchFamily="34" charset="-120"/>
              </a:rPr>
              <a:t>02</a:t>
            </a:r>
            <a:endParaRPr lang="es-419" sz="900" noProof="0" dirty="0"/>
          </a:p>
        </p:txBody>
      </p:sp>
      <p:pic>
        <p:nvPicPr>
          <p:cNvPr id="950" name="Logo Tuya"/>
          <p:cNvPicPr>
            <a:picLocks noChangeAspect="1"/>
          </p:cNvPicPr>
          <p:nvPr/>
        </p:nvPicPr>
        <p:blipFill>
          <a:blip r:embed="rId3"/>
          <a:stretch>
            <a:fillRect/>
          </a:stretch>
        </p:blipFill>
        <p:spPr>
          <a:xfrm>
            <a:off x="11152200" y="321276"/>
            <a:ext cx="640080" cy="32004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 mark">
            <a:extLst>
              <a:ext uri="{C183D7F6-B498-43B3-948B-1728B52AA6E4}">
                <adec:decorative xmlns:adec="http://schemas.microsoft.com/office/drawing/2017/decorative" val="1"/>
              </a:ext>
            </a:extLst>
          </p:cNvPr>
          <p:cNvSpPr/>
          <p:nvPr/>
        </p:nvSpPr>
        <p:spPr>
          <a:xfrm>
            <a:off x="685800" y="402336"/>
            <a:ext cx="146304" cy="146304"/>
          </a:xfrm>
          <a:prstGeom prst="rect">
            <a:avLst/>
          </a:prstGeom>
          <a:solidFill>
            <a:srgbClr val="2A3FE0"/>
          </a:solidFill>
          <a:ln/>
        </p:spPr>
        <p:txBody>
          <a:bodyPr/>
          <a:lstStyle/>
          <a:p>
            <a:endParaRPr lang="es-419" noProof="0" dirty="0"/>
          </a:p>
        </p:txBody>
      </p:sp>
      <p:sp>
        <p:nvSpPr>
          <p:cNvPr id="3" name="Text 1"/>
          <p:cNvSpPr/>
          <p:nvPr/>
        </p:nvSpPr>
        <p:spPr>
          <a:xfrm>
            <a:off x="932688" y="310896"/>
            <a:ext cx="9601200" cy="310896"/>
          </a:xfrm>
          <a:prstGeom prst="rect">
            <a:avLst/>
          </a:prstGeom>
          <a:noFill/>
          <a:ln/>
        </p:spPr>
        <p:txBody>
          <a:bodyPr wrap="square" lIns="0" tIns="0" rIns="0" bIns="0" rtlCol="0" anchor="ctr"/>
          <a:lstStyle/>
          <a:p>
            <a:pPr marL="0" indent="0" algn="l">
              <a:buNone/>
            </a:pPr>
            <a:r>
              <a:rPr lang="es-419" sz="1150" b="1" kern="0" spc="200" noProof="0">
                <a:solidFill>
                  <a:srgbClr val="2A3FE0"/>
                </a:solidFill>
                <a:latin typeface="Roboto Condensed Medium" pitchFamily="34" charset="0"/>
                <a:ea typeface="Roboto Condensed Medium" pitchFamily="34" charset="-122"/>
                <a:cs typeface="Roboto Condensed Medium" pitchFamily="34" charset="-120"/>
              </a:rPr>
              <a:t>ESCENARIO EVALUADO</a:t>
            </a:r>
            <a:endParaRPr lang="es-419" sz="1150" noProof="0" dirty="0"/>
          </a:p>
        </p:txBody>
      </p:sp>
      <p:sp>
        <p:nvSpPr>
          <p:cNvPr id="4" name="Text 0"/>
          <p:cNvSpPr>
            <a:spLocks noGrp="1"/>
          </p:cNvSpPr>
          <p:nvPr>
            <p:ph type="title" idx="100" hasCustomPrompt="1"/>
          </p:nvPr>
        </p:nvSpPr>
        <p:spPr>
          <a:xfrm>
            <a:off x="685800" y="658368"/>
            <a:ext cx="10789920" cy="822960"/>
          </a:xfrm>
          <a:prstGeom prst="rect">
            <a:avLst/>
          </a:prstGeom>
          <a:noFill/>
          <a:ln/>
        </p:spPr>
        <p:txBody>
          <a:bodyPr wrap="square" lIns="0" tIns="0" rIns="0" bIns="0" rtlCol="0" anchor="t"/>
          <a:lstStyle/>
          <a:p>
            <a:pPr marL="0" indent="0" algn="l">
              <a:buNone/>
            </a:pPr>
            <a:r>
              <a:rPr lang="es-419" sz="2700" b="1" noProof="0">
                <a:solidFill>
                  <a:srgbClr val="000000"/>
                </a:solidFill>
                <a:latin typeface="Roboto Condensed Medium" pitchFamily="34" charset="0"/>
                <a:ea typeface="Roboto Condensed Medium" pitchFamily="34" charset="-122"/>
                <a:cs typeface="Roboto Condensed Medium" pitchFamily="34" charset="-120"/>
              </a:rPr>
              <a:t>Cómo evaluamos el impacto de GitHub Copilot</a:t>
            </a:r>
            <a:endParaRPr lang="es-419" sz="2700" noProof="0" dirty="0"/>
          </a:p>
        </p:txBody>
      </p:sp>
      <p:sp>
        <p:nvSpPr>
          <p:cNvPr id="5" name="card">
            <a:extLst>
              <a:ext uri="{C183D7F6-B498-43B3-948B-1728B52AA6E4}">
                <adec:decorative xmlns:adec="http://schemas.microsoft.com/office/drawing/2017/decorative" val="1"/>
              </a:ext>
            </a:extLst>
          </p:cNvPr>
          <p:cNvSpPr/>
          <p:nvPr/>
        </p:nvSpPr>
        <p:spPr>
          <a:xfrm>
            <a:off x="685800" y="1664208"/>
            <a:ext cx="1574292" cy="1600200"/>
          </a:xfrm>
          <a:prstGeom prst="rect">
            <a:avLst/>
          </a:prstGeom>
          <a:solidFill>
            <a:srgbClr val="FFFFFF"/>
          </a:solidFill>
          <a:ln w="12700">
            <a:solidFill>
              <a:srgbClr val="E6E8EF"/>
            </a:solidFill>
            <a:prstDash val="solid"/>
          </a:ln>
          <a:effectLst>
            <a:outerShdw blurRad="114300" dist="38100" dir="5400000" algn="bl" rotWithShape="0">
              <a:srgbClr val="5B6068">
                <a:alpha val="9000"/>
              </a:srgbClr>
            </a:outerShdw>
          </a:effectLst>
        </p:spPr>
        <p:txBody>
          <a:bodyPr/>
          <a:lstStyle/>
          <a:p>
            <a:endParaRPr lang="es-419" noProof="0" dirty="0"/>
          </a:p>
        </p:txBody>
      </p:sp>
      <p:sp>
        <p:nvSpPr>
          <p:cNvPr id="6" name="step badge">
            <a:extLst>
              <a:ext uri="{C183D7F6-B498-43B3-948B-1728B52AA6E4}">
                <adec:decorative xmlns:adec="http://schemas.microsoft.com/office/drawing/2017/decorative" val="1"/>
              </a:ext>
            </a:extLst>
          </p:cNvPr>
          <p:cNvSpPr/>
          <p:nvPr/>
        </p:nvSpPr>
        <p:spPr>
          <a:xfrm>
            <a:off x="1280922" y="1847088"/>
            <a:ext cx="384048" cy="384048"/>
          </a:xfrm>
          <a:prstGeom prst="ellipse">
            <a:avLst/>
          </a:prstGeom>
          <a:solidFill>
            <a:srgbClr val="E7EAFC"/>
          </a:solidFill>
          <a:ln/>
        </p:spPr>
        <p:txBody>
          <a:bodyPr/>
          <a:lstStyle/>
          <a:p>
            <a:endParaRPr lang="es-419" noProof="0" dirty="0"/>
          </a:p>
        </p:txBody>
      </p:sp>
      <p:sp>
        <p:nvSpPr>
          <p:cNvPr id="7" name="Text 5"/>
          <p:cNvSpPr/>
          <p:nvPr/>
        </p:nvSpPr>
        <p:spPr>
          <a:xfrm>
            <a:off x="1280922" y="1847088"/>
            <a:ext cx="384048" cy="384048"/>
          </a:xfrm>
          <a:prstGeom prst="rect">
            <a:avLst/>
          </a:prstGeom>
          <a:noFill/>
          <a:ln/>
        </p:spPr>
        <p:txBody>
          <a:bodyPr wrap="square" lIns="0" tIns="0" rIns="0" bIns="0" rtlCol="0" anchor="ctr"/>
          <a:lstStyle/>
          <a:p>
            <a:pPr marL="0" indent="0" algn="ctr">
              <a:buNone/>
            </a:pPr>
            <a:r>
              <a:rPr lang="es-419" sz="1400" b="1" noProof="0">
                <a:solidFill>
                  <a:srgbClr val="2A3FE0"/>
                </a:solidFill>
                <a:latin typeface="Roboto Condensed Medium" pitchFamily="34" charset="0"/>
                <a:ea typeface="Roboto Condensed Medium" pitchFamily="34" charset="-122"/>
                <a:cs typeface="Roboto Condensed Medium" pitchFamily="34" charset="-120"/>
              </a:rPr>
              <a:t>1</a:t>
            </a:r>
            <a:endParaRPr lang="es-419" sz="1400" noProof="0" dirty="0"/>
          </a:p>
        </p:txBody>
      </p:sp>
      <p:sp>
        <p:nvSpPr>
          <p:cNvPr id="8" name="Text 6"/>
          <p:cNvSpPr/>
          <p:nvPr/>
        </p:nvSpPr>
        <p:spPr>
          <a:xfrm>
            <a:off x="777240" y="2322576"/>
            <a:ext cx="1391412" cy="950000"/>
          </a:xfrm>
          <a:prstGeom prst="rect">
            <a:avLst/>
          </a:prstGeom>
          <a:noFill/>
          <a:ln/>
        </p:spPr>
        <p:txBody>
          <a:bodyPr wrap="square" lIns="0" tIns="0" rIns="0" bIns="0" rtlCol="0" anchor="t"/>
          <a:lstStyle/>
          <a:p>
            <a:pPr marL="0" indent="0" algn="ctr">
              <a:buNone/>
            </a:pPr>
            <a:r>
              <a:rPr lang="en-US" sz="950" b="1">
                <a:solidFill>
                  <a:srgbClr val="000000"/>
                </a:solidFill>
                <a:latin typeface="Roboto Condensed" pitchFamily="34" charset="0"/>
                <a:ea typeface="Roboto Condensed" pitchFamily="34" charset="-122"/>
                <a:cs typeface="Roboto Condensed" pitchFamily="34" charset="-120"/>
              </a:rPr>
              <a:t>Selección del caso</a:t>
            </a:r>
            <a:endParaRPr lang="es-419" sz="750" noProof="0"/>
          </a:p>
        </p:txBody>
      </p:sp>
      <p:sp>
        <p:nvSpPr>
          <p:cNvPr id="9" name="flow connector">
            <a:extLst>
              <a:ext uri="{C183D7F6-B498-43B3-948B-1728B52AA6E4}">
                <adec:decorative xmlns:adec="http://schemas.microsoft.com/office/drawing/2017/decorative" val="1"/>
              </a:ext>
            </a:extLst>
          </p:cNvPr>
          <p:cNvSpPr/>
          <p:nvPr/>
        </p:nvSpPr>
        <p:spPr>
          <a:xfrm>
            <a:off x="2241804" y="2235708"/>
            <a:ext cx="310896" cy="274320"/>
          </a:xfrm>
          <a:prstGeom prst="chevron">
            <a:avLst/>
          </a:prstGeom>
          <a:solidFill>
            <a:srgbClr val="2A3FE0"/>
          </a:solidFill>
          <a:ln/>
        </p:spPr>
        <p:txBody>
          <a:bodyPr/>
          <a:lstStyle/>
          <a:p>
            <a:endParaRPr lang="es-419" noProof="0" dirty="0"/>
          </a:p>
        </p:txBody>
      </p:sp>
      <p:sp>
        <p:nvSpPr>
          <p:cNvPr id="10" name="card">
            <a:extLst>
              <a:ext uri="{C183D7F6-B498-43B3-948B-1728B52AA6E4}">
                <adec:decorative xmlns:adec="http://schemas.microsoft.com/office/drawing/2017/decorative" val="1"/>
              </a:ext>
            </a:extLst>
          </p:cNvPr>
          <p:cNvSpPr/>
          <p:nvPr/>
        </p:nvSpPr>
        <p:spPr>
          <a:xfrm>
            <a:off x="2534412" y="1664208"/>
            <a:ext cx="1574292" cy="1600200"/>
          </a:xfrm>
          <a:prstGeom prst="rect">
            <a:avLst/>
          </a:prstGeom>
          <a:solidFill>
            <a:srgbClr val="E7EAFC"/>
          </a:solidFill>
          <a:ln w="19050">
            <a:solidFill>
              <a:srgbClr val="2A3FE0"/>
            </a:solidFill>
            <a:prstDash val="solid"/>
          </a:ln>
          <a:effectLst>
            <a:outerShdw blurRad="114300" dist="38100" dir="5400000" algn="bl" rotWithShape="0">
              <a:srgbClr val="5B6068">
                <a:alpha val="9000"/>
              </a:srgbClr>
            </a:outerShdw>
          </a:effectLst>
        </p:spPr>
        <p:txBody>
          <a:bodyPr/>
          <a:lstStyle/>
          <a:p>
            <a:endParaRPr lang="es-419" noProof="0" dirty="0"/>
          </a:p>
        </p:txBody>
      </p:sp>
      <p:sp>
        <p:nvSpPr>
          <p:cNvPr id="11" name="step badge">
            <a:extLst>
              <a:ext uri="{C183D7F6-B498-43B3-948B-1728B52AA6E4}">
                <adec:decorative xmlns:adec="http://schemas.microsoft.com/office/drawing/2017/decorative" val="1"/>
              </a:ext>
            </a:extLst>
          </p:cNvPr>
          <p:cNvSpPr/>
          <p:nvPr/>
        </p:nvSpPr>
        <p:spPr>
          <a:xfrm>
            <a:off x="3129534" y="1847088"/>
            <a:ext cx="384048" cy="384048"/>
          </a:xfrm>
          <a:prstGeom prst="ellipse">
            <a:avLst/>
          </a:prstGeom>
          <a:solidFill>
            <a:srgbClr val="E7EAFC"/>
          </a:solidFill>
          <a:ln/>
        </p:spPr>
        <p:txBody>
          <a:bodyPr/>
          <a:lstStyle/>
          <a:p>
            <a:endParaRPr lang="es-419" noProof="0" dirty="0"/>
          </a:p>
        </p:txBody>
      </p:sp>
      <p:sp>
        <p:nvSpPr>
          <p:cNvPr id="12" name="Text 10"/>
          <p:cNvSpPr/>
          <p:nvPr/>
        </p:nvSpPr>
        <p:spPr>
          <a:xfrm>
            <a:off x="3129534" y="1847088"/>
            <a:ext cx="384048" cy="384048"/>
          </a:xfrm>
          <a:prstGeom prst="rect">
            <a:avLst/>
          </a:prstGeom>
          <a:noFill/>
          <a:ln/>
        </p:spPr>
        <p:txBody>
          <a:bodyPr wrap="square" lIns="0" tIns="0" rIns="0" bIns="0" rtlCol="0" anchor="ctr"/>
          <a:lstStyle/>
          <a:p>
            <a:pPr marL="0" indent="0" algn="ctr">
              <a:buNone/>
            </a:pPr>
            <a:r>
              <a:rPr lang="es-419" sz="1400" b="1" noProof="0">
                <a:solidFill>
                  <a:srgbClr val="2A3FE0"/>
                </a:solidFill>
                <a:latin typeface="Roboto Condensed Medium" pitchFamily="34" charset="0"/>
                <a:ea typeface="Roboto Condensed Medium" pitchFamily="34" charset="-122"/>
                <a:cs typeface="Roboto Condensed Medium" pitchFamily="34" charset="-120"/>
              </a:rPr>
              <a:t>2</a:t>
            </a:r>
            <a:endParaRPr lang="es-419" sz="1400" noProof="0" dirty="0"/>
          </a:p>
        </p:txBody>
      </p:sp>
      <p:sp>
        <p:nvSpPr>
          <p:cNvPr id="13" name="Text 11"/>
          <p:cNvSpPr/>
          <p:nvPr/>
        </p:nvSpPr>
        <p:spPr>
          <a:xfrm>
            <a:off x="2625852" y="2322576"/>
            <a:ext cx="1391412" cy="950000"/>
          </a:xfrm>
          <a:prstGeom prst="rect">
            <a:avLst/>
          </a:prstGeom>
          <a:noFill/>
          <a:ln/>
        </p:spPr>
        <p:txBody>
          <a:bodyPr wrap="square" lIns="0" tIns="0" rIns="0" bIns="0" rtlCol="0" anchor="t"/>
          <a:lstStyle/>
          <a:p>
            <a:pPr marL="0" indent="0" algn="ctr">
              <a:buNone/>
            </a:pPr>
            <a:r>
              <a:rPr lang="en-US" sz="950" b="1">
                <a:solidFill>
                  <a:srgbClr val="2A3FE0"/>
                </a:solidFill>
                <a:latin typeface="Roboto Condensed" pitchFamily="34" charset="0"/>
                <a:ea typeface="Roboto Condensed" pitchFamily="34" charset="-122"/>
                <a:cs typeface="Roboto Condensed" pitchFamily="34" charset="-120"/>
              </a:rPr>
              <a:t>Estimación experta</a:t>
            </a:r>
            <a:endParaRPr lang="es-419" sz="750" noProof="0"/>
          </a:p>
        </p:txBody>
      </p:sp>
      <p:sp>
        <p:nvSpPr>
          <p:cNvPr id="14" name="flow connector">
            <a:extLst>
              <a:ext uri="{C183D7F6-B498-43B3-948B-1728B52AA6E4}">
                <adec:decorative xmlns:adec="http://schemas.microsoft.com/office/drawing/2017/decorative" val="1"/>
              </a:ext>
            </a:extLst>
          </p:cNvPr>
          <p:cNvSpPr/>
          <p:nvPr/>
        </p:nvSpPr>
        <p:spPr>
          <a:xfrm>
            <a:off x="4090416" y="2235708"/>
            <a:ext cx="310896" cy="274320"/>
          </a:xfrm>
          <a:prstGeom prst="chevron">
            <a:avLst/>
          </a:prstGeom>
          <a:solidFill>
            <a:srgbClr val="2A3FE0"/>
          </a:solidFill>
          <a:ln/>
        </p:spPr>
        <p:txBody>
          <a:bodyPr/>
          <a:lstStyle/>
          <a:p>
            <a:endParaRPr lang="es-419" noProof="0" dirty="0"/>
          </a:p>
        </p:txBody>
      </p:sp>
      <p:sp>
        <p:nvSpPr>
          <p:cNvPr id="15" name="step">
            <a:extLst>
              <a:ext uri="{C183D7F6-B498-43B3-948B-1728B52AA6E4}">
                <adec:decorative xmlns:adec="http://schemas.microsoft.com/office/drawing/2017/decorative" val="1"/>
              </a:ext>
            </a:extLst>
          </p:cNvPr>
          <p:cNvSpPr/>
          <p:nvPr/>
        </p:nvSpPr>
        <p:spPr>
          <a:xfrm>
            <a:off x="4383024" y="1664208"/>
            <a:ext cx="1574292" cy="1600200"/>
          </a:xfrm>
          <a:prstGeom prst="rect">
            <a:avLst/>
          </a:prstGeom>
          <a:solidFill>
            <a:srgbClr val="FFFFFF"/>
          </a:solidFill>
          <a:ln w="12700">
            <a:solidFill>
              <a:srgbClr val="E6E8EF"/>
            </a:solidFill>
            <a:prstDash val="solid"/>
          </a:ln>
          <a:effectLst>
            <a:outerShdw blurRad="114300" dist="38100" dir="5400000" algn="bl" rotWithShape="0">
              <a:srgbClr val="5B6068">
                <a:alpha val="9000"/>
              </a:srgbClr>
            </a:outerShdw>
          </a:effectLst>
        </p:spPr>
        <p:txBody>
          <a:bodyPr/>
          <a:lstStyle/>
          <a:p>
            <a:endParaRPr lang="es-419" noProof="0" dirty="0"/>
          </a:p>
        </p:txBody>
      </p:sp>
      <p:sp>
        <p:nvSpPr>
          <p:cNvPr id="16" name="step badge">
            <a:extLst>
              <a:ext uri="{C183D7F6-B498-43B3-948B-1728B52AA6E4}">
                <adec:decorative xmlns:adec="http://schemas.microsoft.com/office/drawing/2017/decorative" val="1"/>
              </a:ext>
            </a:extLst>
          </p:cNvPr>
          <p:cNvSpPr/>
          <p:nvPr/>
        </p:nvSpPr>
        <p:spPr>
          <a:xfrm>
            <a:off x="4978146" y="1847088"/>
            <a:ext cx="384048" cy="384048"/>
          </a:xfrm>
          <a:prstGeom prst="ellipse">
            <a:avLst/>
          </a:prstGeom>
          <a:solidFill>
            <a:srgbClr val="E7EAFC"/>
          </a:solidFill>
          <a:ln/>
        </p:spPr>
        <p:txBody>
          <a:bodyPr/>
          <a:lstStyle/>
          <a:p>
            <a:endParaRPr lang="es-419" noProof="0" dirty="0"/>
          </a:p>
        </p:txBody>
      </p:sp>
      <p:sp>
        <p:nvSpPr>
          <p:cNvPr id="17" name="Text 15"/>
          <p:cNvSpPr/>
          <p:nvPr/>
        </p:nvSpPr>
        <p:spPr>
          <a:xfrm>
            <a:off x="4978146" y="1847088"/>
            <a:ext cx="384048" cy="384048"/>
          </a:xfrm>
          <a:prstGeom prst="rect">
            <a:avLst/>
          </a:prstGeom>
          <a:noFill/>
          <a:ln/>
        </p:spPr>
        <p:txBody>
          <a:bodyPr wrap="square" lIns="0" tIns="0" rIns="0" bIns="0" rtlCol="0" anchor="ctr"/>
          <a:lstStyle/>
          <a:p>
            <a:pPr marL="0" indent="0" algn="ctr">
              <a:buNone/>
            </a:pPr>
            <a:r>
              <a:rPr lang="es-419" sz="1400" b="1" noProof="0">
                <a:solidFill>
                  <a:srgbClr val="2A3FE0"/>
                </a:solidFill>
                <a:latin typeface="Roboto Condensed Medium" pitchFamily="34" charset="0"/>
                <a:ea typeface="Roboto Condensed Medium" pitchFamily="34" charset="-122"/>
                <a:cs typeface="Roboto Condensed Medium" pitchFamily="34" charset="-120"/>
              </a:rPr>
              <a:t>3</a:t>
            </a:r>
            <a:endParaRPr lang="es-419" sz="1400" noProof="0" dirty="0"/>
          </a:p>
        </p:txBody>
      </p:sp>
      <p:sp>
        <p:nvSpPr>
          <p:cNvPr id="18" name="Text 16"/>
          <p:cNvSpPr/>
          <p:nvPr/>
        </p:nvSpPr>
        <p:spPr>
          <a:xfrm>
            <a:off x="4474464" y="2322576"/>
            <a:ext cx="1391412" cy="950000"/>
          </a:xfrm>
          <a:prstGeom prst="rect">
            <a:avLst/>
          </a:prstGeom>
          <a:noFill/>
          <a:ln/>
        </p:spPr>
        <p:txBody>
          <a:bodyPr wrap="square" lIns="0" tIns="0" rIns="0" bIns="0" rtlCol="0" anchor="t"/>
          <a:lstStyle/>
          <a:p>
            <a:pPr marL="0" indent="0" algn="ctr">
              <a:buNone/>
            </a:pPr>
            <a:r>
              <a:rPr lang="en-US" sz="950" b="1">
                <a:solidFill>
                  <a:srgbClr val="000000"/>
                </a:solidFill>
                <a:latin typeface="Roboto Condensed" pitchFamily="34" charset="0"/>
                <a:ea typeface="Roboto Condensed" pitchFamily="34" charset="-122"/>
                <a:cs typeface="Roboto Condensed" pitchFamily="34" charset="-120"/>
              </a:rPr>
              <a:t>Uso de Copilot</a:t>
            </a:r>
            <a:endParaRPr lang="es-419" sz="750" noProof="0"/>
          </a:p>
        </p:txBody>
      </p:sp>
      <p:sp>
        <p:nvSpPr>
          <p:cNvPr id="19" name="flow connector">
            <a:extLst>
              <a:ext uri="{C183D7F6-B498-43B3-948B-1728B52AA6E4}">
                <adec:decorative xmlns:adec="http://schemas.microsoft.com/office/drawing/2017/decorative" val="1"/>
              </a:ext>
            </a:extLst>
          </p:cNvPr>
          <p:cNvSpPr/>
          <p:nvPr/>
        </p:nvSpPr>
        <p:spPr>
          <a:xfrm>
            <a:off x="5939028" y="2235708"/>
            <a:ext cx="310896" cy="274320"/>
          </a:xfrm>
          <a:prstGeom prst="chevron">
            <a:avLst/>
          </a:prstGeom>
          <a:solidFill>
            <a:srgbClr val="2A3FE0"/>
          </a:solidFill>
          <a:ln/>
        </p:spPr>
        <p:txBody>
          <a:bodyPr/>
          <a:lstStyle/>
          <a:p>
            <a:endParaRPr lang="es-419" noProof="0" dirty="0"/>
          </a:p>
        </p:txBody>
      </p:sp>
      <p:sp>
        <p:nvSpPr>
          <p:cNvPr id="20" name="step">
            <a:extLst>
              <a:ext uri="{C183D7F6-B498-43B3-948B-1728B52AA6E4}">
                <adec:decorative xmlns:adec="http://schemas.microsoft.com/office/drawing/2017/decorative" val="1"/>
              </a:ext>
            </a:extLst>
          </p:cNvPr>
          <p:cNvSpPr/>
          <p:nvPr/>
        </p:nvSpPr>
        <p:spPr>
          <a:xfrm>
            <a:off x="6231636" y="1664208"/>
            <a:ext cx="1574292" cy="1600200"/>
          </a:xfrm>
          <a:prstGeom prst="rect">
            <a:avLst/>
          </a:prstGeom>
          <a:solidFill>
            <a:srgbClr val="FFFFFF"/>
          </a:solidFill>
          <a:ln w="12700">
            <a:solidFill>
              <a:srgbClr val="E6E8EF"/>
            </a:solidFill>
            <a:prstDash val="solid"/>
          </a:ln>
          <a:effectLst>
            <a:outerShdw blurRad="114300" dist="38100" dir="5400000" algn="bl" rotWithShape="0">
              <a:srgbClr val="5B6068">
                <a:alpha val="9000"/>
              </a:srgbClr>
            </a:outerShdw>
          </a:effectLst>
        </p:spPr>
        <p:txBody>
          <a:bodyPr/>
          <a:lstStyle/>
          <a:p>
            <a:endParaRPr lang="es-419" noProof="0" dirty="0"/>
          </a:p>
        </p:txBody>
      </p:sp>
      <p:sp>
        <p:nvSpPr>
          <p:cNvPr id="21" name="step badge">
            <a:extLst>
              <a:ext uri="{C183D7F6-B498-43B3-948B-1728B52AA6E4}">
                <adec:decorative xmlns:adec="http://schemas.microsoft.com/office/drawing/2017/decorative" val="1"/>
              </a:ext>
            </a:extLst>
          </p:cNvPr>
          <p:cNvSpPr/>
          <p:nvPr/>
        </p:nvSpPr>
        <p:spPr>
          <a:xfrm>
            <a:off x="6826758" y="1847088"/>
            <a:ext cx="384048" cy="384048"/>
          </a:xfrm>
          <a:prstGeom prst="ellipse">
            <a:avLst/>
          </a:prstGeom>
          <a:solidFill>
            <a:srgbClr val="E7EAFC"/>
          </a:solidFill>
          <a:ln/>
        </p:spPr>
        <p:txBody>
          <a:bodyPr/>
          <a:lstStyle/>
          <a:p>
            <a:endParaRPr lang="es-419" noProof="0" dirty="0"/>
          </a:p>
        </p:txBody>
      </p:sp>
      <p:sp>
        <p:nvSpPr>
          <p:cNvPr id="22" name="Text 20"/>
          <p:cNvSpPr/>
          <p:nvPr/>
        </p:nvSpPr>
        <p:spPr>
          <a:xfrm>
            <a:off x="6826758" y="1847088"/>
            <a:ext cx="384048" cy="384048"/>
          </a:xfrm>
          <a:prstGeom prst="rect">
            <a:avLst/>
          </a:prstGeom>
          <a:noFill/>
          <a:ln/>
        </p:spPr>
        <p:txBody>
          <a:bodyPr wrap="square" lIns="0" tIns="0" rIns="0" bIns="0" rtlCol="0" anchor="ctr"/>
          <a:lstStyle/>
          <a:p>
            <a:pPr marL="0" indent="0" algn="ctr">
              <a:buNone/>
            </a:pPr>
            <a:r>
              <a:rPr lang="es-419" sz="1400" b="1" noProof="0">
                <a:solidFill>
                  <a:srgbClr val="2A3FE0"/>
                </a:solidFill>
                <a:latin typeface="Roboto Condensed Medium" pitchFamily="34" charset="0"/>
                <a:ea typeface="Roboto Condensed Medium" pitchFamily="34" charset="-122"/>
                <a:cs typeface="Roboto Condensed Medium" pitchFamily="34" charset="-120"/>
              </a:rPr>
              <a:t>4</a:t>
            </a:r>
            <a:endParaRPr lang="es-419" sz="1400" noProof="0" dirty="0"/>
          </a:p>
        </p:txBody>
      </p:sp>
      <p:sp>
        <p:nvSpPr>
          <p:cNvPr id="23" name="Text 21"/>
          <p:cNvSpPr/>
          <p:nvPr/>
        </p:nvSpPr>
        <p:spPr>
          <a:xfrm>
            <a:off x="6323076" y="2322576"/>
            <a:ext cx="1391412" cy="950000"/>
          </a:xfrm>
          <a:prstGeom prst="rect">
            <a:avLst/>
          </a:prstGeom>
          <a:noFill/>
          <a:ln/>
        </p:spPr>
        <p:txBody>
          <a:bodyPr wrap="square" lIns="0" tIns="0" rIns="0" bIns="0" rtlCol="0" anchor="t"/>
          <a:lstStyle/>
          <a:p>
            <a:pPr marL="0" indent="0" algn="ctr">
              <a:buNone/>
            </a:pPr>
            <a:r>
              <a:rPr lang="en-US" sz="950" b="1">
                <a:solidFill>
                  <a:srgbClr val="000000"/>
                </a:solidFill>
                <a:latin typeface="Roboto Condensed" pitchFamily="34" charset="0"/>
                <a:ea typeface="Roboto Condensed" pitchFamily="34" charset="-122"/>
                <a:cs typeface="Roboto Condensed" pitchFamily="34" charset="-120"/>
              </a:rPr>
              <a:t>Migración asistida</a:t>
            </a:r>
            <a:endParaRPr lang="es-419" sz="750" noProof="0"/>
          </a:p>
        </p:txBody>
      </p:sp>
      <p:sp>
        <p:nvSpPr>
          <p:cNvPr id="24" name="flow connector">
            <a:extLst>
              <a:ext uri="{C183D7F6-B498-43B3-948B-1728B52AA6E4}">
                <adec:decorative xmlns:adec="http://schemas.microsoft.com/office/drawing/2017/decorative" val="1"/>
              </a:ext>
            </a:extLst>
          </p:cNvPr>
          <p:cNvSpPr/>
          <p:nvPr/>
        </p:nvSpPr>
        <p:spPr>
          <a:xfrm>
            <a:off x="7787640" y="2235708"/>
            <a:ext cx="310896" cy="274320"/>
          </a:xfrm>
          <a:prstGeom prst="chevron">
            <a:avLst/>
          </a:prstGeom>
          <a:solidFill>
            <a:srgbClr val="2A3FE0"/>
          </a:solidFill>
          <a:ln/>
        </p:spPr>
        <p:txBody>
          <a:bodyPr/>
          <a:lstStyle/>
          <a:p>
            <a:endParaRPr lang="es-419" noProof="0" dirty="0"/>
          </a:p>
        </p:txBody>
      </p:sp>
      <p:sp>
        <p:nvSpPr>
          <p:cNvPr id="25" name="card">
            <a:extLst>
              <a:ext uri="{C183D7F6-B498-43B3-948B-1728B52AA6E4}">
                <adec:decorative xmlns:adec="http://schemas.microsoft.com/office/drawing/2017/decorative" val="1"/>
              </a:ext>
            </a:extLst>
          </p:cNvPr>
          <p:cNvSpPr/>
          <p:nvPr/>
        </p:nvSpPr>
        <p:spPr>
          <a:xfrm>
            <a:off x="8080248" y="1664208"/>
            <a:ext cx="1574292" cy="1600200"/>
          </a:xfrm>
          <a:prstGeom prst="rect">
            <a:avLst/>
          </a:prstGeom>
          <a:solidFill>
            <a:srgbClr val="FFFFFF"/>
          </a:solidFill>
          <a:ln w="12700">
            <a:solidFill>
              <a:srgbClr val="E6E8EF"/>
            </a:solidFill>
            <a:prstDash val="solid"/>
          </a:ln>
          <a:effectLst>
            <a:outerShdw blurRad="114300" dist="38100" dir="5400000" algn="bl" rotWithShape="0">
              <a:srgbClr val="5B6068">
                <a:alpha val="9000"/>
              </a:srgbClr>
            </a:outerShdw>
          </a:effectLst>
        </p:spPr>
        <p:txBody>
          <a:bodyPr/>
          <a:lstStyle/>
          <a:p>
            <a:endParaRPr lang="es-419" noProof="0" dirty="0"/>
          </a:p>
        </p:txBody>
      </p:sp>
      <p:sp>
        <p:nvSpPr>
          <p:cNvPr id="26" name="step badge">
            <a:extLst>
              <a:ext uri="{C183D7F6-B498-43B3-948B-1728B52AA6E4}">
                <adec:decorative xmlns:adec="http://schemas.microsoft.com/office/drawing/2017/decorative" val="1"/>
              </a:ext>
            </a:extLst>
          </p:cNvPr>
          <p:cNvSpPr/>
          <p:nvPr/>
        </p:nvSpPr>
        <p:spPr>
          <a:xfrm>
            <a:off x="8675370" y="1847088"/>
            <a:ext cx="384048" cy="384048"/>
          </a:xfrm>
          <a:prstGeom prst="ellipse">
            <a:avLst/>
          </a:prstGeom>
          <a:solidFill>
            <a:srgbClr val="E7EAFC"/>
          </a:solidFill>
          <a:ln/>
        </p:spPr>
        <p:txBody>
          <a:bodyPr/>
          <a:lstStyle/>
          <a:p>
            <a:endParaRPr lang="es-419" noProof="0" dirty="0"/>
          </a:p>
        </p:txBody>
      </p:sp>
      <p:sp>
        <p:nvSpPr>
          <p:cNvPr id="27" name="Text 25"/>
          <p:cNvSpPr/>
          <p:nvPr/>
        </p:nvSpPr>
        <p:spPr>
          <a:xfrm>
            <a:off x="8675370" y="1847088"/>
            <a:ext cx="384048" cy="384048"/>
          </a:xfrm>
          <a:prstGeom prst="rect">
            <a:avLst/>
          </a:prstGeom>
          <a:noFill/>
          <a:ln/>
        </p:spPr>
        <p:txBody>
          <a:bodyPr wrap="square" lIns="0" tIns="0" rIns="0" bIns="0" rtlCol="0" anchor="ctr"/>
          <a:lstStyle/>
          <a:p>
            <a:pPr marL="0" indent="0" algn="ctr">
              <a:buNone/>
            </a:pPr>
            <a:r>
              <a:rPr lang="es-419" sz="1400" b="1" noProof="0">
                <a:solidFill>
                  <a:srgbClr val="2A3FE0"/>
                </a:solidFill>
                <a:latin typeface="Roboto Condensed Medium" pitchFamily="34" charset="0"/>
                <a:ea typeface="Roboto Condensed Medium" pitchFamily="34" charset="-122"/>
                <a:cs typeface="Roboto Condensed Medium" pitchFamily="34" charset="-120"/>
              </a:rPr>
              <a:t>5</a:t>
            </a:r>
            <a:endParaRPr lang="es-419" sz="1400" noProof="0" dirty="0"/>
          </a:p>
        </p:txBody>
      </p:sp>
      <p:sp>
        <p:nvSpPr>
          <p:cNvPr id="28" name="Text 26"/>
          <p:cNvSpPr/>
          <p:nvPr/>
        </p:nvSpPr>
        <p:spPr>
          <a:xfrm>
            <a:off x="8171688" y="2322576"/>
            <a:ext cx="1391412" cy="950000"/>
          </a:xfrm>
          <a:prstGeom prst="rect">
            <a:avLst/>
          </a:prstGeom>
          <a:noFill/>
          <a:ln/>
        </p:spPr>
        <p:txBody>
          <a:bodyPr wrap="square" lIns="0" tIns="0" rIns="0" bIns="0" rtlCol="0" anchor="t"/>
          <a:lstStyle/>
          <a:p>
            <a:pPr marL="0" indent="0" algn="ctr">
              <a:buNone/>
            </a:pPr>
            <a:r>
              <a:rPr lang="en-US" sz="950" b="1">
                <a:solidFill>
                  <a:srgbClr val="000000"/>
                </a:solidFill>
                <a:latin typeface="Roboto Condensed" pitchFamily="34" charset="0"/>
                <a:ea typeface="Roboto Condensed" pitchFamily="34" charset="-122"/>
                <a:cs typeface="Roboto Condensed" pitchFamily="34" charset="-120"/>
              </a:rPr>
              <a:t>Validación técnica</a:t>
            </a:r>
            <a:endParaRPr lang="es-419" sz="750" noProof="0"/>
          </a:p>
        </p:txBody>
      </p:sp>
      <p:sp>
        <p:nvSpPr>
          <p:cNvPr id="29" name="flow connector">
            <a:extLst>
              <a:ext uri="{C183D7F6-B498-43B3-948B-1728B52AA6E4}">
                <adec:decorative xmlns:adec="http://schemas.microsoft.com/office/drawing/2017/decorative" val="1"/>
              </a:ext>
            </a:extLst>
          </p:cNvPr>
          <p:cNvSpPr/>
          <p:nvPr/>
        </p:nvSpPr>
        <p:spPr>
          <a:xfrm>
            <a:off x="9636252" y="2235708"/>
            <a:ext cx="310896" cy="274320"/>
          </a:xfrm>
          <a:prstGeom prst="chevron">
            <a:avLst/>
          </a:prstGeom>
          <a:solidFill>
            <a:srgbClr val="2A3FE0"/>
          </a:solidFill>
          <a:ln/>
        </p:spPr>
        <p:txBody>
          <a:bodyPr/>
          <a:lstStyle/>
          <a:p>
            <a:endParaRPr lang="es-419" noProof="0" dirty="0"/>
          </a:p>
        </p:txBody>
      </p:sp>
      <p:sp>
        <p:nvSpPr>
          <p:cNvPr id="30" name="card">
            <a:extLst>
              <a:ext uri="{C183D7F6-B498-43B3-948B-1728B52AA6E4}">
                <adec:decorative xmlns:adec="http://schemas.microsoft.com/office/drawing/2017/decorative" val="1"/>
              </a:ext>
            </a:extLst>
          </p:cNvPr>
          <p:cNvSpPr/>
          <p:nvPr/>
        </p:nvSpPr>
        <p:spPr>
          <a:xfrm>
            <a:off x="9928860" y="1664208"/>
            <a:ext cx="1574292" cy="1600200"/>
          </a:xfrm>
          <a:prstGeom prst="rect">
            <a:avLst/>
          </a:prstGeom>
          <a:solidFill>
            <a:srgbClr val="FFFFFF"/>
          </a:solidFill>
          <a:ln w="12700">
            <a:solidFill>
              <a:srgbClr val="E6E8EF"/>
            </a:solidFill>
            <a:prstDash val="solid"/>
          </a:ln>
          <a:effectLst>
            <a:outerShdw blurRad="114300" dist="38100" dir="5400000" algn="bl" rotWithShape="0">
              <a:srgbClr val="5B6068">
                <a:alpha val="9000"/>
              </a:srgbClr>
            </a:outerShdw>
          </a:effectLst>
        </p:spPr>
        <p:txBody>
          <a:bodyPr/>
          <a:lstStyle/>
          <a:p>
            <a:endParaRPr lang="es-419" noProof="0" dirty="0"/>
          </a:p>
        </p:txBody>
      </p:sp>
      <p:sp>
        <p:nvSpPr>
          <p:cNvPr id="31" name="step badge">
            <a:extLst>
              <a:ext uri="{C183D7F6-B498-43B3-948B-1728B52AA6E4}">
                <adec:decorative xmlns:adec="http://schemas.microsoft.com/office/drawing/2017/decorative" val="1"/>
              </a:ext>
            </a:extLst>
          </p:cNvPr>
          <p:cNvSpPr/>
          <p:nvPr/>
        </p:nvSpPr>
        <p:spPr>
          <a:xfrm>
            <a:off x="10523982" y="1847088"/>
            <a:ext cx="384048" cy="384048"/>
          </a:xfrm>
          <a:prstGeom prst="ellipse">
            <a:avLst/>
          </a:prstGeom>
          <a:solidFill>
            <a:srgbClr val="E7EAFC"/>
          </a:solidFill>
          <a:ln/>
        </p:spPr>
        <p:txBody>
          <a:bodyPr/>
          <a:lstStyle/>
          <a:p>
            <a:endParaRPr lang="es-419" noProof="0" dirty="0"/>
          </a:p>
        </p:txBody>
      </p:sp>
      <p:sp>
        <p:nvSpPr>
          <p:cNvPr id="32" name="Text 30"/>
          <p:cNvSpPr/>
          <p:nvPr/>
        </p:nvSpPr>
        <p:spPr>
          <a:xfrm>
            <a:off x="10523982" y="1847088"/>
            <a:ext cx="384048" cy="384048"/>
          </a:xfrm>
          <a:prstGeom prst="rect">
            <a:avLst/>
          </a:prstGeom>
          <a:noFill/>
          <a:ln/>
        </p:spPr>
        <p:txBody>
          <a:bodyPr wrap="square" lIns="0" tIns="0" rIns="0" bIns="0" rtlCol="0" anchor="ctr"/>
          <a:lstStyle/>
          <a:p>
            <a:pPr marL="0" indent="0" algn="ctr">
              <a:buNone/>
            </a:pPr>
            <a:r>
              <a:rPr lang="es-419" sz="1400" b="1" noProof="0">
                <a:solidFill>
                  <a:srgbClr val="2A3FE0"/>
                </a:solidFill>
                <a:latin typeface="Roboto Condensed Medium" pitchFamily="34" charset="0"/>
                <a:ea typeface="Roboto Condensed Medium" pitchFamily="34" charset="-122"/>
                <a:cs typeface="Roboto Condensed Medium" pitchFamily="34" charset="-120"/>
              </a:rPr>
              <a:t>6</a:t>
            </a:r>
            <a:endParaRPr lang="es-419" sz="1400" noProof="0" dirty="0"/>
          </a:p>
        </p:txBody>
      </p:sp>
      <p:sp>
        <p:nvSpPr>
          <p:cNvPr id="33" name="Text 31"/>
          <p:cNvSpPr/>
          <p:nvPr/>
        </p:nvSpPr>
        <p:spPr>
          <a:xfrm>
            <a:off x="10020300" y="2322576"/>
            <a:ext cx="1391412" cy="950000"/>
          </a:xfrm>
          <a:prstGeom prst="rect">
            <a:avLst/>
          </a:prstGeom>
          <a:noFill/>
          <a:ln/>
        </p:spPr>
        <p:txBody>
          <a:bodyPr wrap="square" lIns="0" tIns="0" rIns="0" bIns="0" rtlCol="0" anchor="t"/>
          <a:lstStyle/>
          <a:p>
            <a:pPr marL="0" indent="0" algn="ctr">
              <a:buNone/>
            </a:pPr>
            <a:r>
              <a:rPr lang="en-US" sz="950" b="1">
                <a:solidFill>
                  <a:srgbClr val="000000"/>
                </a:solidFill>
                <a:latin typeface="Roboto Condensed" pitchFamily="34" charset="0"/>
                <a:ea typeface="Roboto Condensed" pitchFamily="34" charset="-122"/>
                <a:cs typeface="Roboto Condensed" pitchFamily="34" charset="-120"/>
              </a:rPr>
              <a:t>Medición y comparación</a:t>
            </a:r>
            <a:endParaRPr lang="es-419" sz="750" noProof="0"/>
          </a:p>
        </p:txBody>
      </p:sp>
      <p:sp>
        <p:nvSpPr>
          <p:cNvPr id="34" name="Text 32"/>
          <p:cNvSpPr/>
          <p:nvPr/>
        </p:nvSpPr>
        <p:spPr>
          <a:xfrm>
            <a:off x="685800" y="3401568"/>
            <a:ext cx="7315200" cy="274320"/>
          </a:xfrm>
          <a:prstGeom prst="rect">
            <a:avLst/>
          </a:prstGeom>
          <a:noFill/>
          <a:ln/>
        </p:spPr>
        <p:txBody>
          <a:bodyPr wrap="square" lIns="0" tIns="0" rIns="0" bIns="0" rtlCol="0" anchor="ctr"/>
          <a:lstStyle/>
          <a:p>
            <a:pPr marL="0" indent="0">
              <a:buNone/>
            </a:pPr>
            <a:r>
              <a:rPr lang="es-419" sz="1100" b="1" kern="0" spc="200" noProof="0">
                <a:solidFill>
                  <a:srgbClr val="6E7278"/>
                </a:solidFill>
                <a:latin typeface="Roboto Condensed Medium" pitchFamily="34" charset="0"/>
                <a:ea typeface="Roboto Condensed Medium" pitchFamily="34" charset="-122"/>
                <a:cs typeface="Roboto Condensed Medium" pitchFamily="34" charset="-120"/>
              </a:rPr>
              <a:t>ESCENARIOS EVALUADOS</a:t>
            </a:r>
            <a:endParaRPr lang="es-419" sz="1100" noProof="0" dirty="0"/>
          </a:p>
        </p:txBody>
      </p:sp>
      <p:sp>
        <p:nvSpPr>
          <p:cNvPr id="35" name="card">
            <a:extLst>
              <a:ext uri="{C183D7F6-B498-43B3-948B-1728B52AA6E4}">
                <adec:decorative xmlns:adec="http://schemas.microsoft.com/office/drawing/2017/decorative" val="1"/>
              </a:ext>
            </a:extLst>
          </p:cNvPr>
          <p:cNvSpPr/>
          <p:nvPr/>
        </p:nvSpPr>
        <p:spPr>
          <a:xfrm>
            <a:off x="685800" y="3730752"/>
            <a:ext cx="3422904" cy="1051560"/>
          </a:xfrm>
          <a:prstGeom prst="rect">
            <a:avLst/>
          </a:prstGeom>
          <a:solidFill>
            <a:srgbClr val="F5F6FA"/>
          </a:solidFill>
          <a:ln w="12700">
            <a:solidFill>
              <a:srgbClr val="E6E8EF"/>
            </a:solidFill>
            <a:prstDash val="solid"/>
          </a:ln>
        </p:spPr>
        <p:txBody>
          <a:bodyPr/>
          <a:lstStyle/>
          <a:p>
            <a:endParaRPr lang="es-419" noProof="0" dirty="0"/>
          </a:p>
        </p:txBody>
      </p:sp>
      <p:sp>
        <p:nvSpPr>
          <p:cNvPr id="36" name="Text 34"/>
          <p:cNvSpPr/>
          <p:nvPr/>
        </p:nvSpPr>
        <p:spPr>
          <a:xfrm>
            <a:off x="868680" y="3730752"/>
            <a:ext cx="3057144" cy="1051560"/>
          </a:xfrm>
          <a:prstGeom prst="rect">
            <a:avLst/>
          </a:prstGeom>
          <a:noFill/>
          <a:ln/>
        </p:spPr>
        <p:txBody>
          <a:bodyPr wrap="square" lIns="0" tIns="0" rIns="0" bIns="0" rtlCol="0" anchor="ctr"/>
          <a:lstStyle/>
          <a:p>
            <a:pPr marL="0" indent="0" algn="l">
              <a:buNone/>
            </a:pPr>
            <a:r>
              <a:rPr lang="es-419" sz="1400" b="1" noProof="0" dirty="0">
                <a:solidFill>
                  <a:srgbClr val="000000"/>
                </a:solidFill>
                <a:latin typeface="Roboto Condensed Medium" pitchFamily="34" charset="0"/>
                <a:ea typeface="Roboto Condensed Medium" pitchFamily="34" charset="-122"/>
                <a:cs typeface="Roboto Condensed Medium" pitchFamily="34" charset="-120"/>
              </a:rPr>
              <a:t>Legacy: .NET Core 3.1 -&gt; .NET 10</a:t>
            </a:r>
            <a:endParaRPr lang="es-419" sz="1400" noProof="0" dirty="0"/>
          </a:p>
        </p:txBody>
      </p:sp>
      <p:sp>
        <p:nvSpPr>
          <p:cNvPr id="37" name="card">
            <a:extLst>
              <a:ext uri="{C183D7F6-B498-43B3-948B-1728B52AA6E4}">
                <adec:decorative xmlns:adec="http://schemas.microsoft.com/office/drawing/2017/decorative" val="1"/>
              </a:ext>
            </a:extLst>
          </p:cNvPr>
          <p:cNvSpPr/>
          <p:nvPr/>
        </p:nvSpPr>
        <p:spPr>
          <a:xfrm>
            <a:off x="4383024" y="3730752"/>
            <a:ext cx="3422904" cy="1051560"/>
          </a:xfrm>
          <a:prstGeom prst="rect">
            <a:avLst/>
          </a:prstGeom>
          <a:solidFill>
            <a:srgbClr val="F5F6FA"/>
          </a:solidFill>
          <a:ln w="12700">
            <a:solidFill>
              <a:srgbClr val="E6E8EF"/>
            </a:solidFill>
            <a:prstDash val="solid"/>
          </a:ln>
        </p:spPr>
        <p:txBody>
          <a:bodyPr/>
          <a:lstStyle/>
          <a:p>
            <a:endParaRPr lang="es-419" noProof="0" dirty="0"/>
          </a:p>
        </p:txBody>
      </p:sp>
      <p:sp>
        <p:nvSpPr>
          <p:cNvPr id="38" name="Text 36"/>
          <p:cNvSpPr/>
          <p:nvPr/>
        </p:nvSpPr>
        <p:spPr>
          <a:xfrm>
            <a:off x="4565904" y="3730752"/>
            <a:ext cx="3057144" cy="1051560"/>
          </a:xfrm>
          <a:prstGeom prst="rect">
            <a:avLst/>
          </a:prstGeom>
          <a:noFill/>
          <a:ln/>
        </p:spPr>
        <p:txBody>
          <a:bodyPr wrap="square" lIns="0" tIns="0" rIns="0" bIns="0" rtlCol="0" anchor="ctr"/>
          <a:lstStyle/>
          <a:p>
            <a:pPr marL="0" indent="0" algn="l">
              <a:buNone/>
            </a:pPr>
            <a:r>
              <a:rPr lang="es-419" sz="1400" b="1" noProof="0" dirty="0">
                <a:solidFill>
                  <a:srgbClr val="000000"/>
                </a:solidFill>
                <a:latin typeface="Roboto Condensed Medium" pitchFamily="34" charset="0"/>
                <a:ea typeface="Roboto Condensed Medium" pitchFamily="34" charset="-122"/>
                <a:cs typeface="Roboto Condensed Medium" pitchFamily="34" charset="-120"/>
              </a:rPr>
              <a:t>Intermedias: .NET -&gt; .NET 10</a:t>
            </a:r>
            <a:endParaRPr lang="es-419" sz="1400" noProof="0" dirty="0"/>
          </a:p>
        </p:txBody>
      </p:sp>
      <p:sp>
        <p:nvSpPr>
          <p:cNvPr id="39" name="card">
            <a:extLst>
              <a:ext uri="{C183D7F6-B498-43B3-948B-1728B52AA6E4}">
                <adec:decorative xmlns:adec="http://schemas.microsoft.com/office/drawing/2017/decorative" val="1"/>
              </a:ext>
            </a:extLst>
          </p:cNvPr>
          <p:cNvSpPr/>
          <p:nvPr/>
        </p:nvSpPr>
        <p:spPr>
          <a:xfrm>
            <a:off x="8080248" y="3730752"/>
            <a:ext cx="3422904" cy="1051560"/>
          </a:xfrm>
          <a:prstGeom prst="rect">
            <a:avLst/>
          </a:prstGeom>
          <a:solidFill>
            <a:srgbClr val="F5F6FA"/>
          </a:solidFill>
          <a:ln w="12700">
            <a:solidFill>
              <a:srgbClr val="E6E8EF"/>
            </a:solidFill>
            <a:prstDash val="solid"/>
          </a:ln>
        </p:spPr>
        <p:txBody>
          <a:bodyPr/>
          <a:lstStyle/>
          <a:p>
            <a:endParaRPr lang="es-419" noProof="0" dirty="0"/>
          </a:p>
        </p:txBody>
      </p:sp>
      <p:sp>
        <p:nvSpPr>
          <p:cNvPr id="40" name="Text 38"/>
          <p:cNvSpPr/>
          <p:nvPr/>
        </p:nvSpPr>
        <p:spPr>
          <a:xfrm>
            <a:off x="8263128" y="3730752"/>
            <a:ext cx="3057144" cy="1051560"/>
          </a:xfrm>
          <a:prstGeom prst="rect">
            <a:avLst/>
          </a:prstGeom>
          <a:noFill/>
          <a:ln/>
        </p:spPr>
        <p:txBody>
          <a:bodyPr wrap="square" lIns="0" tIns="0" rIns="0" bIns="0" rtlCol="0" anchor="ctr"/>
          <a:lstStyle/>
          <a:p>
            <a:pPr marL="0" indent="0" algn="l">
              <a:buNone/>
            </a:pPr>
            <a:r>
              <a:rPr lang="es-419" sz="1400" b="1" noProof="0" dirty="0">
                <a:solidFill>
                  <a:srgbClr val="000000"/>
                </a:solidFill>
                <a:latin typeface="Roboto Condensed Medium" pitchFamily="34" charset="0"/>
                <a:ea typeface="Roboto Condensed Medium" pitchFamily="34" charset="-122"/>
                <a:cs typeface="Roboto Condensed Medium" pitchFamily="34" charset="-120"/>
              </a:rPr>
              <a:t>Modernas: .NET 8 -&gt; .NET 10</a:t>
            </a:r>
            <a:endParaRPr lang="es-419" sz="1400" noProof="0" dirty="0"/>
          </a:p>
        </p:txBody>
      </p:sp>
      <p:sp>
        <p:nvSpPr>
          <p:cNvPr id="41" name="note">
            <a:extLst>
              <a:ext uri="{C183D7F6-B498-43B3-948B-1728B52AA6E4}">
                <adec:decorative xmlns:adec="http://schemas.microsoft.com/office/drawing/2017/decorative" val="1"/>
              </a:ext>
            </a:extLst>
          </p:cNvPr>
          <p:cNvSpPr/>
          <p:nvPr/>
        </p:nvSpPr>
        <p:spPr>
          <a:xfrm>
            <a:off x="685800" y="5074920"/>
            <a:ext cx="10817352" cy="1050000"/>
          </a:xfrm>
          <a:prstGeom prst="rect">
            <a:avLst/>
          </a:prstGeom>
          <a:solidFill>
            <a:srgbClr val="F5F6FA"/>
          </a:solidFill>
          <a:ln w="12700">
            <a:solidFill>
              <a:srgbClr val="E6E8EF"/>
            </a:solidFill>
            <a:prstDash val="solid"/>
          </a:ln>
          <a:effectLst>
            <a:outerShdw blurRad="114300" dist="38100" dir="5400000" algn="bl" rotWithShape="0">
              <a:srgbClr val="5B6068">
                <a:alpha val="9000"/>
              </a:srgbClr>
            </a:outerShdw>
          </a:effectLst>
        </p:spPr>
        <p:txBody>
          <a:bodyPr/>
          <a:lstStyle/>
          <a:p>
            <a:endParaRPr lang="es-419" noProof="0" dirty="0"/>
          </a:p>
        </p:txBody>
      </p:sp>
      <p:sp>
        <p:nvSpPr>
          <p:cNvPr id="42" name="Text 40"/>
          <p:cNvSpPr/>
          <p:nvPr/>
        </p:nvSpPr>
        <p:spPr>
          <a:xfrm>
            <a:off x="1005840" y="5074920"/>
            <a:ext cx="10241280" cy="1050000"/>
          </a:xfrm>
          <a:prstGeom prst="rect">
            <a:avLst/>
          </a:prstGeom>
          <a:noFill/>
          <a:ln/>
        </p:spPr>
        <p:txBody>
          <a:bodyPr wrap="square" lIns="0" tIns="0" rIns="0" bIns="0" rtlCol="0" anchor="ctr"/>
          <a:lstStyle/>
          <a:p>
            <a:pPr marL="0" indent="0" algn="l">
              <a:buNone/>
            </a:pPr>
            <a:r>
              <a:rPr lang="en-US" sz="1200" b="1">
                <a:solidFill>
                  <a:srgbClr val="2A3FE0"/>
                </a:solidFill>
                <a:latin typeface="Roboto Condensed" pitchFamily="34" charset="0"/>
                <a:ea typeface="Roboto Condensed" pitchFamily="34" charset="-122"/>
                <a:cs typeface="Roboto Condensed" pitchFamily="34" charset="-120"/>
              </a:rPr>
              <a:t>Validación humana   </a:t>
            </a:r>
            <a:r>
              <a:rPr lang="en-US" sz="1200">
                <a:solidFill>
                  <a:srgbClr val="33373D"/>
                </a:solidFill>
                <a:latin typeface="Roboto Condensed" pitchFamily="34" charset="0"/>
                <a:ea typeface="Roboto Condensed" pitchFamily="34" charset="-122"/>
                <a:cs typeface="Roboto Condensed" pitchFamily="34" charset="-120"/>
              </a:rPr>
              <a:t>Sin migración manual paralela; línea base por juicio experto.</a:t>
            </a:r>
            <a:endParaRPr lang="es-419" sz="1300" noProof="0" dirty="0"/>
          </a:p>
        </p:txBody>
      </p:sp>
      <p:sp>
        <p:nvSpPr>
          <p:cNvPr id="43" name="Text 41"/>
          <p:cNvSpPr/>
          <p:nvPr/>
        </p:nvSpPr>
        <p:spPr>
          <a:xfrm>
            <a:off x="685800" y="6437376"/>
            <a:ext cx="8686800" cy="292608"/>
          </a:xfrm>
          <a:prstGeom prst="rect">
            <a:avLst/>
          </a:prstGeom>
          <a:noFill/>
          <a:ln/>
        </p:spPr>
        <p:txBody>
          <a:bodyPr wrap="square" lIns="0" tIns="0" rIns="0" bIns="0" rtlCol="0" anchor="ctr"/>
          <a:lstStyle/>
          <a:p>
            <a:pPr marL="0" indent="0" algn="l">
              <a:buNone/>
            </a:pPr>
            <a:r>
              <a:rPr lang="es-419" sz="850" b="1" noProof="0">
                <a:solidFill>
                  <a:srgbClr val="000000"/>
                </a:solidFill>
                <a:latin typeface="Roboto Condensed" pitchFamily="34" charset="0"/>
                <a:ea typeface="Roboto Condensed" pitchFamily="34" charset="-122"/>
                <a:cs typeface="Roboto Condensed" pitchFamily="34" charset="-120"/>
              </a:rPr>
              <a:t>Tuya</a:t>
            </a:r>
            <a:r>
              <a:rPr lang="es-419" sz="850" noProof="0">
                <a:solidFill>
                  <a:srgbClr val="5B6068"/>
                </a:solidFill>
                <a:latin typeface="Roboto Condensed" pitchFamily="34" charset="0"/>
                <a:ea typeface="Roboto Condensed" pitchFamily="34" charset="-122"/>
                <a:cs typeface="Roboto Condensed" pitchFamily="34" charset="-120"/>
              </a:rPr>
              <a:t>   ·   GitHub </a:t>
            </a:r>
            <a:r>
              <a:rPr lang="es-419" sz="850" noProof="0" err="1">
                <a:solidFill>
                  <a:srgbClr val="5B6068"/>
                </a:solidFill>
                <a:latin typeface="Roboto Condensed" pitchFamily="34" charset="0"/>
                <a:ea typeface="Roboto Condensed" pitchFamily="34" charset="-122"/>
                <a:cs typeface="Roboto Condensed" pitchFamily="34" charset="-120"/>
              </a:rPr>
              <a:t>Copilot</a:t>
            </a:r>
            <a:r>
              <a:rPr lang="es-419" sz="850" noProof="0">
                <a:solidFill>
                  <a:srgbClr val="5B6068"/>
                </a:solidFill>
                <a:latin typeface="Roboto Condensed" pitchFamily="34" charset="0"/>
                <a:ea typeface="Roboto Condensed" pitchFamily="34" charset="-122"/>
                <a:cs typeface="Roboto Condensed" pitchFamily="34" charset="-120"/>
              </a:rPr>
              <a:t> - Resultados de la Prueba de Concepto</a:t>
            </a:r>
            <a:endParaRPr lang="es-419" sz="850" noProof="0" dirty="0"/>
          </a:p>
        </p:txBody>
      </p:sp>
      <p:sp>
        <p:nvSpPr>
          <p:cNvPr id="44" name="Text 42"/>
          <p:cNvSpPr/>
          <p:nvPr/>
        </p:nvSpPr>
        <p:spPr>
          <a:xfrm>
            <a:off x="10972800" y="6437376"/>
            <a:ext cx="530352" cy="292608"/>
          </a:xfrm>
          <a:prstGeom prst="rect">
            <a:avLst/>
          </a:prstGeom>
          <a:noFill/>
          <a:ln/>
        </p:spPr>
        <p:txBody>
          <a:bodyPr wrap="square" lIns="0" tIns="0" rIns="0" bIns="0" rtlCol="0" anchor="ctr"/>
          <a:lstStyle/>
          <a:p>
            <a:pPr marL="0" indent="0" algn="r">
              <a:buNone/>
            </a:pPr>
            <a:r>
              <a:rPr lang="es-419" sz="900" b="1" noProof="0">
                <a:solidFill>
                  <a:srgbClr val="2A3FE0"/>
                </a:solidFill>
                <a:latin typeface="Roboto Condensed Medium" pitchFamily="34" charset="0"/>
                <a:ea typeface="Roboto Condensed Medium" pitchFamily="34" charset="-122"/>
                <a:cs typeface="Roboto Condensed Medium" pitchFamily="34" charset="-120"/>
              </a:rPr>
              <a:t>03</a:t>
            </a:r>
            <a:endParaRPr lang="es-419" sz="900" noProof="0" dirty="0"/>
          </a:p>
        </p:txBody>
      </p:sp>
      <p:pic>
        <p:nvPicPr>
          <p:cNvPr id="950" name="Logo Tuya"/>
          <p:cNvPicPr>
            <a:picLocks noChangeAspect="1"/>
          </p:cNvPicPr>
          <p:nvPr/>
        </p:nvPicPr>
        <p:blipFill>
          <a:blip r:embed="rId3"/>
          <a:stretch>
            <a:fillRect/>
          </a:stretch>
        </p:blipFill>
        <p:spPr>
          <a:xfrm>
            <a:off x="11152200" y="321276"/>
            <a:ext cx="640080" cy="32004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icker mark">
            <a:extLst>
              <a:ext uri="{C183D7F6-B498-43B3-948B-1728B52AA6E4}">
                <adec:decorative xmlns:adec="http://schemas.microsoft.com/office/drawing/2017/decorative" val="1"/>
              </a:ext>
            </a:extLst>
          </p:cNvPr>
          <p:cNvSpPr/>
          <p:nvPr/>
        </p:nvSpPr>
        <p:spPr>
          <a:xfrm>
            <a:off x="685800" y="402336"/>
            <a:ext cx="146304" cy="146304"/>
          </a:xfrm>
          <a:prstGeom prst="rect">
            <a:avLst/>
          </a:prstGeom>
          <a:solidFill>
            <a:srgbClr val="2A3FE0"/>
          </a:solidFill>
          <a:ln/>
        </p:spPr>
        <p:txBody>
          <a:bodyPr/>
          <a:lstStyle/>
          <a:p>
            <a:endParaRPr lang="es-419" noProof="0" dirty="0"/>
          </a:p>
        </p:txBody>
      </p:sp>
      <p:sp>
        <p:nvSpPr>
          <p:cNvPr id="3" name="Text 1"/>
          <p:cNvSpPr/>
          <p:nvPr/>
        </p:nvSpPr>
        <p:spPr>
          <a:xfrm>
            <a:off x="932688" y="310896"/>
            <a:ext cx="9601200" cy="310896"/>
          </a:xfrm>
          <a:prstGeom prst="rect">
            <a:avLst/>
          </a:prstGeom>
          <a:noFill/>
          <a:ln/>
        </p:spPr>
        <p:txBody>
          <a:bodyPr wrap="square" lIns="0" tIns="0" rIns="0" bIns="0" rtlCol="0" anchor="ctr"/>
          <a:lstStyle/>
          <a:p>
            <a:pPr marL="0" indent="0" algn="l">
              <a:buNone/>
            </a:pPr>
            <a:r>
              <a:rPr lang="es-419" sz="1150" b="1" kern="0" spc="200" noProof="0">
                <a:solidFill>
                  <a:srgbClr val="2A3FE0"/>
                </a:solidFill>
                <a:latin typeface="Roboto Condensed Medium" pitchFamily="34" charset="0"/>
                <a:ea typeface="Roboto Condensed Medium" pitchFamily="34" charset="-122"/>
                <a:cs typeface="Roboto Condensed Medium" pitchFamily="34" charset="-120"/>
              </a:rPr>
              <a:t>RESULTADOS DE LA POC</a:t>
            </a:r>
            <a:endParaRPr lang="es-419" sz="1150" noProof="0" dirty="0"/>
          </a:p>
        </p:txBody>
      </p:sp>
      <p:sp>
        <p:nvSpPr>
          <p:cNvPr id="4" name="Text 0"/>
          <p:cNvSpPr>
            <a:spLocks noGrp="1"/>
          </p:cNvSpPr>
          <p:nvPr>
            <p:ph type="title" idx="100" hasCustomPrompt="1"/>
          </p:nvPr>
        </p:nvSpPr>
        <p:spPr>
          <a:xfrm>
            <a:off x="685800" y="658368"/>
            <a:ext cx="10789920" cy="822960"/>
          </a:xfrm>
          <a:prstGeom prst="rect">
            <a:avLst/>
          </a:prstGeom>
          <a:noFill/>
          <a:ln/>
        </p:spPr>
        <p:txBody>
          <a:bodyPr wrap="square" lIns="0" tIns="0" rIns="0" bIns="0" rtlCol="0" anchor="t"/>
          <a:lstStyle/>
          <a:p>
            <a:pPr marL="0" indent="0" algn="l">
              <a:buNone/>
            </a:pPr>
            <a:r>
              <a:rPr lang="es-419" sz="2700" b="1" noProof="0">
                <a:solidFill>
                  <a:srgbClr val="000000"/>
                </a:solidFill>
                <a:latin typeface="Roboto Condensed Medium" pitchFamily="34" charset="0"/>
                <a:ea typeface="Roboto Condensed Medium" pitchFamily="34" charset="-122"/>
                <a:cs typeface="Roboto Condensed Medium" pitchFamily="34" charset="-120"/>
              </a:rPr>
              <a:t>Qué resultados obtuvimos</a:t>
            </a:r>
            <a:endParaRPr lang="es-419" sz="2700" noProof="0" dirty="0"/>
          </a:p>
        </p:txBody>
      </p:sp>
      <p:sp>
        <p:nvSpPr>
          <p:cNvPr id="5" name="card">
            <a:extLst>
              <a:ext uri="{C183D7F6-B498-43B3-948B-1728B52AA6E4}">
                <adec:decorative xmlns:adec="http://schemas.microsoft.com/office/drawing/2017/decorative" val="1"/>
              </a:ext>
            </a:extLst>
          </p:cNvPr>
          <p:cNvSpPr/>
          <p:nvPr/>
        </p:nvSpPr>
        <p:spPr>
          <a:xfrm>
            <a:off x="685800" y="1691640"/>
            <a:ext cx="1958645" cy="2148840"/>
          </a:xfrm>
          <a:prstGeom prst="rect">
            <a:avLst/>
          </a:prstGeom>
          <a:solidFill>
            <a:srgbClr val="FFFFFF"/>
          </a:solidFill>
          <a:ln w="12700">
            <a:solidFill>
              <a:srgbClr val="E6E8EF"/>
            </a:solidFill>
            <a:prstDash val="solid"/>
          </a:ln>
          <a:effectLst>
            <a:outerShdw blurRad="114300" dist="38100" dir="5400000" algn="bl" rotWithShape="0">
              <a:srgbClr val="5B6068">
                <a:alpha val="9000"/>
              </a:srgbClr>
            </a:outerShdw>
          </a:effectLst>
        </p:spPr>
        <p:txBody>
          <a:bodyPr/>
          <a:lstStyle/>
          <a:p>
            <a:endParaRPr lang="es-419" noProof="0" dirty="0"/>
          </a:p>
        </p:txBody>
      </p:sp>
      <p:sp>
        <p:nvSpPr>
          <p:cNvPr id="6" name="Text 4"/>
          <p:cNvSpPr/>
          <p:nvPr/>
        </p:nvSpPr>
        <p:spPr>
          <a:xfrm>
            <a:off x="795528" y="2075688"/>
            <a:ext cx="1739189" cy="914400"/>
          </a:xfrm>
          <a:prstGeom prst="rect">
            <a:avLst/>
          </a:prstGeom>
          <a:noFill/>
          <a:ln/>
        </p:spPr>
        <p:txBody>
          <a:bodyPr wrap="square" lIns="0" tIns="0" rIns="0" bIns="0" rtlCol="0" anchor="ctr"/>
          <a:lstStyle/>
          <a:p>
            <a:pPr marL="0" indent="0" algn="ctr">
              <a:buNone/>
            </a:pPr>
            <a:r>
              <a:rPr lang="es-419" sz="2500" b="1" noProof="0">
                <a:solidFill>
                  <a:srgbClr val="2A3FE0"/>
                </a:solidFill>
                <a:latin typeface="Roboto Condensed Medium" pitchFamily="34" charset="0"/>
                <a:ea typeface="Roboto Condensed Medium" pitchFamily="34" charset="-122"/>
                <a:cs typeface="Roboto Condensed Medium" pitchFamily="34" charset="-120"/>
              </a:rPr>
              <a:t>50 h</a:t>
            </a:r>
            <a:endParaRPr lang="es-419" sz="2500" noProof="0" dirty="0"/>
          </a:p>
        </p:txBody>
      </p:sp>
      <p:sp>
        <p:nvSpPr>
          <p:cNvPr id="7" name="Text 5"/>
          <p:cNvSpPr/>
          <p:nvPr/>
        </p:nvSpPr>
        <p:spPr>
          <a:xfrm>
            <a:off x="795528" y="3172968"/>
            <a:ext cx="1739189" cy="502920"/>
          </a:xfrm>
          <a:prstGeom prst="rect">
            <a:avLst/>
          </a:prstGeom>
          <a:noFill/>
          <a:ln/>
        </p:spPr>
        <p:txBody>
          <a:bodyPr wrap="square" lIns="0" tIns="0" rIns="0" bIns="0" rtlCol="0" anchor="t"/>
          <a:lstStyle/>
          <a:p>
            <a:pPr marL="0" indent="0" algn="ctr">
              <a:buNone/>
            </a:pPr>
            <a:r>
              <a:rPr lang="es-419" sz="1050" b="1" kern="0" spc="100" noProof="0">
                <a:solidFill>
                  <a:srgbClr val="6E7278"/>
                </a:solidFill>
                <a:latin typeface="Roboto Condensed" pitchFamily="34" charset="0"/>
                <a:ea typeface="Roboto Condensed" pitchFamily="34" charset="-122"/>
                <a:cs typeface="Roboto Condensed" pitchFamily="34" charset="-120"/>
              </a:rPr>
              <a:t>TIEMPO ESTIMADO SIN COPILOT - JUICIO EXPERTO</a:t>
            </a:r>
            <a:endParaRPr lang="es-419" sz="1050" noProof="0" dirty="0"/>
          </a:p>
        </p:txBody>
      </p:sp>
      <p:sp>
        <p:nvSpPr>
          <p:cNvPr id="8" name="card">
            <a:extLst>
              <a:ext uri="{C183D7F6-B498-43B3-948B-1728B52AA6E4}">
                <adec:decorative xmlns:adec="http://schemas.microsoft.com/office/drawing/2017/decorative" val="1"/>
              </a:ext>
            </a:extLst>
          </p:cNvPr>
          <p:cNvSpPr/>
          <p:nvPr/>
        </p:nvSpPr>
        <p:spPr>
          <a:xfrm>
            <a:off x="2900477" y="1691640"/>
            <a:ext cx="1958645" cy="2148840"/>
          </a:xfrm>
          <a:prstGeom prst="rect">
            <a:avLst/>
          </a:prstGeom>
          <a:solidFill>
            <a:srgbClr val="FFFFFF"/>
          </a:solidFill>
          <a:ln w="12700">
            <a:solidFill>
              <a:srgbClr val="E6E8EF"/>
            </a:solidFill>
            <a:prstDash val="solid"/>
          </a:ln>
          <a:effectLst>
            <a:outerShdw blurRad="114300" dist="38100" dir="5400000" algn="bl" rotWithShape="0">
              <a:srgbClr val="5B6068">
                <a:alpha val="9000"/>
              </a:srgbClr>
            </a:outerShdw>
          </a:effectLst>
        </p:spPr>
        <p:txBody>
          <a:bodyPr/>
          <a:lstStyle/>
          <a:p>
            <a:endParaRPr lang="es-419" noProof="0" dirty="0"/>
          </a:p>
        </p:txBody>
      </p:sp>
      <p:sp>
        <p:nvSpPr>
          <p:cNvPr id="9" name="Text 7"/>
          <p:cNvSpPr/>
          <p:nvPr/>
        </p:nvSpPr>
        <p:spPr>
          <a:xfrm>
            <a:off x="3010205" y="2075688"/>
            <a:ext cx="1739189" cy="914400"/>
          </a:xfrm>
          <a:prstGeom prst="rect">
            <a:avLst/>
          </a:prstGeom>
          <a:noFill/>
          <a:ln/>
        </p:spPr>
        <p:txBody>
          <a:bodyPr wrap="square" lIns="0" tIns="0" rIns="0" bIns="0" rtlCol="0" anchor="ctr"/>
          <a:lstStyle/>
          <a:p>
            <a:pPr marL="0" indent="0" algn="ctr">
              <a:buNone/>
            </a:pPr>
            <a:r>
              <a:rPr lang="es-419" sz="2500" b="1" noProof="0">
                <a:solidFill>
                  <a:srgbClr val="2A3FE0"/>
                </a:solidFill>
                <a:latin typeface="Roboto Condensed Medium" pitchFamily="34" charset="0"/>
                <a:ea typeface="Roboto Condensed Medium" pitchFamily="34" charset="-122"/>
                <a:cs typeface="Roboto Condensed Medium" pitchFamily="34" charset="-120"/>
              </a:rPr>
              <a:t>2 h 18 min</a:t>
            </a:r>
            <a:endParaRPr lang="es-419" sz="2500" noProof="0" dirty="0"/>
          </a:p>
        </p:txBody>
      </p:sp>
      <p:sp>
        <p:nvSpPr>
          <p:cNvPr id="10" name="Text 8"/>
          <p:cNvSpPr/>
          <p:nvPr/>
        </p:nvSpPr>
        <p:spPr>
          <a:xfrm>
            <a:off x="3010205" y="3172968"/>
            <a:ext cx="1739189" cy="502920"/>
          </a:xfrm>
          <a:prstGeom prst="rect">
            <a:avLst/>
          </a:prstGeom>
          <a:noFill/>
          <a:ln/>
        </p:spPr>
        <p:txBody>
          <a:bodyPr wrap="square" lIns="0" tIns="0" rIns="0" bIns="0" rtlCol="0" anchor="t"/>
          <a:lstStyle/>
          <a:p>
            <a:pPr marL="0" indent="0" algn="ctr">
              <a:buNone/>
            </a:pPr>
            <a:r>
              <a:rPr lang="es-419" sz="1050" b="1" kern="0" spc="100" noProof="0">
                <a:solidFill>
                  <a:srgbClr val="6E7278"/>
                </a:solidFill>
                <a:latin typeface="Roboto Condensed" pitchFamily="34" charset="0"/>
                <a:ea typeface="Roboto Condensed" pitchFamily="34" charset="-122"/>
                <a:cs typeface="Roboto Condensed" pitchFamily="34" charset="-120"/>
              </a:rPr>
              <a:t>TIEMPO CON COPILOT</a:t>
            </a:r>
            <a:endParaRPr lang="es-419" sz="1050" noProof="0" dirty="0"/>
          </a:p>
        </p:txBody>
      </p:sp>
      <p:sp>
        <p:nvSpPr>
          <p:cNvPr id="11" name="kpi">
            <a:extLst>
              <a:ext uri="{C183D7F6-B498-43B3-948B-1728B52AA6E4}">
                <adec:decorative xmlns:adec="http://schemas.microsoft.com/office/drawing/2017/decorative" val="1"/>
              </a:ext>
            </a:extLst>
          </p:cNvPr>
          <p:cNvSpPr/>
          <p:nvPr/>
        </p:nvSpPr>
        <p:spPr>
          <a:xfrm>
            <a:off x="5115154" y="1691640"/>
            <a:ext cx="1958645" cy="2148840"/>
          </a:xfrm>
          <a:prstGeom prst="rect">
            <a:avLst/>
          </a:prstGeom>
          <a:solidFill>
            <a:srgbClr val="FFFFFF"/>
          </a:solidFill>
          <a:ln w="12700">
            <a:solidFill>
              <a:srgbClr val="E6E8EF"/>
            </a:solidFill>
            <a:prstDash val="solid"/>
          </a:ln>
          <a:effectLst>
            <a:outerShdw blurRad="114300" dist="38100" dir="5400000" algn="bl" rotWithShape="0">
              <a:srgbClr val="5B6068">
                <a:alpha val="9000"/>
              </a:srgbClr>
            </a:outerShdw>
          </a:effectLst>
        </p:spPr>
        <p:txBody>
          <a:bodyPr/>
          <a:lstStyle/>
          <a:p>
            <a:endParaRPr lang="es-419" noProof="0" dirty="0"/>
          </a:p>
        </p:txBody>
      </p:sp>
      <p:sp>
        <p:nvSpPr>
          <p:cNvPr id="12" name="Text 10"/>
          <p:cNvSpPr/>
          <p:nvPr/>
        </p:nvSpPr>
        <p:spPr>
          <a:xfrm>
            <a:off x="5224882" y="2075688"/>
            <a:ext cx="1739189" cy="914400"/>
          </a:xfrm>
          <a:prstGeom prst="rect">
            <a:avLst/>
          </a:prstGeom>
          <a:noFill/>
          <a:ln/>
        </p:spPr>
        <p:txBody>
          <a:bodyPr wrap="square" lIns="0" tIns="0" rIns="0" bIns="0" rtlCol="0" anchor="ctr"/>
          <a:lstStyle/>
          <a:p>
            <a:pPr marL="0" indent="0" algn="ctr">
              <a:buNone/>
            </a:pPr>
            <a:r>
              <a:rPr lang="es-419" sz="2500" b="1" noProof="0">
                <a:solidFill>
                  <a:srgbClr val="2A3FE0"/>
                </a:solidFill>
                <a:latin typeface="Roboto Condensed Medium" pitchFamily="34" charset="0"/>
                <a:ea typeface="Roboto Condensed Medium" pitchFamily="34" charset="-122"/>
                <a:cs typeface="Roboto Condensed Medium" pitchFamily="34" charset="-120"/>
              </a:rPr>
              <a:t>47 h 42 min</a:t>
            </a:r>
            <a:endParaRPr lang="es-419" sz="2500" noProof="0" dirty="0"/>
          </a:p>
        </p:txBody>
      </p:sp>
      <p:sp>
        <p:nvSpPr>
          <p:cNvPr id="13" name="Text 11"/>
          <p:cNvSpPr/>
          <p:nvPr/>
        </p:nvSpPr>
        <p:spPr>
          <a:xfrm>
            <a:off x="5224882" y="3172968"/>
            <a:ext cx="1739189" cy="502920"/>
          </a:xfrm>
          <a:prstGeom prst="rect">
            <a:avLst/>
          </a:prstGeom>
          <a:noFill/>
          <a:ln/>
        </p:spPr>
        <p:txBody>
          <a:bodyPr wrap="square" lIns="0" tIns="0" rIns="0" bIns="0" rtlCol="0" anchor="t"/>
          <a:lstStyle/>
          <a:p>
            <a:pPr marL="0" indent="0" algn="ctr">
              <a:buNone/>
            </a:pPr>
            <a:r>
              <a:rPr lang="es-419" sz="1050" b="1" kern="0" spc="100" noProof="0">
                <a:solidFill>
                  <a:srgbClr val="6E7278"/>
                </a:solidFill>
                <a:latin typeface="Roboto Condensed" pitchFamily="34" charset="0"/>
                <a:ea typeface="Roboto Condensed" pitchFamily="34" charset="-122"/>
                <a:cs typeface="Roboto Condensed" pitchFamily="34" charset="-120"/>
              </a:rPr>
              <a:t>DIFERENCIA VS. ESTIMACIÓN</a:t>
            </a:r>
            <a:endParaRPr lang="es-419" sz="1050" noProof="0" dirty="0"/>
          </a:p>
        </p:txBody>
      </p:sp>
      <p:sp>
        <p:nvSpPr>
          <p:cNvPr id="14" name="kpi">
            <a:extLst>
              <a:ext uri="{C183D7F6-B498-43B3-948B-1728B52AA6E4}">
                <adec:decorative xmlns:adec="http://schemas.microsoft.com/office/drawing/2017/decorative" val="1"/>
              </a:ext>
            </a:extLst>
          </p:cNvPr>
          <p:cNvSpPr/>
          <p:nvPr/>
        </p:nvSpPr>
        <p:spPr>
          <a:xfrm>
            <a:off x="7329830" y="1691640"/>
            <a:ext cx="1958645" cy="2148840"/>
          </a:xfrm>
          <a:prstGeom prst="rect">
            <a:avLst/>
          </a:prstGeom>
          <a:solidFill>
            <a:srgbClr val="FFFFFF"/>
          </a:solidFill>
          <a:ln w="12700">
            <a:solidFill>
              <a:srgbClr val="E6E8EF"/>
            </a:solidFill>
            <a:prstDash val="solid"/>
          </a:ln>
          <a:effectLst>
            <a:outerShdw blurRad="114300" dist="38100" dir="5400000" algn="bl" rotWithShape="0">
              <a:srgbClr val="5B6068">
                <a:alpha val="9000"/>
              </a:srgbClr>
            </a:outerShdw>
          </a:effectLst>
        </p:spPr>
        <p:txBody>
          <a:bodyPr/>
          <a:lstStyle/>
          <a:p>
            <a:endParaRPr lang="es-419" noProof="0" dirty="0"/>
          </a:p>
        </p:txBody>
      </p:sp>
      <p:sp>
        <p:nvSpPr>
          <p:cNvPr id="15" name="Text 13"/>
          <p:cNvSpPr/>
          <p:nvPr/>
        </p:nvSpPr>
        <p:spPr>
          <a:xfrm>
            <a:off x="7439558" y="2075688"/>
            <a:ext cx="1739189" cy="914400"/>
          </a:xfrm>
          <a:prstGeom prst="rect">
            <a:avLst/>
          </a:prstGeom>
          <a:noFill/>
          <a:ln/>
        </p:spPr>
        <p:txBody>
          <a:bodyPr wrap="square" lIns="0" tIns="0" rIns="0" bIns="0" rtlCol="0" anchor="ctr"/>
          <a:lstStyle/>
          <a:p>
            <a:pPr marL="0" indent="0" algn="ctr">
              <a:buNone/>
            </a:pPr>
            <a:r>
              <a:rPr lang="es-419" sz="2500" b="1" noProof="0">
                <a:solidFill>
                  <a:srgbClr val="2A3FE0"/>
                </a:solidFill>
                <a:latin typeface="Roboto Condensed Medium" pitchFamily="34" charset="0"/>
                <a:ea typeface="Roboto Condensed Medium" pitchFamily="34" charset="-122"/>
                <a:cs typeface="Roboto Condensed Medium" pitchFamily="34" charset="-120"/>
              </a:rPr>
              <a:t>95,4 %</a:t>
            </a:r>
            <a:endParaRPr lang="es-419" sz="2500" noProof="0" dirty="0"/>
          </a:p>
        </p:txBody>
      </p:sp>
      <p:sp>
        <p:nvSpPr>
          <p:cNvPr id="16" name="Text 14"/>
          <p:cNvSpPr/>
          <p:nvPr/>
        </p:nvSpPr>
        <p:spPr>
          <a:xfrm>
            <a:off x="7439558" y="3172968"/>
            <a:ext cx="1739189" cy="502920"/>
          </a:xfrm>
          <a:prstGeom prst="rect">
            <a:avLst/>
          </a:prstGeom>
          <a:noFill/>
          <a:ln/>
        </p:spPr>
        <p:txBody>
          <a:bodyPr wrap="square" lIns="0" tIns="0" rIns="0" bIns="0" rtlCol="0" anchor="t"/>
          <a:lstStyle/>
          <a:p>
            <a:pPr marL="0" indent="0" algn="ctr">
              <a:buNone/>
            </a:pPr>
            <a:r>
              <a:rPr lang="es-419" sz="1050" b="1" kern="0" spc="100" noProof="0">
                <a:solidFill>
                  <a:srgbClr val="6E7278"/>
                </a:solidFill>
                <a:latin typeface="Roboto Condensed" pitchFamily="34" charset="0"/>
                <a:ea typeface="Roboto Condensed" pitchFamily="34" charset="-122"/>
                <a:cs typeface="Roboto Condensed" pitchFamily="34" charset="-120"/>
              </a:rPr>
              <a:t>REDUCCIÓN ESTIMADA</a:t>
            </a:r>
            <a:endParaRPr lang="es-419" sz="1050" noProof="0" dirty="0"/>
          </a:p>
        </p:txBody>
      </p:sp>
      <p:sp>
        <p:nvSpPr>
          <p:cNvPr id="17" name="card">
            <a:extLst>
              <a:ext uri="{C183D7F6-B498-43B3-948B-1728B52AA6E4}">
                <adec:decorative xmlns:adec="http://schemas.microsoft.com/office/drawing/2017/decorative" val="1"/>
              </a:ext>
            </a:extLst>
          </p:cNvPr>
          <p:cNvSpPr/>
          <p:nvPr/>
        </p:nvSpPr>
        <p:spPr>
          <a:xfrm>
            <a:off x="9544507" y="1691640"/>
            <a:ext cx="1958645" cy="2148840"/>
          </a:xfrm>
          <a:prstGeom prst="rect">
            <a:avLst/>
          </a:prstGeom>
          <a:solidFill>
            <a:srgbClr val="FFFFFF"/>
          </a:solidFill>
          <a:ln w="12700">
            <a:solidFill>
              <a:srgbClr val="E6E8EF"/>
            </a:solidFill>
            <a:prstDash val="solid"/>
          </a:ln>
          <a:effectLst>
            <a:outerShdw blurRad="114300" dist="38100" dir="5400000" algn="bl" rotWithShape="0">
              <a:srgbClr val="5B6068">
                <a:alpha val="9000"/>
              </a:srgbClr>
            </a:outerShdw>
          </a:effectLst>
        </p:spPr>
        <p:txBody>
          <a:bodyPr/>
          <a:lstStyle/>
          <a:p>
            <a:endParaRPr lang="es-419" noProof="0" dirty="0"/>
          </a:p>
        </p:txBody>
      </p:sp>
      <p:sp>
        <p:nvSpPr>
          <p:cNvPr id="18" name="Text 16"/>
          <p:cNvSpPr/>
          <p:nvPr/>
        </p:nvSpPr>
        <p:spPr>
          <a:xfrm>
            <a:off x="9654235" y="2075688"/>
            <a:ext cx="1739189" cy="914400"/>
          </a:xfrm>
          <a:prstGeom prst="rect">
            <a:avLst/>
          </a:prstGeom>
          <a:noFill/>
          <a:ln/>
        </p:spPr>
        <p:txBody>
          <a:bodyPr wrap="square" lIns="0" tIns="0" rIns="0" bIns="0" rtlCol="0" anchor="ctr"/>
          <a:lstStyle/>
          <a:p>
            <a:pPr marL="0" indent="0" algn="ctr">
              <a:buNone/>
            </a:pPr>
            <a:r>
              <a:rPr lang="es-419" sz="2500" b="1" noProof="0">
                <a:solidFill>
                  <a:srgbClr val="2A3FE0"/>
                </a:solidFill>
                <a:latin typeface="Roboto Condensed Medium" pitchFamily="34" charset="0"/>
                <a:ea typeface="Roboto Condensed Medium" pitchFamily="34" charset="-122"/>
                <a:cs typeface="Roboto Condensed Medium" pitchFamily="34" charset="-120"/>
              </a:rPr>
              <a:t>5</a:t>
            </a:r>
            <a:endParaRPr lang="es-419" sz="2500" noProof="0" dirty="0"/>
          </a:p>
        </p:txBody>
      </p:sp>
      <p:sp>
        <p:nvSpPr>
          <p:cNvPr id="19" name="Text 17"/>
          <p:cNvSpPr/>
          <p:nvPr/>
        </p:nvSpPr>
        <p:spPr>
          <a:xfrm>
            <a:off x="9654235" y="3172968"/>
            <a:ext cx="1739189" cy="502920"/>
          </a:xfrm>
          <a:prstGeom prst="rect">
            <a:avLst/>
          </a:prstGeom>
          <a:noFill/>
          <a:ln/>
        </p:spPr>
        <p:txBody>
          <a:bodyPr wrap="square" lIns="0" tIns="0" rIns="0" bIns="0" rtlCol="0" anchor="t"/>
          <a:lstStyle/>
          <a:p>
            <a:pPr marL="0" indent="0" algn="ctr">
              <a:buNone/>
            </a:pPr>
            <a:r>
              <a:rPr lang="es-419" sz="1050" b="1" kern="0" spc="100" noProof="0">
                <a:solidFill>
                  <a:srgbClr val="6E7278"/>
                </a:solidFill>
                <a:latin typeface="Roboto Condensed" pitchFamily="34" charset="0"/>
                <a:ea typeface="Roboto Condensed" pitchFamily="34" charset="-122"/>
                <a:cs typeface="Roboto Condensed" pitchFamily="34" charset="-120"/>
              </a:rPr>
              <a:t>CASOS CON MEDICIÓN COMPLETA</a:t>
            </a:r>
            <a:endParaRPr lang="es-419" sz="1050" noProof="0" dirty="0"/>
          </a:p>
        </p:txBody>
      </p:sp>
      <p:sp>
        <p:nvSpPr>
          <p:cNvPr id="20" name="card">
            <a:extLst>
              <a:ext uri="{C183D7F6-B498-43B3-948B-1728B52AA6E4}">
                <adec:decorative xmlns:adec="http://schemas.microsoft.com/office/drawing/2017/decorative" val="1"/>
              </a:ext>
            </a:extLst>
          </p:cNvPr>
          <p:cNvSpPr/>
          <p:nvPr/>
        </p:nvSpPr>
        <p:spPr>
          <a:xfrm>
            <a:off x="685800" y="4114800"/>
            <a:ext cx="10817352" cy="1828800"/>
          </a:xfrm>
          <a:prstGeom prst="rect">
            <a:avLst/>
          </a:prstGeom>
          <a:solidFill>
            <a:srgbClr val="FAFBFD"/>
          </a:solidFill>
          <a:ln w="12700">
            <a:solidFill>
              <a:srgbClr val="E6E8EF"/>
            </a:solidFill>
            <a:prstDash val="solid"/>
          </a:ln>
        </p:spPr>
        <p:txBody>
          <a:bodyPr/>
          <a:lstStyle/>
          <a:p>
            <a:endParaRPr lang="es-419" noProof="0" dirty="0"/>
          </a:p>
        </p:txBody>
      </p:sp>
      <p:sp>
        <p:nvSpPr>
          <p:cNvPr id="21" name="Text 19"/>
          <p:cNvSpPr/>
          <p:nvPr/>
        </p:nvSpPr>
        <p:spPr>
          <a:xfrm>
            <a:off x="932688" y="4315968"/>
            <a:ext cx="7315200" cy="292608"/>
          </a:xfrm>
          <a:prstGeom prst="rect">
            <a:avLst/>
          </a:prstGeom>
          <a:noFill/>
          <a:ln/>
        </p:spPr>
        <p:txBody>
          <a:bodyPr wrap="square" lIns="0" tIns="0" rIns="0" bIns="0" rtlCol="0" anchor="ctr"/>
          <a:lstStyle/>
          <a:p>
            <a:pPr marL="0" indent="0">
              <a:buNone/>
            </a:pPr>
            <a:r>
              <a:rPr lang="es-419" sz="1150" b="1" kern="0" spc="200" noProof="0">
                <a:solidFill>
                  <a:srgbClr val="6E7278"/>
                </a:solidFill>
                <a:latin typeface="Roboto Condensed Medium" pitchFamily="34" charset="0"/>
                <a:ea typeface="Roboto Condensed Medium" pitchFamily="34" charset="-122"/>
                <a:cs typeface="Roboto Condensed Medium" pitchFamily="34" charset="-120"/>
              </a:rPr>
              <a:t>PRINCIPALES HALLAZGOS</a:t>
            </a:r>
            <a:endParaRPr lang="es-419" sz="1150" noProof="0" dirty="0"/>
          </a:p>
        </p:txBody>
      </p:sp>
      <p:sp>
        <p:nvSpPr>
          <p:cNvPr id="22" name="card">
            <a:extLst>
              <a:ext uri="{C183D7F6-B498-43B3-948B-1728B52AA6E4}">
                <adec:decorative xmlns:adec="http://schemas.microsoft.com/office/drawing/2017/decorative" val="1"/>
              </a:ext>
            </a:extLst>
          </p:cNvPr>
          <p:cNvSpPr/>
          <p:nvPr/>
        </p:nvSpPr>
        <p:spPr>
          <a:xfrm>
            <a:off x="932688" y="4736592"/>
            <a:ext cx="3258312" cy="1065814"/>
          </a:xfrm>
          <a:prstGeom prst="rect">
            <a:avLst/>
          </a:prstGeom>
          <a:solidFill>
            <a:srgbClr val="FFFFFF"/>
          </a:solidFill>
          <a:ln w="12700">
            <a:solidFill>
              <a:srgbClr val="E6E8EF"/>
            </a:solidFill>
            <a:prstDash val="solid"/>
          </a:ln>
          <a:effectLst>
            <a:outerShdw blurRad="114300" dist="38100" dir="5400000" algn="bl" rotWithShape="0">
              <a:srgbClr val="5B6068">
                <a:alpha val="9000"/>
              </a:srgbClr>
            </a:outerShdw>
          </a:effectLst>
        </p:spPr>
        <p:txBody>
          <a:bodyPr/>
          <a:lstStyle/>
          <a:p>
            <a:endParaRPr lang="es-419" noProof="0" dirty="0"/>
          </a:p>
        </p:txBody>
      </p:sp>
      <p:sp>
        <p:nvSpPr>
          <p:cNvPr id="23" name="accent">
            <a:extLst>
              <a:ext uri="{C183D7F6-B498-43B3-948B-1728B52AA6E4}">
                <adec:decorative xmlns:adec="http://schemas.microsoft.com/office/drawing/2017/decorative" val="1"/>
              </a:ext>
            </a:extLst>
          </p:cNvPr>
          <p:cNvSpPr/>
          <p:nvPr/>
        </p:nvSpPr>
        <p:spPr>
          <a:xfrm>
            <a:off x="932688" y="4736592"/>
            <a:ext cx="82296" cy="960120"/>
          </a:xfrm>
          <a:prstGeom prst="rect">
            <a:avLst/>
          </a:prstGeom>
          <a:solidFill>
            <a:srgbClr val="2A3FE0"/>
          </a:solidFill>
          <a:ln/>
        </p:spPr>
        <p:txBody>
          <a:bodyPr/>
          <a:lstStyle/>
          <a:p>
            <a:endParaRPr lang="es-419" noProof="0" dirty="0"/>
          </a:p>
        </p:txBody>
      </p:sp>
      <p:sp>
        <p:nvSpPr>
          <p:cNvPr id="24" name="Text 22"/>
          <p:cNvSpPr/>
          <p:nvPr/>
        </p:nvSpPr>
        <p:spPr>
          <a:xfrm>
            <a:off x="1152144" y="4736592"/>
            <a:ext cx="2892552" cy="1065812"/>
          </a:xfrm>
          <a:prstGeom prst="rect">
            <a:avLst/>
          </a:prstGeom>
          <a:noFill/>
          <a:ln/>
        </p:spPr>
        <p:txBody>
          <a:bodyPr wrap="square" lIns="0" tIns="0" rIns="0" bIns="0" rtlCol="0" anchor="ctr"/>
          <a:lstStyle/>
          <a:p>
            <a:pPr marL="0" indent="0" algn="l">
              <a:buNone/>
            </a:pPr>
            <a:r>
              <a:rPr lang="es-419" sz="1350" b="1" noProof="0" dirty="0">
                <a:solidFill>
                  <a:srgbClr val="000000"/>
                </a:solidFill>
                <a:latin typeface="Roboto Condensed Medium" pitchFamily="34" charset="0"/>
                <a:ea typeface="Roboto Condensed Medium" pitchFamily="34" charset="-122"/>
                <a:cs typeface="Roboto Condensed Medium" pitchFamily="34" charset="-120"/>
              </a:rPr>
              <a:t>50 h estimadas -&gt; 2 h 18 min reales.</a:t>
            </a:r>
            <a:endParaRPr lang="es-419" sz="1350" noProof="0" dirty="0"/>
          </a:p>
        </p:txBody>
      </p:sp>
      <p:sp>
        <p:nvSpPr>
          <p:cNvPr id="25" name="card">
            <a:extLst>
              <a:ext uri="{C183D7F6-B498-43B3-948B-1728B52AA6E4}">
                <adec:decorative xmlns:adec="http://schemas.microsoft.com/office/drawing/2017/decorative" val="1"/>
              </a:ext>
            </a:extLst>
          </p:cNvPr>
          <p:cNvSpPr/>
          <p:nvPr/>
        </p:nvSpPr>
        <p:spPr>
          <a:xfrm>
            <a:off x="4465320" y="4736592"/>
            <a:ext cx="3258312" cy="1065814"/>
          </a:xfrm>
          <a:prstGeom prst="rect">
            <a:avLst/>
          </a:prstGeom>
          <a:solidFill>
            <a:srgbClr val="FFFFFF"/>
          </a:solidFill>
          <a:ln w="12700">
            <a:solidFill>
              <a:srgbClr val="E6E8EF"/>
            </a:solidFill>
            <a:prstDash val="solid"/>
          </a:ln>
          <a:effectLst>
            <a:outerShdw blurRad="114300" dist="38100" dir="5400000" algn="bl" rotWithShape="0">
              <a:srgbClr val="5B6068">
                <a:alpha val="9000"/>
              </a:srgbClr>
            </a:outerShdw>
          </a:effectLst>
        </p:spPr>
        <p:txBody>
          <a:bodyPr/>
          <a:lstStyle/>
          <a:p>
            <a:endParaRPr lang="es-419" noProof="0" dirty="0"/>
          </a:p>
        </p:txBody>
      </p:sp>
      <p:sp>
        <p:nvSpPr>
          <p:cNvPr id="26" name="accent">
            <a:extLst>
              <a:ext uri="{C183D7F6-B498-43B3-948B-1728B52AA6E4}">
                <adec:decorative xmlns:adec="http://schemas.microsoft.com/office/drawing/2017/decorative" val="1"/>
              </a:ext>
            </a:extLst>
          </p:cNvPr>
          <p:cNvSpPr/>
          <p:nvPr/>
        </p:nvSpPr>
        <p:spPr>
          <a:xfrm>
            <a:off x="4465320" y="4736592"/>
            <a:ext cx="82296" cy="960120"/>
          </a:xfrm>
          <a:prstGeom prst="rect">
            <a:avLst/>
          </a:prstGeom>
          <a:solidFill>
            <a:srgbClr val="2A3FE0"/>
          </a:solidFill>
          <a:ln/>
        </p:spPr>
        <p:txBody>
          <a:bodyPr/>
          <a:lstStyle/>
          <a:p>
            <a:endParaRPr lang="es-419" noProof="0" dirty="0"/>
          </a:p>
        </p:txBody>
      </p:sp>
      <p:sp>
        <p:nvSpPr>
          <p:cNvPr id="27" name="Text 25"/>
          <p:cNvSpPr/>
          <p:nvPr/>
        </p:nvSpPr>
        <p:spPr>
          <a:xfrm>
            <a:off x="4684776" y="4736592"/>
            <a:ext cx="2892552" cy="1065812"/>
          </a:xfrm>
          <a:prstGeom prst="rect">
            <a:avLst/>
          </a:prstGeom>
          <a:noFill/>
          <a:ln/>
        </p:spPr>
        <p:txBody>
          <a:bodyPr wrap="square" lIns="0" tIns="0" rIns="0" bIns="0" rtlCol="0" anchor="ctr"/>
          <a:lstStyle/>
          <a:p>
            <a:pPr marL="0" indent="0" algn="l">
              <a:buNone/>
            </a:pPr>
            <a:r>
              <a:rPr lang="es-419" sz="1350" b="1" noProof="0">
                <a:solidFill>
                  <a:srgbClr val="000000"/>
                </a:solidFill>
                <a:latin typeface="Roboto Condensed Medium" pitchFamily="34" charset="0"/>
                <a:ea typeface="Roboto Condensed Medium" pitchFamily="34" charset="-122"/>
                <a:cs typeface="Roboto Condensed Medium" pitchFamily="34" charset="-120"/>
              </a:rPr>
              <a:t>Ejecuciones entre 15 y 35 min.</a:t>
            </a:r>
            <a:endParaRPr lang="es-419" sz="1350" noProof="0" dirty="0"/>
          </a:p>
        </p:txBody>
      </p:sp>
      <p:sp>
        <p:nvSpPr>
          <p:cNvPr id="28" name="card">
            <a:extLst>
              <a:ext uri="{C183D7F6-B498-43B3-948B-1728B52AA6E4}">
                <adec:decorative xmlns:adec="http://schemas.microsoft.com/office/drawing/2017/decorative" val="1"/>
              </a:ext>
            </a:extLst>
          </p:cNvPr>
          <p:cNvSpPr/>
          <p:nvPr/>
        </p:nvSpPr>
        <p:spPr>
          <a:xfrm>
            <a:off x="7997952" y="4736592"/>
            <a:ext cx="3258312" cy="1065814"/>
          </a:xfrm>
          <a:prstGeom prst="rect">
            <a:avLst/>
          </a:prstGeom>
          <a:solidFill>
            <a:srgbClr val="FFFFFF"/>
          </a:solidFill>
          <a:ln w="12700">
            <a:solidFill>
              <a:srgbClr val="E6E8EF"/>
            </a:solidFill>
            <a:prstDash val="solid"/>
          </a:ln>
          <a:effectLst>
            <a:outerShdw blurRad="114300" dist="38100" dir="5400000" algn="bl" rotWithShape="0">
              <a:srgbClr val="5B6068">
                <a:alpha val="9000"/>
              </a:srgbClr>
            </a:outerShdw>
          </a:effectLst>
        </p:spPr>
        <p:txBody>
          <a:bodyPr/>
          <a:lstStyle/>
          <a:p>
            <a:endParaRPr lang="es-419" noProof="0" dirty="0"/>
          </a:p>
        </p:txBody>
      </p:sp>
      <p:sp>
        <p:nvSpPr>
          <p:cNvPr id="29" name="accent">
            <a:extLst>
              <a:ext uri="{C183D7F6-B498-43B3-948B-1728B52AA6E4}">
                <adec:decorative xmlns:adec="http://schemas.microsoft.com/office/drawing/2017/decorative" val="1"/>
              </a:ext>
            </a:extLst>
          </p:cNvPr>
          <p:cNvSpPr/>
          <p:nvPr/>
        </p:nvSpPr>
        <p:spPr>
          <a:xfrm>
            <a:off x="7997952" y="4736592"/>
            <a:ext cx="82296" cy="960120"/>
          </a:xfrm>
          <a:prstGeom prst="rect">
            <a:avLst/>
          </a:prstGeom>
          <a:solidFill>
            <a:srgbClr val="2A3FE0"/>
          </a:solidFill>
          <a:ln/>
        </p:spPr>
        <p:txBody>
          <a:bodyPr/>
          <a:lstStyle/>
          <a:p>
            <a:endParaRPr lang="es-419" noProof="0" dirty="0"/>
          </a:p>
        </p:txBody>
      </p:sp>
      <p:sp>
        <p:nvSpPr>
          <p:cNvPr id="30" name="Text 28"/>
          <p:cNvSpPr/>
          <p:nvPr/>
        </p:nvSpPr>
        <p:spPr>
          <a:xfrm>
            <a:off x="8217408" y="4736591"/>
            <a:ext cx="2892552" cy="1065813"/>
          </a:xfrm>
          <a:prstGeom prst="rect">
            <a:avLst/>
          </a:prstGeom>
          <a:noFill/>
          <a:ln/>
        </p:spPr>
        <p:txBody>
          <a:bodyPr wrap="square" lIns="0" tIns="0" rIns="0" bIns="0" rtlCol="0" anchor="ctr"/>
          <a:lstStyle/>
          <a:p>
            <a:pPr marL="0" indent="0" algn="l">
              <a:buNone/>
            </a:pPr>
            <a:r>
              <a:rPr lang="es-419" sz="1350" b="1" noProof="0">
                <a:solidFill>
                  <a:srgbClr val="000000"/>
                </a:solidFill>
                <a:latin typeface="Roboto Condensed Medium" pitchFamily="34" charset="0"/>
                <a:ea typeface="Roboto Condensed Medium" pitchFamily="34" charset="-122"/>
                <a:cs typeface="Roboto Condensed Medium" pitchFamily="34" charset="-120"/>
              </a:rPr>
              <a:t>Pocas correcciones; pruebas funcionales pendientes.</a:t>
            </a:r>
            <a:endParaRPr lang="es-419" sz="1350" noProof="0" dirty="0"/>
          </a:p>
        </p:txBody>
      </p:sp>
      <p:sp>
        <p:nvSpPr>
          <p:cNvPr id="31" name="Text 29"/>
          <p:cNvSpPr/>
          <p:nvPr/>
        </p:nvSpPr>
        <p:spPr>
          <a:xfrm>
            <a:off x="685800" y="6437376"/>
            <a:ext cx="8686800" cy="292608"/>
          </a:xfrm>
          <a:prstGeom prst="rect">
            <a:avLst/>
          </a:prstGeom>
          <a:noFill/>
          <a:ln/>
        </p:spPr>
        <p:txBody>
          <a:bodyPr wrap="square" lIns="0" tIns="0" rIns="0" bIns="0" rtlCol="0" anchor="ctr"/>
          <a:lstStyle/>
          <a:p>
            <a:pPr marL="0" indent="0" algn="l">
              <a:buNone/>
            </a:pPr>
            <a:r>
              <a:rPr lang="es-419" sz="850" b="1" noProof="0">
                <a:solidFill>
                  <a:srgbClr val="000000"/>
                </a:solidFill>
                <a:latin typeface="Roboto Condensed" pitchFamily="34" charset="0"/>
                <a:ea typeface="Roboto Condensed" pitchFamily="34" charset="-122"/>
                <a:cs typeface="Roboto Condensed" pitchFamily="34" charset="-120"/>
              </a:rPr>
              <a:t>Tuya</a:t>
            </a:r>
            <a:r>
              <a:rPr lang="es-419" sz="850" noProof="0">
                <a:solidFill>
                  <a:srgbClr val="5B6068"/>
                </a:solidFill>
                <a:latin typeface="Roboto Condensed" pitchFamily="34" charset="0"/>
                <a:ea typeface="Roboto Condensed" pitchFamily="34" charset="-122"/>
                <a:cs typeface="Roboto Condensed" pitchFamily="34" charset="-120"/>
              </a:rPr>
              <a:t>   ·   GitHub </a:t>
            </a:r>
            <a:r>
              <a:rPr lang="es-419" sz="850" noProof="0" err="1">
                <a:solidFill>
                  <a:srgbClr val="5B6068"/>
                </a:solidFill>
                <a:latin typeface="Roboto Condensed" pitchFamily="34" charset="0"/>
                <a:ea typeface="Roboto Condensed" pitchFamily="34" charset="-122"/>
                <a:cs typeface="Roboto Condensed" pitchFamily="34" charset="-120"/>
              </a:rPr>
              <a:t>Copilot</a:t>
            </a:r>
            <a:r>
              <a:rPr lang="es-419" sz="850" noProof="0">
                <a:solidFill>
                  <a:srgbClr val="5B6068"/>
                </a:solidFill>
                <a:latin typeface="Roboto Condensed" pitchFamily="34" charset="0"/>
                <a:ea typeface="Roboto Condensed" pitchFamily="34" charset="-122"/>
                <a:cs typeface="Roboto Condensed" pitchFamily="34" charset="-120"/>
              </a:rPr>
              <a:t> - Resultados de la Prueba de Concepto</a:t>
            </a:r>
            <a:endParaRPr lang="es-419" sz="850" noProof="0" dirty="0"/>
          </a:p>
        </p:txBody>
      </p:sp>
      <p:sp>
        <p:nvSpPr>
          <p:cNvPr id="32" name="Text 30"/>
          <p:cNvSpPr/>
          <p:nvPr/>
        </p:nvSpPr>
        <p:spPr>
          <a:xfrm>
            <a:off x="10972800" y="6437376"/>
            <a:ext cx="530352" cy="292608"/>
          </a:xfrm>
          <a:prstGeom prst="rect">
            <a:avLst/>
          </a:prstGeom>
          <a:noFill/>
          <a:ln/>
        </p:spPr>
        <p:txBody>
          <a:bodyPr wrap="square" lIns="0" tIns="0" rIns="0" bIns="0" rtlCol="0" anchor="ctr"/>
          <a:lstStyle/>
          <a:p>
            <a:pPr marL="0" indent="0" algn="r">
              <a:buNone/>
            </a:pPr>
            <a:r>
              <a:rPr lang="es-419" sz="900" b="1" noProof="0">
                <a:solidFill>
                  <a:srgbClr val="2A3FE0"/>
                </a:solidFill>
                <a:latin typeface="Roboto Condensed Medium" pitchFamily="34" charset="0"/>
                <a:ea typeface="Roboto Condensed Medium" pitchFamily="34" charset="-122"/>
                <a:cs typeface="Roboto Condensed Medium" pitchFamily="34" charset="-120"/>
              </a:rPr>
              <a:t>04</a:t>
            </a:r>
            <a:endParaRPr lang="es-419" sz="900" noProof="0" dirty="0"/>
          </a:p>
        </p:txBody>
      </p:sp>
      <p:pic>
        <p:nvPicPr>
          <p:cNvPr id="950" name="Logo Tuya"/>
          <p:cNvPicPr>
            <a:picLocks noChangeAspect="1"/>
          </p:cNvPicPr>
          <p:nvPr/>
        </p:nvPicPr>
        <p:blipFill>
          <a:blip r:embed="rId3"/>
          <a:stretch>
            <a:fillRect/>
          </a:stretch>
        </p:blipFill>
        <p:spPr>
          <a:xfrm>
            <a:off x="11152200" y="321276"/>
            <a:ext cx="640080" cy="320040"/>
          </a:xfrm>
          <a:prstGeom prst="rect">
            <a:avLst/>
          </a:prstGeom>
        </p:spPr>
      </p:pic>
      <p:sp>
        <p:nvSpPr>
          <p:cNvPr id="80" name="nota casos"/>
          <p:cNvSpPr/>
          <p:nvPr/>
        </p:nvSpPr>
        <p:spPr>
          <a:xfrm>
            <a:off x="685800" y="6020000"/>
            <a:ext cx="10817352" cy="330000"/>
          </a:xfrm>
          <a:prstGeom prst="rect">
            <a:avLst/>
          </a:prstGeom>
          <a:noFill/>
          <a:ln/>
        </p:spPr>
        <p:txBody>
          <a:bodyPr wrap="square" lIns="0" tIns="0" rIns="0" bIns="0" rtlCol="0" anchor="ctr"/>
          <a:lstStyle/>
          <a:p>
            <a:pPr marL="0" indent="0" algn="l">
              <a:buNone/>
            </a:pPr>
            <a:r>
              <a:rPr lang="es-419" sz="900" i="1" noProof="0">
                <a:solidFill>
                  <a:srgbClr val="5B6068"/>
                </a:solidFill>
                <a:latin typeface="Roboto Condensed" pitchFamily="34" charset="0"/>
                <a:cs typeface="Roboto Condensed" pitchFamily="34" charset="0"/>
              </a:rPr>
              <a:t>5 casos con medición completa; 6 de 10 casos finalizaron la PoC.</a:t>
            </a:r>
            <a:endParaRPr lang="es-419" sz="900" i="1" noProof="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 mark">
            <a:extLst>
              <a:ext uri="{C183D7F6-B498-43B3-948B-1728B52AA6E4}">
                <adec:decorative xmlns:adec="http://schemas.microsoft.com/office/drawing/2017/decorative" val="1"/>
              </a:ext>
            </a:extLst>
          </p:cNvPr>
          <p:cNvSpPr/>
          <p:nvPr/>
        </p:nvSpPr>
        <p:spPr>
          <a:xfrm>
            <a:off x="685800" y="402336"/>
            <a:ext cx="146304" cy="146304"/>
          </a:xfrm>
          <a:prstGeom prst="rect">
            <a:avLst/>
          </a:prstGeom>
          <a:solidFill>
            <a:srgbClr val="2A3FE0"/>
          </a:solidFill>
          <a:ln/>
        </p:spPr>
        <p:txBody>
          <a:bodyPr/>
          <a:lstStyle/>
          <a:p>
            <a:endParaRPr lang="es-419" noProof="0" dirty="0"/>
          </a:p>
        </p:txBody>
      </p:sp>
      <p:sp>
        <p:nvSpPr>
          <p:cNvPr id="3" name="Text 1"/>
          <p:cNvSpPr/>
          <p:nvPr/>
        </p:nvSpPr>
        <p:spPr>
          <a:xfrm>
            <a:off x="932688" y="310896"/>
            <a:ext cx="9601200" cy="310896"/>
          </a:xfrm>
          <a:prstGeom prst="rect">
            <a:avLst/>
          </a:prstGeom>
          <a:noFill/>
          <a:ln/>
        </p:spPr>
        <p:txBody>
          <a:bodyPr wrap="square" lIns="0" tIns="0" rIns="0" bIns="0" rtlCol="0" anchor="ctr"/>
          <a:lstStyle/>
          <a:p>
            <a:pPr marL="0" indent="0" algn="l">
              <a:buNone/>
            </a:pPr>
            <a:r>
              <a:rPr lang="es-419" sz="1150" b="1" kern="0" spc="200" noProof="0">
                <a:solidFill>
                  <a:srgbClr val="2A3FE0"/>
                </a:solidFill>
                <a:latin typeface="Roboto Condensed Medium" pitchFamily="34" charset="0"/>
                <a:ea typeface="Roboto Condensed Medium" pitchFamily="34" charset="-122"/>
                <a:cs typeface="Roboto Condensed Medium" pitchFamily="34" charset="-120"/>
              </a:rPr>
              <a:t>CONSUMO OBSERVADO Y MODELO COMERCIAL 2026</a:t>
            </a:r>
            <a:endParaRPr lang="es-419" sz="1150" noProof="0" dirty="0"/>
          </a:p>
        </p:txBody>
      </p:sp>
      <p:sp>
        <p:nvSpPr>
          <p:cNvPr id="4" name="Text 0"/>
          <p:cNvSpPr>
            <a:spLocks noGrp="1"/>
          </p:cNvSpPr>
          <p:nvPr>
            <p:ph type="title" idx="100" hasCustomPrompt="1"/>
          </p:nvPr>
        </p:nvSpPr>
        <p:spPr>
          <a:xfrm>
            <a:off x="685800" y="658368"/>
            <a:ext cx="10789920" cy="822960"/>
          </a:xfrm>
          <a:prstGeom prst="rect">
            <a:avLst/>
          </a:prstGeom>
          <a:noFill/>
          <a:ln/>
        </p:spPr>
        <p:txBody>
          <a:bodyPr wrap="square" lIns="0" tIns="0" rIns="0" bIns="0" rtlCol="0" anchor="t"/>
          <a:lstStyle/>
          <a:p>
            <a:pPr marL="0" indent="0" algn="l">
              <a:buNone/>
            </a:pPr>
            <a:r>
              <a:rPr lang="es-419" sz="2700" b="1" noProof="0">
                <a:solidFill>
                  <a:srgbClr val="000000"/>
                </a:solidFill>
                <a:latin typeface="Roboto Condensed Medium" pitchFamily="34" charset="0"/>
                <a:ea typeface="Roboto Condensed Medium" pitchFamily="34" charset="-122"/>
                <a:cs typeface="Roboto Condensed Medium" pitchFamily="34" charset="-120"/>
              </a:rPr>
              <a:t>Cuánto consumimos y cómo se factura hoy</a:t>
            </a:r>
            <a:endParaRPr lang="es-419" sz="2700" noProof="0" dirty="0"/>
          </a:p>
        </p:txBody>
      </p:sp>
      <p:sp>
        <p:nvSpPr>
          <p:cNvPr id="5" name="card">
            <a:extLst>
              <a:ext uri="{C183D7F6-B498-43B3-948B-1728B52AA6E4}">
                <adec:decorative xmlns:adec="http://schemas.microsoft.com/office/drawing/2017/decorative" val="1"/>
              </a:ext>
            </a:extLst>
          </p:cNvPr>
          <p:cNvSpPr/>
          <p:nvPr/>
        </p:nvSpPr>
        <p:spPr>
          <a:xfrm>
            <a:off x="685800" y="1664208"/>
            <a:ext cx="3977640" cy="4160520"/>
          </a:xfrm>
          <a:prstGeom prst="rect">
            <a:avLst/>
          </a:prstGeom>
          <a:solidFill>
            <a:srgbClr val="F5F6FA"/>
          </a:solidFill>
          <a:ln w="12700">
            <a:solidFill>
              <a:srgbClr val="E6E8EF"/>
            </a:solidFill>
            <a:prstDash val="solid"/>
          </a:ln>
        </p:spPr>
        <p:txBody>
          <a:bodyPr/>
          <a:lstStyle/>
          <a:p>
            <a:endParaRPr lang="es-419" noProof="0" dirty="0"/>
          </a:p>
        </p:txBody>
      </p:sp>
      <p:sp>
        <p:nvSpPr>
          <p:cNvPr id="6" name="Text 4"/>
          <p:cNvSpPr/>
          <p:nvPr/>
        </p:nvSpPr>
        <p:spPr>
          <a:xfrm>
            <a:off x="941832" y="1920240"/>
            <a:ext cx="3520440" cy="310896"/>
          </a:xfrm>
          <a:prstGeom prst="rect">
            <a:avLst/>
          </a:prstGeom>
          <a:noFill/>
          <a:ln/>
        </p:spPr>
        <p:txBody>
          <a:bodyPr wrap="square" lIns="0" tIns="0" rIns="0" bIns="0" rtlCol="0" anchor="ctr"/>
          <a:lstStyle/>
          <a:p>
            <a:pPr marL="0" indent="0">
              <a:buNone/>
            </a:pPr>
            <a:r>
              <a:rPr lang="es-419" sz="1200" b="1" noProof="0">
                <a:solidFill>
                  <a:srgbClr val="000000"/>
                </a:solidFill>
                <a:latin typeface="Roboto Condensed Medium" pitchFamily="34" charset="0"/>
                <a:ea typeface="Roboto Condensed Medium" pitchFamily="34" charset="-122"/>
                <a:cs typeface="Roboto Condensed Medium" pitchFamily="34" charset="-120"/>
              </a:rPr>
              <a:t>A · RESULTADO DE NUESTRA PoC</a:t>
            </a:r>
            <a:endParaRPr lang="es-419" sz="1200" noProof="0" dirty="0"/>
          </a:p>
        </p:txBody>
      </p:sp>
      <p:sp>
        <p:nvSpPr>
          <p:cNvPr id="7" name="Text 5"/>
          <p:cNvSpPr/>
          <p:nvPr/>
        </p:nvSpPr>
        <p:spPr>
          <a:xfrm>
            <a:off x="941832" y="2231136"/>
            <a:ext cx="3520440" cy="274320"/>
          </a:xfrm>
          <a:prstGeom prst="rect">
            <a:avLst/>
          </a:prstGeom>
          <a:noFill/>
          <a:ln/>
        </p:spPr>
        <p:txBody>
          <a:bodyPr wrap="square" lIns="0" tIns="0" rIns="0" bIns="0" rtlCol="0" anchor="ctr"/>
          <a:lstStyle/>
          <a:p>
            <a:pPr marL="0" indent="0">
              <a:buNone/>
            </a:pPr>
            <a:r>
              <a:rPr lang="es-419" sz="1000" i="1" noProof="0">
                <a:solidFill>
                  <a:srgbClr val="6E7278"/>
                </a:solidFill>
                <a:latin typeface="Roboto Condensed" pitchFamily="34" charset="0"/>
                <a:ea typeface="Roboto Condensed" pitchFamily="34" charset="-122"/>
                <a:cs typeface="Roboto Condensed" pitchFamily="34" charset="-120"/>
              </a:rPr>
              <a:t>Datos internos de Tuya</a:t>
            </a:r>
            <a:endParaRPr lang="es-419" sz="1000" noProof="0" dirty="0"/>
          </a:p>
        </p:txBody>
      </p:sp>
      <p:sp>
        <p:nvSpPr>
          <p:cNvPr id="8" name="card">
            <a:extLst>
              <a:ext uri="{C183D7F6-B498-43B3-948B-1728B52AA6E4}">
                <adec:decorative xmlns:adec="http://schemas.microsoft.com/office/drawing/2017/decorative" val="1"/>
              </a:ext>
            </a:extLst>
          </p:cNvPr>
          <p:cNvSpPr/>
          <p:nvPr/>
        </p:nvSpPr>
        <p:spPr>
          <a:xfrm>
            <a:off x="905256" y="2670048"/>
            <a:ext cx="3538728" cy="868680"/>
          </a:xfrm>
          <a:prstGeom prst="rect">
            <a:avLst/>
          </a:prstGeom>
          <a:solidFill>
            <a:srgbClr val="FFFFFF"/>
          </a:solidFill>
          <a:ln w="12700">
            <a:solidFill>
              <a:srgbClr val="E6E8EF"/>
            </a:solidFill>
            <a:prstDash val="solid"/>
          </a:ln>
          <a:effectLst>
            <a:outerShdw blurRad="114300" dist="38100" dir="5400000" algn="bl" rotWithShape="0">
              <a:srgbClr val="5B6068">
                <a:alpha val="9000"/>
              </a:srgbClr>
            </a:outerShdw>
          </a:effectLst>
        </p:spPr>
        <p:txBody>
          <a:bodyPr/>
          <a:lstStyle/>
          <a:p>
            <a:endParaRPr lang="es-419" noProof="0" dirty="0"/>
          </a:p>
        </p:txBody>
      </p:sp>
      <p:sp>
        <p:nvSpPr>
          <p:cNvPr id="9" name="Text 7"/>
          <p:cNvSpPr/>
          <p:nvPr/>
        </p:nvSpPr>
        <p:spPr>
          <a:xfrm>
            <a:off x="1088136" y="2779776"/>
            <a:ext cx="3172968" cy="274320"/>
          </a:xfrm>
          <a:prstGeom prst="rect">
            <a:avLst/>
          </a:prstGeom>
          <a:noFill/>
          <a:ln/>
        </p:spPr>
        <p:txBody>
          <a:bodyPr wrap="square" lIns="0" tIns="0" rIns="0" bIns="0" rtlCol="0" anchor="ctr"/>
          <a:lstStyle/>
          <a:p>
            <a:pPr marL="0" indent="0">
              <a:buNone/>
            </a:pPr>
            <a:r>
              <a:rPr lang="es-419" sz="950" b="1" kern="0" spc="100" noProof="0">
                <a:solidFill>
                  <a:srgbClr val="6E7278"/>
                </a:solidFill>
                <a:latin typeface="Roboto Condensed" pitchFamily="34" charset="0"/>
                <a:ea typeface="Roboto Condensed" pitchFamily="34" charset="-122"/>
                <a:cs typeface="Roboto Condensed" pitchFamily="34" charset="-120"/>
              </a:rPr>
              <a:t>AI CREDITS CONSUMIDOS</a:t>
            </a:r>
            <a:endParaRPr lang="es-419" sz="950" noProof="0" dirty="0"/>
          </a:p>
        </p:txBody>
      </p:sp>
      <p:sp>
        <p:nvSpPr>
          <p:cNvPr id="10" name="Text 8"/>
          <p:cNvSpPr/>
          <p:nvPr/>
        </p:nvSpPr>
        <p:spPr>
          <a:xfrm>
            <a:off x="1088136" y="3054096"/>
            <a:ext cx="3172968" cy="411480"/>
          </a:xfrm>
          <a:prstGeom prst="rect">
            <a:avLst/>
          </a:prstGeom>
          <a:noFill/>
          <a:ln/>
        </p:spPr>
        <p:txBody>
          <a:bodyPr wrap="square" lIns="0" tIns="0" rIns="0" bIns="0" rtlCol="0" anchor="ctr"/>
          <a:lstStyle/>
          <a:p>
            <a:pPr marL="0" indent="0">
              <a:buNone/>
            </a:pPr>
            <a:r>
              <a:rPr lang="es-419" sz="1300" b="1" noProof="0">
                <a:solidFill>
                  <a:srgbClr val="2A3FE0"/>
                </a:solidFill>
                <a:latin typeface="Roboto Condensed Medium" pitchFamily="34" charset="0"/>
                <a:ea typeface="Roboto Condensed Medium" pitchFamily="34" charset="-122"/>
                <a:cs typeface="Roboto Condensed Medium" pitchFamily="34" charset="-120"/>
              </a:rPr>
              <a:t>≈ 2.831 AI </a:t>
            </a:r>
            <a:r>
              <a:rPr lang="es-419" sz="1300" b="1" noProof="0" err="1">
                <a:solidFill>
                  <a:srgbClr val="2A3FE0"/>
                </a:solidFill>
                <a:latin typeface="Roboto Condensed Medium" pitchFamily="34" charset="0"/>
                <a:ea typeface="Roboto Condensed Medium" pitchFamily="34" charset="-122"/>
                <a:cs typeface="Roboto Condensed Medium" pitchFamily="34" charset="-120"/>
              </a:rPr>
              <a:t>Credits</a:t>
            </a:r>
            <a:endParaRPr lang="es-419" sz="1300" noProof="0" dirty="0"/>
          </a:p>
        </p:txBody>
      </p:sp>
      <p:sp>
        <p:nvSpPr>
          <p:cNvPr id="11" name="card">
            <a:extLst>
              <a:ext uri="{C183D7F6-B498-43B3-948B-1728B52AA6E4}">
                <adec:decorative xmlns:adec="http://schemas.microsoft.com/office/drawing/2017/decorative" val="1"/>
              </a:ext>
            </a:extLst>
          </p:cNvPr>
          <p:cNvSpPr/>
          <p:nvPr/>
        </p:nvSpPr>
        <p:spPr>
          <a:xfrm>
            <a:off x="905256" y="3694176"/>
            <a:ext cx="3538728" cy="868680"/>
          </a:xfrm>
          <a:prstGeom prst="rect">
            <a:avLst/>
          </a:prstGeom>
          <a:solidFill>
            <a:srgbClr val="FFFFFF"/>
          </a:solidFill>
          <a:ln w="12700">
            <a:solidFill>
              <a:srgbClr val="E6E8EF"/>
            </a:solidFill>
            <a:prstDash val="solid"/>
          </a:ln>
          <a:effectLst>
            <a:outerShdw blurRad="114300" dist="38100" dir="5400000" algn="bl" rotWithShape="0">
              <a:srgbClr val="5B6068">
                <a:alpha val="9000"/>
              </a:srgbClr>
            </a:outerShdw>
          </a:effectLst>
        </p:spPr>
        <p:txBody>
          <a:bodyPr/>
          <a:lstStyle/>
          <a:p>
            <a:endParaRPr lang="es-419" noProof="0" dirty="0"/>
          </a:p>
        </p:txBody>
      </p:sp>
      <p:sp>
        <p:nvSpPr>
          <p:cNvPr id="12" name="Text 10"/>
          <p:cNvSpPr/>
          <p:nvPr/>
        </p:nvSpPr>
        <p:spPr>
          <a:xfrm>
            <a:off x="1088136" y="3803904"/>
            <a:ext cx="3172968" cy="274320"/>
          </a:xfrm>
          <a:prstGeom prst="rect">
            <a:avLst/>
          </a:prstGeom>
          <a:noFill/>
          <a:ln/>
        </p:spPr>
        <p:txBody>
          <a:bodyPr wrap="square" lIns="0" tIns="0" rIns="0" bIns="0" rtlCol="0" anchor="ctr"/>
          <a:lstStyle/>
          <a:p>
            <a:pPr marL="0" indent="0">
              <a:buNone/>
            </a:pPr>
            <a:r>
              <a:rPr lang="es-419" sz="950" b="1" kern="0" spc="100" noProof="0">
                <a:solidFill>
                  <a:srgbClr val="6E7278"/>
                </a:solidFill>
                <a:latin typeface="Roboto Condensed" pitchFamily="34" charset="0"/>
                <a:ea typeface="Roboto Condensed" pitchFamily="34" charset="-122"/>
                <a:cs typeface="Roboto Condensed" pitchFamily="34" charset="-120"/>
              </a:rPr>
              <a:t>CONSUMO PROMEDIO</a:t>
            </a:r>
            <a:endParaRPr lang="es-419" sz="950" noProof="0" dirty="0"/>
          </a:p>
        </p:txBody>
      </p:sp>
      <p:sp>
        <p:nvSpPr>
          <p:cNvPr id="13" name="Text 11"/>
          <p:cNvSpPr/>
          <p:nvPr/>
        </p:nvSpPr>
        <p:spPr>
          <a:xfrm>
            <a:off x="1088136" y="4078224"/>
            <a:ext cx="3172968" cy="411480"/>
          </a:xfrm>
          <a:prstGeom prst="rect">
            <a:avLst/>
          </a:prstGeom>
          <a:noFill/>
          <a:ln/>
        </p:spPr>
        <p:txBody>
          <a:bodyPr wrap="square" lIns="0" tIns="0" rIns="0" bIns="0" rtlCol="0" anchor="ctr"/>
          <a:lstStyle/>
          <a:p>
            <a:pPr marL="0" indent="0">
              <a:buNone/>
            </a:pPr>
            <a:r>
              <a:rPr lang="es-419" sz="1300" b="1" noProof="0">
                <a:solidFill>
                  <a:srgbClr val="2A3FE0"/>
                </a:solidFill>
                <a:latin typeface="Roboto Condensed Medium" pitchFamily="34" charset="0"/>
                <a:ea typeface="Roboto Condensed Medium" pitchFamily="34" charset="-122"/>
                <a:cs typeface="Roboto Condensed Medium" pitchFamily="34" charset="-120"/>
              </a:rPr>
              <a:t>≈ 566 AI </a:t>
            </a:r>
            <a:r>
              <a:rPr lang="es-419" sz="1300" b="1" noProof="0" err="1">
                <a:solidFill>
                  <a:srgbClr val="2A3FE0"/>
                </a:solidFill>
                <a:latin typeface="Roboto Condensed Medium" pitchFamily="34" charset="0"/>
                <a:ea typeface="Roboto Condensed Medium" pitchFamily="34" charset="-122"/>
                <a:cs typeface="Roboto Condensed Medium" pitchFamily="34" charset="-120"/>
              </a:rPr>
              <a:t>Credits</a:t>
            </a:r>
            <a:r>
              <a:rPr lang="es-419" sz="1300" b="1" noProof="0">
                <a:solidFill>
                  <a:srgbClr val="2A3FE0"/>
                </a:solidFill>
                <a:latin typeface="Roboto Condensed Medium" pitchFamily="34" charset="0"/>
                <a:ea typeface="Roboto Condensed Medium" pitchFamily="34" charset="-122"/>
                <a:cs typeface="Roboto Condensed Medium" pitchFamily="34" charset="-120"/>
              </a:rPr>
              <a:t> por migración</a:t>
            </a:r>
            <a:endParaRPr lang="es-419" sz="1300" noProof="0" dirty="0"/>
          </a:p>
        </p:txBody>
      </p:sp>
      <p:sp>
        <p:nvSpPr>
          <p:cNvPr id="14" name="card">
            <a:extLst>
              <a:ext uri="{C183D7F6-B498-43B3-948B-1728B52AA6E4}">
                <adec:decorative xmlns:adec="http://schemas.microsoft.com/office/drawing/2017/decorative" val="1"/>
              </a:ext>
            </a:extLst>
          </p:cNvPr>
          <p:cNvSpPr/>
          <p:nvPr/>
        </p:nvSpPr>
        <p:spPr>
          <a:xfrm>
            <a:off x="905256" y="4718304"/>
            <a:ext cx="3538728" cy="868680"/>
          </a:xfrm>
          <a:prstGeom prst="rect">
            <a:avLst/>
          </a:prstGeom>
          <a:solidFill>
            <a:srgbClr val="FFFFFF"/>
          </a:solidFill>
          <a:ln w="12700">
            <a:solidFill>
              <a:srgbClr val="E6E8EF"/>
            </a:solidFill>
            <a:prstDash val="solid"/>
          </a:ln>
          <a:effectLst>
            <a:outerShdw blurRad="114300" dist="38100" dir="5400000" algn="bl" rotWithShape="0">
              <a:srgbClr val="5B6068">
                <a:alpha val="9000"/>
              </a:srgbClr>
            </a:outerShdw>
          </a:effectLst>
        </p:spPr>
        <p:txBody>
          <a:bodyPr/>
          <a:lstStyle/>
          <a:p>
            <a:endParaRPr lang="es-419" noProof="0" dirty="0"/>
          </a:p>
        </p:txBody>
      </p:sp>
      <p:sp>
        <p:nvSpPr>
          <p:cNvPr id="15" name="Text 13"/>
          <p:cNvSpPr/>
          <p:nvPr/>
        </p:nvSpPr>
        <p:spPr>
          <a:xfrm>
            <a:off x="1088136" y="4828032"/>
            <a:ext cx="3172968" cy="274320"/>
          </a:xfrm>
          <a:prstGeom prst="rect">
            <a:avLst/>
          </a:prstGeom>
          <a:noFill/>
          <a:ln/>
        </p:spPr>
        <p:txBody>
          <a:bodyPr wrap="square" lIns="0" tIns="0" rIns="0" bIns="0" rtlCol="0" anchor="ctr"/>
          <a:lstStyle/>
          <a:p>
            <a:pPr marL="0" indent="0">
              <a:buNone/>
            </a:pPr>
            <a:r>
              <a:rPr lang="es-419" sz="950" b="1" kern="0" spc="100" noProof="0">
                <a:solidFill>
                  <a:srgbClr val="6E7278"/>
                </a:solidFill>
                <a:latin typeface="Roboto Condensed" pitchFamily="34" charset="0"/>
                <a:ea typeface="Roboto Condensed" pitchFamily="34" charset="-122"/>
                <a:cs typeface="Roboto Condensed" pitchFamily="34" charset="-120"/>
              </a:rPr>
              <a:t>RANGO DE CONSUMO OBSERVADO</a:t>
            </a:r>
            <a:endParaRPr lang="es-419" sz="950" noProof="0" dirty="0"/>
          </a:p>
        </p:txBody>
      </p:sp>
      <p:sp>
        <p:nvSpPr>
          <p:cNvPr id="16" name="Text 14"/>
          <p:cNvSpPr/>
          <p:nvPr/>
        </p:nvSpPr>
        <p:spPr>
          <a:xfrm>
            <a:off x="1088136" y="5102352"/>
            <a:ext cx="3172968" cy="411480"/>
          </a:xfrm>
          <a:prstGeom prst="rect">
            <a:avLst/>
          </a:prstGeom>
          <a:noFill/>
          <a:ln/>
        </p:spPr>
        <p:txBody>
          <a:bodyPr wrap="square" lIns="0" tIns="0" rIns="0" bIns="0" rtlCol="0" anchor="ctr"/>
          <a:lstStyle/>
          <a:p>
            <a:pPr marL="0" indent="0">
              <a:buNone/>
            </a:pPr>
            <a:r>
              <a:rPr lang="es-419" sz="1300" b="1" noProof="0" dirty="0">
                <a:solidFill>
                  <a:srgbClr val="2A3FE0"/>
                </a:solidFill>
                <a:latin typeface="Roboto Condensed Medium" pitchFamily="34" charset="0"/>
                <a:ea typeface="Roboto Condensed Medium" pitchFamily="34" charset="-122"/>
                <a:cs typeface="Roboto Condensed Medium" pitchFamily="34" charset="-120"/>
              </a:rPr>
              <a:t>20 % - 50 % de la asignación estándar de 1.900 AI </a:t>
            </a:r>
            <a:r>
              <a:rPr lang="es-419" sz="1300" b="1" noProof="0" dirty="0" err="1">
                <a:solidFill>
                  <a:srgbClr val="2A3FE0"/>
                </a:solidFill>
                <a:latin typeface="Roboto Condensed Medium" pitchFamily="34" charset="0"/>
                <a:ea typeface="Roboto Condensed Medium" pitchFamily="34" charset="-122"/>
                <a:cs typeface="Roboto Condensed Medium" pitchFamily="34" charset="-120"/>
              </a:rPr>
              <a:t>Credits</a:t>
            </a:r>
            <a:endParaRPr lang="es-419" sz="1300" noProof="0" dirty="0"/>
          </a:p>
        </p:txBody>
      </p:sp>
      <p:sp>
        <p:nvSpPr>
          <p:cNvPr id="60" name="Nota consumo PoC"/>
          <p:cNvSpPr/>
          <p:nvPr/>
        </p:nvSpPr>
        <p:spPr>
          <a:xfrm>
            <a:off x="685800" y="5880000"/>
            <a:ext cx="3977640" cy="520000"/>
          </a:xfrm>
          <a:prstGeom prst="rect">
            <a:avLst/>
          </a:prstGeom>
          <a:noFill/>
          <a:ln/>
        </p:spPr>
        <p:txBody>
          <a:bodyPr wrap="square" lIns="0" tIns="0" rIns="0" bIns="0" rtlCol="0" anchor="t"/>
          <a:lstStyle/>
          <a:p>
            <a:pPr marL="0" indent="0" algn="l">
              <a:buNone/>
            </a:pPr>
            <a:r>
              <a:rPr lang="es-419" sz="800" i="1" noProof="0">
                <a:solidFill>
                  <a:srgbClr val="6E7278"/>
                </a:solidFill>
                <a:latin typeface="Roboto Condensed" pitchFamily="34" charset="0"/>
                <a:ea typeface="Roboto Condensed" pitchFamily="34" charset="-122"/>
                <a:cs typeface="Roboto Condensed" pitchFamily="34" charset="-120"/>
              </a:rPr>
              <a:t>Consumo observado solo en flujo de migración; no proyecta uso mensual futuro.</a:t>
            </a:r>
            <a:endParaRPr lang="es-419" sz="800" i="1" noProof="0"/>
          </a:p>
        </p:txBody>
      </p:sp>
      <p:sp>
        <p:nvSpPr>
          <p:cNvPr id="17" name="Text 15"/>
          <p:cNvSpPr/>
          <p:nvPr/>
        </p:nvSpPr>
        <p:spPr>
          <a:xfrm>
            <a:off x="4937760" y="1664208"/>
            <a:ext cx="6565392" cy="292608"/>
          </a:xfrm>
          <a:prstGeom prst="rect">
            <a:avLst/>
          </a:prstGeom>
          <a:noFill/>
          <a:ln/>
        </p:spPr>
        <p:txBody>
          <a:bodyPr wrap="square" lIns="0" tIns="0" rIns="0" bIns="0" rtlCol="0" anchor="ctr"/>
          <a:lstStyle/>
          <a:p>
            <a:pPr marL="0" indent="0">
              <a:buNone/>
            </a:pPr>
            <a:r>
              <a:rPr lang="es-419" sz="1200" b="1" noProof="0">
                <a:solidFill>
                  <a:srgbClr val="000000"/>
                </a:solidFill>
                <a:latin typeface="Roboto Condensed Medium" pitchFamily="34" charset="0"/>
                <a:ea typeface="Roboto Condensed Medium" pitchFamily="34" charset="-122"/>
                <a:cs typeface="Roboto Condensed Medium" pitchFamily="34" charset="-120"/>
              </a:rPr>
              <a:t>B · MODELO COMERCIAL ACTUAL DE GITHUB</a:t>
            </a:r>
            <a:endParaRPr lang="es-419" sz="1200" noProof="0" dirty="0"/>
          </a:p>
        </p:txBody>
      </p:sp>
      <p:sp>
        <p:nvSpPr>
          <p:cNvPr id="18" name="Text 16"/>
          <p:cNvSpPr/>
          <p:nvPr/>
        </p:nvSpPr>
        <p:spPr>
          <a:xfrm>
            <a:off x="4937760" y="1956816"/>
            <a:ext cx="6565392" cy="274320"/>
          </a:xfrm>
          <a:prstGeom prst="rect">
            <a:avLst/>
          </a:prstGeom>
          <a:noFill/>
          <a:ln/>
        </p:spPr>
        <p:txBody>
          <a:bodyPr wrap="square" lIns="0" tIns="0" rIns="0" bIns="0" rtlCol="0" anchor="ctr"/>
          <a:lstStyle/>
          <a:p>
            <a:pPr marL="0" indent="0">
              <a:buNone/>
            </a:pPr>
            <a:r>
              <a:rPr lang="es-419" sz="1000" i="1" noProof="0">
                <a:solidFill>
                  <a:srgbClr val="6E7278"/>
                </a:solidFill>
                <a:latin typeface="Roboto Condensed" pitchFamily="34" charset="0"/>
                <a:ea typeface="Roboto Condensed" pitchFamily="34" charset="-122"/>
                <a:cs typeface="Roboto Condensed" pitchFamily="34" charset="-120"/>
              </a:rPr>
              <a:t>Datos públicos oficiales de GitHub · no mezclar con resultados internos</a:t>
            </a:r>
            <a:endParaRPr lang="es-419" sz="1000" noProof="0" dirty="0"/>
          </a:p>
        </p:txBody>
      </p:sp>
      <p:sp>
        <p:nvSpPr>
          <p:cNvPr id="19" name="card">
            <a:extLst>
              <a:ext uri="{C183D7F6-B498-43B3-948B-1728B52AA6E4}">
                <adec:decorative xmlns:adec="http://schemas.microsoft.com/office/drawing/2017/decorative" val="1"/>
              </a:ext>
            </a:extLst>
          </p:cNvPr>
          <p:cNvSpPr/>
          <p:nvPr/>
        </p:nvSpPr>
        <p:spPr>
          <a:xfrm>
            <a:off x="4937760" y="2377440"/>
            <a:ext cx="3145536" cy="1965960"/>
          </a:xfrm>
          <a:prstGeom prst="rect">
            <a:avLst/>
          </a:prstGeom>
          <a:solidFill>
            <a:srgbClr val="FFFFFF"/>
          </a:solidFill>
          <a:ln w="12700">
            <a:solidFill>
              <a:srgbClr val="E6E8EF"/>
            </a:solidFill>
            <a:prstDash val="solid"/>
          </a:ln>
          <a:effectLst>
            <a:outerShdw blurRad="114300" dist="38100" dir="5400000" algn="bl" rotWithShape="0">
              <a:srgbClr val="5B6068">
                <a:alpha val="9000"/>
              </a:srgbClr>
            </a:outerShdw>
          </a:effectLst>
        </p:spPr>
        <p:txBody>
          <a:bodyPr/>
          <a:lstStyle/>
          <a:p>
            <a:endParaRPr lang="es-419" noProof="0" dirty="0"/>
          </a:p>
        </p:txBody>
      </p:sp>
      <p:sp>
        <p:nvSpPr>
          <p:cNvPr id="20" name="Text 18"/>
          <p:cNvSpPr/>
          <p:nvPr/>
        </p:nvSpPr>
        <p:spPr>
          <a:xfrm>
            <a:off x="5157216" y="2578608"/>
            <a:ext cx="2706624" cy="274320"/>
          </a:xfrm>
          <a:prstGeom prst="rect">
            <a:avLst/>
          </a:prstGeom>
          <a:noFill/>
          <a:ln/>
        </p:spPr>
        <p:txBody>
          <a:bodyPr wrap="square" lIns="0" tIns="0" rIns="0" bIns="0" rtlCol="0" anchor="ctr"/>
          <a:lstStyle/>
          <a:p>
            <a:pPr marL="0" indent="0">
              <a:buNone/>
            </a:pPr>
            <a:r>
              <a:rPr lang="es-419" sz="1200" b="1" kern="0" spc="100" noProof="0">
                <a:solidFill>
                  <a:srgbClr val="2A3FE0"/>
                </a:solidFill>
                <a:latin typeface="Roboto Condensed Medium" pitchFamily="34" charset="0"/>
                <a:ea typeface="Roboto Condensed Medium" pitchFamily="34" charset="-122"/>
                <a:cs typeface="Roboto Condensed Medium" pitchFamily="34" charset="-120"/>
              </a:rPr>
              <a:t>COPILOT BUSINESS</a:t>
            </a:r>
            <a:endParaRPr lang="es-419" sz="1200" noProof="0" dirty="0"/>
          </a:p>
        </p:txBody>
      </p:sp>
      <p:sp>
        <p:nvSpPr>
          <p:cNvPr id="21" name="Text 19"/>
          <p:cNvSpPr/>
          <p:nvPr/>
        </p:nvSpPr>
        <p:spPr>
          <a:xfrm>
            <a:off x="5157216" y="2907792"/>
            <a:ext cx="2706624" cy="548640"/>
          </a:xfrm>
          <a:prstGeom prst="rect">
            <a:avLst/>
          </a:prstGeom>
          <a:noFill/>
          <a:ln/>
        </p:spPr>
        <p:txBody>
          <a:bodyPr wrap="square" lIns="0" tIns="0" rIns="0" bIns="0" rtlCol="0" anchor="ctr"/>
          <a:lstStyle/>
          <a:p>
            <a:pPr marL="0" indent="0">
              <a:buNone/>
            </a:pPr>
            <a:r>
              <a:rPr lang="es-419" sz="2600" b="1" noProof="0">
                <a:solidFill>
                  <a:srgbClr val="2A3FE0"/>
                </a:solidFill>
                <a:latin typeface="Roboto Condensed Medium" pitchFamily="34" charset="0"/>
                <a:ea typeface="Roboto Condensed Medium" pitchFamily="34" charset="-122"/>
                <a:cs typeface="Roboto Condensed Medium" pitchFamily="34" charset="-120"/>
              </a:rPr>
              <a:t>USD 19  </a:t>
            </a:r>
            <a:r>
              <a:rPr lang="es-419" sz="1100" noProof="0">
                <a:solidFill>
                  <a:srgbClr val="6E7278"/>
                </a:solidFill>
                <a:latin typeface="Roboto Condensed Medium" pitchFamily="34" charset="0"/>
                <a:ea typeface="Roboto Condensed Medium" pitchFamily="34" charset="-122"/>
                <a:cs typeface="Roboto Condensed Medium" pitchFamily="34" charset="-120"/>
              </a:rPr>
              <a:t>por usuario / mes</a:t>
            </a:r>
            <a:endParaRPr lang="es-419" sz="2600" noProof="0" dirty="0"/>
          </a:p>
        </p:txBody>
      </p:sp>
      <p:sp>
        <p:nvSpPr>
          <p:cNvPr id="22" name="Text 20"/>
          <p:cNvSpPr/>
          <p:nvPr/>
        </p:nvSpPr>
        <p:spPr>
          <a:xfrm>
            <a:off x="5157216" y="3547872"/>
            <a:ext cx="2706624" cy="685800"/>
          </a:xfrm>
          <a:prstGeom prst="rect">
            <a:avLst/>
          </a:prstGeom>
          <a:noFill/>
          <a:ln/>
        </p:spPr>
        <p:txBody>
          <a:bodyPr wrap="square" lIns="0" tIns="0" rIns="0" bIns="0" rtlCol="0" anchor="t"/>
          <a:lstStyle/>
          <a:p>
            <a:pPr marL="0" indent="0">
              <a:buNone/>
            </a:pPr>
            <a:r>
              <a:rPr lang="es-419" sz="1100" noProof="0">
                <a:solidFill>
                  <a:srgbClr val="33373D"/>
                </a:solidFill>
                <a:latin typeface="Roboto Condensed" pitchFamily="34" charset="0"/>
                <a:ea typeface="Roboto Condensed" pitchFamily="34" charset="-122"/>
                <a:cs typeface="Roboto Condensed" pitchFamily="34" charset="-120"/>
              </a:rPr>
              <a:t>1.900 AI </a:t>
            </a:r>
            <a:r>
              <a:rPr lang="es-419" sz="1100" noProof="0" err="1">
                <a:solidFill>
                  <a:srgbClr val="33373D"/>
                </a:solidFill>
                <a:latin typeface="Roboto Condensed" pitchFamily="34" charset="0"/>
                <a:ea typeface="Roboto Condensed" pitchFamily="34" charset="-122"/>
                <a:cs typeface="Roboto Condensed" pitchFamily="34" charset="-120"/>
              </a:rPr>
              <a:t>Credits</a:t>
            </a:r>
            <a:r>
              <a:rPr lang="es-419" sz="1100" noProof="0">
                <a:solidFill>
                  <a:srgbClr val="33373D"/>
                </a:solidFill>
                <a:latin typeface="Roboto Condensed" pitchFamily="34" charset="0"/>
                <a:ea typeface="Roboto Condensed" pitchFamily="34" charset="-122"/>
                <a:cs typeface="Roboto Condensed" pitchFamily="34" charset="-120"/>
              </a:rPr>
              <a:t> incluidos por usuario/mes</a:t>
            </a:r>
            <a:endParaRPr lang="es-419" sz="1100" noProof="0" dirty="0"/>
          </a:p>
        </p:txBody>
      </p:sp>
      <p:sp>
        <p:nvSpPr>
          <p:cNvPr id="23" name="plan">
            <a:extLst>
              <a:ext uri="{C183D7F6-B498-43B3-948B-1728B52AA6E4}">
                <adec:decorative xmlns:adec="http://schemas.microsoft.com/office/drawing/2017/decorative" val="1"/>
              </a:ext>
            </a:extLst>
          </p:cNvPr>
          <p:cNvSpPr/>
          <p:nvPr/>
        </p:nvSpPr>
        <p:spPr>
          <a:xfrm>
            <a:off x="8357616" y="2377440"/>
            <a:ext cx="3145536" cy="1965960"/>
          </a:xfrm>
          <a:prstGeom prst="rect">
            <a:avLst/>
          </a:prstGeom>
          <a:solidFill>
            <a:srgbClr val="FFFFFF"/>
          </a:solidFill>
          <a:ln w="12700">
            <a:solidFill>
              <a:srgbClr val="E6E8EF"/>
            </a:solidFill>
            <a:prstDash val="solid"/>
          </a:ln>
          <a:effectLst>
            <a:outerShdw blurRad="114300" dist="38100" dir="5400000" algn="bl" rotWithShape="0">
              <a:srgbClr val="5B6068">
                <a:alpha val="9000"/>
              </a:srgbClr>
            </a:outerShdw>
          </a:effectLst>
        </p:spPr>
        <p:txBody>
          <a:bodyPr/>
          <a:lstStyle/>
          <a:p>
            <a:endParaRPr lang="es-419" noProof="0" dirty="0"/>
          </a:p>
        </p:txBody>
      </p:sp>
      <p:sp>
        <p:nvSpPr>
          <p:cNvPr id="24" name="Text 22"/>
          <p:cNvSpPr/>
          <p:nvPr/>
        </p:nvSpPr>
        <p:spPr>
          <a:xfrm>
            <a:off x="8577072" y="2578608"/>
            <a:ext cx="2706624" cy="274320"/>
          </a:xfrm>
          <a:prstGeom prst="rect">
            <a:avLst/>
          </a:prstGeom>
          <a:noFill/>
          <a:ln/>
        </p:spPr>
        <p:txBody>
          <a:bodyPr wrap="square" lIns="0" tIns="0" rIns="0" bIns="0" rtlCol="0" anchor="ctr"/>
          <a:lstStyle/>
          <a:p>
            <a:pPr marL="0" indent="0">
              <a:buNone/>
            </a:pPr>
            <a:r>
              <a:rPr lang="es-419" sz="1200" b="1" kern="0" spc="100" noProof="0">
                <a:solidFill>
                  <a:srgbClr val="2A3FE0"/>
                </a:solidFill>
                <a:latin typeface="Roboto Condensed Medium" pitchFamily="34" charset="0"/>
                <a:ea typeface="Roboto Condensed Medium" pitchFamily="34" charset="-122"/>
                <a:cs typeface="Roboto Condensed Medium" pitchFamily="34" charset="-120"/>
              </a:rPr>
              <a:t>COPILOT ENTERPRISE</a:t>
            </a:r>
            <a:endParaRPr lang="es-419" sz="1200" noProof="0" dirty="0"/>
          </a:p>
        </p:txBody>
      </p:sp>
      <p:sp>
        <p:nvSpPr>
          <p:cNvPr id="25" name="Text 23"/>
          <p:cNvSpPr/>
          <p:nvPr/>
        </p:nvSpPr>
        <p:spPr>
          <a:xfrm>
            <a:off x="8577072" y="2907792"/>
            <a:ext cx="2706624" cy="548640"/>
          </a:xfrm>
          <a:prstGeom prst="rect">
            <a:avLst/>
          </a:prstGeom>
          <a:noFill/>
          <a:ln/>
        </p:spPr>
        <p:txBody>
          <a:bodyPr wrap="square" lIns="0" tIns="0" rIns="0" bIns="0" rtlCol="0" anchor="ctr"/>
          <a:lstStyle/>
          <a:p>
            <a:pPr marL="0" indent="0">
              <a:buNone/>
            </a:pPr>
            <a:r>
              <a:rPr lang="es-419" sz="2600" b="1" noProof="0">
                <a:solidFill>
                  <a:srgbClr val="2A3FE0"/>
                </a:solidFill>
                <a:latin typeface="Roboto Condensed Medium" pitchFamily="34" charset="0"/>
                <a:ea typeface="Roboto Condensed Medium" pitchFamily="34" charset="-122"/>
                <a:cs typeface="Roboto Condensed Medium" pitchFamily="34" charset="-120"/>
              </a:rPr>
              <a:t>USD 39  </a:t>
            </a:r>
            <a:r>
              <a:rPr lang="es-419" sz="1100" noProof="0">
                <a:solidFill>
                  <a:srgbClr val="6E7278"/>
                </a:solidFill>
                <a:latin typeface="Roboto Condensed Medium" pitchFamily="34" charset="0"/>
                <a:ea typeface="Roboto Condensed Medium" pitchFamily="34" charset="-122"/>
                <a:cs typeface="Roboto Condensed Medium" pitchFamily="34" charset="-120"/>
              </a:rPr>
              <a:t>por usuario / mes</a:t>
            </a:r>
            <a:endParaRPr lang="es-419" sz="2600" noProof="0" dirty="0"/>
          </a:p>
        </p:txBody>
      </p:sp>
      <p:sp>
        <p:nvSpPr>
          <p:cNvPr id="26" name="Text 24"/>
          <p:cNvSpPr/>
          <p:nvPr/>
        </p:nvSpPr>
        <p:spPr>
          <a:xfrm>
            <a:off x="8577072" y="3547872"/>
            <a:ext cx="2706624" cy="685800"/>
          </a:xfrm>
          <a:prstGeom prst="rect">
            <a:avLst/>
          </a:prstGeom>
          <a:noFill/>
          <a:ln/>
        </p:spPr>
        <p:txBody>
          <a:bodyPr wrap="square" lIns="0" tIns="0" rIns="0" bIns="0" rtlCol="0" anchor="t"/>
          <a:lstStyle/>
          <a:p>
            <a:pPr marL="0" indent="0">
              <a:buNone/>
            </a:pPr>
            <a:r>
              <a:rPr lang="es-419" sz="1100" noProof="0">
                <a:solidFill>
                  <a:srgbClr val="33373D"/>
                </a:solidFill>
                <a:latin typeface="Roboto Condensed" pitchFamily="34" charset="0"/>
                <a:ea typeface="Roboto Condensed" pitchFamily="34" charset="-122"/>
                <a:cs typeface="Roboto Condensed" pitchFamily="34" charset="-120"/>
              </a:rPr>
              <a:t>3.900 AI </a:t>
            </a:r>
            <a:r>
              <a:rPr lang="es-419" sz="1100" noProof="0" err="1">
                <a:solidFill>
                  <a:srgbClr val="33373D"/>
                </a:solidFill>
                <a:latin typeface="Roboto Condensed" pitchFamily="34" charset="0"/>
                <a:ea typeface="Roboto Condensed" pitchFamily="34" charset="-122"/>
                <a:cs typeface="Roboto Condensed" pitchFamily="34" charset="-120"/>
              </a:rPr>
              <a:t>Credits</a:t>
            </a:r>
            <a:r>
              <a:rPr lang="es-419" sz="1100" noProof="0">
                <a:solidFill>
                  <a:srgbClr val="33373D"/>
                </a:solidFill>
                <a:latin typeface="Roboto Condensed" pitchFamily="34" charset="0"/>
                <a:ea typeface="Roboto Condensed" pitchFamily="34" charset="-122"/>
                <a:cs typeface="Roboto Condensed" pitchFamily="34" charset="-120"/>
              </a:rPr>
              <a:t> incluidos por usuario/mes · requiere GitHub Enterprise Cloud</a:t>
            </a:r>
            <a:endParaRPr lang="es-419" sz="1100" noProof="0" dirty="0"/>
          </a:p>
        </p:txBody>
      </p:sp>
      <p:sp>
        <p:nvSpPr>
          <p:cNvPr id="27" name="card">
            <a:extLst>
              <a:ext uri="{C183D7F6-B498-43B3-948B-1728B52AA6E4}">
                <adec:decorative xmlns:adec="http://schemas.microsoft.com/office/drawing/2017/decorative" val="1"/>
              </a:ext>
            </a:extLst>
          </p:cNvPr>
          <p:cNvSpPr/>
          <p:nvPr/>
        </p:nvSpPr>
        <p:spPr>
          <a:xfrm>
            <a:off x="4937760" y="4526280"/>
            <a:ext cx="6565392" cy="658368"/>
          </a:xfrm>
          <a:prstGeom prst="rect">
            <a:avLst/>
          </a:prstGeom>
          <a:solidFill>
            <a:srgbClr val="E7EAFC"/>
          </a:solidFill>
          <a:ln w="12700">
            <a:solidFill>
              <a:srgbClr val="CBD2F7"/>
            </a:solidFill>
            <a:prstDash val="solid"/>
          </a:ln>
        </p:spPr>
        <p:txBody>
          <a:bodyPr/>
          <a:lstStyle/>
          <a:p>
            <a:endParaRPr lang="es-419" noProof="0" dirty="0"/>
          </a:p>
        </p:txBody>
      </p:sp>
      <p:sp>
        <p:nvSpPr>
          <p:cNvPr id="28" name="Text 26"/>
          <p:cNvSpPr/>
          <p:nvPr/>
        </p:nvSpPr>
        <p:spPr>
          <a:xfrm>
            <a:off x="5157216" y="4526280"/>
            <a:ext cx="6126480" cy="658368"/>
          </a:xfrm>
          <a:prstGeom prst="rect">
            <a:avLst/>
          </a:prstGeom>
          <a:noFill/>
          <a:ln/>
        </p:spPr>
        <p:txBody>
          <a:bodyPr wrap="square" lIns="0" tIns="0" rIns="0" bIns="0" rtlCol="0" anchor="ctr"/>
          <a:lstStyle/>
          <a:p>
            <a:pPr marL="0" indent="0" algn="l">
              <a:buNone/>
            </a:pPr>
            <a:r>
              <a:rPr lang="es-419" sz="1000" i="1" noProof="0">
                <a:solidFill>
                  <a:srgbClr val="6E7278"/>
                </a:solidFill>
                <a:latin typeface="Roboto Condensed" pitchFamily="34" charset="0"/>
                <a:ea typeface="Roboto Condensed" pitchFamily="34" charset="-122"/>
                <a:cs typeface="Roboto Condensed" pitchFamily="34" charset="-120"/>
              </a:rPr>
              <a:t>Base permanente del caso de negocio: 1.900 AI Credits por usuario/mes (Copilot Business).</a:t>
            </a:r>
            <a:endParaRPr lang="es-419" sz="1000" i="1" noProof="0"/>
          </a:p>
        </p:txBody>
      </p:sp>
      <p:sp>
        <p:nvSpPr>
          <p:cNvPr id="29" name="card">
            <a:extLst>
              <a:ext uri="{C183D7F6-B498-43B3-948B-1728B52AA6E4}">
                <adec:decorative xmlns:adec="http://schemas.microsoft.com/office/drawing/2017/decorative" val="1"/>
              </a:ext>
            </a:extLst>
          </p:cNvPr>
          <p:cNvSpPr/>
          <p:nvPr/>
        </p:nvSpPr>
        <p:spPr>
          <a:xfrm>
            <a:off x="4937760" y="5312664"/>
            <a:ext cx="3145536" cy="1100000"/>
          </a:xfrm>
          <a:prstGeom prst="rect">
            <a:avLst/>
          </a:prstGeom>
          <a:solidFill>
            <a:srgbClr val="FFFFFF"/>
          </a:solidFill>
          <a:ln w="12700">
            <a:solidFill>
              <a:srgbClr val="E6E8EF"/>
            </a:solidFill>
            <a:prstDash val="solid"/>
          </a:ln>
          <a:effectLst>
            <a:outerShdw blurRad="114300" dist="38100" dir="5400000" algn="bl" rotWithShape="0">
              <a:srgbClr val="5B6068">
                <a:alpha val="9000"/>
              </a:srgbClr>
            </a:outerShdw>
          </a:effectLst>
        </p:spPr>
        <p:txBody>
          <a:bodyPr/>
          <a:lstStyle/>
          <a:p>
            <a:endParaRPr lang="es-419" noProof="0" dirty="0"/>
          </a:p>
        </p:txBody>
      </p:sp>
      <p:sp>
        <p:nvSpPr>
          <p:cNvPr id="30" name="Text 28"/>
          <p:cNvSpPr/>
          <p:nvPr/>
        </p:nvSpPr>
        <p:spPr>
          <a:xfrm>
            <a:off x="5138928" y="5312664"/>
            <a:ext cx="2743200" cy="1100000"/>
          </a:xfrm>
          <a:prstGeom prst="rect">
            <a:avLst/>
          </a:prstGeom>
          <a:noFill/>
          <a:ln/>
        </p:spPr>
        <p:txBody>
          <a:bodyPr wrap="square" lIns="0" tIns="0" rIns="0" bIns="0" rtlCol="0" anchor="ctr"/>
          <a:lstStyle/>
          <a:p>
            <a:pPr marL="0" indent="0" algn="l">
              <a:buNone/>
            </a:pPr>
            <a:r>
              <a:rPr lang="en-US" sz="900" b="1">
                <a:solidFill>
                  <a:srgbClr val="6E7278"/>
                </a:solidFill>
                <a:latin typeface="Roboto Condensed Medium" pitchFamily="34" charset="0"/>
                <a:ea typeface="Roboto Condensed Medium" pitchFamily="34" charset="-122"/>
                <a:cs typeface="Roboto Condensed Medium" pitchFamily="34" charset="-120"/>
              </a:rPr>
              <a:t>CONSUMO ADICIONAL POTENCIAL</a:t>
            </a:r>
            <a:br>
              <a:rPr lang="en-US" sz="900" b="1">
                <a:solidFill>
                  <a:srgbClr val="6E7278"/>
                </a:solidFill>
                <a:latin typeface="Roboto Condensed Medium" pitchFamily="34" charset="0"/>
                <a:ea typeface="Roboto Condensed Medium" pitchFamily="34" charset="-122"/>
                <a:cs typeface="Roboto Condensed Medium" pitchFamily="34" charset="-120"/>
              </a:rPr>
            </a:br>
            <a:r>
              <a:rPr lang="en-US" sz="1150" b="1">
                <a:solidFill>
                  <a:srgbClr val="2A3FE0"/>
                </a:solidFill>
                <a:latin typeface="Roboto Condensed Medium" pitchFamily="34" charset="0"/>
                <a:ea typeface="Roboto Condensed Medium" pitchFamily="34" charset="-122"/>
                <a:cs typeface="Roboto Condensed Medium" pitchFamily="34" charset="-120"/>
              </a:rPr>
              <a:t>USD 0,01 por AI Credit</a:t>
            </a:r>
          </a:p>
          <a:p>
            <a:pPr marL="0" indent="0" algn="l">
              <a:buNone/>
            </a:pPr>
            <a:r>
              <a:rPr lang="en-US" sz="650" b="1">
                <a:solidFill>
                  <a:srgbClr val="6E7278"/>
                </a:solidFill>
                <a:latin typeface="Roboto Condensed" pitchFamily="34" charset="0"/>
                <a:ea typeface="Roboto Condensed" pitchFamily="34" charset="-122"/>
                <a:cs typeface="Roboto Condensed" pitchFamily="34" charset="-120"/>
              </a:rPr>
              <a:t>Uso adicional solo si se habilita 'AI credit paid usage'.</a:t>
            </a:r>
            <a:endParaRPr lang="es-419" sz="650" noProof="0"/>
          </a:p>
        </p:txBody>
      </p:sp>
      <p:sp>
        <p:nvSpPr>
          <p:cNvPr id="31" name="card">
            <a:extLst>
              <a:ext uri="{C183D7F6-B498-43B3-948B-1728B52AA6E4}">
                <adec:decorative xmlns:adec="http://schemas.microsoft.com/office/drawing/2017/decorative" val="1"/>
              </a:ext>
            </a:extLst>
          </p:cNvPr>
          <p:cNvSpPr/>
          <p:nvPr/>
        </p:nvSpPr>
        <p:spPr>
          <a:xfrm>
            <a:off x="8357616" y="5312663"/>
            <a:ext cx="3145536" cy="1014983"/>
          </a:xfrm>
          <a:prstGeom prst="rect">
            <a:avLst/>
          </a:prstGeom>
          <a:solidFill>
            <a:srgbClr val="FFFFFF"/>
          </a:solidFill>
          <a:ln w="12700">
            <a:solidFill>
              <a:srgbClr val="E6E8EF"/>
            </a:solidFill>
            <a:prstDash val="solid"/>
          </a:ln>
          <a:effectLst>
            <a:outerShdw blurRad="114300" dist="38100" dir="5400000" algn="bl" rotWithShape="0">
              <a:srgbClr val="5B6068">
                <a:alpha val="9000"/>
              </a:srgbClr>
            </a:outerShdw>
          </a:effectLst>
        </p:spPr>
        <p:txBody>
          <a:bodyPr/>
          <a:lstStyle/>
          <a:p>
            <a:endParaRPr lang="es-419" noProof="0" dirty="0"/>
          </a:p>
        </p:txBody>
      </p:sp>
      <p:sp>
        <p:nvSpPr>
          <p:cNvPr id="32" name="Text 30"/>
          <p:cNvSpPr/>
          <p:nvPr/>
        </p:nvSpPr>
        <p:spPr>
          <a:xfrm>
            <a:off x="8540496" y="5312664"/>
            <a:ext cx="2761488" cy="1100000"/>
          </a:xfrm>
          <a:prstGeom prst="rect">
            <a:avLst/>
          </a:prstGeom>
          <a:noFill/>
          <a:ln/>
        </p:spPr>
        <p:txBody>
          <a:bodyPr wrap="square" lIns="0" tIns="0" rIns="0" bIns="0" rtlCol="0" anchor="ctr"/>
          <a:lstStyle/>
          <a:p>
            <a:pPr marL="0" indent="0" algn="l">
              <a:buNone/>
            </a:pPr>
            <a:r>
              <a:rPr lang="es-419" sz="980" noProof="0">
                <a:solidFill>
                  <a:srgbClr val="33373D"/>
                </a:solidFill>
                <a:latin typeface="Roboto Condensed" pitchFamily="34" charset="0"/>
                <a:ea typeface="Roboto Condensed" pitchFamily="34" charset="-122"/>
                <a:cs typeface="Roboto Condensed" pitchFamily="34" charset="-120"/>
              </a:rPr>
              <a:t>Code completions y Next Edit Suggestions no consumen AI Credits.</a:t>
            </a:r>
            <a:endParaRPr lang="es-419" sz="980" noProof="0" dirty="0"/>
          </a:p>
        </p:txBody>
      </p:sp>
      <p:sp>
        <p:nvSpPr>
          <p:cNvPr id="33" name="Text 31"/>
          <p:cNvSpPr/>
          <p:nvPr/>
        </p:nvSpPr>
        <p:spPr>
          <a:xfrm>
            <a:off x="685800" y="6437376"/>
            <a:ext cx="8686800" cy="292608"/>
          </a:xfrm>
          <a:prstGeom prst="rect">
            <a:avLst/>
          </a:prstGeom>
          <a:noFill/>
          <a:ln/>
        </p:spPr>
        <p:txBody>
          <a:bodyPr wrap="square" lIns="0" tIns="0" rIns="0" bIns="0" rtlCol="0" anchor="ctr"/>
          <a:lstStyle/>
          <a:p>
            <a:pPr marL="0" indent="0" algn="l">
              <a:buNone/>
            </a:pPr>
            <a:r>
              <a:rPr lang="es-419" sz="850" b="1" noProof="0">
                <a:solidFill>
                  <a:srgbClr val="000000"/>
                </a:solidFill>
                <a:latin typeface="Roboto Condensed" pitchFamily="34" charset="0"/>
                <a:ea typeface="Roboto Condensed" pitchFamily="34" charset="-122"/>
                <a:cs typeface="Roboto Condensed" pitchFamily="34" charset="-120"/>
              </a:rPr>
              <a:t>Tuya</a:t>
            </a:r>
            <a:r>
              <a:rPr lang="es-419" sz="850" noProof="0">
                <a:solidFill>
                  <a:srgbClr val="5B6068"/>
                </a:solidFill>
                <a:latin typeface="Roboto Condensed" pitchFamily="34" charset="0"/>
                <a:ea typeface="Roboto Condensed" pitchFamily="34" charset="-122"/>
                <a:cs typeface="Roboto Condensed" pitchFamily="34" charset="-120"/>
              </a:rPr>
              <a:t>   ·   GitHub </a:t>
            </a:r>
            <a:r>
              <a:rPr lang="es-419" sz="850" noProof="0" err="1">
                <a:solidFill>
                  <a:srgbClr val="5B6068"/>
                </a:solidFill>
                <a:latin typeface="Roboto Condensed" pitchFamily="34" charset="0"/>
                <a:ea typeface="Roboto Condensed" pitchFamily="34" charset="-122"/>
                <a:cs typeface="Roboto Condensed" pitchFamily="34" charset="-120"/>
              </a:rPr>
              <a:t>Copilot</a:t>
            </a:r>
            <a:r>
              <a:rPr lang="es-419" sz="850" noProof="0">
                <a:solidFill>
                  <a:srgbClr val="5B6068"/>
                </a:solidFill>
                <a:latin typeface="Roboto Condensed" pitchFamily="34" charset="0"/>
                <a:ea typeface="Roboto Condensed" pitchFamily="34" charset="-122"/>
                <a:cs typeface="Roboto Condensed" pitchFamily="34" charset="-120"/>
              </a:rPr>
              <a:t> - Resultados de la Prueba de Concepto</a:t>
            </a:r>
            <a:endParaRPr lang="es-419" sz="850" noProof="0" dirty="0"/>
          </a:p>
        </p:txBody>
      </p:sp>
      <p:sp>
        <p:nvSpPr>
          <p:cNvPr id="34" name="Text 32"/>
          <p:cNvSpPr/>
          <p:nvPr/>
        </p:nvSpPr>
        <p:spPr>
          <a:xfrm>
            <a:off x="10972800" y="6437376"/>
            <a:ext cx="530352" cy="292608"/>
          </a:xfrm>
          <a:prstGeom prst="rect">
            <a:avLst/>
          </a:prstGeom>
          <a:noFill/>
          <a:ln/>
        </p:spPr>
        <p:txBody>
          <a:bodyPr wrap="square" lIns="0" tIns="0" rIns="0" bIns="0" rtlCol="0" anchor="ctr"/>
          <a:lstStyle/>
          <a:p>
            <a:pPr marL="0" indent="0" algn="r">
              <a:buNone/>
            </a:pPr>
            <a:r>
              <a:rPr lang="es-419" sz="900" b="1" noProof="0">
                <a:solidFill>
                  <a:srgbClr val="2A3FE0"/>
                </a:solidFill>
                <a:latin typeface="Roboto Condensed Medium" pitchFamily="34" charset="0"/>
                <a:ea typeface="Roboto Condensed Medium" pitchFamily="34" charset="-122"/>
                <a:cs typeface="Roboto Condensed Medium" pitchFamily="34" charset="-120"/>
              </a:rPr>
              <a:t>05</a:t>
            </a:r>
            <a:endParaRPr lang="es-419" sz="900" noProof="0" dirty="0"/>
          </a:p>
        </p:txBody>
      </p:sp>
      <p:pic>
        <p:nvPicPr>
          <p:cNvPr id="950" name="Logo Tuya"/>
          <p:cNvPicPr>
            <a:picLocks noChangeAspect="1"/>
          </p:cNvPicPr>
          <p:nvPr/>
        </p:nvPicPr>
        <p:blipFill>
          <a:blip r:embed="rId3"/>
          <a:stretch>
            <a:fillRect/>
          </a:stretch>
        </p:blipFill>
        <p:spPr>
          <a:xfrm>
            <a:off x="11152200" y="321276"/>
            <a:ext cx="640080" cy="3200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icker mark">
            <a:extLst>
              <a:ext uri="{C183D7F6-B498-43B3-948B-1728B52AA6E4}">
                <adec:decorative xmlns:adec="http://schemas.microsoft.com/office/drawing/2017/decorative" val="1"/>
              </a:ext>
            </a:extLst>
          </p:cNvPr>
          <p:cNvSpPr/>
          <p:nvPr/>
        </p:nvSpPr>
        <p:spPr>
          <a:xfrm>
            <a:off x="685800" y="402336"/>
            <a:ext cx="146304" cy="146304"/>
          </a:xfrm>
          <a:prstGeom prst="rect">
            <a:avLst/>
          </a:prstGeom>
          <a:solidFill>
            <a:srgbClr val="2A3FE0"/>
          </a:solidFill>
          <a:ln/>
        </p:spPr>
        <p:txBody>
          <a:bodyPr/>
          <a:lstStyle/>
          <a:p>
            <a:endParaRPr lang="es-419" noProof="0" dirty="0"/>
          </a:p>
        </p:txBody>
      </p:sp>
      <p:sp>
        <p:nvSpPr>
          <p:cNvPr id="3" name="Text 1"/>
          <p:cNvSpPr/>
          <p:nvPr/>
        </p:nvSpPr>
        <p:spPr>
          <a:xfrm>
            <a:off x="932688" y="310896"/>
            <a:ext cx="9601200" cy="310896"/>
          </a:xfrm>
          <a:prstGeom prst="rect">
            <a:avLst/>
          </a:prstGeom>
          <a:noFill/>
          <a:ln/>
        </p:spPr>
        <p:txBody>
          <a:bodyPr wrap="square" lIns="0" tIns="0" rIns="0" bIns="0" rtlCol="0" anchor="ctr"/>
          <a:lstStyle/>
          <a:p>
            <a:pPr marL="0" indent="0" algn="l">
              <a:buNone/>
            </a:pPr>
            <a:r>
              <a:rPr lang="es-419" sz="1150" b="1" kern="0" spc="200" noProof="0">
                <a:solidFill>
                  <a:srgbClr val="2A3FE0"/>
                </a:solidFill>
                <a:latin typeface="Roboto Condensed Medium" pitchFamily="34" charset="0"/>
                <a:ea typeface="Roboto Condensed Medium" pitchFamily="34" charset="-122"/>
                <a:cs typeface="Roboto Condensed Medium" pitchFamily="34" charset="-120"/>
              </a:rPr>
              <a:t>COSTO DE ESCALAMIENTO DE GITHUB COPILOT</a:t>
            </a:r>
            <a:endParaRPr lang="es-419" sz="1150" noProof="0" dirty="0"/>
          </a:p>
        </p:txBody>
      </p:sp>
      <p:sp>
        <p:nvSpPr>
          <p:cNvPr id="4" name="Text 0"/>
          <p:cNvSpPr>
            <a:spLocks noGrp="1"/>
          </p:cNvSpPr>
          <p:nvPr>
            <p:ph type="title" idx="100" hasCustomPrompt="1"/>
          </p:nvPr>
        </p:nvSpPr>
        <p:spPr>
          <a:xfrm>
            <a:off x="685800" y="658368"/>
            <a:ext cx="10789920" cy="822960"/>
          </a:xfrm>
          <a:prstGeom prst="rect">
            <a:avLst/>
          </a:prstGeom>
          <a:noFill/>
          <a:ln/>
        </p:spPr>
        <p:txBody>
          <a:bodyPr wrap="square" lIns="0" tIns="0" rIns="0" bIns="0" rtlCol="0" anchor="t"/>
          <a:lstStyle/>
          <a:p>
            <a:pPr marL="0" indent="0" algn="l">
              <a:buNone/>
            </a:pPr>
            <a:r>
              <a:rPr lang="es-419" sz="2700" b="1" noProof="0">
                <a:solidFill>
                  <a:srgbClr val="000000"/>
                </a:solidFill>
                <a:latin typeface="Roboto Condensed Medium" pitchFamily="34" charset="0"/>
                <a:ea typeface="Roboto Condensed Medium" pitchFamily="34" charset="-122"/>
                <a:cs typeface="Roboto Condensed Medium" pitchFamily="34" charset="-120"/>
              </a:rPr>
              <a:t>Inversión base para 70 desarrolladores</a:t>
            </a:r>
            <a:endParaRPr lang="es-419" sz="2700" noProof="0" dirty="0"/>
          </a:p>
        </p:txBody>
      </p:sp>
      <p:sp>
        <p:nvSpPr>
          <p:cNvPr id="5" name="card">
            <a:extLst>
              <a:ext uri="{C183D7F6-B498-43B3-948B-1728B52AA6E4}">
                <adec:decorative xmlns:adec="http://schemas.microsoft.com/office/drawing/2017/decorative" val="1"/>
              </a:ext>
            </a:extLst>
          </p:cNvPr>
          <p:cNvSpPr/>
          <p:nvPr/>
        </p:nvSpPr>
        <p:spPr>
          <a:xfrm>
            <a:off x="685800" y="1691640"/>
            <a:ext cx="6537960" cy="4008360"/>
          </a:xfrm>
          <a:prstGeom prst="rect">
            <a:avLst/>
          </a:prstGeom>
          <a:solidFill>
            <a:srgbClr val="FFFFFF"/>
          </a:solidFill>
          <a:ln w="12700">
            <a:solidFill>
              <a:srgbClr val="E6E8EF"/>
            </a:solidFill>
            <a:prstDash val="solid"/>
          </a:ln>
          <a:effectLst>
            <a:outerShdw blurRad="114300" dist="38100" dir="5400000" algn="bl" rotWithShape="0">
              <a:srgbClr val="5B6068">
                <a:alpha val="9000"/>
              </a:srgbClr>
            </a:outerShdw>
          </a:effectLst>
        </p:spPr>
        <p:txBody>
          <a:bodyPr/>
          <a:lstStyle/>
          <a:p>
            <a:endParaRPr lang="es-419" noProof="0" dirty="0"/>
          </a:p>
        </p:txBody>
      </p:sp>
      <p:sp>
        <p:nvSpPr>
          <p:cNvPr id="6" name="Text 4"/>
          <p:cNvSpPr/>
          <p:nvPr/>
        </p:nvSpPr>
        <p:spPr>
          <a:xfrm>
            <a:off x="960120" y="1911096"/>
            <a:ext cx="5989320" cy="310896"/>
          </a:xfrm>
          <a:prstGeom prst="rect">
            <a:avLst/>
          </a:prstGeom>
          <a:noFill/>
          <a:ln/>
        </p:spPr>
        <p:txBody>
          <a:bodyPr wrap="square" lIns="0" tIns="0" rIns="0" bIns="0" rtlCol="0" anchor="ctr"/>
          <a:lstStyle/>
          <a:p>
            <a:pPr marL="0" indent="0">
              <a:buNone/>
            </a:pPr>
            <a:r>
              <a:rPr lang="es-419" sz="1250" b="1" kern="0" spc="100" noProof="0">
                <a:solidFill>
                  <a:srgbClr val="000000"/>
                </a:solidFill>
                <a:latin typeface="Roboto Condensed Medium" pitchFamily="34" charset="0"/>
                <a:ea typeface="Roboto Condensed Medium" pitchFamily="34" charset="-122"/>
                <a:cs typeface="Roboto Condensed Medium" pitchFamily="34" charset="-120"/>
              </a:rPr>
              <a:t>ESTRUCTURA DE COSTOS</a:t>
            </a:r>
            <a:endParaRPr lang="es-419" sz="1250" noProof="0" dirty="0"/>
          </a:p>
        </p:txBody>
      </p:sp>
      <p:sp>
        <p:nvSpPr>
          <p:cNvPr id="7" name="Text 5"/>
          <p:cNvSpPr/>
          <p:nvPr/>
        </p:nvSpPr>
        <p:spPr>
          <a:xfrm>
            <a:off x="978408" y="2368296"/>
            <a:ext cx="3294126" cy="422910"/>
          </a:xfrm>
          <a:prstGeom prst="rect">
            <a:avLst/>
          </a:prstGeom>
          <a:noFill/>
          <a:ln/>
        </p:spPr>
        <p:txBody>
          <a:bodyPr wrap="square" lIns="0" tIns="0" rIns="0" bIns="0" rtlCol="0" anchor="ctr"/>
          <a:lstStyle/>
          <a:p>
            <a:pPr marL="0" indent="0" algn="l">
              <a:buNone/>
            </a:pPr>
            <a:r>
              <a:rPr lang="es-419" sz="1200" noProof="0">
                <a:solidFill>
                  <a:srgbClr val="33373D"/>
                </a:solidFill>
                <a:latin typeface="Roboto Condensed" pitchFamily="34" charset="0"/>
                <a:ea typeface="Roboto Condensed" pitchFamily="34" charset="-122"/>
                <a:cs typeface="Roboto Condensed" pitchFamily="34" charset="-120"/>
              </a:rPr>
              <a:t>Usuarios objetivo</a:t>
            </a:r>
            <a:endParaRPr lang="es-419" sz="1200" noProof="0" dirty="0"/>
          </a:p>
        </p:txBody>
      </p:sp>
      <p:sp>
        <p:nvSpPr>
          <p:cNvPr id="8" name="Text 6"/>
          <p:cNvSpPr/>
          <p:nvPr/>
        </p:nvSpPr>
        <p:spPr>
          <a:xfrm>
            <a:off x="3973068" y="2368296"/>
            <a:ext cx="2994660" cy="422910"/>
          </a:xfrm>
          <a:prstGeom prst="rect">
            <a:avLst/>
          </a:prstGeom>
          <a:noFill/>
          <a:ln/>
        </p:spPr>
        <p:txBody>
          <a:bodyPr wrap="square" lIns="0" tIns="0" rIns="0" bIns="0" rtlCol="0" anchor="ctr"/>
          <a:lstStyle/>
          <a:p>
            <a:pPr marL="0" indent="0" algn="r">
              <a:buNone/>
            </a:pPr>
            <a:r>
              <a:rPr lang="es-419" sz="1200" b="1" noProof="0">
                <a:solidFill>
                  <a:srgbClr val="2A3FE0"/>
                </a:solidFill>
                <a:latin typeface="Roboto Condensed Medium" pitchFamily="34" charset="0"/>
                <a:ea typeface="Roboto Condensed Medium" pitchFamily="34" charset="-122"/>
                <a:cs typeface="Roboto Condensed Medium" pitchFamily="34" charset="-120"/>
              </a:rPr>
              <a:t>70 desarrolladores</a:t>
            </a:r>
            <a:endParaRPr lang="es-419" sz="1200" noProof="0" dirty="0"/>
          </a:p>
        </p:txBody>
      </p:sp>
      <p:sp>
        <p:nvSpPr>
          <p:cNvPr id="9" name="row divider">
            <a:extLst>
              <a:ext uri="{C183D7F6-B498-43B3-948B-1728B52AA6E4}">
                <adec:decorative xmlns:adec="http://schemas.microsoft.com/office/drawing/2017/decorative" val="1"/>
              </a:ext>
            </a:extLst>
          </p:cNvPr>
          <p:cNvSpPr/>
          <p:nvPr/>
        </p:nvSpPr>
        <p:spPr>
          <a:xfrm>
            <a:off x="960120" y="2791206"/>
            <a:ext cx="5989320" cy="0"/>
          </a:xfrm>
          <a:prstGeom prst="line">
            <a:avLst/>
          </a:prstGeom>
          <a:noFill/>
          <a:ln w="12700">
            <a:solidFill>
              <a:srgbClr val="E6E8EF"/>
            </a:solidFill>
            <a:prstDash val="solid"/>
          </a:ln>
        </p:spPr>
        <p:txBody>
          <a:bodyPr/>
          <a:lstStyle/>
          <a:p>
            <a:endParaRPr lang="es-419" noProof="0" dirty="0"/>
          </a:p>
        </p:txBody>
      </p:sp>
      <p:sp>
        <p:nvSpPr>
          <p:cNvPr id="10" name="Text 8"/>
          <p:cNvSpPr/>
          <p:nvPr/>
        </p:nvSpPr>
        <p:spPr>
          <a:xfrm>
            <a:off x="978408" y="2791206"/>
            <a:ext cx="3294126" cy="422910"/>
          </a:xfrm>
          <a:prstGeom prst="rect">
            <a:avLst/>
          </a:prstGeom>
          <a:noFill/>
          <a:ln/>
        </p:spPr>
        <p:txBody>
          <a:bodyPr wrap="square" lIns="0" tIns="0" rIns="0" bIns="0" rtlCol="0" anchor="ctr"/>
          <a:lstStyle/>
          <a:p>
            <a:pPr marL="0" indent="0" algn="l">
              <a:buNone/>
            </a:pPr>
            <a:r>
              <a:rPr lang="es-419" sz="1200" noProof="0">
                <a:solidFill>
                  <a:srgbClr val="33373D"/>
                </a:solidFill>
                <a:latin typeface="Roboto Condensed" pitchFamily="34" charset="0"/>
                <a:ea typeface="Roboto Condensed" pitchFamily="34" charset="-122"/>
                <a:cs typeface="Roboto Condensed" pitchFamily="34" charset="-120"/>
              </a:rPr>
              <a:t>Plan considerado</a:t>
            </a:r>
            <a:endParaRPr lang="es-419" sz="1200" noProof="0" dirty="0"/>
          </a:p>
        </p:txBody>
      </p:sp>
      <p:sp>
        <p:nvSpPr>
          <p:cNvPr id="11" name="Text 9"/>
          <p:cNvSpPr/>
          <p:nvPr/>
        </p:nvSpPr>
        <p:spPr>
          <a:xfrm>
            <a:off x="3973068" y="2791206"/>
            <a:ext cx="2994660" cy="422910"/>
          </a:xfrm>
          <a:prstGeom prst="rect">
            <a:avLst/>
          </a:prstGeom>
          <a:noFill/>
          <a:ln/>
        </p:spPr>
        <p:txBody>
          <a:bodyPr wrap="square" lIns="0" tIns="0" rIns="0" bIns="0" rtlCol="0" anchor="ctr"/>
          <a:lstStyle/>
          <a:p>
            <a:pPr marL="0" indent="0" algn="r">
              <a:buNone/>
            </a:pPr>
            <a:r>
              <a:rPr lang="es-419" sz="1200" b="1" noProof="0">
                <a:solidFill>
                  <a:srgbClr val="2A3FE0"/>
                </a:solidFill>
                <a:latin typeface="Roboto Condensed Medium" pitchFamily="34" charset="0"/>
                <a:ea typeface="Roboto Condensed Medium" pitchFamily="34" charset="-122"/>
                <a:cs typeface="Roboto Condensed Medium" pitchFamily="34" charset="-120"/>
              </a:rPr>
              <a:t>GitHub Copilot Business</a:t>
            </a:r>
            <a:endParaRPr lang="es-419" sz="1200" noProof="0" dirty="0"/>
          </a:p>
        </p:txBody>
      </p:sp>
      <p:sp>
        <p:nvSpPr>
          <p:cNvPr id="12" name="row divider">
            <a:extLst>
              <a:ext uri="{C183D7F6-B498-43B3-948B-1728B52AA6E4}">
                <adec:decorative xmlns:adec="http://schemas.microsoft.com/office/drawing/2017/decorative" val="1"/>
              </a:ext>
            </a:extLst>
          </p:cNvPr>
          <p:cNvSpPr/>
          <p:nvPr/>
        </p:nvSpPr>
        <p:spPr>
          <a:xfrm>
            <a:off x="960120" y="3214116"/>
            <a:ext cx="5989320" cy="0"/>
          </a:xfrm>
          <a:prstGeom prst="line">
            <a:avLst/>
          </a:prstGeom>
          <a:noFill/>
          <a:ln w="12700">
            <a:solidFill>
              <a:srgbClr val="E6E8EF"/>
            </a:solidFill>
            <a:prstDash val="solid"/>
          </a:ln>
        </p:spPr>
        <p:txBody>
          <a:bodyPr/>
          <a:lstStyle/>
          <a:p>
            <a:endParaRPr lang="es-419" noProof="0" dirty="0"/>
          </a:p>
        </p:txBody>
      </p:sp>
      <p:sp>
        <p:nvSpPr>
          <p:cNvPr id="13" name="Text 11"/>
          <p:cNvSpPr/>
          <p:nvPr/>
        </p:nvSpPr>
        <p:spPr>
          <a:xfrm>
            <a:off x="978408" y="3214116"/>
            <a:ext cx="3294126" cy="422910"/>
          </a:xfrm>
          <a:prstGeom prst="rect">
            <a:avLst/>
          </a:prstGeom>
          <a:noFill/>
          <a:ln/>
        </p:spPr>
        <p:txBody>
          <a:bodyPr wrap="square" lIns="0" tIns="0" rIns="0" bIns="0" rtlCol="0" anchor="ctr"/>
          <a:lstStyle/>
          <a:p>
            <a:pPr marL="0" indent="0" algn="l">
              <a:buNone/>
            </a:pPr>
            <a:r>
              <a:rPr lang="es-419" sz="1200" noProof="0">
                <a:solidFill>
                  <a:srgbClr val="33373D"/>
                </a:solidFill>
                <a:latin typeface="Roboto Condensed" pitchFamily="34" charset="0"/>
                <a:ea typeface="Roboto Condensed" pitchFamily="34" charset="-122"/>
                <a:cs typeface="Roboto Condensed" pitchFamily="34" charset="-120"/>
              </a:rPr>
              <a:t>Costo unitario</a:t>
            </a:r>
            <a:endParaRPr lang="es-419" sz="1200" noProof="0" dirty="0"/>
          </a:p>
        </p:txBody>
      </p:sp>
      <p:sp>
        <p:nvSpPr>
          <p:cNvPr id="14" name="Text 12"/>
          <p:cNvSpPr/>
          <p:nvPr/>
        </p:nvSpPr>
        <p:spPr>
          <a:xfrm>
            <a:off x="3973068" y="3214116"/>
            <a:ext cx="2994660" cy="422910"/>
          </a:xfrm>
          <a:prstGeom prst="rect">
            <a:avLst/>
          </a:prstGeom>
          <a:noFill/>
          <a:ln/>
        </p:spPr>
        <p:txBody>
          <a:bodyPr wrap="square" lIns="0" tIns="0" rIns="0" bIns="0" rtlCol="0" anchor="ctr"/>
          <a:lstStyle/>
          <a:p>
            <a:pPr marL="0" indent="0" algn="r">
              <a:buNone/>
            </a:pPr>
            <a:r>
              <a:rPr lang="es-419" sz="1200" b="1" noProof="0">
                <a:solidFill>
                  <a:srgbClr val="2A3FE0"/>
                </a:solidFill>
                <a:latin typeface="Roboto Condensed Medium" pitchFamily="34" charset="0"/>
                <a:ea typeface="Roboto Condensed Medium" pitchFamily="34" charset="-122"/>
                <a:cs typeface="Roboto Condensed Medium" pitchFamily="34" charset="-120"/>
              </a:rPr>
              <a:t>USD 19 / usuario / mes</a:t>
            </a:r>
            <a:endParaRPr lang="es-419" sz="1200" noProof="0" dirty="0"/>
          </a:p>
        </p:txBody>
      </p:sp>
      <p:sp>
        <p:nvSpPr>
          <p:cNvPr id="15" name="row divider">
            <a:extLst>
              <a:ext uri="{C183D7F6-B498-43B3-948B-1728B52AA6E4}">
                <adec:decorative xmlns:adec="http://schemas.microsoft.com/office/drawing/2017/decorative" val="1"/>
              </a:ext>
            </a:extLst>
          </p:cNvPr>
          <p:cNvSpPr/>
          <p:nvPr/>
        </p:nvSpPr>
        <p:spPr>
          <a:xfrm>
            <a:off x="960120" y="3637026"/>
            <a:ext cx="5989320" cy="0"/>
          </a:xfrm>
          <a:prstGeom prst="line">
            <a:avLst/>
          </a:prstGeom>
          <a:noFill/>
          <a:ln w="12700">
            <a:solidFill>
              <a:srgbClr val="E6E8EF"/>
            </a:solidFill>
            <a:prstDash val="solid"/>
          </a:ln>
        </p:spPr>
        <p:txBody>
          <a:bodyPr/>
          <a:lstStyle/>
          <a:p>
            <a:endParaRPr lang="es-419" noProof="0" dirty="0"/>
          </a:p>
        </p:txBody>
      </p:sp>
      <p:sp>
        <p:nvSpPr>
          <p:cNvPr id="16" name="Text 14"/>
          <p:cNvSpPr/>
          <p:nvPr/>
        </p:nvSpPr>
        <p:spPr>
          <a:xfrm>
            <a:off x="978408" y="3637026"/>
            <a:ext cx="3294126" cy="422910"/>
          </a:xfrm>
          <a:prstGeom prst="rect">
            <a:avLst/>
          </a:prstGeom>
          <a:noFill/>
          <a:ln/>
        </p:spPr>
        <p:txBody>
          <a:bodyPr wrap="square" lIns="0" tIns="0" rIns="0" bIns="0" rtlCol="0" anchor="ctr"/>
          <a:lstStyle/>
          <a:p>
            <a:pPr marL="0" indent="0" algn="l">
              <a:buNone/>
            </a:pPr>
            <a:r>
              <a:rPr lang="es-419" sz="1200" noProof="0">
                <a:solidFill>
                  <a:srgbClr val="33373D"/>
                </a:solidFill>
                <a:latin typeface="Roboto Condensed" pitchFamily="34" charset="0"/>
                <a:ea typeface="Roboto Condensed" pitchFamily="34" charset="-122"/>
                <a:cs typeface="Roboto Condensed" pitchFamily="34" charset="-120"/>
              </a:rPr>
              <a:t>Costo mensual base</a:t>
            </a:r>
            <a:endParaRPr lang="es-419" sz="1200" noProof="0" dirty="0"/>
          </a:p>
        </p:txBody>
      </p:sp>
      <p:sp>
        <p:nvSpPr>
          <p:cNvPr id="17" name="Text 15"/>
          <p:cNvSpPr/>
          <p:nvPr/>
        </p:nvSpPr>
        <p:spPr>
          <a:xfrm>
            <a:off x="3973068" y="3637026"/>
            <a:ext cx="2994660" cy="422910"/>
          </a:xfrm>
          <a:prstGeom prst="rect">
            <a:avLst/>
          </a:prstGeom>
          <a:noFill/>
          <a:ln/>
        </p:spPr>
        <p:txBody>
          <a:bodyPr wrap="square" lIns="0" tIns="0" rIns="0" bIns="0" rtlCol="0" anchor="ctr"/>
          <a:lstStyle/>
          <a:p>
            <a:pPr marL="0" indent="0" algn="r">
              <a:buNone/>
            </a:pPr>
            <a:r>
              <a:rPr lang="es-419" sz="1200" b="1" noProof="0">
                <a:solidFill>
                  <a:srgbClr val="2A3FE0"/>
                </a:solidFill>
                <a:latin typeface="Roboto Condensed Medium" pitchFamily="34" charset="0"/>
                <a:ea typeface="Roboto Condensed Medium" pitchFamily="34" charset="-122"/>
                <a:cs typeface="Roboto Condensed Medium" pitchFamily="34" charset="-120"/>
              </a:rPr>
              <a:t>USD 1.330</a:t>
            </a:r>
            <a:endParaRPr lang="es-419" sz="1200" noProof="0" dirty="0"/>
          </a:p>
        </p:txBody>
      </p:sp>
      <p:sp>
        <p:nvSpPr>
          <p:cNvPr id="18" name="row divider">
            <a:extLst>
              <a:ext uri="{C183D7F6-B498-43B3-948B-1728B52AA6E4}">
                <adec:decorative xmlns:adec="http://schemas.microsoft.com/office/drawing/2017/decorative" val="1"/>
              </a:ext>
            </a:extLst>
          </p:cNvPr>
          <p:cNvSpPr/>
          <p:nvPr/>
        </p:nvSpPr>
        <p:spPr>
          <a:xfrm>
            <a:off x="960120" y="4059936"/>
            <a:ext cx="5989320" cy="0"/>
          </a:xfrm>
          <a:prstGeom prst="line">
            <a:avLst/>
          </a:prstGeom>
          <a:noFill/>
          <a:ln w="12700">
            <a:solidFill>
              <a:srgbClr val="E6E8EF"/>
            </a:solidFill>
            <a:prstDash val="solid"/>
          </a:ln>
        </p:spPr>
        <p:txBody>
          <a:bodyPr/>
          <a:lstStyle/>
          <a:p>
            <a:endParaRPr lang="es-419" noProof="0" dirty="0"/>
          </a:p>
        </p:txBody>
      </p:sp>
      <p:sp>
        <p:nvSpPr>
          <p:cNvPr id="19" name="Text 17"/>
          <p:cNvSpPr/>
          <p:nvPr/>
        </p:nvSpPr>
        <p:spPr>
          <a:xfrm>
            <a:off x="978408" y="4059936"/>
            <a:ext cx="3294126" cy="422910"/>
          </a:xfrm>
          <a:prstGeom prst="rect">
            <a:avLst/>
          </a:prstGeom>
          <a:noFill/>
          <a:ln/>
        </p:spPr>
        <p:txBody>
          <a:bodyPr wrap="square" lIns="0" tIns="0" rIns="0" bIns="0" rtlCol="0" anchor="ctr"/>
          <a:lstStyle/>
          <a:p>
            <a:pPr marL="0" indent="0" algn="l">
              <a:buNone/>
            </a:pPr>
            <a:r>
              <a:rPr lang="es-419" sz="1200" noProof="0">
                <a:solidFill>
                  <a:srgbClr val="33373D"/>
                </a:solidFill>
                <a:latin typeface="Roboto Condensed" pitchFamily="34" charset="0"/>
                <a:ea typeface="Roboto Condensed" pitchFamily="34" charset="-122"/>
                <a:cs typeface="Roboto Condensed" pitchFamily="34" charset="-120"/>
              </a:rPr>
              <a:t>Costo anual base</a:t>
            </a:r>
            <a:endParaRPr lang="es-419" sz="1200" noProof="0" dirty="0"/>
          </a:p>
        </p:txBody>
      </p:sp>
      <p:sp>
        <p:nvSpPr>
          <p:cNvPr id="20" name="Text 18"/>
          <p:cNvSpPr/>
          <p:nvPr/>
        </p:nvSpPr>
        <p:spPr>
          <a:xfrm>
            <a:off x="3973068" y="4059936"/>
            <a:ext cx="2994660" cy="422910"/>
          </a:xfrm>
          <a:prstGeom prst="rect">
            <a:avLst/>
          </a:prstGeom>
          <a:noFill/>
          <a:ln/>
        </p:spPr>
        <p:txBody>
          <a:bodyPr wrap="square" lIns="0" tIns="0" rIns="0" bIns="0" rtlCol="0" anchor="ctr"/>
          <a:lstStyle/>
          <a:p>
            <a:pPr marL="0" indent="0" algn="r">
              <a:buNone/>
            </a:pPr>
            <a:r>
              <a:rPr lang="es-419" sz="1200" b="1" noProof="0">
                <a:solidFill>
                  <a:srgbClr val="2A3FE0"/>
                </a:solidFill>
                <a:latin typeface="Roboto Condensed Medium" pitchFamily="34" charset="0"/>
                <a:ea typeface="Roboto Condensed Medium" pitchFamily="34" charset="-122"/>
                <a:cs typeface="Roboto Condensed Medium" pitchFamily="34" charset="-120"/>
              </a:rPr>
              <a:t>USD 15.960</a:t>
            </a:r>
            <a:endParaRPr lang="es-419" sz="1200" noProof="0" dirty="0"/>
          </a:p>
        </p:txBody>
      </p:sp>
      <p:sp>
        <p:nvSpPr>
          <p:cNvPr id="21" name="row divider">
            <a:extLst>
              <a:ext uri="{C183D7F6-B498-43B3-948B-1728B52AA6E4}">
                <adec:decorative xmlns:adec="http://schemas.microsoft.com/office/drawing/2017/decorative" val="1"/>
              </a:ext>
            </a:extLst>
          </p:cNvPr>
          <p:cNvSpPr/>
          <p:nvPr/>
        </p:nvSpPr>
        <p:spPr>
          <a:xfrm>
            <a:off x="960120" y="4482846"/>
            <a:ext cx="5989320" cy="0"/>
          </a:xfrm>
          <a:prstGeom prst="line">
            <a:avLst/>
          </a:prstGeom>
          <a:noFill/>
          <a:ln w="12700">
            <a:solidFill>
              <a:srgbClr val="E6E8EF"/>
            </a:solidFill>
            <a:prstDash val="solid"/>
          </a:ln>
        </p:spPr>
        <p:txBody>
          <a:bodyPr/>
          <a:lstStyle/>
          <a:p>
            <a:endParaRPr lang="es-419" noProof="0" dirty="0"/>
          </a:p>
        </p:txBody>
      </p:sp>
      <p:sp>
        <p:nvSpPr>
          <p:cNvPr id="22" name="Text 20"/>
          <p:cNvSpPr/>
          <p:nvPr/>
        </p:nvSpPr>
        <p:spPr>
          <a:xfrm>
            <a:off x="978408" y="4482846"/>
            <a:ext cx="3294126" cy="422910"/>
          </a:xfrm>
          <a:prstGeom prst="rect">
            <a:avLst/>
          </a:prstGeom>
          <a:noFill/>
          <a:ln/>
        </p:spPr>
        <p:txBody>
          <a:bodyPr wrap="square" lIns="0" tIns="0" rIns="0" bIns="0" rtlCol="0" anchor="ctr"/>
          <a:lstStyle/>
          <a:p>
            <a:pPr marL="0" indent="0" algn="l">
              <a:buNone/>
            </a:pPr>
            <a:r>
              <a:rPr lang="es-419" sz="1200" noProof="0">
                <a:solidFill>
                  <a:srgbClr val="33373D"/>
                </a:solidFill>
                <a:latin typeface="Roboto Condensed" pitchFamily="34" charset="0"/>
                <a:ea typeface="Roboto Condensed" pitchFamily="34" charset="-122"/>
                <a:cs typeface="Roboto Condensed" pitchFamily="34" charset="-120"/>
              </a:rPr>
              <a:t>AI Credits incluidos</a:t>
            </a:r>
            <a:endParaRPr lang="es-419" sz="1200" noProof="0" dirty="0"/>
          </a:p>
        </p:txBody>
      </p:sp>
      <p:sp>
        <p:nvSpPr>
          <p:cNvPr id="23" name="Text 21"/>
          <p:cNvSpPr/>
          <p:nvPr/>
        </p:nvSpPr>
        <p:spPr>
          <a:xfrm>
            <a:off x="3973068" y="4482846"/>
            <a:ext cx="2994660" cy="422910"/>
          </a:xfrm>
          <a:prstGeom prst="rect">
            <a:avLst/>
          </a:prstGeom>
          <a:noFill/>
          <a:ln/>
        </p:spPr>
        <p:txBody>
          <a:bodyPr wrap="square" lIns="0" tIns="0" rIns="0" bIns="0" rtlCol="0" anchor="ctr"/>
          <a:lstStyle/>
          <a:p>
            <a:pPr marL="0" indent="0" algn="r">
              <a:buNone/>
            </a:pPr>
            <a:r>
              <a:rPr lang="es-419" sz="1200" b="1" noProof="0">
                <a:solidFill>
                  <a:srgbClr val="2A3FE0"/>
                </a:solidFill>
                <a:latin typeface="Roboto Condensed Medium" pitchFamily="34" charset="0"/>
                <a:ea typeface="Roboto Condensed Medium" pitchFamily="34" charset="-122"/>
                <a:cs typeface="Roboto Condensed Medium" pitchFamily="34" charset="-120"/>
              </a:rPr>
              <a:t>133.000 AI Credits / mes</a:t>
            </a:r>
            <a:endParaRPr lang="es-419" sz="1200" noProof="0" dirty="0"/>
          </a:p>
        </p:txBody>
      </p:sp>
      <p:sp>
        <p:nvSpPr>
          <p:cNvPr id="24" name="row divider">
            <a:extLst>
              <a:ext uri="{C183D7F6-B498-43B3-948B-1728B52AA6E4}">
                <adec:decorative xmlns:adec="http://schemas.microsoft.com/office/drawing/2017/decorative" val="1"/>
              </a:ext>
            </a:extLst>
          </p:cNvPr>
          <p:cNvSpPr/>
          <p:nvPr/>
        </p:nvSpPr>
        <p:spPr>
          <a:xfrm>
            <a:off x="960120" y="4905756"/>
            <a:ext cx="5989320" cy="0"/>
          </a:xfrm>
          <a:prstGeom prst="line">
            <a:avLst/>
          </a:prstGeom>
          <a:noFill/>
          <a:ln w="12700">
            <a:solidFill>
              <a:srgbClr val="E6E8EF"/>
            </a:solidFill>
            <a:prstDash val="solid"/>
          </a:ln>
        </p:spPr>
        <p:txBody>
          <a:bodyPr/>
          <a:lstStyle/>
          <a:p>
            <a:endParaRPr lang="es-419" noProof="0" dirty="0"/>
          </a:p>
        </p:txBody>
      </p:sp>
      <p:sp>
        <p:nvSpPr>
          <p:cNvPr id="25" name="Text 23"/>
          <p:cNvSpPr/>
          <p:nvPr/>
        </p:nvSpPr>
        <p:spPr>
          <a:xfrm>
            <a:off x="978408" y="4905756"/>
            <a:ext cx="3294126" cy="422910"/>
          </a:xfrm>
          <a:prstGeom prst="rect">
            <a:avLst/>
          </a:prstGeom>
          <a:noFill/>
          <a:ln/>
        </p:spPr>
        <p:txBody>
          <a:bodyPr wrap="square" lIns="0" tIns="0" rIns="0" bIns="0" rtlCol="0" anchor="ctr"/>
          <a:lstStyle/>
          <a:p>
            <a:pPr marL="0" indent="0" algn="l">
              <a:buNone/>
            </a:pPr>
            <a:r>
              <a:rPr lang="es-419" sz="1200" noProof="0">
                <a:solidFill>
                  <a:srgbClr val="33373D"/>
                </a:solidFill>
                <a:latin typeface="Roboto Condensed" pitchFamily="34" charset="0"/>
                <a:ea typeface="Roboto Condensed" pitchFamily="34" charset="-122"/>
                <a:cs typeface="Roboto Condensed" pitchFamily="34" charset="-120"/>
              </a:rPr>
              <a:t>Control de sobrecostos</a:t>
            </a:r>
            <a:endParaRPr lang="es-419" sz="1200" noProof="0" dirty="0"/>
          </a:p>
        </p:txBody>
      </p:sp>
      <p:sp>
        <p:nvSpPr>
          <p:cNvPr id="26" name="Text 24"/>
          <p:cNvSpPr/>
          <p:nvPr/>
        </p:nvSpPr>
        <p:spPr>
          <a:xfrm>
            <a:off x="3973068" y="4905756"/>
            <a:ext cx="2994660" cy="422910"/>
          </a:xfrm>
          <a:prstGeom prst="rect">
            <a:avLst/>
          </a:prstGeom>
          <a:noFill/>
          <a:ln/>
        </p:spPr>
        <p:txBody>
          <a:bodyPr wrap="square" lIns="0" tIns="0" rIns="0" bIns="0" rtlCol="0" anchor="ctr"/>
          <a:lstStyle/>
          <a:p>
            <a:pPr marL="0" indent="0" algn="r">
              <a:buNone/>
            </a:pPr>
            <a:r>
              <a:rPr lang="es-419" sz="900" b="1" noProof="0">
                <a:solidFill>
                  <a:srgbClr val="2A3FE0"/>
                </a:solidFill>
                <a:latin typeface="Roboto Condensed Medium" pitchFamily="34" charset="0"/>
                <a:ea typeface="Roboto Condensed Medium" pitchFamily="34" charset="-122"/>
                <a:cs typeface="Roboto Condensed Medium" pitchFamily="34" charset="-120"/>
              </a:rPr>
              <a:t>Excedentes controlados por políticas.</a:t>
            </a:r>
            <a:endParaRPr lang="es-419" sz="1200" noProof="0" dirty="0"/>
          </a:p>
        </p:txBody>
      </p:sp>
      <p:sp>
        <p:nvSpPr>
          <p:cNvPr id="27" name="row divider">
            <a:extLst>
              <a:ext uri="{C183D7F6-B498-43B3-948B-1728B52AA6E4}">
                <adec:decorative xmlns:adec="http://schemas.microsoft.com/office/drawing/2017/decorative" val="1"/>
              </a:ext>
            </a:extLst>
          </p:cNvPr>
          <p:cNvSpPr/>
          <p:nvPr/>
        </p:nvSpPr>
        <p:spPr>
          <a:xfrm>
            <a:off x="960120" y="5328666"/>
            <a:ext cx="5989320" cy="0"/>
          </a:xfrm>
          <a:prstGeom prst="line">
            <a:avLst/>
          </a:prstGeom>
          <a:noFill/>
          <a:ln w="12700">
            <a:solidFill>
              <a:srgbClr val="E6E8EF"/>
            </a:solidFill>
            <a:prstDash val="solid"/>
          </a:ln>
        </p:spPr>
        <p:txBody>
          <a:bodyPr/>
          <a:lstStyle/>
          <a:p>
            <a:endParaRPr lang="es-419" noProof="0" dirty="0"/>
          </a:p>
        </p:txBody>
      </p:sp>
      <p:sp>
        <p:nvSpPr>
          <p:cNvPr id="28" name="Text 26"/>
          <p:cNvSpPr/>
          <p:nvPr/>
        </p:nvSpPr>
        <p:spPr>
          <a:xfrm>
            <a:off x="978408" y="5361666"/>
            <a:ext cx="5989320" cy="292608"/>
          </a:xfrm>
          <a:prstGeom prst="rect">
            <a:avLst/>
          </a:prstGeom>
          <a:noFill/>
          <a:ln/>
        </p:spPr>
        <p:txBody>
          <a:bodyPr wrap="square" lIns="0" tIns="0" rIns="0" bIns="0" rtlCol="0" anchor="ctr"/>
          <a:lstStyle/>
          <a:p>
            <a:pPr marL="0" indent="0" algn="l">
              <a:buNone/>
            </a:pPr>
            <a:r>
              <a:rPr lang="es-419" sz="850" noProof="0">
                <a:solidFill>
                  <a:srgbClr val="5B6068"/>
                </a:solidFill>
                <a:latin typeface="Roboto Condensed" pitchFamily="34" charset="0"/>
                <a:ea typeface="Roboto Condensed" pitchFamily="34" charset="-122"/>
                <a:cs typeface="Roboto Condensed" pitchFamily="34" charset="-120"/>
              </a:rPr>
              <a:t>Pool compartido para 70 licencias.</a:t>
            </a:r>
            <a:endParaRPr lang="es-419" sz="850" noProof="0"/>
          </a:p>
        </p:txBody>
      </p:sp>
      <p:sp>
        <p:nvSpPr>
          <p:cNvPr id="40" name="Text 38"/>
          <p:cNvSpPr/>
          <p:nvPr/>
        </p:nvSpPr>
        <p:spPr>
          <a:xfrm>
            <a:off x="685800" y="6437376"/>
            <a:ext cx="8686800" cy="292608"/>
          </a:xfrm>
          <a:prstGeom prst="rect">
            <a:avLst/>
          </a:prstGeom>
          <a:noFill/>
          <a:ln/>
        </p:spPr>
        <p:txBody>
          <a:bodyPr wrap="square" lIns="0" tIns="0" rIns="0" bIns="0" rtlCol="0" anchor="ctr"/>
          <a:lstStyle/>
          <a:p>
            <a:pPr marL="0" indent="0" algn="l">
              <a:buNone/>
            </a:pPr>
            <a:r>
              <a:rPr lang="es-419" sz="850" b="1" noProof="0">
                <a:solidFill>
                  <a:srgbClr val="000000"/>
                </a:solidFill>
                <a:latin typeface="Roboto Condensed" pitchFamily="34" charset="0"/>
                <a:ea typeface="Roboto Condensed" pitchFamily="34" charset="-122"/>
                <a:cs typeface="Roboto Condensed" pitchFamily="34" charset="-120"/>
              </a:rPr>
              <a:t>Tuya</a:t>
            </a:r>
            <a:r>
              <a:rPr lang="es-419" sz="850" noProof="0">
                <a:solidFill>
                  <a:srgbClr val="5B6068"/>
                </a:solidFill>
                <a:latin typeface="Roboto Condensed" pitchFamily="34" charset="0"/>
                <a:ea typeface="Roboto Condensed" pitchFamily="34" charset="-122"/>
                <a:cs typeface="Roboto Condensed" pitchFamily="34" charset="-120"/>
              </a:rPr>
              <a:t>   ·   GitHub </a:t>
            </a:r>
            <a:r>
              <a:rPr lang="es-419" sz="850" noProof="0" err="1">
                <a:solidFill>
                  <a:srgbClr val="5B6068"/>
                </a:solidFill>
                <a:latin typeface="Roboto Condensed" pitchFamily="34" charset="0"/>
                <a:ea typeface="Roboto Condensed" pitchFamily="34" charset="-122"/>
                <a:cs typeface="Roboto Condensed" pitchFamily="34" charset="-120"/>
              </a:rPr>
              <a:t>Copilot</a:t>
            </a:r>
            <a:r>
              <a:rPr lang="es-419" sz="850" noProof="0">
                <a:solidFill>
                  <a:srgbClr val="5B6068"/>
                </a:solidFill>
                <a:latin typeface="Roboto Condensed" pitchFamily="34" charset="0"/>
                <a:ea typeface="Roboto Condensed" pitchFamily="34" charset="-122"/>
                <a:cs typeface="Roboto Condensed" pitchFamily="34" charset="-120"/>
              </a:rPr>
              <a:t> - Resultados de la Prueba de Concepto</a:t>
            </a:r>
            <a:endParaRPr lang="es-419" sz="850" noProof="0" dirty="0"/>
          </a:p>
        </p:txBody>
      </p:sp>
      <p:sp>
        <p:nvSpPr>
          <p:cNvPr id="41" name="Text 39"/>
          <p:cNvSpPr/>
          <p:nvPr/>
        </p:nvSpPr>
        <p:spPr>
          <a:xfrm>
            <a:off x="10972800" y="6437376"/>
            <a:ext cx="530352" cy="292608"/>
          </a:xfrm>
          <a:prstGeom prst="rect">
            <a:avLst/>
          </a:prstGeom>
          <a:noFill/>
          <a:ln/>
        </p:spPr>
        <p:txBody>
          <a:bodyPr wrap="square" lIns="0" tIns="0" rIns="0" bIns="0" rtlCol="0" anchor="ctr"/>
          <a:lstStyle/>
          <a:p>
            <a:pPr marL="0" indent="0" algn="r">
              <a:buNone/>
            </a:pPr>
            <a:r>
              <a:rPr lang="es-419" sz="900" b="1" noProof="0">
                <a:solidFill>
                  <a:srgbClr val="2A3FE0"/>
                </a:solidFill>
                <a:latin typeface="Roboto Condensed Medium" pitchFamily="34" charset="0"/>
                <a:ea typeface="Roboto Condensed Medium" pitchFamily="34" charset="-122"/>
                <a:cs typeface="Roboto Condensed Medium" pitchFamily="34" charset="-120"/>
              </a:rPr>
              <a:t>06</a:t>
            </a:r>
            <a:endParaRPr lang="es-419" sz="900" noProof="0" dirty="0"/>
          </a:p>
        </p:txBody>
      </p:sp>
      <p:pic>
        <p:nvPicPr>
          <p:cNvPr id="950" name="Logo Tuya"/>
          <p:cNvPicPr>
            <a:picLocks noChangeAspect="1"/>
          </p:cNvPicPr>
          <p:nvPr/>
        </p:nvPicPr>
        <p:blipFill>
          <a:blip r:embed="rId3"/>
          <a:stretch>
            <a:fillRect/>
          </a:stretch>
        </p:blipFill>
        <p:spPr>
          <a:xfrm>
            <a:off x="11152200" y="321276"/>
            <a:ext cx="640080" cy="3200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icker mark">
            <a:extLst>
              <a:ext uri="{C183D7F6-B498-43B3-948B-1728B52AA6E4}">
                <adec:decorative xmlns:adec="http://schemas.microsoft.com/office/drawing/2017/decorative" val="1"/>
              </a:ext>
            </a:extLst>
          </p:cNvPr>
          <p:cNvSpPr/>
          <p:nvPr/>
        </p:nvSpPr>
        <p:spPr>
          <a:xfrm>
            <a:off x="685800" y="402336"/>
            <a:ext cx="146304" cy="146304"/>
          </a:xfrm>
          <a:prstGeom prst="rect">
            <a:avLst/>
          </a:prstGeom>
          <a:solidFill>
            <a:srgbClr val="2A3FE0"/>
          </a:solidFill>
          <a:ln/>
        </p:spPr>
        <p:txBody>
          <a:bodyPr/>
          <a:lstStyle/>
          <a:p>
            <a:endParaRPr lang="es-419" noProof="0" dirty="0"/>
          </a:p>
        </p:txBody>
      </p:sp>
      <p:sp>
        <p:nvSpPr>
          <p:cNvPr id="3" name="Text 1"/>
          <p:cNvSpPr/>
          <p:nvPr/>
        </p:nvSpPr>
        <p:spPr>
          <a:xfrm>
            <a:off x="932688" y="310896"/>
            <a:ext cx="9601200" cy="310896"/>
          </a:xfrm>
          <a:prstGeom prst="rect">
            <a:avLst/>
          </a:prstGeom>
          <a:noFill/>
          <a:ln/>
        </p:spPr>
        <p:txBody>
          <a:bodyPr wrap="square" lIns="0" tIns="0" rIns="0" bIns="0" rtlCol="0" anchor="ctr"/>
          <a:lstStyle/>
          <a:p>
            <a:pPr marL="0" indent="0" algn="l">
              <a:buNone/>
            </a:pPr>
            <a:r>
              <a:rPr lang="es-419" sz="1150" b="1" kern="0" spc="200" noProof="0">
                <a:solidFill>
                  <a:srgbClr val="2A3FE0"/>
                </a:solidFill>
                <a:latin typeface="Roboto Condensed Medium" pitchFamily="34" charset="0"/>
                <a:ea typeface="Roboto Condensed Medium" pitchFamily="34" charset="-122"/>
                <a:cs typeface="Roboto Condensed Medium" pitchFamily="34" charset="-120"/>
              </a:rPr>
              <a:t>CASO DE NEGOCIO</a:t>
            </a:r>
            <a:endParaRPr lang="es-419" sz="1150" noProof="0" dirty="0"/>
          </a:p>
        </p:txBody>
      </p:sp>
      <p:sp>
        <p:nvSpPr>
          <p:cNvPr id="4" name="Text 0"/>
          <p:cNvSpPr>
            <a:spLocks noGrp="1"/>
          </p:cNvSpPr>
          <p:nvPr>
            <p:ph type="title" idx="100" hasCustomPrompt="1"/>
          </p:nvPr>
        </p:nvSpPr>
        <p:spPr>
          <a:xfrm>
            <a:off x="685800" y="658368"/>
            <a:ext cx="10789920" cy="475488"/>
          </a:xfrm>
          <a:prstGeom prst="rect">
            <a:avLst/>
          </a:prstGeom>
          <a:noFill/>
          <a:ln/>
        </p:spPr>
        <p:txBody>
          <a:bodyPr wrap="square" lIns="0" tIns="0" rIns="0" bIns="0" rtlCol="0" anchor="t"/>
          <a:lstStyle/>
          <a:p>
            <a:pPr marL="0" indent="0" algn="l">
              <a:buNone/>
            </a:pPr>
            <a:r>
              <a:rPr lang="es-419" sz="2700" b="1" noProof="0">
                <a:solidFill>
                  <a:srgbClr val="000000"/>
                </a:solidFill>
                <a:latin typeface="Roboto Condensed Medium" pitchFamily="34" charset="0"/>
                <a:ea typeface="Roboto Condensed Medium" pitchFamily="34" charset="-122"/>
                <a:cs typeface="Roboto Condensed Medium" pitchFamily="34" charset="-120"/>
              </a:rPr>
              <a:t>Punto de equilibrio de la inversión</a:t>
            </a:r>
            <a:endParaRPr lang="es-419" sz="2700" noProof="0" dirty="0"/>
          </a:p>
        </p:txBody>
      </p:sp>
      <p:sp>
        <p:nvSpPr>
          <p:cNvPr id="5" name="Subtitle">
            <a:extLst>
              <a:ext uri="{C183D7F6-B498-43B3-948B-1728B52AA6E4}">
                <adec:decorative xmlns:adec="http://schemas.microsoft.com/office/drawing/2017/decorative" val="1"/>
              </a:ext>
            </a:extLst>
          </p:cNvPr>
          <p:cNvSpPr/>
          <p:nvPr/>
        </p:nvSpPr>
        <p:spPr>
          <a:xfrm>
            <a:off x="685800" y="1188720"/>
            <a:ext cx="10789920" cy="292608"/>
          </a:xfrm>
          <a:prstGeom prst="rect">
            <a:avLst/>
          </a:prstGeom>
          <a:noFill/>
          <a:ln/>
        </p:spPr>
        <p:txBody>
          <a:bodyPr wrap="square" lIns="0" tIns="0" rIns="0" bIns="0" rtlCol="0" anchor="ctr"/>
          <a:lstStyle/>
          <a:p>
            <a:pPr marL="0" indent="0" algn="l">
              <a:buNone/>
            </a:pPr>
            <a:r>
              <a:rPr lang="es-419" sz="1400" noProof="0">
                <a:solidFill>
                  <a:srgbClr val="5B6068"/>
                </a:solidFill>
                <a:latin typeface="Roboto Condensed" pitchFamily="34" charset="0"/>
                <a:ea typeface="Roboto Condensed" pitchFamily="34" charset="-122"/>
                <a:cs typeface="Roboto Condensed" pitchFamily="34" charset="-120"/>
              </a:rPr>
              <a:t>Horas de desarrollo que debe liberar Copilot para compensar el costo mensual</a:t>
            </a:r>
            <a:endParaRPr lang="es-419" sz="1400" noProof="0"/>
          </a:p>
        </p:txBody>
      </p:sp>
      <p:sp>
        <p:nvSpPr>
          <p:cNvPr id="10" name="card inversion">
            <a:extLst>
              <a:ext uri="{C183D7F6-B498-43B3-948B-1728B52AA6E4}">
                <adec:decorative xmlns:adec="http://schemas.microsoft.com/office/drawing/2017/decorative" val="1"/>
              </a:ext>
            </a:extLst>
          </p:cNvPr>
          <p:cNvSpPr/>
          <p:nvPr/>
        </p:nvSpPr>
        <p:spPr>
          <a:xfrm>
            <a:off x="685800" y="1600000"/>
            <a:ext cx="5240000" cy="1140000"/>
          </a:xfrm>
          <a:prstGeom prst="rect">
            <a:avLst/>
          </a:prstGeom>
          <a:solidFill>
            <a:srgbClr val="FFFFFF"/>
          </a:solidFill>
          <a:ln w="12700">
            <a:solidFill>
              <a:srgbClr val="E6E8EF"/>
            </a:solidFill>
            <a:prstDash val="solid"/>
          </a:ln>
          <a:effectLst>
            <a:outerShdw blurRad="114300" dist="38100" dir="5400000" algn="bl" rotWithShape="0">
              <a:srgbClr val="5B6068">
                <a:alpha val="9000"/>
              </a:srgbClr>
            </a:outerShdw>
          </a:effectLst>
        </p:spPr>
        <p:txBody>
          <a:bodyPr/>
          <a:lstStyle/>
          <a:p>
            <a:endParaRPr lang="es-419" noProof="0"/>
          </a:p>
        </p:txBody>
      </p:sp>
      <p:sp>
        <p:nvSpPr>
          <p:cNvPr id="11" name="Text inversion"/>
          <p:cNvSpPr/>
          <p:nvPr/>
        </p:nvSpPr>
        <p:spPr>
          <a:xfrm>
            <a:off x="925800" y="1720000"/>
            <a:ext cx="4760000" cy="900000"/>
          </a:xfrm>
          <a:prstGeom prst="rect">
            <a:avLst/>
          </a:prstGeom>
          <a:noFill/>
          <a:ln/>
        </p:spPr>
        <p:txBody>
          <a:bodyPr wrap="square" lIns="0" tIns="0" rIns="0" bIns="0" rtlCol="0" anchor="t"/>
          <a:lstStyle/>
          <a:p>
            <a:pPr marL="0" indent="0" algn="l">
              <a:buNone/>
            </a:pPr>
            <a:r>
              <a:rPr lang="es-419" sz="1050" b="1" kern="0" spc="150" noProof="0">
                <a:solidFill>
                  <a:srgbClr val="2A3FE0"/>
                </a:solidFill>
                <a:latin typeface="Roboto Condensed Medium" pitchFamily="34" charset="0"/>
                <a:ea typeface="Roboto Condensed Medium" pitchFamily="34" charset="-122"/>
                <a:cs typeface="Roboto Condensed Medium" pitchFamily="34" charset="-120"/>
              </a:rPr>
              <a:t>INVERSIÓN MENSUAL</a:t>
            </a:r>
          </a:p>
          <a:p>
            <a:pPr marL="0" indent="0" algn="l">
              <a:spcBef>
                <a:spcPts val="700"/>
              </a:spcBef>
              <a:buNone/>
            </a:pPr>
            <a:r>
              <a:rPr lang="es-419" sz="1050" noProof="0">
                <a:solidFill>
                  <a:srgbClr val="5B6068"/>
                </a:solidFill>
                <a:latin typeface="Roboto Condensed" pitchFamily="34" charset="0"/>
                <a:ea typeface="Roboto Condensed" pitchFamily="34" charset="-122"/>
                <a:cs typeface="Roboto Condensed" pitchFamily="34" charset="-120"/>
              </a:rPr>
              <a:t>Usuarios objetivo:  </a:t>
            </a:r>
            <a:r>
              <a:rPr lang="es-419" sz="1050" b="1" noProof="0">
                <a:solidFill>
                  <a:srgbClr val="000000"/>
                </a:solidFill>
                <a:latin typeface="Roboto Condensed" pitchFamily="34" charset="0"/>
                <a:ea typeface="Roboto Condensed" pitchFamily="34" charset="-122"/>
                <a:cs typeface="Roboto Condensed" pitchFamily="34" charset="-120"/>
              </a:rPr>
              <a:t>70 desarrolladores</a:t>
            </a:r>
          </a:p>
          <a:p>
            <a:pPr marL="0" indent="0" algn="l">
              <a:spcBef>
                <a:spcPts val="300"/>
              </a:spcBef>
              <a:buNone/>
            </a:pPr>
            <a:r>
              <a:rPr lang="es-419" sz="1050" noProof="0">
                <a:solidFill>
                  <a:srgbClr val="5B6068"/>
                </a:solidFill>
                <a:latin typeface="Roboto Condensed" pitchFamily="34" charset="0"/>
                <a:ea typeface="Roboto Condensed" pitchFamily="34" charset="-122"/>
                <a:cs typeface="Roboto Condensed" pitchFamily="34" charset="-120"/>
              </a:rPr>
              <a:t>Plan:  </a:t>
            </a:r>
            <a:r>
              <a:rPr lang="es-419" sz="1050" b="1" noProof="0">
                <a:solidFill>
                  <a:srgbClr val="000000"/>
                </a:solidFill>
                <a:latin typeface="Roboto Condensed" pitchFamily="34" charset="0"/>
                <a:ea typeface="Roboto Condensed" pitchFamily="34" charset="-122"/>
                <a:cs typeface="Roboto Condensed" pitchFamily="34" charset="-120"/>
              </a:rPr>
              <a:t>GitHub Copilot Business</a:t>
            </a:r>
          </a:p>
          <a:p>
            <a:pPr marL="0" indent="0" algn="l">
              <a:spcBef>
                <a:spcPts val="300"/>
              </a:spcBef>
              <a:buNone/>
            </a:pPr>
            <a:r>
              <a:rPr lang="es-419" sz="1050" noProof="0">
                <a:solidFill>
                  <a:srgbClr val="5B6068"/>
                </a:solidFill>
                <a:latin typeface="Roboto Condensed" pitchFamily="34" charset="0"/>
                <a:ea typeface="Roboto Condensed" pitchFamily="34" charset="-122"/>
                <a:cs typeface="Roboto Condensed" pitchFamily="34" charset="-120"/>
              </a:rPr>
              <a:t>Costo mensual base:  </a:t>
            </a:r>
            <a:r>
              <a:rPr lang="es-419" sz="1200" b="1" noProof="0">
                <a:solidFill>
                  <a:srgbClr val="2A3FE0"/>
                </a:solidFill>
                <a:latin typeface="Roboto Condensed Medium" pitchFamily="34" charset="0"/>
                <a:ea typeface="Roboto Condensed Medium" pitchFamily="34" charset="-122"/>
                <a:cs typeface="Roboto Condensed Medium" pitchFamily="34" charset="-120"/>
              </a:rPr>
              <a:t>USD 1.330 / mes</a:t>
            </a:r>
          </a:p>
        </p:txBody>
      </p:sp>
      <p:sp>
        <p:nvSpPr>
          <p:cNvPr id="12" name="card valor">
            <a:extLst>
              <a:ext uri="{C183D7F6-B498-43B3-948B-1728B52AA6E4}">
                <adec:decorative xmlns:adec="http://schemas.microsoft.com/office/drawing/2017/decorative" val="1"/>
              </a:ext>
            </a:extLst>
          </p:cNvPr>
          <p:cNvSpPr/>
          <p:nvPr/>
        </p:nvSpPr>
        <p:spPr>
          <a:xfrm>
            <a:off x="685800" y="2820000"/>
            <a:ext cx="5240000" cy="1200000"/>
          </a:xfrm>
          <a:prstGeom prst="rect">
            <a:avLst/>
          </a:prstGeom>
          <a:solidFill>
            <a:srgbClr val="FFFFFF"/>
          </a:solidFill>
          <a:ln w="12700">
            <a:solidFill>
              <a:srgbClr val="E6E8EF"/>
            </a:solidFill>
            <a:prstDash val="solid"/>
          </a:ln>
          <a:effectLst>
            <a:outerShdw blurRad="114300" dist="38100" dir="5400000" algn="bl" rotWithShape="0">
              <a:srgbClr val="5B6068">
                <a:alpha val="9000"/>
              </a:srgbClr>
            </a:outerShdw>
          </a:effectLst>
        </p:spPr>
        <p:txBody>
          <a:bodyPr/>
          <a:lstStyle/>
          <a:p>
            <a:endParaRPr lang="es-419" noProof="0" dirty="0"/>
          </a:p>
        </p:txBody>
      </p:sp>
      <p:sp>
        <p:nvSpPr>
          <p:cNvPr id="13" name="Text valor"/>
          <p:cNvSpPr/>
          <p:nvPr/>
        </p:nvSpPr>
        <p:spPr>
          <a:xfrm>
            <a:off x="925800" y="2940000"/>
            <a:ext cx="4760000" cy="960000"/>
          </a:xfrm>
          <a:prstGeom prst="rect">
            <a:avLst/>
          </a:prstGeom>
          <a:noFill/>
          <a:ln/>
        </p:spPr>
        <p:txBody>
          <a:bodyPr wrap="square" lIns="0" tIns="0" rIns="0" bIns="0" rtlCol="0" anchor="t"/>
          <a:lstStyle/>
          <a:p>
            <a:pPr marL="0" indent="0" algn="l">
              <a:buNone/>
            </a:pPr>
            <a:r>
              <a:rPr lang="en-US" sz="1050" b="1" kern="0" spc="150" dirty="0">
                <a:solidFill>
                  <a:srgbClr val="2A3FE0"/>
                </a:solidFill>
                <a:latin typeface="Roboto Condensed Medium" pitchFamily="34" charset="0"/>
                <a:ea typeface="Roboto Condensed Medium" pitchFamily="34" charset="-122"/>
                <a:cs typeface="Roboto Condensed Medium" pitchFamily="34" charset="-120"/>
              </a:rPr>
              <a:t>VALOR ECONÓMICO DE LA CAPACIDAD</a:t>
            </a:r>
          </a:p>
          <a:p>
            <a:pPr marL="0" indent="0" algn="l">
              <a:spcBef>
                <a:spcPts val="600"/>
              </a:spcBef>
              <a:buNone/>
            </a:pPr>
            <a:r>
              <a:rPr lang="en-US" sz="1700" b="1" dirty="0">
                <a:solidFill>
                  <a:srgbClr val="000000"/>
                </a:solidFill>
                <a:latin typeface="Roboto Condensed Medium" pitchFamily="34" charset="0"/>
                <a:ea typeface="Roboto Condensed Medium" pitchFamily="34" charset="-122"/>
                <a:cs typeface="Roboto Condensed Medium" pitchFamily="34" charset="-120"/>
              </a:rPr>
              <a:t>≈ COP 95 mil - 140 mil / hora</a:t>
            </a:r>
            <a:endParaRPr lang="es-419" sz="900" noProof="0" dirty="0">
              <a:solidFill>
                <a:srgbClr val="5B6068"/>
              </a:solidFill>
              <a:latin typeface="Roboto Condensed" pitchFamily="34" charset="0"/>
              <a:ea typeface="Roboto Condensed" pitchFamily="34" charset="-122"/>
              <a:cs typeface="Roboto Condensed" pitchFamily="34" charset="-120"/>
            </a:endParaRPr>
          </a:p>
        </p:txBody>
      </p:sp>
      <p:sp>
        <p:nvSpPr>
          <p:cNvPr id="14" name="card exec">
            <a:extLst>
              <a:ext uri="{C183D7F6-B498-43B3-948B-1728B52AA6E4}">
                <adec:decorative xmlns:adec="http://schemas.microsoft.com/office/drawing/2017/decorative" val="1"/>
              </a:ext>
            </a:extLst>
          </p:cNvPr>
          <p:cNvSpPr/>
          <p:nvPr/>
        </p:nvSpPr>
        <p:spPr>
          <a:xfrm>
            <a:off x="685800" y="4100000"/>
            <a:ext cx="5240000" cy="1250000"/>
          </a:xfrm>
          <a:prstGeom prst="rect">
            <a:avLst/>
          </a:prstGeom>
          <a:solidFill>
            <a:srgbClr val="E7EAFC"/>
          </a:solidFill>
          <a:ln w="12700">
            <a:solidFill>
              <a:srgbClr val="CBD2F7"/>
            </a:solidFill>
            <a:prstDash val="solid"/>
          </a:ln>
        </p:spPr>
        <p:txBody>
          <a:bodyPr/>
          <a:lstStyle/>
          <a:p>
            <a:endParaRPr lang="es-419" noProof="0"/>
          </a:p>
        </p:txBody>
      </p:sp>
      <p:sp>
        <p:nvSpPr>
          <p:cNvPr id="15" name="Text exec">
            <a:extLst>
              <a:ext uri="{C183D7F6-B498-43B3-948B-1728B52AA6E4}">
                <adec:decorative xmlns:adec="http://schemas.microsoft.com/office/drawing/2017/decorative" val="1"/>
              </a:ext>
            </a:extLst>
          </p:cNvPr>
          <p:cNvSpPr/>
          <p:nvPr/>
        </p:nvSpPr>
        <p:spPr>
          <a:xfrm>
            <a:off x="925800" y="4220000"/>
            <a:ext cx="4760000" cy="1010000"/>
          </a:xfrm>
          <a:prstGeom prst="rect">
            <a:avLst/>
          </a:prstGeom>
          <a:noFill/>
          <a:ln/>
        </p:spPr>
        <p:txBody>
          <a:bodyPr wrap="square" lIns="0" tIns="0" rIns="0" bIns="0" rtlCol="0" anchor="t"/>
          <a:lstStyle/>
          <a:p>
            <a:pPr marL="0" indent="0" algn="l">
              <a:buNone/>
            </a:pPr>
            <a:r>
              <a:rPr lang="en-US" sz="1000" b="1" kern="0" spc="150" dirty="0">
                <a:solidFill>
                  <a:srgbClr val="1E2FB5"/>
                </a:solidFill>
                <a:latin typeface="Roboto Condensed Medium" pitchFamily="34" charset="0"/>
                <a:ea typeface="Roboto Condensed Medium" pitchFamily="34" charset="-122"/>
                <a:cs typeface="Roboto Condensed Medium" pitchFamily="34" charset="-120"/>
              </a:rPr>
              <a:t>MENSAJE EJECUTIVO</a:t>
            </a:r>
          </a:p>
          <a:p>
            <a:pPr marL="0" indent="0" algn="l">
              <a:spcBef>
                <a:spcPts val="500"/>
              </a:spcBef>
              <a:buNone/>
            </a:pPr>
            <a:r>
              <a:rPr lang="en-US" sz="900" dirty="0">
                <a:solidFill>
                  <a:srgbClr val="000000"/>
                </a:solidFill>
                <a:latin typeface="Roboto Condensed" pitchFamily="34" charset="0"/>
                <a:ea typeface="Roboto Condensed" pitchFamily="34" charset="-122"/>
                <a:cs typeface="Roboto Condensed" pitchFamily="34" charset="-120"/>
              </a:rPr>
              <a:t>Copilot se </a:t>
            </a:r>
            <a:r>
              <a:rPr lang="en-US" sz="900" dirty="0" err="1">
                <a:solidFill>
                  <a:srgbClr val="000000"/>
                </a:solidFill>
                <a:latin typeface="Roboto Condensed" pitchFamily="34" charset="0"/>
                <a:ea typeface="Roboto Condensed" pitchFamily="34" charset="-122"/>
                <a:cs typeface="Roboto Condensed" pitchFamily="34" charset="-120"/>
              </a:rPr>
              <a:t>justifica</a:t>
            </a:r>
            <a:r>
              <a:rPr lang="en-US" sz="900" dirty="0">
                <a:solidFill>
                  <a:srgbClr val="000000"/>
                </a:solidFill>
                <a:latin typeface="Roboto Condensed" pitchFamily="34" charset="0"/>
                <a:ea typeface="Roboto Condensed" pitchFamily="34" charset="-122"/>
                <a:cs typeface="Roboto Condensed" pitchFamily="34" charset="-120"/>
              </a:rPr>
              <a:t> </a:t>
            </a:r>
            <a:r>
              <a:rPr lang="en-US" sz="900" dirty="0" err="1">
                <a:solidFill>
                  <a:srgbClr val="000000"/>
                </a:solidFill>
                <a:latin typeface="Roboto Condensed" pitchFamily="34" charset="0"/>
                <a:ea typeface="Roboto Condensed" pitchFamily="34" charset="-122"/>
                <a:cs typeface="Roboto Condensed" pitchFamily="34" charset="-120"/>
              </a:rPr>
              <a:t>si</a:t>
            </a:r>
            <a:r>
              <a:rPr lang="en-US" sz="900" dirty="0">
                <a:solidFill>
                  <a:srgbClr val="000000"/>
                </a:solidFill>
                <a:latin typeface="Roboto Condensed" pitchFamily="34" charset="0"/>
                <a:ea typeface="Roboto Condensed" pitchFamily="34" charset="-122"/>
                <a:cs typeface="Roboto Condensed" pitchFamily="34" charset="-120"/>
              </a:rPr>
              <a:t> libera ≈ 30-45 horas de desarrollo al </a:t>
            </a:r>
            <a:r>
              <a:rPr lang="en-US" sz="900" dirty="0" err="1">
                <a:solidFill>
                  <a:srgbClr val="000000"/>
                </a:solidFill>
                <a:latin typeface="Roboto Condensed" pitchFamily="34" charset="0"/>
                <a:ea typeface="Roboto Condensed" pitchFamily="34" charset="-122"/>
                <a:cs typeface="Roboto Condensed" pitchFamily="34" charset="-120"/>
              </a:rPr>
              <a:t>mes</a:t>
            </a:r>
            <a:r>
              <a:rPr lang="en-US" sz="900" dirty="0">
                <a:solidFill>
                  <a:srgbClr val="000000"/>
                </a:solidFill>
                <a:latin typeface="Roboto Condensed" pitchFamily="34" charset="0"/>
                <a:ea typeface="Roboto Condensed" pitchFamily="34" charset="-122"/>
                <a:cs typeface="Roboto Condensed" pitchFamily="34" charset="-120"/>
              </a:rPr>
              <a:t>.</a:t>
            </a:r>
            <a:endParaRPr lang="es-419" sz="900" noProof="0" dirty="0">
              <a:solidFill>
                <a:srgbClr val="000000"/>
              </a:solidFill>
              <a:latin typeface="Roboto Condensed" pitchFamily="34" charset="0"/>
              <a:ea typeface="Roboto Condensed" pitchFamily="34" charset="-122"/>
              <a:cs typeface="Roboto Condensed" pitchFamily="34" charset="-120"/>
            </a:endParaRPr>
          </a:p>
        </p:txBody>
      </p:sp>
      <p:sp>
        <p:nvSpPr>
          <p:cNvPr id="16" name="Text ai credits"/>
          <p:cNvSpPr/>
          <p:nvPr/>
        </p:nvSpPr>
        <p:spPr>
          <a:xfrm>
            <a:off x="685800" y="5470000"/>
            <a:ext cx="5240000" cy="820000"/>
          </a:xfrm>
          <a:prstGeom prst="rect">
            <a:avLst/>
          </a:prstGeom>
          <a:noFill/>
          <a:ln/>
        </p:spPr>
        <p:txBody>
          <a:bodyPr wrap="square" lIns="0" tIns="0" rIns="0" bIns="0" rtlCol="0" anchor="t"/>
          <a:lstStyle/>
          <a:p>
            <a:pPr marL="0" indent="0" algn="l">
              <a:buNone/>
            </a:pPr>
            <a:r>
              <a:rPr lang="en-US" sz="800" b="1" kern="0" spc="150">
                <a:solidFill>
                  <a:srgbClr val="5B6068"/>
                </a:solidFill>
                <a:latin typeface="Roboto Condensed" pitchFamily="34" charset="0"/>
                <a:ea typeface="Roboto Condensed" pitchFamily="34" charset="-122"/>
                <a:cs typeface="Roboto Condensed" pitchFamily="34" charset="-120"/>
              </a:rPr>
              <a:t>AI CREDITS</a:t>
            </a:r>
          </a:p>
          <a:p>
            <a:pPr marL="0" indent="0" algn="l">
              <a:spcBef>
                <a:spcPts val="300"/>
              </a:spcBef>
              <a:buNone/>
            </a:pPr>
            <a:r>
              <a:rPr lang="en-US" sz="800">
                <a:solidFill>
                  <a:srgbClr val="5B6068"/>
                </a:solidFill>
                <a:latin typeface="Roboto Condensed" pitchFamily="34" charset="0"/>
                <a:ea typeface="Roboto Condensed" pitchFamily="34" charset="-122"/>
                <a:cs typeface="Roboto Condensed" pitchFamily="34" charset="-120"/>
              </a:rPr>
              <a:t>Administrado vía pool incluido y controles de presupuesto; parte del gobierno.</a:t>
            </a:r>
            <a:endParaRPr lang="es-419" sz="800" noProof="0">
              <a:solidFill>
                <a:srgbClr val="5B6068"/>
              </a:solidFill>
              <a:latin typeface="Roboto Condensed" pitchFamily="34" charset="0"/>
              <a:ea typeface="Roboto Condensed" pitchFamily="34" charset="-122"/>
              <a:cs typeface="Roboto Condensed" pitchFamily="34" charset="-120"/>
            </a:endParaRPr>
          </a:p>
        </p:txBody>
      </p:sp>
      <p:sp>
        <p:nvSpPr>
          <p:cNvPr id="20" name="hero card">
            <a:extLst>
              <a:ext uri="{C183D7F6-B498-43B3-948B-1728B52AA6E4}">
                <adec:decorative xmlns:adec="http://schemas.microsoft.com/office/drawing/2017/decorative" val="1"/>
              </a:ext>
            </a:extLst>
          </p:cNvPr>
          <p:cNvSpPr/>
          <p:nvPr/>
        </p:nvSpPr>
        <p:spPr>
          <a:xfrm>
            <a:off x="6200120" y="1600000"/>
            <a:ext cx="5303032" cy="1740000"/>
          </a:xfrm>
          <a:prstGeom prst="rect">
            <a:avLst/>
          </a:prstGeom>
          <a:solidFill>
            <a:srgbClr val="2A3FE0"/>
          </a:solidFill>
          <a:ln/>
          <a:effectLst>
            <a:outerShdw blurRad="114300" dist="38100" dir="5400000" algn="bl" rotWithShape="0">
              <a:srgbClr val="5B6068">
                <a:alpha val="12000"/>
              </a:srgbClr>
            </a:outerShdw>
          </a:effectLst>
        </p:spPr>
        <p:txBody>
          <a:bodyPr/>
          <a:lstStyle/>
          <a:p>
            <a:endParaRPr lang="es-419" noProof="0"/>
          </a:p>
        </p:txBody>
      </p:sp>
      <p:sp>
        <p:nvSpPr>
          <p:cNvPr id="21" name="Text hero">
            <a:extLst>
              <a:ext uri="{C183D7F6-B498-43B3-948B-1728B52AA6E4}">
                <adec:decorative xmlns:adec="http://schemas.microsoft.com/office/drawing/2017/decorative" val="1"/>
              </a:ext>
            </a:extLst>
          </p:cNvPr>
          <p:cNvSpPr/>
          <p:nvPr/>
        </p:nvSpPr>
        <p:spPr>
          <a:xfrm>
            <a:off x="6440120" y="1720000"/>
            <a:ext cx="4823032" cy="1500000"/>
          </a:xfrm>
          <a:prstGeom prst="rect">
            <a:avLst/>
          </a:prstGeom>
          <a:noFill/>
          <a:ln/>
        </p:spPr>
        <p:txBody>
          <a:bodyPr wrap="square" lIns="0" tIns="0" rIns="0" bIns="0" rtlCol="0" anchor="t"/>
          <a:lstStyle/>
          <a:p>
            <a:pPr marL="0" indent="0" algn="l">
              <a:buNone/>
            </a:pPr>
            <a:r>
              <a:rPr lang="en-US" sz="1100" b="1" kern="0" spc="200" dirty="0">
                <a:solidFill>
                  <a:srgbClr val="FFFFFF"/>
                </a:solidFill>
                <a:latin typeface="Roboto Condensed Medium" pitchFamily="34" charset="0"/>
                <a:ea typeface="Roboto Condensed Medium" pitchFamily="34" charset="-122"/>
                <a:cs typeface="Roboto Condensed Medium" pitchFamily="34" charset="-120"/>
              </a:rPr>
              <a:t>PUNTO DE EQUILIBRIO</a:t>
            </a:r>
          </a:p>
          <a:p>
            <a:pPr marL="0" indent="0" algn="l">
              <a:spcBef>
                <a:spcPts val="500"/>
              </a:spcBef>
              <a:buNone/>
            </a:pPr>
            <a:r>
              <a:rPr lang="en-US" sz="2400" b="1" dirty="0">
                <a:solidFill>
                  <a:srgbClr val="FFFFFF"/>
                </a:solidFill>
                <a:latin typeface="Roboto Condensed Medium" pitchFamily="34" charset="0"/>
                <a:ea typeface="Roboto Condensed Medium" pitchFamily="34" charset="-122"/>
                <a:cs typeface="Roboto Condensed Medium" pitchFamily="34" charset="-120"/>
              </a:rPr>
              <a:t>≈ 30 - 45 horas </a:t>
            </a:r>
            <a:r>
              <a:rPr lang="en-US" sz="2400" b="1" dirty="0" err="1">
                <a:solidFill>
                  <a:srgbClr val="FFFFFF"/>
                </a:solidFill>
                <a:latin typeface="Roboto Condensed Medium" pitchFamily="34" charset="0"/>
                <a:ea typeface="Roboto Condensed Medium" pitchFamily="34" charset="-122"/>
                <a:cs typeface="Roboto Condensed Medium" pitchFamily="34" charset="-120"/>
              </a:rPr>
              <a:t>liberadas</a:t>
            </a:r>
            <a:r>
              <a:rPr lang="en-US" sz="2400" b="1" dirty="0">
                <a:solidFill>
                  <a:srgbClr val="FFFFFF"/>
                </a:solidFill>
                <a:latin typeface="Roboto Condensed Medium" pitchFamily="34" charset="0"/>
                <a:ea typeface="Roboto Condensed Medium" pitchFamily="34" charset="-122"/>
                <a:cs typeface="Roboto Condensed Medium" pitchFamily="34" charset="-120"/>
              </a:rPr>
              <a:t> / </a:t>
            </a:r>
            <a:r>
              <a:rPr lang="en-US" sz="2400" b="1" dirty="0" err="1">
                <a:solidFill>
                  <a:srgbClr val="FFFFFF"/>
                </a:solidFill>
                <a:latin typeface="Roboto Condensed Medium" pitchFamily="34" charset="0"/>
                <a:ea typeface="Roboto Condensed Medium" pitchFamily="34" charset="-122"/>
                <a:cs typeface="Roboto Condensed Medium" pitchFamily="34" charset="-120"/>
              </a:rPr>
              <a:t>mes</a:t>
            </a:r>
            <a:endParaRPr lang="en-US" sz="2400" b="1" dirty="0">
              <a:solidFill>
                <a:srgbClr val="FFFFFF"/>
              </a:solidFill>
              <a:latin typeface="Roboto Condensed Medium" pitchFamily="34" charset="0"/>
              <a:ea typeface="Roboto Condensed Medium" pitchFamily="34" charset="-122"/>
              <a:cs typeface="Roboto Condensed Medium" pitchFamily="34" charset="-120"/>
            </a:endParaRPr>
          </a:p>
          <a:p>
            <a:pPr marL="0" indent="0" algn="l">
              <a:spcBef>
                <a:spcPts val="500"/>
              </a:spcBef>
              <a:buNone/>
            </a:pPr>
            <a:r>
              <a:rPr lang="en-US" sz="1100" b="1" dirty="0">
                <a:solidFill>
                  <a:srgbClr val="FFFFFF"/>
                </a:solidFill>
                <a:latin typeface="Roboto Condensed" pitchFamily="34" charset="0"/>
                <a:ea typeface="Roboto Condensed" pitchFamily="34" charset="-122"/>
                <a:cs typeface="Roboto Condensed" pitchFamily="34" charset="-120"/>
              </a:rPr>
              <a:t>Menos de 40 min </a:t>
            </a:r>
            <a:r>
              <a:rPr lang="en-US" sz="1100" b="1" dirty="0" err="1">
                <a:solidFill>
                  <a:srgbClr val="FFFFFF"/>
                </a:solidFill>
                <a:latin typeface="Roboto Condensed" pitchFamily="34" charset="0"/>
                <a:ea typeface="Roboto Condensed" pitchFamily="34" charset="-122"/>
                <a:cs typeface="Roboto Condensed" pitchFamily="34" charset="-120"/>
              </a:rPr>
              <a:t>por</a:t>
            </a:r>
            <a:r>
              <a:rPr lang="en-US" sz="1100" b="1" dirty="0">
                <a:solidFill>
                  <a:srgbClr val="FFFFFF"/>
                </a:solidFill>
                <a:latin typeface="Roboto Condensed" pitchFamily="34" charset="0"/>
                <a:ea typeface="Roboto Condensed" pitchFamily="34" charset="-122"/>
                <a:cs typeface="Roboto Condensed" pitchFamily="34" charset="-120"/>
              </a:rPr>
              <a:t> </a:t>
            </a:r>
            <a:r>
              <a:rPr lang="en-US" sz="1100" b="1" dirty="0" err="1">
                <a:solidFill>
                  <a:srgbClr val="FFFFFF"/>
                </a:solidFill>
                <a:latin typeface="Roboto Condensed" pitchFamily="34" charset="0"/>
                <a:ea typeface="Roboto Condensed" pitchFamily="34" charset="-122"/>
                <a:cs typeface="Roboto Condensed" pitchFamily="34" charset="-120"/>
              </a:rPr>
              <a:t>desarrollador</a:t>
            </a:r>
            <a:r>
              <a:rPr lang="en-US" sz="1100" b="1" dirty="0">
                <a:solidFill>
                  <a:srgbClr val="FFFFFF"/>
                </a:solidFill>
                <a:latin typeface="Roboto Condensed" pitchFamily="34" charset="0"/>
                <a:ea typeface="Roboto Condensed" pitchFamily="34" charset="-122"/>
                <a:cs typeface="Roboto Condensed" pitchFamily="34" charset="-120"/>
              </a:rPr>
              <a:t> al </a:t>
            </a:r>
            <a:r>
              <a:rPr lang="en-US" sz="1100" b="1" dirty="0" err="1">
                <a:solidFill>
                  <a:srgbClr val="FFFFFF"/>
                </a:solidFill>
                <a:latin typeface="Roboto Condensed" pitchFamily="34" charset="0"/>
                <a:ea typeface="Roboto Condensed" pitchFamily="34" charset="-122"/>
                <a:cs typeface="Roboto Condensed" pitchFamily="34" charset="-120"/>
              </a:rPr>
              <a:t>mes</a:t>
            </a:r>
            <a:r>
              <a:rPr lang="en-US" sz="1100" b="1" dirty="0">
                <a:solidFill>
                  <a:srgbClr val="FFFFFF"/>
                </a:solidFill>
                <a:latin typeface="Roboto Condensed" pitchFamily="34" charset="0"/>
                <a:ea typeface="Roboto Condensed" pitchFamily="34" charset="-122"/>
                <a:cs typeface="Roboto Condensed" pitchFamily="34" charset="-120"/>
              </a:rPr>
              <a:t>.</a:t>
            </a:r>
            <a:endParaRPr lang="es-419" sz="800" i="1" noProof="0" dirty="0">
              <a:solidFill>
                <a:srgbClr val="E0E5FC"/>
              </a:solidFill>
              <a:latin typeface="Roboto Condensed" pitchFamily="34" charset="0"/>
              <a:ea typeface="Roboto Condensed" pitchFamily="34" charset="-122"/>
              <a:cs typeface="Roboto Condensed" pitchFamily="34" charset="-120"/>
            </a:endParaRPr>
          </a:p>
        </p:txBody>
      </p:sp>
      <p:sp>
        <p:nvSpPr>
          <p:cNvPr id="22" name="sens card">
            <a:extLst>
              <a:ext uri="{C183D7F6-B498-43B3-948B-1728B52AA6E4}">
                <adec:decorative xmlns:adec="http://schemas.microsoft.com/office/drawing/2017/decorative" val="1"/>
              </a:ext>
            </a:extLst>
          </p:cNvPr>
          <p:cNvSpPr/>
          <p:nvPr/>
        </p:nvSpPr>
        <p:spPr>
          <a:xfrm>
            <a:off x="6200120" y="3420000"/>
            <a:ext cx="5303032" cy="1560000"/>
          </a:xfrm>
          <a:prstGeom prst="rect">
            <a:avLst/>
          </a:prstGeom>
          <a:solidFill>
            <a:srgbClr val="FFFFFF"/>
          </a:solidFill>
          <a:ln w="12700">
            <a:solidFill>
              <a:srgbClr val="E6E8EF"/>
            </a:solidFill>
            <a:prstDash val="solid"/>
          </a:ln>
          <a:effectLst>
            <a:outerShdw blurRad="114300" dist="38100" dir="5400000" algn="bl" rotWithShape="0">
              <a:srgbClr val="5B6068">
                <a:alpha val="9000"/>
              </a:srgbClr>
            </a:outerShdw>
          </a:effectLst>
        </p:spPr>
        <p:txBody>
          <a:bodyPr/>
          <a:lstStyle/>
          <a:p>
            <a:endParaRPr lang="es-419" noProof="0"/>
          </a:p>
        </p:txBody>
      </p:sp>
      <p:sp>
        <p:nvSpPr>
          <p:cNvPr id="23" name="Text sens"/>
          <p:cNvSpPr/>
          <p:nvPr/>
        </p:nvSpPr>
        <p:spPr>
          <a:xfrm>
            <a:off x="6440120" y="3540000"/>
            <a:ext cx="4823032" cy="1320000"/>
          </a:xfrm>
          <a:prstGeom prst="rect">
            <a:avLst/>
          </a:prstGeom>
          <a:noFill/>
          <a:ln/>
        </p:spPr>
        <p:txBody>
          <a:bodyPr wrap="square" lIns="0" tIns="0" rIns="0" bIns="0" rtlCol="0" anchor="t"/>
          <a:lstStyle/>
          <a:p>
            <a:pPr marL="0" indent="0" algn="l">
              <a:buNone/>
            </a:pPr>
            <a:r>
              <a:rPr lang="en-US" sz="1050" b="1" kern="0" spc="150">
                <a:solidFill>
                  <a:srgbClr val="2A3FE0"/>
                </a:solidFill>
                <a:latin typeface="Roboto Condensed Medium" pitchFamily="34" charset="0"/>
                <a:ea typeface="Roboto Condensed Medium" pitchFamily="34" charset="-122"/>
                <a:cs typeface="Roboto Condensed Medium" pitchFamily="34" charset="-120"/>
              </a:rPr>
              <a:t>ESCENARIOS DE SENSIBILIDAD</a:t>
            </a:r>
          </a:p>
          <a:p>
            <a:pPr marL="0" indent="0" algn="l">
              <a:spcBef>
                <a:spcPts val="500"/>
              </a:spcBef>
              <a:buNone/>
            </a:pPr>
            <a:r>
              <a:rPr lang="en-US" sz="1050" b="1">
                <a:solidFill>
                  <a:srgbClr val="5B6068"/>
                </a:solidFill>
                <a:latin typeface="Roboto Condensed Medium" pitchFamily="34" charset="0"/>
                <a:ea typeface="Roboto Condensed Medium" pitchFamily="34" charset="-122"/>
                <a:cs typeface="Roboto Condensed Medium" pitchFamily="34" charset="-120"/>
              </a:rPr>
              <a:t>25 h  </a:t>
            </a:r>
            <a:r>
              <a:rPr lang="en-US" sz="1000">
                <a:solidFill>
                  <a:srgbClr val="5B6068"/>
                </a:solidFill>
                <a:latin typeface="Roboto Condensed" pitchFamily="34" charset="0"/>
                <a:ea typeface="Roboto Condensed" pitchFamily="34" charset="-122"/>
                <a:cs typeface="Roboto Condensed" pitchFamily="34" charset="-120"/>
              </a:rPr>
              <a:t>·  Bajo equilibrio</a:t>
            </a:r>
          </a:p>
          <a:p>
            <a:pPr marL="0" indent="0" algn="l">
              <a:spcBef>
                <a:spcPts val="300"/>
              </a:spcBef>
              <a:buNone/>
            </a:pPr>
            <a:r>
              <a:rPr lang="en-US" sz="1050" b="1">
                <a:solidFill>
                  <a:srgbClr val="2A3FE0"/>
                </a:solidFill>
                <a:latin typeface="Roboto Condensed Medium" pitchFamily="34" charset="0"/>
                <a:ea typeface="Roboto Condensed Medium" pitchFamily="34" charset="-122"/>
                <a:cs typeface="Roboto Condensed Medium" pitchFamily="34" charset="-120"/>
              </a:rPr>
              <a:t>50 h  </a:t>
            </a:r>
            <a:r>
              <a:rPr lang="en-US" sz="1000">
                <a:solidFill>
                  <a:srgbClr val="000000"/>
                </a:solidFill>
                <a:latin typeface="Roboto Condensed" pitchFamily="34" charset="0"/>
                <a:ea typeface="Roboto Condensed" pitchFamily="34" charset="-122"/>
                <a:cs typeface="Roboto Condensed" pitchFamily="34" charset="-120"/>
              </a:rPr>
              <a:t>·  ROI positivo</a:t>
            </a:r>
          </a:p>
          <a:p>
            <a:pPr marL="0" indent="0" algn="l">
              <a:spcBef>
                <a:spcPts val="300"/>
              </a:spcBef>
              <a:buNone/>
            </a:pPr>
            <a:r>
              <a:rPr lang="en-US" sz="1050" b="1">
                <a:solidFill>
                  <a:srgbClr val="2A3FE0"/>
                </a:solidFill>
                <a:latin typeface="Roboto Condensed Medium" pitchFamily="34" charset="0"/>
                <a:ea typeface="Roboto Condensed Medium" pitchFamily="34" charset="-122"/>
                <a:cs typeface="Roboto Condensed Medium" pitchFamily="34" charset="-120"/>
              </a:rPr>
              <a:t>100 h  </a:t>
            </a:r>
            <a:r>
              <a:rPr lang="en-US" sz="1000">
                <a:solidFill>
                  <a:srgbClr val="000000"/>
                </a:solidFill>
                <a:latin typeface="Roboto Condensed" pitchFamily="34" charset="0"/>
                <a:ea typeface="Roboto Condensed" pitchFamily="34" charset="-122"/>
                <a:cs typeface="Roboto Condensed" pitchFamily="34" charset="-120"/>
              </a:rPr>
              <a:t>·  ROI alto</a:t>
            </a:r>
          </a:p>
          <a:p>
            <a:pPr marL="0" indent="0" algn="l">
              <a:spcBef>
                <a:spcPts val="300"/>
              </a:spcBef>
              <a:buNone/>
            </a:pPr>
            <a:r>
              <a:rPr lang="en-US" sz="1050" b="1">
                <a:solidFill>
                  <a:srgbClr val="2A3FE0"/>
                </a:solidFill>
                <a:latin typeface="Roboto Condensed Medium" pitchFamily="34" charset="0"/>
                <a:ea typeface="Roboto Condensed Medium" pitchFamily="34" charset="-122"/>
                <a:cs typeface="Roboto Condensed Medium" pitchFamily="34" charset="-120"/>
              </a:rPr>
              <a:t>200 h  </a:t>
            </a:r>
            <a:r>
              <a:rPr lang="en-US" sz="1000">
                <a:solidFill>
                  <a:srgbClr val="000000"/>
                </a:solidFill>
                <a:latin typeface="Roboto Condensed" pitchFamily="34" charset="0"/>
                <a:ea typeface="Roboto Condensed" pitchFamily="34" charset="-122"/>
                <a:cs typeface="Roboto Condensed" pitchFamily="34" charset="-120"/>
              </a:rPr>
              <a:t>·  ROI muy alto</a:t>
            </a:r>
            <a:endParaRPr lang="es-419" sz="800" i="1" noProof="0">
              <a:solidFill>
                <a:srgbClr val="5B6068"/>
              </a:solidFill>
              <a:latin typeface="Roboto Condensed" pitchFamily="34" charset="0"/>
              <a:ea typeface="Roboto Condensed" pitchFamily="34" charset="-122"/>
              <a:cs typeface="Roboto Condensed" pitchFamily="34" charset="-120"/>
            </a:endParaRPr>
          </a:p>
        </p:txBody>
      </p:sp>
      <p:sp>
        <p:nvSpPr>
          <p:cNvPr id="24" name="Text metodologica">
            <a:extLst>
              <a:ext uri="{C183D7F6-B498-43B3-948B-1728B52AA6E4}">
                <adec:decorative xmlns:adec="http://schemas.microsoft.com/office/drawing/2017/decorative" val="1"/>
              </a:ext>
            </a:extLst>
          </p:cNvPr>
          <p:cNvSpPr/>
          <p:nvPr/>
        </p:nvSpPr>
        <p:spPr>
          <a:xfrm>
            <a:off x="6200120" y="5060000"/>
            <a:ext cx="5303032" cy="1230000"/>
          </a:xfrm>
          <a:prstGeom prst="rect">
            <a:avLst/>
          </a:prstGeom>
          <a:noFill/>
          <a:ln/>
        </p:spPr>
        <p:txBody>
          <a:bodyPr wrap="square" lIns="0" tIns="0" rIns="0" bIns="0" rtlCol="0" anchor="t"/>
          <a:lstStyle/>
          <a:p>
            <a:pPr marL="0" indent="0" algn="l">
              <a:buNone/>
            </a:pPr>
            <a:r>
              <a:rPr lang="en-US" sz="800" b="1" kern="0" spc="150">
                <a:solidFill>
                  <a:srgbClr val="5B6068"/>
                </a:solidFill>
                <a:latin typeface="Roboto Condensed" pitchFamily="34" charset="0"/>
                <a:ea typeface="Roboto Condensed" pitchFamily="34" charset="-122"/>
                <a:cs typeface="Roboto Condensed" pitchFamily="34" charset="-120"/>
              </a:rPr>
              <a:t>NOTA METODOLÓGICA</a:t>
            </a:r>
          </a:p>
          <a:p>
            <a:pPr marL="0" indent="0" algn="l">
              <a:spcBef>
                <a:spcPts val="300"/>
              </a:spcBef>
              <a:buNone/>
            </a:pPr>
            <a:r>
              <a:rPr lang="en-US" sz="800">
                <a:solidFill>
                  <a:srgbClr val="5B6068"/>
                </a:solidFill>
                <a:latin typeface="Roboto Condensed" pitchFamily="34" charset="0"/>
                <a:ea typeface="Roboto Condensed" pitchFamily="34" charset="-122"/>
                <a:cs typeface="Roboto Condensed" pitchFamily="34" charset="-120"/>
              </a:rPr>
              <a:t>Estima capacidad liberada, no ahorro directo de caja; depende de la tasa de cambio.</a:t>
            </a:r>
            <a:endParaRPr lang="es-419" sz="800" noProof="0">
              <a:solidFill>
                <a:srgbClr val="5B6068"/>
              </a:solidFill>
              <a:latin typeface="Roboto Condensed" pitchFamily="34" charset="0"/>
              <a:ea typeface="Roboto Condensed" pitchFamily="34" charset="-122"/>
              <a:cs typeface="Roboto Condensed" pitchFamily="34" charset="-120"/>
            </a:endParaRPr>
          </a:p>
        </p:txBody>
      </p:sp>
      <p:sp>
        <p:nvSpPr>
          <p:cNvPr id="40" name="Text 38"/>
          <p:cNvSpPr/>
          <p:nvPr/>
        </p:nvSpPr>
        <p:spPr>
          <a:xfrm>
            <a:off x="685800" y="6437376"/>
            <a:ext cx="8686800" cy="292608"/>
          </a:xfrm>
          <a:prstGeom prst="rect">
            <a:avLst/>
          </a:prstGeom>
          <a:noFill/>
          <a:ln/>
        </p:spPr>
        <p:txBody>
          <a:bodyPr wrap="square" lIns="0" tIns="0" rIns="0" bIns="0" rtlCol="0" anchor="ctr"/>
          <a:lstStyle/>
          <a:p>
            <a:pPr marL="0" indent="0" algn="l">
              <a:buNone/>
            </a:pPr>
            <a:r>
              <a:rPr lang="es-419" sz="850" b="1" noProof="0">
                <a:solidFill>
                  <a:srgbClr val="000000"/>
                </a:solidFill>
                <a:latin typeface="Roboto Condensed" pitchFamily="34" charset="0"/>
                <a:ea typeface="Roboto Condensed" pitchFamily="34" charset="-122"/>
                <a:cs typeface="Roboto Condensed" pitchFamily="34" charset="-120"/>
              </a:rPr>
              <a:t>Tuya</a:t>
            </a:r>
            <a:r>
              <a:rPr lang="es-419" sz="850" noProof="0">
                <a:solidFill>
                  <a:srgbClr val="5B6068"/>
                </a:solidFill>
                <a:latin typeface="Roboto Condensed" pitchFamily="34" charset="0"/>
                <a:ea typeface="Roboto Condensed" pitchFamily="34" charset="-122"/>
                <a:cs typeface="Roboto Condensed" pitchFamily="34" charset="-120"/>
              </a:rPr>
              <a:t>   ·   GitHub </a:t>
            </a:r>
            <a:r>
              <a:rPr lang="es-419" sz="850" noProof="0" err="1">
                <a:solidFill>
                  <a:srgbClr val="5B6068"/>
                </a:solidFill>
                <a:latin typeface="Roboto Condensed" pitchFamily="34" charset="0"/>
                <a:ea typeface="Roboto Condensed" pitchFamily="34" charset="-122"/>
                <a:cs typeface="Roboto Condensed" pitchFamily="34" charset="-120"/>
              </a:rPr>
              <a:t>Copilot</a:t>
            </a:r>
            <a:r>
              <a:rPr lang="es-419" sz="850" noProof="0">
                <a:solidFill>
                  <a:srgbClr val="5B6068"/>
                </a:solidFill>
                <a:latin typeface="Roboto Condensed" pitchFamily="34" charset="0"/>
                <a:ea typeface="Roboto Condensed" pitchFamily="34" charset="-122"/>
                <a:cs typeface="Roboto Condensed" pitchFamily="34" charset="-120"/>
              </a:rPr>
              <a:t> - Caso de negocio</a:t>
            </a:r>
            <a:endParaRPr lang="es-419" sz="850" noProof="0" dirty="0"/>
          </a:p>
        </p:txBody>
      </p:sp>
      <p:sp>
        <p:nvSpPr>
          <p:cNvPr id="41" name="Text 39"/>
          <p:cNvSpPr/>
          <p:nvPr/>
        </p:nvSpPr>
        <p:spPr>
          <a:xfrm>
            <a:off x="10972800" y="6437376"/>
            <a:ext cx="530352" cy="292608"/>
          </a:xfrm>
          <a:prstGeom prst="rect">
            <a:avLst/>
          </a:prstGeom>
          <a:noFill/>
          <a:ln/>
        </p:spPr>
        <p:txBody>
          <a:bodyPr wrap="square" lIns="0" tIns="0" rIns="0" bIns="0" rtlCol="0" anchor="ctr"/>
          <a:lstStyle/>
          <a:p>
            <a:pPr marL="0" indent="0" algn="r">
              <a:buNone/>
            </a:pPr>
            <a:r>
              <a:rPr lang="es-419" sz="900" b="1" noProof="0">
                <a:solidFill>
                  <a:srgbClr val="2A3FE0"/>
                </a:solidFill>
                <a:latin typeface="Roboto Condensed Medium" pitchFamily="34" charset="0"/>
                <a:ea typeface="Roboto Condensed Medium" pitchFamily="34" charset="-122"/>
                <a:cs typeface="Roboto Condensed Medium" pitchFamily="34" charset="-120"/>
              </a:rPr>
              <a:t>07</a:t>
            </a:r>
            <a:endParaRPr lang="es-419" sz="900" noProof="0" dirty="0"/>
          </a:p>
        </p:txBody>
      </p:sp>
      <p:pic>
        <p:nvPicPr>
          <p:cNvPr id="950" name="Logo Tuya"/>
          <p:cNvPicPr>
            <a:picLocks noChangeAspect="1"/>
          </p:cNvPicPr>
          <p:nvPr/>
        </p:nvPicPr>
        <p:blipFill>
          <a:blip r:embed="rId3"/>
          <a:stretch>
            <a:fillRect/>
          </a:stretch>
        </p:blipFill>
        <p:spPr>
          <a:xfrm>
            <a:off x="11152200" y="321276"/>
            <a:ext cx="640080" cy="320040"/>
          </a:xfrm>
          <a:prstGeom prst="rect">
            <a:avLst/>
          </a:prstGeom>
        </p:spPr>
      </p:pic>
    </p:spTree>
    <p:extLst>
      <p:ext uri="{BB962C8B-B14F-4D97-AF65-F5344CB8AC3E}">
        <p14:creationId xmlns:p14="http://schemas.microsoft.com/office/powerpoint/2010/main" val="5578923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kicker mark">
            <a:extLst>
              <a:ext uri="{C183D7F6-B498-43B3-948B-1728B52AA6E4}">
                <adec:decorative xmlns:adec="http://schemas.microsoft.com/office/drawing/2017/decorative" val="1"/>
              </a:ext>
            </a:extLst>
          </p:cNvPr>
          <p:cNvSpPr/>
          <p:nvPr/>
        </p:nvSpPr>
        <p:spPr>
          <a:xfrm>
            <a:off x="685800" y="402336"/>
            <a:ext cx="146304" cy="146304"/>
          </a:xfrm>
          <a:prstGeom prst="rect">
            <a:avLst/>
          </a:prstGeom>
          <a:solidFill>
            <a:srgbClr val="2A3FE0"/>
          </a:solidFill>
          <a:ln/>
        </p:spPr>
        <p:txBody>
          <a:bodyPr/>
          <a:lstStyle/>
          <a:p>
            <a:endParaRPr lang="es-419" noProof="0" dirty="0"/>
          </a:p>
        </p:txBody>
      </p:sp>
      <p:sp>
        <p:nvSpPr>
          <p:cNvPr id="3" name="Text 1"/>
          <p:cNvSpPr/>
          <p:nvPr/>
        </p:nvSpPr>
        <p:spPr>
          <a:xfrm>
            <a:off x="932688" y="310896"/>
            <a:ext cx="9601200" cy="310896"/>
          </a:xfrm>
          <a:prstGeom prst="rect">
            <a:avLst/>
          </a:prstGeom>
          <a:noFill/>
          <a:ln/>
        </p:spPr>
        <p:txBody>
          <a:bodyPr wrap="square" lIns="0" tIns="0" rIns="0" bIns="0" rtlCol="0" anchor="ctr"/>
          <a:lstStyle/>
          <a:p>
            <a:pPr marL="0" indent="0" algn="l">
              <a:buNone/>
            </a:pPr>
            <a:r>
              <a:rPr lang="es-419" sz="1150" b="1" kern="0" spc="200" noProof="0">
                <a:solidFill>
                  <a:srgbClr val="2A3FE0"/>
                </a:solidFill>
                <a:latin typeface="Roboto Condensed Medium" pitchFamily="34" charset="0"/>
                <a:ea typeface="Roboto Condensed Medium" pitchFamily="34" charset="-122"/>
                <a:cs typeface="Roboto Condensed Medium" pitchFamily="34" charset="-120"/>
              </a:rPr>
              <a:t>GOBIERNO Y CONTROL DEL CONSUMO</a:t>
            </a:r>
            <a:endParaRPr lang="es-419" sz="1150" noProof="0" dirty="0"/>
          </a:p>
        </p:txBody>
      </p:sp>
      <p:sp>
        <p:nvSpPr>
          <p:cNvPr id="4" name="Text 0"/>
          <p:cNvSpPr>
            <a:spLocks noGrp="1"/>
          </p:cNvSpPr>
          <p:nvPr>
            <p:ph type="title" idx="100" hasCustomPrompt="1"/>
          </p:nvPr>
        </p:nvSpPr>
        <p:spPr>
          <a:xfrm>
            <a:off x="685800" y="658368"/>
            <a:ext cx="10789920" cy="822960"/>
          </a:xfrm>
          <a:prstGeom prst="rect">
            <a:avLst/>
          </a:prstGeom>
          <a:noFill/>
          <a:ln/>
        </p:spPr>
        <p:txBody>
          <a:bodyPr wrap="square" lIns="0" tIns="0" rIns="0" bIns="0" rtlCol="0" anchor="t"/>
          <a:lstStyle/>
          <a:p>
            <a:pPr marL="0" indent="0" algn="l">
              <a:buNone/>
            </a:pPr>
            <a:r>
              <a:rPr lang="es-419" sz="2700" b="1" noProof="0">
                <a:solidFill>
                  <a:srgbClr val="000000"/>
                </a:solidFill>
                <a:latin typeface="Roboto Condensed Medium" pitchFamily="34" charset="0"/>
                <a:ea typeface="Roboto Condensed Medium" pitchFamily="34" charset="-122"/>
                <a:cs typeface="Roboto Condensed Medium" pitchFamily="34" charset="-120"/>
              </a:rPr>
              <a:t>Cómo se puede gobernar y controlar el consumo</a:t>
            </a:r>
            <a:endParaRPr lang="es-419" sz="2700" noProof="0" dirty="0"/>
          </a:p>
        </p:txBody>
      </p:sp>
      <p:sp>
        <p:nvSpPr>
          <p:cNvPr id="5" name="level">
            <a:extLst>
              <a:ext uri="{C183D7F6-B498-43B3-948B-1728B52AA6E4}">
                <adec:decorative xmlns:adec="http://schemas.microsoft.com/office/drawing/2017/decorative" val="1"/>
              </a:ext>
            </a:extLst>
          </p:cNvPr>
          <p:cNvSpPr/>
          <p:nvPr/>
        </p:nvSpPr>
        <p:spPr>
          <a:xfrm>
            <a:off x="685800" y="1282930"/>
            <a:ext cx="6583680" cy="747522"/>
          </a:xfrm>
          <a:prstGeom prst="rect">
            <a:avLst/>
          </a:prstGeom>
          <a:solidFill>
            <a:srgbClr val="FFFFFF"/>
          </a:solidFill>
          <a:ln w="12700">
            <a:solidFill>
              <a:srgbClr val="E6E8EF"/>
            </a:solidFill>
            <a:prstDash val="solid"/>
          </a:ln>
          <a:effectLst>
            <a:outerShdw blurRad="114300" dist="38100" dir="5400000" algn="bl" rotWithShape="0">
              <a:srgbClr val="5B6068">
                <a:alpha val="9000"/>
              </a:srgbClr>
            </a:outerShdw>
          </a:effectLst>
        </p:spPr>
        <p:txBody>
          <a:bodyPr/>
          <a:lstStyle/>
          <a:p>
            <a:endParaRPr lang="es-419" noProof="0" dirty="0"/>
          </a:p>
        </p:txBody>
      </p:sp>
      <p:sp>
        <p:nvSpPr>
          <p:cNvPr id="6" name="level tag">
            <a:extLst>
              <a:ext uri="{C183D7F6-B498-43B3-948B-1728B52AA6E4}">
                <adec:decorative xmlns:adec="http://schemas.microsoft.com/office/drawing/2017/decorative" val="1"/>
              </a:ext>
            </a:extLst>
          </p:cNvPr>
          <p:cNvSpPr/>
          <p:nvPr/>
        </p:nvSpPr>
        <p:spPr>
          <a:xfrm>
            <a:off x="685800" y="1282930"/>
            <a:ext cx="1965960" cy="747522"/>
          </a:xfrm>
          <a:prstGeom prst="rect">
            <a:avLst/>
          </a:prstGeom>
          <a:solidFill>
            <a:srgbClr val="2A3FE0"/>
          </a:solidFill>
          <a:ln/>
        </p:spPr>
        <p:txBody>
          <a:bodyPr/>
          <a:lstStyle/>
          <a:p>
            <a:endParaRPr lang="es-419" noProof="0" dirty="0"/>
          </a:p>
        </p:txBody>
      </p:sp>
      <p:sp>
        <p:nvSpPr>
          <p:cNvPr id="7" name="Text 5"/>
          <p:cNvSpPr/>
          <p:nvPr/>
        </p:nvSpPr>
        <p:spPr>
          <a:xfrm>
            <a:off x="813816" y="1282930"/>
            <a:ext cx="1737360" cy="747522"/>
          </a:xfrm>
          <a:prstGeom prst="rect">
            <a:avLst/>
          </a:prstGeom>
          <a:noFill/>
          <a:ln/>
        </p:spPr>
        <p:txBody>
          <a:bodyPr wrap="square" lIns="0" tIns="0" rIns="0" bIns="0" rtlCol="0" anchor="ctr"/>
          <a:lstStyle/>
          <a:p>
            <a:pPr marL="0" indent="0" algn="l">
              <a:buNone/>
            </a:pPr>
            <a:r>
              <a:rPr lang="es-419" sz="1250" b="1" noProof="0">
                <a:solidFill>
                  <a:srgbClr val="FFFFFF"/>
                </a:solidFill>
                <a:latin typeface="Roboto Condensed Medium" pitchFamily="34" charset="0"/>
                <a:ea typeface="Roboto Condensed Medium" pitchFamily="34" charset="-122"/>
                <a:cs typeface="Roboto Condensed Medium" pitchFamily="34" charset="-120"/>
              </a:rPr>
              <a:t>USUARIO</a:t>
            </a:r>
            <a:endParaRPr lang="es-419" sz="1250" noProof="0" dirty="0"/>
          </a:p>
        </p:txBody>
      </p:sp>
      <p:sp>
        <p:nvSpPr>
          <p:cNvPr id="8" name="Text 6"/>
          <p:cNvSpPr/>
          <p:nvPr/>
        </p:nvSpPr>
        <p:spPr>
          <a:xfrm>
            <a:off x="2807208" y="1337794"/>
            <a:ext cx="4297680" cy="637794"/>
          </a:xfrm>
          <a:prstGeom prst="rect">
            <a:avLst/>
          </a:prstGeom>
          <a:noFill/>
          <a:ln/>
        </p:spPr>
        <p:txBody>
          <a:bodyPr wrap="square" lIns="0" tIns="0" rIns="0" bIns="0" rtlCol="0" anchor="ctr"/>
          <a:lstStyle/>
          <a:p>
            <a:pPr marL="0" indent="0" algn="l">
              <a:buNone/>
            </a:pPr>
            <a:r>
              <a:rPr lang="es-419" sz="1050" noProof="0">
                <a:solidFill>
                  <a:srgbClr val="33373D"/>
                </a:solidFill>
                <a:latin typeface="Roboto Condensed" pitchFamily="34" charset="0"/>
                <a:ea typeface="Roboto Condensed" pitchFamily="34" charset="-122"/>
                <a:cs typeface="Roboto Condensed" pitchFamily="34" charset="-120"/>
              </a:rPr>
              <a:t>Límite individual.</a:t>
            </a:r>
            <a:endParaRPr lang="es-419" sz="1050" noProof="0" dirty="0"/>
          </a:p>
        </p:txBody>
      </p:sp>
      <p:sp>
        <p:nvSpPr>
          <p:cNvPr id="9" name="flow connector">
            <a:extLst>
              <a:ext uri="{C183D7F6-B498-43B3-948B-1728B52AA6E4}">
                <adec:decorative xmlns:adec="http://schemas.microsoft.com/office/drawing/2017/decorative" val="1"/>
              </a:ext>
            </a:extLst>
          </p:cNvPr>
          <p:cNvSpPr/>
          <p:nvPr/>
        </p:nvSpPr>
        <p:spPr>
          <a:xfrm rot="5400000">
            <a:off x="1600200" y="2070079"/>
            <a:ext cx="256032" cy="219456"/>
          </a:xfrm>
          <a:prstGeom prst="chevron">
            <a:avLst/>
          </a:prstGeom>
          <a:solidFill>
            <a:srgbClr val="2A3FE0"/>
          </a:solidFill>
          <a:ln/>
        </p:spPr>
        <p:txBody>
          <a:bodyPr/>
          <a:lstStyle/>
          <a:p>
            <a:endParaRPr lang="es-419" noProof="0" dirty="0"/>
          </a:p>
        </p:txBody>
      </p:sp>
      <p:sp>
        <p:nvSpPr>
          <p:cNvPr id="10" name="level">
            <a:extLst>
              <a:ext uri="{C183D7F6-B498-43B3-948B-1728B52AA6E4}">
                <adec:decorative xmlns:adec="http://schemas.microsoft.com/office/drawing/2017/decorative" val="1"/>
              </a:ext>
            </a:extLst>
          </p:cNvPr>
          <p:cNvSpPr/>
          <p:nvPr/>
        </p:nvSpPr>
        <p:spPr>
          <a:xfrm>
            <a:off x="685800" y="2336086"/>
            <a:ext cx="6583680" cy="747522"/>
          </a:xfrm>
          <a:prstGeom prst="rect">
            <a:avLst/>
          </a:prstGeom>
          <a:solidFill>
            <a:srgbClr val="FFFFFF"/>
          </a:solidFill>
          <a:ln w="12700">
            <a:solidFill>
              <a:srgbClr val="E6E8EF"/>
            </a:solidFill>
            <a:prstDash val="solid"/>
          </a:ln>
          <a:effectLst>
            <a:outerShdw blurRad="114300" dist="38100" dir="5400000" algn="bl" rotWithShape="0">
              <a:srgbClr val="5B6068">
                <a:alpha val="9000"/>
              </a:srgbClr>
            </a:outerShdw>
          </a:effectLst>
        </p:spPr>
        <p:txBody>
          <a:bodyPr/>
          <a:lstStyle/>
          <a:p>
            <a:endParaRPr lang="es-419" noProof="0" dirty="0"/>
          </a:p>
        </p:txBody>
      </p:sp>
      <p:sp>
        <p:nvSpPr>
          <p:cNvPr id="11" name="level tag">
            <a:extLst>
              <a:ext uri="{C183D7F6-B498-43B3-948B-1728B52AA6E4}">
                <adec:decorative xmlns:adec="http://schemas.microsoft.com/office/drawing/2017/decorative" val="1"/>
              </a:ext>
            </a:extLst>
          </p:cNvPr>
          <p:cNvSpPr/>
          <p:nvPr/>
        </p:nvSpPr>
        <p:spPr>
          <a:xfrm>
            <a:off x="685800" y="2336086"/>
            <a:ext cx="1965960" cy="747522"/>
          </a:xfrm>
          <a:prstGeom prst="rect">
            <a:avLst/>
          </a:prstGeom>
          <a:solidFill>
            <a:srgbClr val="E7EAFC"/>
          </a:solidFill>
          <a:ln/>
        </p:spPr>
        <p:txBody>
          <a:bodyPr/>
          <a:lstStyle/>
          <a:p>
            <a:endParaRPr lang="es-419" noProof="0" dirty="0"/>
          </a:p>
        </p:txBody>
      </p:sp>
      <p:sp>
        <p:nvSpPr>
          <p:cNvPr id="12" name="Text 10"/>
          <p:cNvSpPr/>
          <p:nvPr/>
        </p:nvSpPr>
        <p:spPr>
          <a:xfrm>
            <a:off x="813816" y="2336086"/>
            <a:ext cx="1737360" cy="747522"/>
          </a:xfrm>
          <a:prstGeom prst="rect">
            <a:avLst/>
          </a:prstGeom>
          <a:noFill/>
          <a:ln/>
        </p:spPr>
        <p:txBody>
          <a:bodyPr wrap="square" lIns="0" tIns="0" rIns="0" bIns="0" rtlCol="0" anchor="ctr"/>
          <a:lstStyle/>
          <a:p>
            <a:pPr marL="0" indent="0" algn="l">
              <a:buNone/>
            </a:pPr>
            <a:r>
              <a:rPr lang="es-419" sz="1250" b="1" noProof="0">
                <a:solidFill>
                  <a:srgbClr val="1E2FB5"/>
                </a:solidFill>
                <a:latin typeface="Roboto Condensed Medium" pitchFamily="34" charset="0"/>
                <a:ea typeface="Roboto Condensed Medium" pitchFamily="34" charset="-122"/>
                <a:cs typeface="Roboto Condensed Medium" pitchFamily="34" charset="-120"/>
              </a:rPr>
              <a:t>ORGANIZACIÓN</a:t>
            </a:r>
            <a:endParaRPr lang="es-419" sz="1250" noProof="0" dirty="0"/>
          </a:p>
        </p:txBody>
      </p:sp>
      <p:sp>
        <p:nvSpPr>
          <p:cNvPr id="13" name="Text 11"/>
          <p:cNvSpPr/>
          <p:nvPr/>
        </p:nvSpPr>
        <p:spPr>
          <a:xfrm>
            <a:off x="2807208" y="2390950"/>
            <a:ext cx="4297680" cy="637794"/>
          </a:xfrm>
          <a:prstGeom prst="rect">
            <a:avLst/>
          </a:prstGeom>
          <a:noFill/>
          <a:ln/>
        </p:spPr>
        <p:txBody>
          <a:bodyPr wrap="square" lIns="0" tIns="0" rIns="0" bIns="0" rtlCol="0" anchor="ctr"/>
          <a:lstStyle/>
          <a:p>
            <a:pPr marL="0" indent="0" algn="l">
              <a:buNone/>
            </a:pPr>
            <a:r>
              <a:rPr lang="es-419" sz="1050" noProof="0">
                <a:solidFill>
                  <a:srgbClr val="33373D"/>
                </a:solidFill>
                <a:latin typeface="Roboto Condensed" pitchFamily="34" charset="0"/>
                <a:ea typeface="Roboto Condensed" pitchFamily="34" charset="-122"/>
                <a:cs typeface="Roboto Condensed" pitchFamily="34" charset="-120"/>
              </a:rPr>
              <a:t>Control de cargos.</a:t>
            </a:r>
            <a:endParaRPr lang="es-419" sz="1050" noProof="0" dirty="0"/>
          </a:p>
        </p:txBody>
      </p:sp>
      <p:sp>
        <p:nvSpPr>
          <p:cNvPr id="14" name="flow connector">
            <a:extLst>
              <a:ext uri="{C183D7F6-B498-43B3-948B-1728B52AA6E4}">
                <adec:decorative xmlns:adec="http://schemas.microsoft.com/office/drawing/2017/decorative" val="1"/>
              </a:ext>
            </a:extLst>
          </p:cNvPr>
          <p:cNvSpPr/>
          <p:nvPr/>
        </p:nvSpPr>
        <p:spPr>
          <a:xfrm rot="5400000">
            <a:off x="1600200" y="3123231"/>
            <a:ext cx="256032" cy="219456"/>
          </a:xfrm>
          <a:prstGeom prst="chevron">
            <a:avLst/>
          </a:prstGeom>
          <a:solidFill>
            <a:srgbClr val="2A3FE0"/>
          </a:solidFill>
          <a:ln/>
        </p:spPr>
        <p:txBody>
          <a:bodyPr/>
          <a:lstStyle/>
          <a:p>
            <a:endParaRPr lang="es-419" noProof="0" dirty="0"/>
          </a:p>
        </p:txBody>
      </p:sp>
      <p:sp>
        <p:nvSpPr>
          <p:cNvPr id="15" name="level">
            <a:extLst>
              <a:ext uri="{C183D7F6-B498-43B3-948B-1728B52AA6E4}">
                <adec:decorative xmlns:adec="http://schemas.microsoft.com/office/drawing/2017/decorative" val="1"/>
              </a:ext>
            </a:extLst>
          </p:cNvPr>
          <p:cNvSpPr/>
          <p:nvPr/>
        </p:nvSpPr>
        <p:spPr>
          <a:xfrm>
            <a:off x="685800" y="3368458"/>
            <a:ext cx="6583680" cy="747522"/>
          </a:xfrm>
          <a:prstGeom prst="rect">
            <a:avLst/>
          </a:prstGeom>
          <a:solidFill>
            <a:srgbClr val="FFFFFF"/>
          </a:solidFill>
          <a:ln w="12700">
            <a:solidFill>
              <a:srgbClr val="E6E8EF"/>
            </a:solidFill>
            <a:prstDash val="solid"/>
          </a:ln>
          <a:effectLst>
            <a:outerShdw blurRad="114300" dist="38100" dir="5400000" algn="bl" rotWithShape="0">
              <a:srgbClr val="5B6068">
                <a:alpha val="9000"/>
              </a:srgbClr>
            </a:outerShdw>
          </a:effectLst>
        </p:spPr>
        <p:txBody>
          <a:bodyPr/>
          <a:lstStyle/>
          <a:p>
            <a:endParaRPr lang="es-419" noProof="0" dirty="0"/>
          </a:p>
        </p:txBody>
      </p:sp>
      <p:sp>
        <p:nvSpPr>
          <p:cNvPr id="16" name="level tag">
            <a:extLst>
              <a:ext uri="{C183D7F6-B498-43B3-948B-1728B52AA6E4}">
                <adec:decorative xmlns:adec="http://schemas.microsoft.com/office/drawing/2017/decorative" val="1"/>
              </a:ext>
            </a:extLst>
          </p:cNvPr>
          <p:cNvSpPr/>
          <p:nvPr/>
        </p:nvSpPr>
        <p:spPr>
          <a:xfrm>
            <a:off x="685800" y="3368458"/>
            <a:ext cx="1965960" cy="747522"/>
          </a:xfrm>
          <a:prstGeom prst="rect">
            <a:avLst/>
          </a:prstGeom>
          <a:solidFill>
            <a:srgbClr val="E7EAFC"/>
          </a:solidFill>
          <a:ln/>
        </p:spPr>
        <p:txBody>
          <a:bodyPr/>
          <a:lstStyle/>
          <a:p>
            <a:endParaRPr lang="es-419" noProof="0" dirty="0"/>
          </a:p>
        </p:txBody>
      </p:sp>
      <p:sp>
        <p:nvSpPr>
          <p:cNvPr id="17" name="Text 15"/>
          <p:cNvSpPr/>
          <p:nvPr/>
        </p:nvSpPr>
        <p:spPr>
          <a:xfrm>
            <a:off x="813816" y="3368458"/>
            <a:ext cx="1737360" cy="747522"/>
          </a:xfrm>
          <a:prstGeom prst="rect">
            <a:avLst/>
          </a:prstGeom>
          <a:noFill/>
          <a:ln/>
        </p:spPr>
        <p:txBody>
          <a:bodyPr wrap="square" lIns="0" tIns="0" rIns="0" bIns="0" rtlCol="0" anchor="ctr"/>
          <a:lstStyle/>
          <a:p>
            <a:pPr marL="0" indent="0" algn="l">
              <a:buNone/>
            </a:pPr>
            <a:r>
              <a:rPr lang="es-419" sz="1250" b="1" noProof="0">
                <a:solidFill>
                  <a:srgbClr val="1E2FB5"/>
                </a:solidFill>
                <a:latin typeface="Roboto Condensed Medium" pitchFamily="34" charset="0"/>
                <a:ea typeface="Roboto Condensed Medium" pitchFamily="34" charset="-122"/>
                <a:cs typeface="Roboto Condensed Medium" pitchFamily="34" charset="-120"/>
              </a:rPr>
              <a:t>COST CENTER</a:t>
            </a:r>
            <a:endParaRPr lang="es-419" sz="1250" noProof="0" dirty="0"/>
          </a:p>
        </p:txBody>
      </p:sp>
      <p:sp>
        <p:nvSpPr>
          <p:cNvPr id="18" name="Text 16"/>
          <p:cNvSpPr/>
          <p:nvPr/>
        </p:nvSpPr>
        <p:spPr>
          <a:xfrm>
            <a:off x="2807208" y="3423322"/>
            <a:ext cx="4297680" cy="637794"/>
          </a:xfrm>
          <a:prstGeom prst="rect">
            <a:avLst/>
          </a:prstGeom>
          <a:noFill/>
          <a:ln/>
        </p:spPr>
        <p:txBody>
          <a:bodyPr wrap="square" lIns="0" tIns="0" rIns="0" bIns="0" rtlCol="0" anchor="ctr"/>
          <a:lstStyle/>
          <a:p>
            <a:pPr marL="0" indent="0" algn="l">
              <a:buNone/>
            </a:pPr>
            <a:r>
              <a:rPr lang="es-419" sz="1050" noProof="0">
                <a:solidFill>
                  <a:srgbClr val="33373D"/>
                </a:solidFill>
                <a:latin typeface="Roboto Condensed" pitchFamily="34" charset="0"/>
                <a:ea typeface="Roboto Condensed" pitchFamily="34" charset="-122"/>
                <a:cs typeface="Roboto Condensed" pitchFamily="34" charset="-120"/>
              </a:rPr>
              <a:t>Presupuesto por grupo.</a:t>
            </a:r>
            <a:endParaRPr lang="es-419" sz="1050" noProof="0" dirty="0"/>
          </a:p>
        </p:txBody>
      </p:sp>
      <p:sp>
        <p:nvSpPr>
          <p:cNvPr id="19" name="flow connector">
            <a:extLst>
              <a:ext uri="{C183D7F6-B498-43B3-948B-1728B52AA6E4}">
                <adec:decorative xmlns:adec="http://schemas.microsoft.com/office/drawing/2017/decorative" val="1"/>
              </a:ext>
            </a:extLst>
          </p:cNvPr>
          <p:cNvSpPr/>
          <p:nvPr/>
        </p:nvSpPr>
        <p:spPr>
          <a:xfrm rot="5400000">
            <a:off x="1600200" y="4134819"/>
            <a:ext cx="256032" cy="219456"/>
          </a:xfrm>
          <a:prstGeom prst="chevron">
            <a:avLst/>
          </a:prstGeom>
          <a:solidFill>
            <a:srgbClr val="2A3FE0"/>
          </a:solidFill>
          <a:ln/>
        </p:spPr>
        <p:txBody>
          <a:bodyPr/>
          <a:lstStyle/>
          <a:p>
            <a:endParaRPr lang="es-419" noProof="0" dirty="0"/>
          </a:p>
        </p:txBody>
      </p:sp>
      <p:sp>
        <p:nvSpPr>
          <p:cNvPr id="20" name="level">
            <a:extLst>
              <a:ext uri="{C183D7F6-B498-43B3-948B-1728B52AA6E4}">
                <adec:decorative xmlns:adec="http://schemas.microsoft.com/office/drawing/2017/decorative" val="1"/>
              </a:ext>
            </a:extLst>
          </p:cNvPr>
          <p:cNvSpPr/>
          <p:nvPr/>
        </p:nvSpPr>
        <p:spPr>
          <a:xfrm>
            <a:off x="685800" y="4386972"/>
            <a:ext cx="6583680" cy="747522"/>
          </a:xfrm>
          <a:prstGeom prst="rect">
            <a:avLst/>
          </a:prstGeom>
          <a:solidFill>
            <a:srgbClr val="FFFFFF"/>
          </a:solidFill>
          <a:ln w="12700">
            <a:solidFill>
              <a:srgbClr val="E6E8EF"/>
            </a:solidFill>
            <a:prstDash val="solid"/>
          </a:ln>
          <a:effectLst>
            <a:outerShdw blurRad="114300" dist="38100" dir="5400000" algn="bl" rotWithShape="0">
              <a:srgbClr val="5B6068">
                <a:alpha val="9000"/>
              </a:srgbClr>
            </a:outerShdw>
          </a:effectLst>
        </p:spPr>
        <p:txBody>
          <a:bodyPr/>
          <a:lstStyle/>
          <a:p>
            <a:endParaRPr lang="es-419" noProof="0" dirty="0"/>
          </a:p>
        </p:txBody>
      </p:sp>
      <p:sp>
        <p:nvSpPr>
          <p:cNvPr id="21" name="level tag">
            <a:extLst>
              <a:ext uri="{C183D7F6-B498-43B3-948B-1728B52AA6E4}">
                <adec:decorative xmlns:adec="http://schemas.microsoft.com/office/drawing/2017/decorative" val="1"/>
              </a:ext>
            </a:extLst>
          </p:cNvPr>
          <p:cNvSpPr/>
          <p:nvPr/>
        </p:nvSpPr>
        <p:spPr>
          <a:xfrm>
            <a:off x="685800" y="4386972"/>
            <a:ext cx="1965960" cy="747522"/>
          </a:xfrm>
          <a:prstGeom prst="rect">
            <a:avLst/>
          </a:prstGeom>
          <a:solidFill>
            <a:srgbClr val="E7EAFC"/>
          </a:solidFill>
          <a:ln/>
        </p:spPr>
        <p:txBody>
          <a:bodyPr/>
          <a:lstStyle/>
          <a:p>
            <a:endParaRPr lang="es-419" noProof="0" dirty="0"/>
          </a:p>
        </p:txBody>
      </p:sp>
      <p:sp>
        <p:nvSpPr>
          <p:cNvPr id="22" name="Text 20"/>
          <p:cNvSpPr/>
          <p:nvPr/>
        </p:nvSpPr>
        <p:spPr>
          <a:xfrm>
            <a:off x="813816" y="4386972"/>
            <a:ext cx="1737360" cy="747522"/>
          </a:xfrm>
          <a:prstGeom prst="rect">
            <a:avLst/>
          </a:prstGeom>
          <a:noFill/>
          <a:ln/>
        </p:spPr>
        <p:txBody>
          <a:bodyPr wrap="square" lIns="0" tIns="0" rIns="0" bIns="0" rtlCol="0" anchor="ctr"/>
          <a:lstStyle/>
          <a:p>
            <a:pPr marL="0" indent="0" algn="l">
              <a:buNone/>
            </a:pPr>
            <a:r>
              <a:rPr lang="es-419" sz="1250" b="1" noProof="0">
                <a:solidFill>
                  <a:srgbClr val="1E2FB5"/>
                </a:solidFill>
                <a:latin typeface="Roboto Condensed Medium" pitchFamily="34" charset="0"/>
                <a:ea typeface="Roboto Condensed Medium" pitchFamily="34" charset="-122"/>
                <a:cs typeface="Roboto Condensed Medium" pitchFamily="34" charset="-120"/>
              </a:rPr>
              <a:t>ENTERPRISE</a:t>
            </a:r>
            <a:endParaRPr lang="es-419" sz="1250" noProof="0" dirty="0"/>
          </a:p>
        </p:txBody>
      </p:sp>
      <p:sp>
        <p:nvSpPr>
          <p:cNvPr id="23" name="Text 21"/>
          <p:cNvSpPr/>
          <p:nvPr/>
        </p:nvSpPr>
        <p:spPr>
          <a:xfrm>
            <a:off x="2807208" y="4441836"/>
            <a:ext cx="4297680" cy="637794"/>
          </a:xfrm>
          <a:prstGeom prst="rect">
            <a:avLst/>
          </a:prstGeom>
          <a:noFill/>
          <a:ln/>
        </p:spPr>
        <p:txBody>
          <a:bodyPr wrap="square" lIns="0" tIns="0" rIns="0" bIns="0" rtlCol="0" anchor="ctr"/>
          <a:lstStyle/>
          <a:p>
            <a:pPr marL="0" indent="0" algn="l">
              <a:buNone/>
            </a:pPr>
            <a:r>
              <a:rPr lang="es-419" sz="1050" noProof="0">
                <a:solidFill>
                  <a:srgbClr val="33373D"/>
                </a:solidFill>
                <a:latin typeface="Roboto Condensed" pitchFamily="34" charset="0"/>
                <a:ea typeface="Roboto Condensed" pitchFamily="34" charset="-122"/>
                <a:cs typeface="Roboto Condensed" pitchFamily="34" charset="-120"/>
              </a:rPr>
              <a:t>Límite global.</a:t>
            </a:r>
            <a:endParaRPr lang="es-419" sz="1050" noProof="0" dirty="0"/>
          </a:p>
        </p:txBody>
      </p:sp>
      <p:sp>
        <p:nvSpPr>
          <p:cNvPr id="24" name="card">
            <a:extLst>
              <a:ext uri="{C183D7F6-B498-43B3-948B-1728B52AA6E4}">
                <adec:decorative xmlns:adec="http://schemas.microsoft.com/office/drawing/2017/decorative" val="1"/>
              </a:ext>
            </a:extLst>
          </p:cNvPr>
          <p:cNvSpPr/>
          <p:nvPr/>
        </p:nvSpPr>
        <p:spPr>
          <a:xfrm>
            <a:off x="7571232" y="1691640"/>
            <a:ext cx="3931920" cy="3429000"/>
          </a:xfrm>
          <a:prstGeom prst="rect">
            <a:avLst/>
          </a:prstGeom>
          <a:solidFill>
            <a:srgbClr val="F5F6FA"/>
          </a:solidFill>
          <a:ln w="12700">
            <a:solidFill>
              <a:srgbClr val="E6E8EF"/>
            </a:solidFill>
            <a:prstDash val="solid"/>
          </a:ln>
        </p:spPr>
        <p:txBody>
          <a:bodyPr/>
          <a:lstStyle/>
          <a:p>
            <a:endParaRPr lang="es-419" noProof="0" dirty="0"/>
          </a:p>
        </p:txBody>
      </p:sp>
      <p:sp>
        <p:nvSpPr>
          <p:cNvPr id="25" name="Text 23"/>
          <p:cNvSpPr/>
          <p:nvPr/>
        </p:nvSpPr>
        <p:spPr>
          <a:xfrm>
            <a:off x="7827264" y="1883664"/>
            <a:ext cx="3419856" cy="274320"/>
          </a:xfrm>
          <a:prstGeom prst="rect">
            <a:avLst/>
          </a:prstGeom>
          <a:noFill/>
          <a:ln/>
        </p:spPr>
        <p:txBody>
          <a:bodyPr wrap="square" lIns="0" tIns="0" rIns="0" bIns="0" rtlCol="0" anchor="ctr"/>
          <a:lstStyle/>
          <a:p>
            <a:pPr marL="0" indent="0">
              <a:buNone/>
            </a:pPr>
            <a:r>
              <a:rPr lang="es-419" sz="1150" b="1" kern="0" spc="100" noProof="0">
                <a:solidFill>
                  <a:srgbClr val="000000"/>
                </a:solidFill>
                <a:latin typeface="Roboto Condensed Medium" pitchFamily="34" charset="0"/>
                <a:ea typeface="Roboto Condensed Medium" pitchFamily="34" charset="-122"/>
                <a:cs typeface="Roboto Condensed Medium" pitchFamily="34" charset="-120"/>
              </a:rPr>
              <a:t>PARA ANÁLISIS INTERNO</a:t>
            </a:r>
            <a:endParaRPr lang="es-419" sz="1150" noProof="0" dirty="0"/>
          </a:p>
        </p:txBody>
      </p:sp>
      <p:sp>
        <p:nvSpPr>
          <p:cNvPr id="26" name="Text 24"/>
          <p:cNvSpPr/>
          <p:nvPr/>
        </p:nvSpPr>
        <p:spPr>
          <a:xfrm>
            <a:off x="7827264" y="2176272"/>
            <a:ext cx="3419856" cy="457200"/>
          </a:xfrm>
          <a:prstGeom prst="rect">
            <a:avLst/>
          </a:prstGeom>
          <a:noFill/>
          <a:ln/>
        </p:spPr>
        <p:txBody>
          <a:bodyPr wrap="square" lIns="0" tIns="0" rIns="0" bIns="0" rtlCol="0" anchor="ctr"/>
          <a:lstStyle/>
          <a:p>
            <a:pPr marL="0" indent="0">
              <a:buNone/>
            </a:pPr>
            <a:r>
              <a:rPr lang="es-419" sz="1000" i="1" noProof="0">
                <a:solidFill>
                  <a:srgbClr val="6E7278"/>
                </a:solidFill>
                <a:latin typeface="Roboto Condensed" pitchFamily="34" charset="0"/>
                <a:ea typeface="Roboto Condensed" pitchFamily="34" charset="-122"/>
                <a:cs typeface="Roboto Condensed" pitchFamily="34" charset="-120"/>
              </a:rPr>
              <a:t>Capacidades disponibles a evaluar y configurar - aún no definidas.</a:t>
            </a:r>
            <a:endParaRPr lang="es-419" sz="1000" noProof="0" dirty="0"/>
          </a:p>
        </p:txBody>
      </p:sp>
      <p:sp>
        <p:nvSpPr>
          <p:cNvPr id="27" name="card">
            <a:extLst>
              <a:ext uri="{C183D7F6-B498-43B3-948B-1728B52AA6E4}">
                <adec:decorative xmlns:adec="http://schemas.microsoft.com/office/drawing/2017/decorative" val="1"/>
              </a:ext>
            </a:extLst>
          </p:cNvPr>
          <p:cNvSpPr/>
          <p:nvPr/>
        </p:nvSpPr>
        <p:spPr>
          <a:xfrm>
            <a:off x="7808976" y="2600000"/>
            <a:ext cx="3456432" cy="457200"/>
          </a:xfrm>
          <a:prstGeom prst="rect">
            <a:avLst/>
          </a:prstGeom>
          <a:solidFill>
            <a:srgbClr val="FFFFFF"/>
          </a:solidFill>
          <a:ln w="12700">
            <a:solidFill>
              <a:srgbClr val="E6E8EF"/>
            </a:solidFill>
            <a:prstDash val="solid"/>
          </a:ln>
          <a:effectLst>
            <a:outerShdw blurRad="114300" dist="38100" dir="5400000" algn="bl" rotWithShape="0">
              <a:srgbClr val="5B6068">
                <a:alpha val="9000"/>
              </a:srgbClr>
            </a:outerShdw>
          </a:effectLst>
        </p:spPr>
        <p:txBody>
          <a:bodyPr/>
          <a:lstStyle/>
          <a:p>
            <a:endParaRPr lang="es-419" noProof="0" dirty="0"/>
          </a:p>
        </p:txBody>
      </p:sp>
      <p:sp>
        <p:nvSpPr>
          <p:cNvPr id="28" name="bullet">
            <a:extLst>
              <a:ext uri="{C183D7F6-B498-43B3-948B-1728B52AA6E4}">
                <adec:decorative xmlns:adec="http://schemas.microsoft.com/office/drawing/2017/decorative" val="1"/>
              </a:ext>
            </a:extLst>
          </p:cNvPr>
          <p:cNvSpPr/>
          <p:nvPr/>
        </p:nvSpPr>
        <p:spPr>
          <a:xfrm>
            <a:off x="7955280" y="2760000"/>
            <a:ext cx="128016" cy="128016"/>
          </a:xfrm>
          <a:prstGeom prst="ellipse">
            <a:avLst/>
          </a:prstGeom>
          <a:solidFill>
            <a:srgbClr val="2A3FE0"/>
          </a:solidFill>
          <a:ln/>
        </p:spPr>
        <p:txBody>
          <a:bodyPr/>
          <a:lstStyle/>
          <a:p>
            <a:endParaRPr lang="es-419" noProof="0" dirty="0"/>
          </a:p>
        </p:txBody>
      </p:sp>
      <p:sp>
        <p:nvSpPr>
          <p:cNvPr id="29" name="Text 27"/>
          <p:cNvSpPr/>
          <p:nvPr/>
        </p:nvSpPr>
        <p:spPr>
          <a:xfrm>
            <a:off x="8193024" y="2600000"/>
            <a:ext cx="3035808" cy="457200"/>
          </a:xfrm>
          <a:prstGeom prst="rect">
            <a:avLst/>
          </a:prstGeom>
          <a:noFill/>
          <a:ln/>
        </p:spPr>
        <p:txBody>
          <a:bodyPr wrap="square" lIns="0" tIns="0" rIns="0" bIns="0" rtlCol="0" anchor="ctr"/>
          <a:lstStyle/>
          <a:p>
            <a:pPr marL="0" indent="0" algn="l">
              <a:buNone/>
            </a:pPr>
            <a:r>
              <a:rPr lang="es-419" sz="680" b="1" noProof="0">
                <a:solidFill>
                  <a:srgbClr val="000000"/>
                </a:solidFill>
                <a:latin typeface="Roboto Condensed" pitchFamily="34" charset="0"/>
                <a:ea typeface="Roboto Condensed" pitchFamily="34" charset="-122"/>
                <a:cs typeface="Roboto Condensed" pitchFamily="34" charset="-120"/>
              </a:rPr>
              <a:t>Bloqueo efectivo requiere configurar límites y políticas.</a:t>
            </a:r>
            <a:endParaRPr lang="es-419" sz="680" noProof="0"/>
          </a:p>
        </p:txBody>
      </p:sp>
      <p:sp>
        <p:nvSpPr>
          <p:cNvPr id="30" name="card">
            <a:extLst>
              <a:ext uri="{C183D7F6-B498-43B3-948B-1728B52AA6E4}">
                <adec:decorative xmlns:adec="http://schemas.microsoft.com/office/drawing/2017/decorative" val="1"/>
              </a:ext>
            </a:extLst>
          </p:cNvPr>
          <p:cNvSpPr/>
          <p:nvPr/>
        </p:nvSpPr>
        <p:spPr>
          <a:xfrm>
            <a:off x="7808976" y="3260000"/>
            <a:ext cx="3456432" cy="457200"/>
          </a:xfrm>
          <a:prstGeom prst="rect">
            <a:avLst/>
          </a:prstGeom>
          <a:solidFill>
            <a:srgbClr val="FFFFFF"/>
          </a:solidFill>
          <a:ln w="12700">
            <a:solidFill>
              <a:srgbClr val="E6E8EF"/>
            </a:solidFill>
            <a:prstDash val="solid"/>
          </a:ln>
          <a:effectLst>
            <a:outerShdw blurRad="114300" dist="38100" dir="5400000" algn="bl" rotWithShape="0">
              <a:srgbClr val="5B6068">
                <a:alpha val="9000"/>
              </a:srgbClr>
            </a:outerShdw>
          </a:effectLst>
        </p:spPr>
        <p:txBody>
          <a:bodyPr/>
          <a:lstStyle/>
          <a:p>
            <a:endParaRPr lang="es-419" noProof="0" dirty="0"/>
          </a:p>
        </p:txBody>
      </p:sp>
      <p:sp>
        <p:nvSpPr>
          <p:cNvPr id="31" name="bullet">
            <a:extLst>
              <a:ext uri="{C183D7F6-B498-43B3-948B-1728B52AA6E4}">
                <adec:decorative xmlns:adec="http://schemas.microsoft.com/office/drawing/2017/decorative" val="1"/>
              </a:ext>
            </a:extLst>
          </p:cNvPr>
          <p:cNvSpPr/>
          <p:nvPr/>
        </p:nvSpPr>
        <p:spPr>
          <a:xfrm>
            <a:off x="7955280" y="3420000"/>
            <a:ext cx="128016" cy="128016"/>
          </a:xfrm>
          <a:prstGeom prst="ellipse">
            <a:avLst/>
          </a:prstGeom>
          <a:solidFill>
            <a:srgbClr val="2A3FE0"/>
          </a:solidFill>
          <a:ln/>
        </p:spPr>
        <p:txBody>
          <a:bodyPr/>
          <a:lstStyle/>
          <a:p>
            <a:endParaRPr lang="es-419" noProof="0" dirty="0"/>
          </a:p>
        </p:txBody>
      </p:sp>
      <p:sp>
        <p:nvSpPr>
          <p:cNvPr id="32" name="Text 30"/>
          <p:cNvSpPr/>
          <p:nvPr/>
        </p:nvSpPr>
        <p:spPr>
          <a:xfrm>
            <a:off x="8193024" y="3260000"/>
            <a:ext cx="3035808" cy="457200"/>
          </a:xfrm>
          <a:prstGeom prst="rect">
            <a:avLst/>
          </a:prstGeom>
          <a:noFill/>
          <a:ln/>
        </p:spPr>
        <p:txBody>
          <a:bodyPr wrap="square" lIns="0" tIns="0" rIns="0" bIns="0" rtlCol="0" anchor="ctr"/>
          <a:lstStyle/>
          <a:p>
            <a:pPr marL="0" indent="0" algn="l">
              <a:buNone/>
            </a:pPr>
            <a:r>
              <a:rPr lang="es-419" sz="680" b="1" noProof="0">
                <a:solidFill>
                  <a:srgbClr val="000000"/>
                </a:solidFill>
                <a:latin typeface="Roboto Condensed" pitchFamily="34" charset="0"/>
                <a:ea typeface="Roboto Condensed" pitchFamily="34" charset="-122"/>
                <a:cs typeface="Roboto Condensed" pitchFamily="34" charset="-120"/>
              </a:rPr>
              <a:t>Presupuesto de usuario = límite efectivo.</a:t>
            </a:r>
            <a:endParaRPr lang="es-419" sz="680" noProof="0" dirty="0"/>
          </a:p>
        </p:txBody>
      </p:sp>
      <p:sp>
        <p:nvSpPr>
          <p:cNvPr id="33" name="card">
            <a:extLst>
              <a:ext uri="{C183D7F6-B498-43B3-948B-1728B52AA6E4}">
                <adec:decorative xmlns:adec="http://schemas.microsoft.com/office/drawing/2017/decorative" val="1"/>
              </a:ext>
            </a:extLst>
          </p:cNvPr>
          <p:cNvSpPr/>
          <p:nvPr/>
        </p:nvSpPr>
        <p:spPr>
          <a:xfrm>
            <a:off x="7808976" y="3900000"/>
            <a:ext cx="3456432" cy="457200"/>
          </a:xfrm>
          <a:prstGeom prst="rect">
            <a:avLst/>
          </a:prstGeom>
          <a:solidFill>
            <a:srgbClr val="FFFFFF"/>
          </a:solidFill>
          <a:ln w="12700">
            <a:solidFill>
              <a:srgbClr val="E6E8EF"/>
            </a:solidFill>
            <a:prstDash val="solid"/>
          </a:ln>
          <a:effectLst>
            <a:outerShdw blurRad="114300" dist="38100" dir="5400000" algn="bl" rotWithShape="0">
              <a:srgbClr val="5B6068">
                <a:alpha val="9000"/>
              </a:srgbClr>
            </a:outerShdw>
          </a:effectLst>
        </p:spPr>
        <p:txBody>
          <a:bodyPr/>
          <a:lstStyle/>
          <a:p>
            <a:endParaRPr lang="es-419" noProof="0" dirty="0"/>
          </a:p>
        </p:txBody>
      </p:sp>
      <p:sp>
        <p:nvSpPr>
          <p:cNvPr id="34" name="bullet">
            <a:extLst>
              <a:ext uri="{C183D7F6-B498-43B3-948B-1728B52AA6E4}">
                <adec:decorative xmlns:adec="http://schemas.microsoft.com/office/drawing/2017/decorative" val="1"/>
              </a:ext>
            </a:extLst>
          </p:cNvPr>
          <p:cNvSpPr/>
          <p:nvPr/>
        </p:nvSpPr>
        <p:spPr>
          <a:xfrm>
            <a:off x="7955280" y="4060000"/>
            <a:ext cx="128016" cy="128016"/>
          </a:xfrm>
          <a:prstGeom prst="ellipse">
            <a:avLst/>
          </a:prstGeom>
          <a:solidFill>
            <a:srgbClr val="2A3FE0"/>
          </a:solidFill>
          <a:ln/>
        </p:spPr>
        <p:txBody>
          <a:bodyPr/>
          <a:lstStyle/>
          <a:p>
            <a:endParaRPr lang="es-419" noProof="0" dirty="0"/>
          </a:p>
        </p:txBody>
      </p:sp>
      <p:sp>
        <p:nvSpPr>
          <p:cNvPr id="35" name="Text 33"/>
          <p:cNvSpPr/>
          <p:nvPr/>
        </p:nvSpPr>
        <p:spPr>
          <a:xfrm>
            <a:off x="8193024" y="3900000"/>
            <a:ext cx="3035808" cy="457200"/>
          </a:xfrm>
          <a:prstGeom prst="rect">
            <a:avLst/>
          </a:prstGeom>
          <a:noFill/>
          <a:ln/>
        </p:spPr>
        <p:txBody>
          <a:bodyPr wrap="square" lIns="0" tIns="0" rIns="0" bIns="0" rtlCol="0" anchor="ctr"/>
          <a:lstStyle/>
          <a:p>
            <a:pPr marL="0" indent="0" algn="l">
              <a:buNone/>
            </a:pPr>
            <a:r>
              <a:rPr lang="es-419" sz="680" b="1" noProof="0">
                <a:solidFill>
                  <a:srgbClr val="000000"/>
                </a:solidFill>
                <a:latin typeface="Roboto Condensed" pitchFamily="34" charset="0"/>
                <a:ea typeface="Roboto Condensed" pitchFamily="34" charset="-122"/>
                <a:cs typeface="Roboto Condensed" pitchFamily="34" charset="-120"/>
              </a:rPr>
              <a:t>Org, Cost Center y Enterprise controlan tras agotar el pool.</a:t>
            </a:r>
            <a:endParaRPr lang="es-419" sz="680" noProof="0" dirty="0"/>
          </a:p>
        </p:txBody>
      </p:sp>
      <p:sp>
        <p:nvSpPr>
          <p:cNvPr id="36" name="card">
            <a:extLst>
              <a:ext uri="{C183D7F6-B498-43B3-948B-1728B52AA6E4}">
                <adec:decorative xmlns:adec="http://schemas.microsoft.com/office/drawing/2017/decorative" val="1"/>
              </a:ext>
            </a:extLst>
          </p:cNvPr>
          <p:cNvSpPr/>
          <p:nvPr/>
        </p:nvSpPr>
        <p:spPr>
          <a:xfrm>
            <a:off x="7808976" y="4453128"/>
            <a:ext cx="3456432" cy="457200"/>
          </a:xfrm>
          <a:prstGeom prst="rect">
            <a:avLst/>
          </a:prstGeom>
          <a:solidFill>
            <a:srgbClr val="FFFFFF"/>
          </a:solidFill>
          <a:ln w="12700">
            <a:solidFill>
              <a:srgbClr val="E6E8EF"/>
            </a:solidFill>
            <a:prstDash val="solid"/>
          </a:ln>
          <a:effectLst>
            <a:outerShdw blurRad="114300" dist="38100" dir="5400000" algn="bl" rotWithShape="0">
              <a:srgbClr val="5B6068">
                <a:alpha val="9000"/>
              </a:srgbClr>
            </a:outerShdw>
          </a:effectLst>
        </p:spPr>
        <p:txBody>
          <a:bodyPr/>
          <a:lstStyle/>
          <a:p>
            <a:endParaRPr lang="es-419" noProof="0" dirty="0"/>
          </a:p>
        </p:txBody>
      </p:sp>
      <p:sp>
        <p:nvSpPr>
          <p:cNvPr id="37" name="bullet">
            <a:extLst>
              <a:ext uri="{C183D7F6-B498-43B3-948B-1728B52AA6E4}">
                <adec:decorative xmlns:adec="http://schemas.microsoft.com/office/drawing/2017/decorative" val="1"/>
              </a:ext>
            </a:extLst>
          </p:cNvPr>
          <p:cNvSpPr/>
          <p:nvPr/>
        </p:nvSpPr>
        <p:spPr>
          <a:xfrm>
            <a:off x="7955280" y="4617720"/>
            <a:ext cx="128016" cy="128016"/>
          </a:xfrm>
          <a:prstGeom prst="ellipse">
            <a:avLst/>
          </a:prstGeom>
          <a:solidFill>
            <a:srgbClr val="2A3FE0"/>
          </a:solidFill>
          <a:ln/>
        </p:spPr>
        <p:txBody>
          <a:bodyPr/>
          <a:lstStyle/>
          <a:p>
            <a:endParaRPr lang="es-419" noProof="0" dirty="0"/>
          </a:p>
        </p:txBody>
      </p:sp>
      <p:sp>
        <p:nvSpPr>
          <p:cNvPr id="38" name="Text 36"/>
          <p:cNvSpPr/>
          <p:nvPr/>
        </p:nvSpPr>
        <p:spPr>
          <a:xfrm>
            <a:off x="8193024" y="4481972"/>
            <a:ext cx="3035808" cy="457200"/>
          </a:xfrm>
          <a:prstGeom prst="rect">
            <a:avLst/>
          </a:prstGeom>
          <a:noFill/>
          <a:ln/>
        </p:spPr>
        <p:txBody>
          <a:bodyPr wrap="square" lIns="0" tIns="0" rIns="0" bIns="0" rtlCol="0" anchor="ctr"/>
          <a:lstStyle/>
          <a:p>
            <a:pPr marL="0" indent="0" algn="l">
              <a:buNone/>
            </a:pPr>
            <a:r>
              <a:rPr lang="es-419" sz="680" b="1" noProof="0">
                <a:solidFill>
                  <a:srgbClr val="000000"/>
                </a:solidFill>
                <a:latin typeface="Roboto Condensed" pitchFamily="34" charset="0"/>
                <a:ea typeface="Roboto Condensed" pitchFamily="34" charset="-122"/>
                <a:cs typeface="Roboto Condensed" pitchFamily="34" charset="-120"/>
              </a:rPr>
              <a:t>Consumo facturable solo con 'AI credit paid usage'.</a:t>
            </a:r>
            <a:endParaRPr lang="es-419" sz="680" noProof="0" dirty="0"/>
          </a:p>
        </p:txBody>
      </p:sp>
      <p:sp>
        <p:nvSpPr>
          <p:cNvPr id="39" name="cycle">
            <a:extLst>
              <a:ext uri="{C183D7F6-B498-43B3-948B-1728B52AA6E4}">
                <adec:decorative xmlns:adec="http://schemas.microsoft.com/office/drawing/2017/decorative" val="1"/>
              </a:ext>
            </a:extLst>
          </p:cNvPr>
          <p:cNvSpPr/>
          <p:nvPr/>
        </p:nvSpPr>
        <p:spPr>
          <a:xfrm>
            <a:off x="685800" y="5413248"/>
            <a:ext cx="2327148" cy="658368"/>
          </a:xfrm>
          <a:prstGeom prst="rect">
            <a:avLst/>
          </a:prstGeom>
          <a:solidFill>
            <a:srgbClr val="F5F6FA"/>
          </a:solidFill>
          <a:ln w="12700">
            <a:solidFill>
              <a:srgbClr val="DEE1EA"/>
            </a:solidFill>
            <a:prstDash val="solid"/>
          </a:ln>
          <a:effectLst>
            <a:outerShdw blurRad="114300" dist="38100" dir="5400000" algn="bl" rotWithShape="0">
              <a:srgbClr val="5B6068">
                <a:alpha val="9000"/>
              </a:srgbClr>
            </a:outerShdw>
          </a:effectLst>
        </p:spPr>
        <p:txBody>
          <a:bodyPr/>
          <a:lstStyle/>
          <a:p>
            <a:endParaRPr lang="es-419" noProof="0" dirty="0"/>
          </a:p>
        </p:txBody>
      </p:sp>
      <p:sp>
        <p:nvSpPr>
          <p:cNvPr id="40" name="Text 38"/>
          <p:cNvSpPr/>
          <p:nvPr/>
        </p:nvSpPr>
        <p:spPr>
          <a:xfrm>
            <a:off x="685800" y="5413248"/>
            <a:ext cx="2327148" cy="658368"/>
          </a:xfrm>
          <a:prstGeom prst="rect">
            <a:avLst/>
          </a:prstGeom>
          <a:noFill/>
          <a:ln/>
        </p:spPr>
        <p:txBody>
          <a:bodyPr wrap="square" lIns="0" tIns="0" rIns="0" bIns="0" rtlCol="0" anchor="ctr"/>
          <a:lstStyle/>
          <a:p>
            <a:pPr marL="0" indent="0" algn="ctr">
              <a:buNone/>
            </a:pPr>
            <a:r>
              <a:rPr lang="es-419" sz="1300" b="1" kern="0" spc="100" noProof="0">
                <a:solidFill>
                  <a:srgbClr val="000000"/>
                </a:solidFill>
                <a:latin typeface="Roboto Condensed Medium" pitchFamily="34" charset="0"/>
                <a:ea typeface="Roboto Condensed Medium" pitchFamily="34" charset="-122"/>
                <a:cs typeface="Roboto Condensed Medium" pitchFamily="34" charset="-120"/>
              </a:rPr>
              <a:t>MONITOREAR</a:t>
            </a:r>
            <a:endParaRPr lang="es-419" sz="1300" noProof="0" dirty="0"/>
          </a:p>
        </p:txBody>
      </p:sp>
      <p:sp>
        <p:nvSpPr>
          <p:cNvPr id="41" name="flow connector">
            <a:extLst>
              <a:ext uri="{C183D7F6-B498-43B3-948B-1728B52AA6E4}">
                <adec:decorative xmlns:adec="http://schemas.microsoft.com/office/drawing/2017/decorative" val="1"/>
              </a:ext>
            </a:extLst>
          </p:cNvPr>
          <p:cNvSpPr/>
          <p:nvPr/>
        </p:nvSpPr>
        <p:spPr>
          <a:xfrm>
            <a:off x="3108960" y="5605272"/>
            <a:ext cx="310896" cy="274320"/>
          </a:xfrm>
          <a:prstGeom prst="chevron">
            <a:avLst/>
          </a:prstGeom>
          <a:solidFill>
            <a:srgbClr val="2A3FE0"/>
          </a:solidFill>
          <a:ln/>
        </p:spPr>
        <p:txBody>
          <a:bodyPr/>
          <a:lstStyle/>
          <a:p>
            <a:endParaRPr lang="es-419" noProof="0" dirty="0"/>
          </a:p>
        </p:txBody>
      </p:sp>
      <p:sp>
        <p:nvSpPr>
          <p:cNvPr id="42" name="cycle">
            <a:extLst>
              <a:ext uri="{C183D7F6-B498-43B3-948B-1728B52AA6E4}">
                <adec:decorative xmlns:adec="http://schemas.microsoft.com/office/drawing/2017/decorative" val="1"/>
              </a:ext>
            </a:extLst>
          </p:cNvPr>
          <p:cNvSpPr/>
          <p:nvPr/>
        </p:nvSpPr>
        <p:spPr>
          <a:xfrm>
            <a:off x="3515868" y="5413248"/>
            <a:ext cx="2327148" cy="658368"/>
          </a:xfrm>
          <a:prstGeom prst="rect">
            <a:avLst/>
          </a:prstGeom>
          <a:solidFill>
            <a:srgbClr val="F5F6FA"/>
          </a:solidFill>
          <a:ln w="12700">
            <a:solidFill>
              <a:srgbClr val="DEE1EA"/>
            </a:solidFill>
            <a:prstDash val="solid"/>
          </a:ln>
          <a:effectLst>
            <a:outerShdw blurRad="114300" dist="38100" dir="5400000" algn="bl" rotWithShape="0">
              <a:srgbClr val="5B6068">
                <a:alpha val="9000"/>
              </a:srgbClr>
            </a:outerShdw>
          </a:effectLst>
        </p:spPr>
        <p:txBody>
          <a:bodyPr/>
          <a:lstStyle/>
          <a:p>
            <a:endParaRPr lang="es-419" noProof="0" dirty="0"/>
          </a:p>
        </p:txBody>
      </p:sp>
      <p:sp>
        <p:nvSpPr>
          <p:cNvPr id="43" name="Text 41"/>
          <p:cNvSpPr/>
          <p:nvPr/>
        </p:nvSpPr>
        <p:spPr>
          <a:xfrm>
            <a:off x="3515868" y="5413248"/>
            <a:ext cx="2327148" cy="658368"/>
          </a:xfrm>
          <a:prstGeom prst="rect">
            <a:avLst/>
          </a:prstGeom>
          <a:noFill/>
          <a:ln/>
        </p:spPr>
        <p:txBody>
          <a:bodyPr wrap="square" lIns="0" tIns="0" rIns="0" bIns="0" rtlCol="0" anchor="ctr"/>
          <a:lstStyle/>
          <a:p>
            <a:pPr marL="0" indent="0" algn="ctr">
              <a:buNone/>
            </a:pPr>
            <a:r>
              <a:rPr lang="es-419" sz="1300" b="1" kern="0" spc="100" noProof="0">
                <a:solidFill>
                  <a:srgbClr val="000000"/>
                </a:solidFill>
                <a:latin typeface="Roboto Condensed Medium" pitchFamily="34" charset="0"/>
                <a:ea typeface="Roboto Condensed Medium" pitchFamily="34" charset="-122"/>
                <a:cs typeface="Roboto Condensed Medium" pitchFamily="34" charset="-120"/>
              </a:rPr>
              <a:t>ALERTAR</a:t>
            </a:r>
            <a:endParaRPr lang="es-419" sz="1300" noProof="0" dirty="0"/>
          </a:p>
        </p:txBody>
      </p:sp>
      <p:sp>
        <p:nvSpPr>
          <p:cNvPr id="44" name="flow connector">
            <a:extLst>
              <a:ext uri="{C183D7F6-B498-43B3-948B-1728B52AA6E4}">
                <adec:decorative xmlns:adec="http://schemas.microsoft.com/office/drawing/2017/decorative" val="1"/>
              </a:ext>
            </a:extLst>
          </p:cNvPr>
          <p:cNvSpPr/>
          <p:nvPr/>
        </p:nvSpPr>
        <p:spPr>
          <a:xfrm>
            <a:off x="5939028" y="5605272"/>
            <a:ext cx="310896" cy="274320"/>
          </a:xfrm>
          <a:prstGeom prst="chevron">
            <a:avLst/>
          </a:prstGeom>
          <a:solidFill>
            <a:srgbClr val="2A3FE0"/>
          </a:solidFill>
          <a:ln/>
        </p:spPr>
        <p:txBody>
          <a:bodyPr/>
          <a:lstStyle/>
          <a:p>
            <a:endParaRPr lang="es-419" noProof="0" dirty="0"/>
          </a:p>
        </p:txBody>
      </p:sp>
      <p:sp>
        <p:nvSpPr>
          <p:cNvPr id="45" name="cycle">
            <a:extLst>
              <a:ext uri="{C183D7F6-B498-43B3-948B-1728B52AA6E4}">
                <adec:decorative xmlns:adec="http://schemas.microsoft.com/office/drawing/2017/decorative" val="1"/>
              </a:ext>
            </a:extLst>
          </p:cNvPr>
          <p:cNvSpPr/>
          <p:nvPr/>
        </p:nvSpPr>
        <p:spPr>
          <a:xfrm>
            <a:off x="6345936" y="5413248"/>
            <a:ext cx="2327148" cy="658368"/>
          </a:xfrm>
          <a:prstGeom prst="rect">
            <a:avLst/>
          </a:prstGeom>
          <a:solidFill>
            <a:srgbClr val="F5F6FA"/>
          </a:solidFill>
          <a:ln w="12700">
            <a:solidFill>
              <a:srgbClr val="DEE1EA"/>
            </a:solidFill>
            <a:prstDash val="solid"/>
          </a:ln>
          <a:effectLst>
            <a:outerShdw blurRad="114300" dist="38100" dir="5400000" algn="bl" rotWithShape="0">
              <a:srgbClr val="5B6068">
                <a:alpha val="9000"/>
              </a:srgbClr>
            </a:outerShdw>
          </a:effectLst>
        </p:spPr>
        <p:txBody>
          <a:bodyPr/>
          <a:lstStyle/>
          <a:p>
            <a:endParaRPr lang="es-419" noProof="0" dirty="0"/>
          </a:p>
        </p:txBody>
      </p:sp>
      <p:sp>
        <p:nvSpPr>
          <p:cNvPr id="46" name="Text 44"/>
          <p:cNvSpPr/>
          <p:nvPr/>
        </p:nvSpPr>
        <p:spPr>
          <a:xfrm>
            <a:off x="6345936" y="5413248"/>
            <a:ext cx="2327148" cy="658368"/>
          </a:xfrm>
          <a:prstGeom prst="rect">
            <a:avLst/>
          </a:prstGeom>
          <a:noFill/>
          <a:ln/>
        </p:spPr>
        <p:txBody>
          <a:bodyPr wrap="square" lIns="0" tIns="0" rIns="0" bIns="0" rtlCol="0" anchor="ctr"/>
          <a:lstStyle/>
          <a:p>
            <a:pPr marL="0" indent="0" algn="ctr">
              <a:buNone/>
            </a:pPr>
            <a:r>
              <a:rPr lang="es-419" sz="1300" b="1" kern="0" spc="100" noProof="0">
                <a:solidFill>
                  <a:srgbClr val="000000"/>
                </a:solidFill>
                <a:latin typeface="Roboto Condensed Medium" pitchFamily="34" charset="0"/>
                <a:ea typeface="Roboto Condensed Medium" pitchFamily="34" charset="-122"/>
                <a:cs typeface="Roboto Condensed Medium" pitchFamily="34" charset="-120"/>
              </a:rPr>
              <a:t>LIMITAR</a:t>
            </a:r>
            <a:endParaRPr lang="es-419" sz="1300" noProof="0" dirty="0"/>
          </a:p>
        </p:txBody>
      </p:sp>
      <p:sp>
        <p:nvSpPr>
          <p:cNvPr id="47" name="flow connector">
            <a:extLst>
              <a:ext uri="{C183D7F6-B498-43B3-948B-1728B52AA6E4}">
                <adec:decorative xmlns:adec="http://schemas.microsoft.com/office/drawing/2017/decorative" val="1"/>
              </a:ext>
            </a:extLst>
          </p:cNvPr>
          <p:cNvSpPr/>
          <p:nvPr/>
        </p:nvSpPr>
        <p:spPr>
          <a:xfrm>
            <a:off x="8769096" y="5605272"/>
            <a:ext cx="310896" cy="274320"/>
          </a:xfrm>
          <a:prstGeom prst="chevron">
            <a:avLst/>
          </a:prstGeom>
          <a:solidFill>
            <a:srgbClr val="2A3FE0"/>
          </a:solidFill>
          <a:ln/>
        </p:spPr>
        <p:txBody>
          <a:bodyPr/>
          <a:lstStyle/>
          <a:p>
            <a:endParaRPr lang="es-419" noProof="0" dirty="0"/>
          </a:p>
        </p:txBody>
      </p:sp>
      <p:sp>
        <p:nvSpPr>
          <p:cNvPr id="48" name="cycle">
            <a:extLst>
              <a:ext uri="{C183D7F6-B498-43B3-948B-1728B52AA6E4}">
                <adec:decorative xmlns:adec="http://schemas.microsoft.com/office/drawing/2017/decorative" val="1"/>
              </a:ext>
            </a:extLst>
          </p:cNvPr>
          <p:cNvSpPr/>
          <p:nvPr/>
        </p:nvSpPr>
        <p:spPr>
          <a:xfrm>
            <a:off x="9176004" y="5413248"/>
            <a:ext cx="2327148" cy="658368"/>
          </a:xfrm>
          <a:prstGeom prst="rect">
            <a:avLst/>
          </a:prstGeom>
          <a:solidFill>
            <a:srgbClr val="F5F6FA"/>
          </a:solidFill>
          <a:ln w="12700">
            <a:solidFill>
              <a:srgbClr val="DEE1EA"/>
            </a:solidFill>
            <a:prstDash val="solid"/>
          </a:ln>
          <a:effectLst>
            <a:outerShdw blurRad="114300" dist="38100" dir="5400000" algn="bl" rotWithShape="0">
              <a:srgbClr val="5B6068">
                <a:alpha val="9000"/>
              </a:srgbClr>
            </a:outerShdw>
          </a:effectLst>
        </p:spPr>
        <p:txBody>
          <a:bodyPr/>
          <a:lstStyle/>
          <a:p>
            <a:endParaRPr lang="es-419" noProof="0" dirty="0"/>
          </a:p>
        </p:txBody>
      </p:sp>
      <p:sp>
        <p:nvSpPr>
          <p:cNvPr id="49" name="Text 47"/>
          <p:cNvSpPr/>
          <p:nvPr/>
        </p:nvSpPr>
        <p:spPr>
          <a:xfrm>
            <a:off x="9176004" y="5413248"/>
            <a:ext cx="2327148" cy="658368"/>
          </a:xfrm>
          <a:prstGeom prst="rect">
            <a:avLst/>
          </a:prstGeom>
          <a:noFill/>
          <a:ln/>
        </p:spPr>
        <p:txBody>
          <a:bodyPr wrap="square" lIns="0" tIns="0" rIns="0" bIns="0" rtlCol="0" anchor="ctr"/>
          <a:lstStyle/>
          <a:p>
            <a:pPr marL="0" indent="0" algn="ctr">
              <a:buNone/>
            </a:pPr>
            <a:r>
              <a:rPr lang="es-419" sz="1300" b="1" kern="0" spc="100" noProof="0">
                <a:solidFill>
                  <a:srgbClr val="000000"/>
                </a:solidFill>
                <a:latin typeface="Roboto Condensed Medium" pitchFamily="34" charset="0"/>
                <a:ea typeface="Roboto Condensed Medium" pitchFamily="34" charset="-122"/>
                <a:cs typeface="Roboto Condensed Medium" pitchFamily="34" charset="-120"/>
              </a:rPr>
              <a:t>AJUSTAR</a:t>
            </a:r>
            <a:endParaRPr lang="es-419" sz="1300" noProof="0" dirty="0"/>
          </a:p>
        </p:txBody>
      </p:sp>
      <p:sp>
        <p:nvSpPr>
          <p:cNvPr id="50" name="Text 48"/>
          <p:cNvSpPr/>
          <p:nvPr/>
        </p:nvSpPr>
        <p:spPr>
          <a:xfrm>
            <a:off x="685800" y="6437376"/>
            <a:ext cx="8686800" cy="292608"/>
          </a:xfrm>
          <a:prstGeom prst="rect">
            <a:avLst/>
          </a:prstGeom>
          <a:noFill/>
          <a:ln/>
        </p:spPr>
        <p:txBody>
          <a:bodyPr wrap="square" lIns="0" tIns="0" rIns="0" bIns="0" rtlCol="0" anchor="ctr"/>
          <a:lstStyle/>
          <a:p>
            <a:pPr marL="0" indent="0" algn="l">
              <a:buNone/>
            </a:pPr>
            <a:r>
              <a:rPr lang="es-419" sz="850" b="1" noProof="0">
                <a:solidFill>
                  <a:srgbClr val="000000"/>
                </a:solidFill>
                <a:latin typeface="Roboto Condensed" pitchFamily="34" charset="0"/>
                <a:ea typeface="Roboto Condensed" pitchFamily="34" charset="-122"/>
                <a:cs typeface="Roboto Condensed" pitchFamily="34" charset="-120"/>
              </a:rPr>
              <a:t>Tuya</a:t>
            </a:r>
            <a:r>
              <a:rPr lang="es-419" sz="850" noProof="0">
                <a:solidFill>
                  <a:srgbClr val="5B6068"/>
                </a:solidFill>
                <a:latin typeface="Roboto Condensed" pitchFamily="34" charset="0"/>
                <a:ea typeface="Roboto Condensed" pitchFamily="34" charset="-122"/>
                <a:cs typeface="Roboto Condensed" pitchFamily="34" charset="-120"/>
              </a:rPr>
              <a:t>   ·   GitHub </a:t>
            </a:r>
            <a:r>
              <a:rPr lang="es-419" sz="850" noProof="0" err="1">
                <a:solidFill>
                  <a:srgbClr val="5B6068"/>
                </a:solidFill>
                <a:latin typeface="Roboto Condensed" pitchFamily="34" charset="0"/>
                <a:ea typeface="Roboto Condensed" pitchFamily="34" charset="-122"/>
                <a:cs typeface="Roboto Condensed" pitchFamily="34" charset="-120"/>
              </a:rPr>
              <a:t>Copilot</a:t>
            </a:r>
            <a:r>
              <a:rPr lang="es-419" sz="850" noProof="0">
                <a:solidFill>
                  <a:srgbClr val="5B6068"/>
                </a:solidFill>
                <a:latin typeface="Roboto Condensed" pitchFamily="34" charset="0"/>
                <a:ea typeface="Roboto Condensed" pitchFamily="34" charset="-122"/>
                <a:cs typeface="Roboto Condensed" pitchFamily="34" charset="-120"/>
              </a:rPr>
              <a:t> - Resultados de la Prueba de Concepto</a:t>
            </a:r>
            <a:endParaRPr lang="es-419" sz="850" noProof="0" dirty="0"/>
          </a:p>
        </p:txBody>
      </p:sp>
      <p:sp>
        <p:nvSpPr>
          <p:cNvPr id="51" name="Text 49"/>
          <p:cNvSpPr/>
          <p:nvPr/>
        </p:nvSpPr>
        <p:spPr>
          <a:xfrm>
            <a:off x="10972800" y="6437376"/>
            <a:ext cx="530352" cy="292608"/>
          </a:xfrm>
          <a:prstGeom prst="rect">
            <a:avLst/>
          </a:prstGeom>
          <a:noFill/>
          <a:ln/>
        </p:spPr>
        <p:txBody>
          <a:bodyPr wrap="square" lIns="0" tIns="0" rIns="0" bIns="0" rtlCol="0" anchor="ctr"/>
          <a:lstStyle/>
          <a:p>
            <a:pPr marL="0" indent="0" algn="r">
              <a:buNone/>
            </a:pPr>
            <a:r>
              <a:rPr lang="es-419" sz="900" b="1" noProof="0">
                <a:solidFill>
                  <a:srgbClr val="2A3FE0"/>
                </a:solidFill>
                <a:latin typeface="Roboto Condensed Medium" pitchFamily="34" charset="0"/>
                <a:ea typeface="Roboto Condensed Medium" pitchFamily="34" charset="-122"/>
                <a:cs typeface="Roboto Condensed Medium" pitchFamily="34" charset="-120"/>
              </a:rPr>
              <a:t>08</a:t>
            </a:r>
            <a:endParaRPr lang="es-419" sz="900" noProof="0" dirty="0"/>
          </a:p>
        </p:txBody>
      </p:sp>
      <p:pic>
        <p:nvPicPr>
          <p:cNvPr id="950" name="Logo Tuya"/>
          <p:cNvPicPr>
            <a:picLocks noChangeAspect="1"/>
          </p:cNvPicPr>
          <p:nvPr/>
        </p:nvPicPr>
        <p:blipFill>
          <a:blip r:embed="rId3"/>
          <a:stretch>
            <a:fillRect/>
          </a:stretch>
        </p:blipFill>
        <p:spPr>
          <a:xfrm>
            <a:off x="11152200" y="321276"/>
            <a:ext cx="640080" cy="3200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kicker mark">
            <a:extLst>
              <a:ext uri="{C183D7F6-B498-43B3-948B-1728B52AA6E4}">
                <adec:decorative xmlns:adec="http://schemas.microsoft.com/office/drawing/2017/decorative" val="1"/>
              </a:ext>
            </a:extLst>
          </p:cNvPr>
          <p:cNvSpPr/>
          <p:nvPr/>
        </p:nvSpPr>
        <p:spPr>
          <a:xfrm>
            <a:off x="685800" y="402336"/>
            <a:ext cx="146304" cy="146304"/>
          </a:xfrm>
          <a:prstGeom prst="rect">
            <a:avLst/>
          </a:prstGeom>
          <a:solidFill>
            <a:srgbClr val="2A3FE0"/>
          </a:solidFill>
          <a:ln/>
        </p:spPr>
        <p:txBody>
          <a:bodyPr/>
          <a:lstStyle/>
          <a:p>
            <a:endParaRPr lang="es-419" noProof="0" dirty="0"/>
          </a:p>
        </p:txBody>
      </p:sp>
      <p:sp>
        <p:nvSpPr>
          <p:cNvPr id="3" name="Text 1"/>
          <p:cNvSpPr/>
          <p:nvPr/>
        </p:nvSpPr>
        <p:spPr>
          <a:xfrm>
            <a:off x="932688" y="310896"/>
            <a:ext cx="9601200" cy="310896"/>
          </a:xfrm>
          <a:prstGeom prst="rect">
            <a:avLst/>
          </a:prstGeom>
          <a:noFill/>
          <a:ln/>
        </p:spPr>
        <p:txBody>
          <a:bodyPr wrap="square" lIns="0" tIns="0" rIns="0" bIns="0" rtlCol="0" anchor="ctr"/>
          <a:lstStyle/>
          <a:p>
            <a:pPr marL="0" indent="0" algn="l">
              <a:buNone/>
            </a:pPr>
            <a:r>
              <a:rPr lang="es-419" sz="1150" b="1" kern="0" spc="200" noProof="0">
                <a:solidFill>
                  <a:srgbClr val="2A3FE0"/>
                </a:solidFill>
                <a:latin typeface="Roboto Condensed Medium" pitchFamily="34" charset="0"/>
                <a:ea typeface="Roboto Condensed Medium" pitchFamily="34" charset="-122"/>
                <a:cs typeface="Roboto Condensed Medium" pitchFamily="34" charset="-120"/>
              </a:rPr>
              <a:t>MODELO DE ADMINISTRACIÓN PROPUESTO</a:t>
            </a:r>
            <a:endParaRPr lang="es-419" sz="1150" noProof="0" dirty="0"/>
          </a:p>
        </p:txBody>
      </p:sp>
      <p:sp>
        <p:nvSpPr>
          <p:cNvPr id="4" name="Text 0"/>
          <p:cNvSpPr>
            <a:spLocks noGrp="1"/>
          </p:cNvSpPr>
          <p:nvPr>
            <p:ph type="title" idx="100" hasCustomPrompt="1"/>
          </p:nvPr>
        </p:nvSpPr>
        <p:spPr>
          <a:xfrm>
            <a:off x="685800" y="658368"/>
            <a:ext cx="10789920" cy="822960"/>
          </a:xfrm>
          <a:prstGeom prst="rect">
            <a:avLst/>
          </a:prstGeom>
          <a:noFill/>
          <a:ln/>
        </p:spPr>
        <p:txBody>
          <a:bodyPr wrap="square" lIns="0" tIns="0" rIns="0" bIns="0" rtlCol="0" anchor="t"/>
          <a:lstStyle/>
          <a:p>
            <a:pPr marL="0" indent="0" algn="l">
              <a:buNone/>
            </a:pPr>
            <a:r>
              <a:rPr lang="es-419" sz="2700" b="1" noProof="0">
                <a:solidFill>
                  <a:srgbClr val="000000"/>
                </a:solidFill>
                <a:latin typeface="Roboto Condensed Medium" pitchFamily="34" charset="0"/>
                <a:ea typeface="Roboto Condensed Medium" pitchFamily="34" charset="-122"/>
                <a:cs typeface="Roboto Condensed Medium" pitchFamily="34" charset="-120"/>
              </a:rPr>
              <a:t>Cómo se administra </a:t>
            </a:r>
            <a:r>
              <a:rPr lang="es-419" sz="2700" b="1" noProof="0" err="1">
                <a:solidFill>
                  <a:srgbClr val="000000"/>
                </a:solidFill>
                <a:latin typeface="Roboto Condensed Medium" pitchFamily="34" charset="0"/>
                <a:ea typeface="Roboto Condensed Medium" pitchFamily="34" charset="-122"/>
                <a:cs typeface="Roboto Condensed Medium" pitchFamily="34" charset="-120"/>
              </a:rPr>
              <a:t>Copilot</a:t>
            </a:r>
            <a:r>
              <a:rPr lang="es-419" sz="2700" b="1" noProof="0">
                <a:solidFill>
                  <a:srgbClr val="000000"/>
                </a:solidFill>
                <a:latin typeface="Roboto Condensed Medium" pitchFamily="34" charset="0"/>
                <a:ea typeface="Roboto Condensed Medium" pitchFamily="34" charset="-122"/>
                <a:cs typeface="Roboto Condensed Medium" pitchFamily="34" charset="-120"/>
              </a:rPr>
              <a:t> de forma central</a:t>
            </a:r>
            <a:endParaRPr lang="es-419" sz="2700" noProof="0" dirty="0"/>
          </a:p>
        </p:txBody>
      </p:sp>
      <p:sp>
        <p:nvSpPr>
          <p:cNvPr id="5" name="stage">
            <a:extLst>
              <a:ext uri="{C183D7F6-B498-43B3-948B-1728B52AA6E4}">
                <adec:decorative xmlns:adec="http://schemas.microsoft.com/office/drawing/2017/decorative" val="1"/>
              </a:ext>
            </a:extLst>
          </p:cNvPr>
          <p:cNvSpPr/>
          <p:nvPr/>
        </p:nvSpPr>
        <p:spPr>
          <a:xfrm>
            <a:off x="685800" y="1310641"/>
            <a:ext cx="4617720" cy="658368"/>
          </a:xfrm>
          <a:prstGeom prst="rect">
            <a:avLst/>
          </a:prstGeom>
          <a:solidFill>
            <a:srgbClr val="2A3FE0"/>
          </a:solidFill>
          <a:ln w="12700">
            <a:solidFill>
              <a:srgbClr val="2A3FE0"/>
            </a:solidFill>
            <a:prstDash val="solid"/>
          </a:ln>
          <a:effectLst>
            <a:outerShdw blurRad="114300" dist="38100" dir="5400000" algn="bl" rotWithShape="0">
              <a:srgbClr val="5B6068">
                <a:alpha val="9000"/>
              </a:srgbClr>
            </a:outerShdw>
          </a:effectLst>
        </p:spPr>
        <p:txBody>
          <a:bodyPr/>
          <a:lstStyle/>
          <a:p>
            <a:endParaRPr lang="es-419" noProof="0" dirty="0"/>
          </a:p>
        </p:txBody>
      </p:sp>
      <p:sp>
        <p:nvSpPr>
          <p:cNvPr id="6" name="Text 4"/>
          <p:cNvSpPr/>
          <p:nvPr/>
        </p:nvSpPr>
        <p:spPr>
          <a:xfrm>
            <a:off x="886968" y="1310641"/>
            <a:ext cx="4215384" cy="658368"/>
          </a:xfrm>
          <a:prstGeom prst="rect">
            <a:avLst/>
          </a:prstGeom>
          <a:noFill/>
          <a:ln/>
        </p:spPr>
        <p:txBody>
          <a:bodyPr wrap="square" lIns="0" tIns="0" rIns="0" bIns="0" rtlCol="0" anchor="ctr"/>
          <a:lstStyle/>
          <a:p>
            <a:pPr marL="0" indent="0" algn="ctr">
              <a:buNone/>
            </a:pPr>
            <a:r>
              <a:rPr lang="es-419" sz="1250" b="1" noProof="0">
                <a:solidFill>
                  <a:srgbClr val="FFFFFF"/>
                </a:solidFill>
                <a:latin typeface="Roboto Condensed Medium" pitchFamily="34" charset="0"/>
                <a:ea typeface="Roboto Condensed Medium" pitchFamily="34" charset="-122"/>
                <a:cs typeface="Roboto Condensed Medium" pitchFamily="34" charset="-120"/>
              </a:rPr>
              <a:t>GitHub </a:t>
            </a:r>
            <a:r>
              <a:rPr lang="es-419" sz="1250" b="1" noProof="0" err="1">
                <a:solidFill>
                  <a:srgbClr val="FFFFFF"/>
                </a:solidFill>
                <a:latin typeface="Roboto Condensed Medium" pitchFamily="34" charset="0"/>
                <a:ea typeface="Roboto Condensed Medium" pitchFamily="34" charset="-122"/>
                <a:cs typeface="Roboto Condensed Medium" pitchFamily="34" charset="-120"/>
              </a:rPr>
              <a:t>Copilot</a:t>
            </a:r>
            <a:r>
              <a:rPr lang="es-419" sz="1250" b="1" noProof="0">
                <a:solidFill>
                  <a:srgbClr val="FFFFFF"/>
                </a:solidFill>
                <a:latin typeface="Roboto Condensed Medium" pitchFamily="34" charset="0"/>
                <a:ea typeface="Roboto Condensed Medium" pitchFamily="34" charset="-122"/>
                <a:cs typeface="Roboto Condensed Medium" pitchFamily="34" charset="-120"/>
              </a:rPr>
              <a:t> Enterprise / Business</a:t>
            </a:r>
            <a:endParaRPr lang="es-419" sz="1250" noProof="0" dirty="0"/>
          </a:p>
        </p:txBody>
      </p:sp>
      <p:sp>
        <p:nvSpPr>
          <p:cNvPr id="7" name="flow connector">
            <a:extLst>
              <a:ext uri="{C183D7F6-B498-43B3-948B-1728B52AA6E4}">
                <adec:decorative xmlns:adec="http://schemas.microsoft.com/office/drawing/2017/decorative" val="1"/>
              </a:ext>
            </a:extLst>
          </p:cNvPr>
          <p:cNvSpPr/>
          <p:nvPr/>
        </p:nvSpPr>
        <p:spPr>
          <a:xfrm rot="5400000">
            <a:off x="2866644" y="2005864"/>
            <a:ext cx="256032" cy="237744"/>
          </a:xfrm>
          <a:prstGeom prst="chevron">
            <a:avLst/>
          </a:prstGeom>
          <a:solidFill>
            <a:srgbClr val="2A3FE0"/>
          </a:solidFill>
          <a:ln/>
        </p:spPr>
        <p:txBody>
          <a:bodyPr/>
          <a:lstStyle/>
          <a:p>
            <a:endParaRPr lang="es-419" noProof="0" dirty="0"/>
          </a:p>
        </p:txBody>
      </p:sp>
      <p:sp>
        <p:nvSpPr>
          <p:cNvPr id="8" name="stage">
            <a:extLst>
              <a:ext uri="{C183D7F6-B498-43B3-948B-1728B52AA6E4}">
                <adec:decorative xmlns:adec="http://schemas.microsoft.com/office/drawing/2017/decorative" val="1"/>
              </a:ext>
            </a:extLst>
          </p:cNvPr>
          <p:cNvSpPr/>
          <p:nvPr/>
        </p:nvSpPr>
        <p:spPr>
          <a:xfrm>
            <a:off x="685800" y="2283507"/>
            <a:ext cx="4617720" cy="658368"/>
          </a:xfrm>
          <a:prstGeom prst="rect">
            <a:avLst/>
          </a:prstGeom>
          <a:solidFill>
            <a:srgbClr val="F5F6FA"/>
          </a:solidFill>
          <a:ln w="12700">
            <a:solidFill>
              <a:srgbClr val="DEE1EA"/>
            </a:solidFill>
            <a:prstDash val="solid"/>
          </a:ln>
          <a:effectLst>
            <a:outerShdw blurRad="114300" dist="38100" dir="5400000" algn="bl" rotWithShape="0">
              <a:srgbClr val="5B6068">
                <a:alpha val="9000"/>
              </a:srgbClr>
            </a:outerShdw>
          </a:effectLst>
        </p:spPr>
        <p:txBody>
          <a:bodyPr/>
          <a:lstStyle/>
          <a:p>
            <a:endParaRPr lang="es-419" noProof="0" dirty="0"/>
          </a:p>
        </p:txBody>
      </p:sp>
      <p:sp>
        <p:nvSpPr>
          <p:cNvPr id="9" name="Text 7"/>
          <p:cNvSpPr/>
          <p:nvPr/>
        </p:nvSpPr>
        <p:spPr>
          <a:xfrm>
            <a:off x="886968" y="2283507"/>
            <a:ext cx="4215384" cy="658368"/>
          </a:xfrm>
          <a:prstGeom prst="rect">
            <a:avLst/>
          </a:prstGeom>
          <a:noFill/>
          <a:ln/>
        </p:spPr>
        <p:txBody>
          <a:bodyPr wrap="square" lIns="0" tIns="0" rIns="0" bIns="0" rtlCol="0" anchor="ctr"/>
          <a:lstStyle/>
          <a:p>
            <a:pPr marL="0" indent="0" algn="ctr">
              <a:buNone/>
            </a:pPr>
            <a:r>
              <a:rPr lang="es-419" sz="1250" b="1" noProof="0">
                <a:solidFill>
                  <a:srgbClr val="000000"/>
                </a:solidFill>
                <a:latin typeface="Roboto Condensed Medium" pitchFamily="34" charset="0"/>
                <a:ea typeface="Roboto Condensed Medium" pitchFamily="34" charset="-122"/>
                <a:cs typeface="Roboto Condensed Medium" pitchFamily="34" charset="-120"/>
              </a:rPr>
              <a:t>Administración central</a:t>
            </a:r>
            <a:endParaRPr lang="es-419" sz="1250" noProof="0" dirty="0"/>
          </a:p>
        </p:txBody>
      </p:sp>
      <p:sp>
        <p:nvSpPr>
          <p:cNvPr id="10" name="flow connector">
            <a:extLst>
              <a:ext uri="{C183D7F6-B498-43B3-948B-1728B52AA6E4}">
                <adec:decorative xmlns:adec="http://schemas.microsoft.com/office/drawing/2017/decorative" val="1"/>
              </a:ext>
            </a:extLst>
          </p:cNvPr>
          <p:cNvSpPr/>
          <p:nvPr/>
        </p:nvSpPr>
        <p:spPr>
          <a:xfrm rot="5400000">
            <a:off x="2866644" y="2951018"/>
            <a:ext cx="256032" cy="237744"/>
          </a:xfrm>
          <a:prstGeom prst="chevron">
            <a:avLst/>
          </a:prstGeom>
          <a:solidFill>
            <a:srgbClr val="2A3FE0"/>
          </a:solidFill>
          <a:ln/>
        </p:spPr>
        <p:txBody>
          <a:bodyPr/>
          <a:lstStyle/>
          <a:p>
            <a:endParaRPr lang="es-419" noProof="0" dirty="0"/>
          </a:p>
        </p:txBody>
      </p:sp>
      <p:sp>
        <p:nvSpPr>
          <p:cNvPr id="11" name="stage">
            <a:extLst>
              <a:ext uri="{C183D7F6-B498-43B3-948B-1728B52AA6E4}">
                <adec:decorative xmlns:adec="http://schemas.microsoft.com/office/drawing/2017/decorative" val="1"/>
              </a:ext>
            </a:extLst>
          </p:cNvPr>
          <p:cNvSpPr/>
          <p:nvPr/>
        </p:nvSpPr>
        <p:spPr>
          <a:xfrm>
            <a:off x="685800" y="3235591"/>
            <a:ext cx="4617720" cy="658368"/>
          </a:xfrm>
          <a:prstGeom prst="rect">
            <a:avLst/>
          </a:prstGeom>
          <a:solidFill>
            <a:srgbClr val="FFFFFF"/>
          </a:solidFill>
          <a:ln w="12700">
            <a:solidFill>
              <a:srgbClr val="E6E8EF"/>
            </a:solidFill>
            <a:prstDash val="solid"/>
          </a:ln>
          <a:effectLst>
            <a:outerShdw blurRad="114300" dist="38100" dir="5400000" algn="bl" rotWithShape="0">
              <a:srgbClr val="5B6068">
                <a:alpha val="9000"/>
              </a:srgbClr>
            </a:outerShdw>
          </a:effectLst>
        </p:spPr>
        <p:txBody>
          <a:bodyPr/>
          <a:lstStyle/>
          <a:p>
            <a:endParaRPr lang="es-419" noProof="0" dirty="0"/>
          </a:p>
        </p:txBody>
      </p:sp>
      <p:sp>
        <p:nvSpPr>
          <p:cNvPr id="12" name="Text 10"/>
          <p:cNvSpPr/>
          <p:nvPr/>
        </p:nvSpPr>
        <p:spPr>
          <a:xfrm>
            <a:off x="886968" y="3235591"/>
            <a:ext cx="4215384" cy="658368"/>
          </a:xfrm>
          <a:prstGeom prst="rect">
            <a:avLst/>
          </a:prstGeom>
          <a:noFill/>
          <a:ln/>
        </p:spPr>
        <p:txBody>
          <a:bodyPr wrap="square" lIns="0" tIns="0" rIns="0" bIns="0" rtlCol="0" anchor="ctr"/>
          <a:lstStyle/>
          <a:p>
            <a:pPr marL="0" indent="0" algn="ctr">
              <a:buNone/>
            </a:pPr>
            <a:r>
              <a:rPr lang="es-419" sz="1100" b="1" noProof="0">
                <a:solidFill>
                  <a:srgbClr val="000000"/>
                </a:solidFill>
                <a:latin typeface="Roboto Condensed Medium" pitchFamily="34" charset="0"/>
                <a:ea typeface="Roboto Condensed Medium" pitchFamily="34" charset="-122"/>
                <a:cs typeface="Roboto Condensed Medium" pitchFamily="34" charset="-120"/>
              </a:rPr>
              <a:t>Gobierno centralizado</a:t>
            </a:r>
            <a:endParaRPr lang="es-419" sz="1100" noProof="0" dirty="0"/>
          </a:p>
        </p:txBody>
      </p:sp>
      <p:sp>
        <p:nvSpPr>
          <p:cNvPr id="13" name="flow connector">
            <a:extLst>
              <a:ext uri="{C183D7F6-B498-43B3-948B-1728B52AA6E4}">
                <adec:decorative xmlns:adec="http://schemas.microsoft.com/office/drawing/2017/decorative" val="1"/>
              </a:ext>
            </a:extLst>
          </p:cNvPr>
          <p:cNvSpPr/>
          <p:nvPr/>
        </p:nvSpPr>
        <p:spPr>
          <a:xfrm rot="5400000">
            <a:off x="2866644" y="3910031"/>
            <a:ext cx="256032" cy="237744"/>
          </a:xfrm>
          <a:prstGeom prst="chevron">
            <a:avLst/>
          </a:prstGeom>
          <a:solidFill>
            <a:srgbClr val="2A3FE0"/>
          </a:solidFill>
          <a:ln/>
        </p:spPr>
        <p:txBody>
          <a:bodyPr/>
          <a:lstStyle/>
          <a:p>
            <a:endParaRPr lang="es-419" noProof="0" dirty="0"/>
          </a:p>
        </p:txBody>
      </p:sp>
      <p:sp>
        <p:nvSpPr>
          <p:cNvPr id="14" name="stage">
            <a:extLst>
              <a:ext uri="{C183D7F6-B498-43B3-948B-1728B52AA6E4}">
                <adec:decorative xmlns:adec="http://schemas.microsoft.com/office/drawing/2017/decorative" val="1"/>
              </a:ext>
            </a:extLst>
          </p:cNvPr>
          <p:cNvSpPr/>
          <p:nvPr/>
        </p:nvSpPr>
        <p:spPr>
          <a:xfrm>
            <a:off x="685800" y="4187676"/>
            <a:ext cx="4617720" cy="658368"/>
          </a:xfrm>
          <a:prstGeom prst="rect">
            <a:avLst/>
          </a:prstGeom>
          <a:solidFill>
            <a:srgbClr val="FFFFFF"/>
          </a:solidFill>
          <a:ln w="12700">
            <a:solidFill>
              <a:srgbClr val="E6E8EF"/>
            </a:solidFill>
            <a:prstDash val="solid"/>
          </a:ln>
          <a:effectLst>
            <a:outerShdw blurRad="114300" dist="38100" dir="5400000" algn="bl" rotWithShape="0">
              <a:srgbClr val="5B6068">
                <a:alpha val="9000"/>
              </a:srgbClr>
            </a:outerShdw>
          </a:effectLst>
        </p:spPr>
        <p:txBody>
          <a:bodyPr/>
          <a:lstStyle/>
          <a:p>
            <a:endParaRPr lang="es-419" noProof="0" dirty="0"/>
          </a:p>
        </p:txBody>
      </p:sp>
      <p:sp>
        <p:nvSpPr>
          <p:cNvPr id="15" name="Text 13"/>
          <p:cNvSpPr/>
          <p:nvPr/>
        </p:nvSpPr>
        <p:spPr>
          <a:xfrm>
            <a:off x="886968" y="4187676"/>
            <a:ext cx="4215384" cy="658368"/>
          </a:xfrm>
          <a:prstGeom prst="rect">
            <a:avLst/>
          </a:prstGeom>
          <a:noFill/>
          <a:ln/>
        </p:spPr>
        <p:txBody>
          <a:bodyPr wrap="square" lIns="0" tIns="0" rIns="0" bIns="0" rtlCol="0" anchor="ctr"/>
          <a:lstStyle/>
          <a:p>
            <a:pPr marL="0" indent="0" algn="ctr">
              <a:buNone/>
            </a:pPr>
            <a:r>
              <a:rPr lang="es-419" sz="1250" b="1" noProof="0">
                <a:solidFill>
                  <a:srgbClr val="000000"/>
                </a:solidFill>
                <a:latin typeface="Roboto Condensed Medium" pitchFamily="34" charset="0"/>
                <a:ea typeface="Roboto Condensed Medium" pitchFamily="34" charset="-122"/>
                <a:cs typeface="Roboto Condensed Medium" pitchFamily="34" charset="-120"/>
              </a:rPr>
              <a:t>Consumo y monitoreo</a:t>
            </a:r>
            <a:endParaRPr lang="es-419" sz="1250" noProof="0" dirty="0"/>
          </a:p>
        </p:txBody>
      </p:sp>
      <p:sp>
        <p:nvSpPr>
          <p:cNvPr id="16" name="flow connector">
            <a:extLst>
              <a:ext uri="{C183D7F6-B498-43B3-948B-1728B52AA6E4}">
                <adec:decorative xmlns:adec="http://schemas.microsoft.com/office/drawing/2017/decorative" val="1"/>
              </a:ext>
            </a:extLst>
          </p:cNvPr>
          <p:cNvSpPr/>
          <p:nvPr/>
        </p:nvSpPr>
        <p:spPr>
          <a:xfrm rot="5400000">
            <a:off x="2866644" y="4869042"/>
            <a:ext cx="256032" cy="237744"/>
          </a:xfrm>
          <a:prstGeom prst="chevron">
            <a:avLst/>
          </a:prstGeom>
          <a:solidFill>
            <a:srgbClr val="2A3FE0"/>
          </a:solidFill>
          <a:ln/>
        </p:spPr>
        <p:txBody>
          <a:bodyPr/>
          <a:lstStyle/>
          <a:p>
            <a:endParaRPr lang="es-419" noProof="0" dirty="0"/>
          </a:p>
        </p:txBody>
      </p:sp>
      <p:sp>
        <p:nvSpPr>
          <p:cNvPr id="17" name="stage">
            <a:extLst>
              <a:ext uri="{C183D7F6-B498-43B3-948B-1728B52AA6E4}">
                <adec:decorative xmlns:adec="http://schemas.microsoft.com/office/drawing/2017/decorative" val="1"/>
              </a:ext>
            </a:extLst>
          </p:cNvPr>
          <p:cNvSpPr/>
          <p:nvPr/>
        </p:nvSpPr>
        <p:spPr>
          <a:xfrm>
            <a:off x="685800" y="5132831"/>
            <a:ext cx="4617720" cy="658368"/>
          </a:xfrm>
          <a:prstGeom prst="rect">
            <a:avLst/>
          </a:prstGeom>
          <a:solidFill>
            <a:srgbClr val="FFFFFF"/>
          </a:solidFill>
          <a:ln w="12700">
            <a:solidFill>
              <a:srgbClr val="E6E8EF"/>
            </a:solidFill>
            <a:prstDash val="solid"/>
          </a:ln>
          <a:effectLst>
            <a:outerShdw blurRad="114300" dist="38100" dir="5400000" algn="bl" rotWithShape="0">
              <a:srgbClr val="5B6068">
                <a:alpha val="9000"/>
              </a:srgbClr>
            </a:outerShdw>
          </a:effectLst>
        </p:spPr>
        <p:txBody>
          <a:bodyPr/>
          <a:lstStyle/>
          <a:p>
            <a:endParaRPr lang="es-419" noProof="0" dirty="0"/>
          </a:p>
        </p:txBody>
      </p:sp>
      <p:sp>
        <p:nvSpPr>
          <p:cNvPr id="18" name="Text 16"/>
          <p:cNvSpPr/>
          <p:nvPr/>
        </p:nvSpPr>
        <p:spPr>
          <a:xfrm>
            <a:off x="886968" y="5132831"/>
            <a:ext cx="4215384" cy="658368"/>
          </a:xfrm>
          <a:prstGeom prst="rect">
            <a:avLst/>
          </a:prstGeom>
          <a:noFill/>
          <a:ln/>
        </p:spPr>
        <p:txBody>
          <a:bodyPr wrap="square" lIns="0" tIns="0" rIns="0" bIns="0" rtlCol="0" anchor="ctr"/>
          <a:lstStyle/>
          <a:p>
            <a:pPr marL="0" indent="0" algn="ctr">
              <a:buNone/>
            </a:pPr>
            <a:r>
              <a:rPr lang="es-419" sz="1250" b="1" noProof="0">
                <a:solidFill>
                  <a:srgbClr val="000000"/>
                </a:solidFill>
                <a:latin typeface="Roboto Condensed Medium" pitchFamily="34" charset="0"/>
                <a:ea typeface="Roboto Condensed Medium" pitchFamily="34" charset="-122"/>
                <a:cs typeface="Roboto Condensed Medium" pitchFamily="34" charset="-120"/>
              </a:rPr>
              <a:t>Equipos de desarrollo</a:t>
            </a:r>
            <a:endParaRPr lang="es-419" sz="1250" noProof="0" dirty="0"/>
          </a:p>
        </p:txBody>
      </p:sp>
      <p:sp>
        <p:nvSpPr>
          <p:cNvPr id="19" name="Text 17"/>
          <p:cNvSpPr/>
          <p:nvPr/>
        </p:nvSpPr>
        <p:spPr>
          <a:xfrm>
            <a:off x="5806440" y="1664208"/>
            <a:ext cx="5696712" cy="274320"/>
          </a:xfrm>
          <a:prstGeom prst="rect">
            <a:avLst/>
          </a:prstGeom>
          <a:noFill/>
          <a:ln/>
        </p:spPr>
        <p:txBody>
          <a:bodyPr wrap="square" lIns="0" tIns="0" rIns="0" bIns="0" rtlCol="0" anchor="ctr"/>
          <a:lstStyle/>
          <a:p>
            <a:pPr marL="0" indent="0">
              <a:buNone/>
            </a:pPr>
            <a:r>
              <a:rPr lang="es-419" sz="1150" b="1" kern="0" spc="200" noProof="0">
                <a:solidFill>
                  <a:srgbClr val="6E7278"/>
                </a:solidFill>
                <a:latin typeface="Roboto Condensed Medium" pitchFamily="34" charset="0"/>
                <a:ea typeface="Roboto Condensed Medium" pitchFamily="34" charset="-122"/>
                <a:cs typeface="Roboto Condensed Medium" pitchFamily="34" charset="-120"/>
              </a:rPr>
              <a:t>CAPACIDADES DISPONIBLES</a:t>
            </a:r>
            <a:endParaRPr lang="es-419" sz="1150" noProof="0" dirty="0"/>
          </a:p>
        </p:txBody>
      </p:sp>
      <p:sp>
        <p:nvSpPr>
          <p:cNvPr id="20" name="card">
            <a:extLst>
              <a:ext uri="{C183D7F6-B498-43B3-948B-1728B52AA6E4}">
                <adec:decorative xmlns:adec="http://schemas.microsoft.com/office/drawing/2017/decorative" val="1"/>
              </a:ext>
            </a:extLst>
          </p:cNvPr>
          <p:cNvSpPr/>
          <p:nvPr/>
        </p:nvSpPr>
        <p:spPr>
          <a:xfrm>
            <a:off x="5806440" y="2011680"/>
            <a:ext cx="1776984" cy="603504"/>
          </a:xfrm>
          <a:prstGeom prst="rect">
            <a:avLst/>
          </a:prstGeom>
          <a:solidFill>
            <a:srgbClr val="FFFFFF"/>
          </a:solidFill>
          <a:ln w="12700">
            <a:solidFill>
              <a:srgbClr val="E6E8EF"/>
            </a:solidFill>
            <a:prstDash val="solid"/>
          </a:ln>
          <a:effectLst>
            <a:outerShdw blurRad="114300" dist="38100" dir="5400000" algn="bl" rotWithShape="0">
              <a:srgbClr val="5B6068">
                <a:alpha val="9000"/>
              </a:srgbClr>
            </a:outerShdw>
          </a:effectLst>
        </p:spPr>
        <p:txBody>
          <a:bodyPr/>
          <a:lstStyle/>
          <a:p>
            <a:endParaRPr lang="es-419" noProof="0" dirty="0"/>
          </a:p>
        </p:txBody>
      </p:sp>
      <p:sp>
        <p:nvSpPr>
          <p:cNvPr id="21" name="accent">
            <a:extLst>
              <a:ext uri="{C183D7F6-B498-43B3-948B-1728B52AA6E4}">
                <adec:decorative xmlns:adec="http://schemas.microsoft.com/office/drawing/2017/decorative" val="1"/>
              </a:ext>
            </a:extLst>
          </p:cNvPr>
          <p:cNvSpPr/>
          <p:nvPr/>
        </p:nvSpPr>
        <p:spPr>
          <a:xfrm>
            <a:off x="5806440" y="2011680"/>
            <a:ext cx="73152" cy="603504"/>
          </a:xfrm>
          <a:prstGeom prst="rect">
            <a:avLst/>
          </a:prstGeom>
          <a:solidFill>
            <a:srgbClr val="2A3FE0"/>
          </a:solidFill>
          <a:ln/>
        </p:spPr>
        <p:txBody>
          <a:bodyPr/>
          <a:lstStyle/>
          <a:p>
            <a:endParaRPr lang="es-419" noProof="0" dirty="0"/>
          </a:p>
        </p:txBody>
      </p:sp>
      <p:sp>
        <p:nvSpPr>
          <p:cNvPr id="22" name="Text 20"/>
          <p:cNvSpPr/>
          <p:nvPr/>
        </p:nvSpPr>
        <p:spPr>
          <a:xfrm>
            <a:off x="5989320" y="2011680"/>
            <a:ext cx="1502664" cy="603504"/>
          </a:xfrm>
          <a:prstGeom prst="rect">
            <a:avLst/>
          </a:prstGeom>
          <a:noFill/>
          <a:ln/>
        </p:spPr>
        <p:txBody>
          <a:bodyPr wrap="square" lIns="0" tIns="0" rIns="0" bIns="0" rtlCol="0" anchor="ctr"/>
          <a:lstStyle/>
          <a:p>
            <a:pPr marL="0" indent="0" algn="l">
              <a:buNone/>
            </a:pPr>
            <a:r>
              <a:rPr lang="es-419" sz="1050" b="1" noProof="0">
                <a:solidFill>
                  <a:srgbClr val="000000"/>
                </a:solidFill>
                <a:latin typeface="Roboto Condensed" pitchFamily="34" charset="0"/>
                <a:ea typeface="Roboto Condensed" pitchFamily="34" charset="-122"/>
                <a:cs typeface="Roboto Condensed" pitchFamily="34" charset="-120"/>
              </a:rPr>
              <a:t>Licencias</a:t>
            </a:r>
            <a:endParaRPr lang="es-419" sz="1050" noProof="0" dirty="0"/>
          </a:p>
        </p:txBody>
      </p:sp>
      <p:sp>
        <p:nvSpPr>
          <p:cNvPr id="23" name="card">
            <a:extLst>
              <a:ext uri="{C183D7F6-B498-43B3-948B-1728B52AA6E4}">
                <adec:decorative xmlns:adec="http://schemas.microsoft.com/office/drawing/2017/decorative" val="1"/>
              </a:ext>
            </a:extLst>
          </p:cNvPr>
          <p:cNvSpPr/>
          <p:nvPr/>
        </p:nvSpPr>
        <p:spPr>
          <a:xfrm>
            <a:off x="7766304" y="2011680"/>
            <a:ext cx="1776984" cy="603504"/>
          </a:xfrm>
          <a:prstGeom prst="rect">
            <a:avLst/>
          </a:prstGeom>
          <a:solidFill>
            <a:srgbClr val="FFFFFF"/>
          </a:solidFill>
          <a:ln w="12700">
            <a:solidFill>
              <a:srgbClr val="E6E8EF"/>
            </a:solidFill>
            <a:prstDash val="solid"/>
          </a:ln>
          <a:effectLst>
            <a:outerShdw blurRad="114300" dist="38100" dir="5400000" algn="bl" rotWithShape="0">
              <a:srgbClr val="5B6068">
                <a:alpha val="9000"/>
              </a:srgbClr>
            </a:outerShdw>
          </a:effectLst>
        </p:spPr>
        <p:txBody>
          <a:bodyPr/>
          <a:lstStyle/>
          <a:p>
            <a:endParaRPr lang="es-419" noProof="0" dirty="0"/>
          </a:p>
        </p:txBody>
      </p:sp>
      <p:sp>
        <p:nvSpPr>
          <p:cNvPr id="24" name="accent">
            <a:extLst>
              <a:ext uri="{C183D7F6-B498-43B3-948B-1728B52AA6E4}">
                <adec:decorative xmlns:adec="http://schemas.microsoft.com/office/drawing/2017/decorative" val="1"/>
              </a:ext>
            </a:extLst>
          </p:cNvPr>
          <p:cNvSpPr/>
          <p:nvPr/>
        </p:nvSpPr>
        <p:spPr>
          <a:xfrm>
            <a:off x="7766304" y="2011680"/>
            <a:ext cx="73152" cy="603504"/>
          </a:xfrm>
          <a:prstGeom prst="rect">
            <a:avLst/>
          </a:prstGeom>
          <a:solidFill>
            <a:srgbClr val="2A3FE0"/>
          </a:solidFill>
          <a:ln/>
        </p:spPr>
        <p:txBody>
          <a:bodyPr/>
          <a:lstStyle/>
          <a:p>
            <a:endParaRPr lang="es-419" noProof="0" dirty="0"/>
          </a:p>
        </p:txBody>
      </p:sp>
      <p:sp>
        <p:nvSpPr>
          <p:cNvPr id="25" name="Text 23"/>
          <p:cNvSpPr/>
          <p:nvPr/>
        </p:nvSpPr>
        <p:spPr>
          <a:xfrm>
            <a:off x="7949184" y="2011680"/>
            <a:ext cx="1502664" cy="603504"/>
          </a:xfrm>
          <a:prstGeom prst="rect">
            <a:avLst/>
          </a:prstGeom>
          <a:noFill/>
          <a:ln/>
        </p:spPr>
        <p:txBody>
          <a:bodyPr wrap="square" lIns="0" tIns="0" rIns="0" bIns="0" rtlCol="0" anchor="ctr"/>
          <a:lstStyle/>
          <a:p>
            <a:pPr marL="0" indent="0" algn="l">
              <a:buNone/>
            </a:pPr>
            <a:r>
              <a:rPr lang="es-419" sz="1050" b="1" noProof="0">
                <a:solidFill>
                  <a:srgbClr val="000000"/>
                </a:solidFill>
                <a:latin typeface="Roboto Condensed" pitchFamily="34" charset="0"/>
                <a:ea typeface="Roboto Condensed" pitchFamily="34" charset="-122"/>
                <a:cs typeface="Roboto Condensed" pitchFamily="34" charset="-120"/>
              </a:rPr>
              <a:t>Políticas</a:t>
            </a:r>
            <a:endParaRPr lang="es-419" sz="1050" noProof="0" dirty="0"/>
          </a:p>
        </p:txBody>
      </p:sp>
      <p:sp>
        <p:nvSpPr>
          <p:cNvPr id="29" name="card">
            <a:extLst>
              <a:ext uri="{C183D7F6-B498-43B3-948B-1728B52AA6E4}">
                <adec:decorative xmlns:adec="http://schemas.microsoft.com/office/drawing/2017/decorative" val="1"/>
              </a:ext>
            </a:extLst>
          </p:cNvPr>
          <p:cNvSpPr/>
          <p:nvPr/>
        </p:nvSpPr>
        <p:spPr>
          <a:xfrm>
            <a:off x="9726168" y="2011680"/>
            <a:ext cx="1776984" cy="603504"/>
          </a:xfrm>
          <a:prstGeom prst="rect">
            <a:avLst/>
          </a:prstGeom>
          <a:solidFill>
            <a:srgbClr val="FFFFFF"/>
          </a:solidFill>
          <a:ln w="12700">
            <a:solidFill>
              <a:srgbClr val="E6E8EF"/>
            </a:solidFill>
            <a:prstDash val="solid"/>
          </a:ln>
          <a:effectLst>
            <a:outerShdw blurRad="114300" dist="38100" dir="5400000" algn="bl" rotWithShape="0">
              <a:srgbClr val="5B6068">
                <a:alpha val="9000"/>
              </a:srgbClr>
            </a:outerShdw>
          </a:effectLst>
        </p:spPr>
        <p:txBody>
          <a:bodyPr/>
          <a:lstStyle/>
          <a:p>
            <a:endParaRPr lang="es-419" noProof="0" dirty="0"/>
          </a:p>
        </p:txBody>
      </p:sp>
      <p:sp>
        <p:nvSpPr>
          <p:cNvPr id="30" name="accent">
            <a:extLst>
              <a:ext uri="{C183D7F6-B498-43B3-948B-1728B52AA6E4}">
                <adec:decorative xmlns:adec="http://schemas.microsoft.com/office/drawing/2017/decorative" val="1"/>
              </a:ext>
            </a:extLst>
          </p:cNvPr>
          <p:cNvSpPr/>
          <p:nvPr/>
        </p:nvSpPr>
        <p:spPr>
          <a:xfrm>
            <a:off x="9726168" y="2011680"/>
            <a:ext cx="73152" cy="603504"/>
          </a:xfrm>
          <a:prstGeom prst="rect">
            <a:avLst/>
          </a:prstGeom>
          <a:solidFill>
            <a:srgbClr val="2A3FE0"/>
          </a:solidFill>
          <a:ln/>
        </p:spPr>
        <p:txBody>
          <a:bodyPr/>
          <a:lstStyle/>
          <a:p>
            <a:endParaRPr lang="es-419" noProof="0" dirty="0"/>
          </a:p>
        </p:txBody>
      </p:sp>
      <p:sp>
        <p:nvSpPr>
          <p:cNvPr id="31" name="Text 29"/>
          <p:cNvSpPr/>
          <p:nvPr/>
        </p:nvSpPr>
        <p:spPr>
          <a:xfrm>
            <a:off x="9909048" y="2011680"/>
            <a:ext cx="1502664" cy="603504"/>
          </a:xfrm>
          <a:prstGeom prst="rect">
            <a:avLst/>
          </a:prstGeom>
          <a:noFill/>
          <a:ln/>
        </p:spPr>
        <p:txBody>
          <a:bodyPr wrap="square" lIns="0" tIns="0" rIns="0" bIns="0" rtlCol="0" anchor="ctr"/>
          <a:lstStyle/>
          <a:p>
            <a:pPr marL="0" indent="0" algn="l">
              <a:buNone/>
            </a:pPr>
            <a:r>
              <a:rPr lang="es-419" sz="1050" b="1" noProof="0">
                <a:solidFill>
                  <a:srgbClr val="000000"/>
                </a:solidFill>
                <a:latin typeface="Roboto Condensed" pitchFamily="34" charset="0"/>
                <a:ea typeface="Roboto Condensed" pitchFamily="34" charset="-122"/>
                <a:cs typeface="Roboto Condensed" pitchFamily="34" charset="-120"/>
              </a:rPr>
              <a:t>Modelos</a:t>
            </a:r>
            <a:endParaRPr lang="es-419" sz="1050" noProof="0" dirty="0"/>
          </a:p>
        </p:txBody>
      </p:sp>
      <p:sp>
        <p:nvSpPr>
          <p:cNvPr id="32" name="card">
            <a:extLst>
              <a:ext uri="{C183D7F6-B498-43B3-948B-1728B52AA6E4}">
                <adec:decorative xmlns:adec="http://schemas.microsoft.com/office/drawing/2017/decorative" val="1"/>
              </a:ext>
            </a:extLst>
          </p:cNvPr>
          <p:cNvSpPr/>
          <p:nvPr/>
        </p:nvSpPr>
        <p:spPr>
          <a:xfrm>
            <a:off x="5806440" y="2779776"/>
            <a:ext cx="1776984" cy="603504"/>
          </a:xfrm>
          <a:prstGeom prst="rect">
            <a:avLst/>
          </a:prstGeom>
          <a:solidFill>
            <a:srgbClr val="FFFFFF"/>
          </a:solidFill>
          <a:ln w="12700">
            <a:solidFill>
              <a:srgbClr val="E6E8EF"/>
            </a:solidFill>
            <a:prstDash val="solid"/>
          </a:ln>
          <a:effectLst>
            <a:outerShdw blurRad="114300" dist="38100" dir="5400000" algn="bl" rotWithShape="0">
              <a:srgbClr val="5B6068">
                <a:alpha val="9000"/>
              </a:srgbClr>
            </a:outerShdw>
          </a:effectLst>
        </p:spPr>
        <p:txBody>
          <a:bodyPr/>
          <a:lstStyle/>
          <a:p>
            <a:endParaRPr lang="es-419" noProof="0" dirty="0"/>
          </a:p>
        </p:txBody>
      </p:sp>
      <p:sp>
        <p:nvSpPr>
          <p:cNvPr id="33" name="accent">
            <a:extLst>
              <a:ext uri="{C183D7F6-B498-43B3-948B-1728B52AA6E4}">
                <adec:decorative xmlns:adec="http://schemas.microsoft.com/office/drawing/2017/decorative" val="1"/>
              </a:ext>
            </a:extLst>
          </p:cNvPr>
          <p:cNvSpPr/>
          <p:nvPr/>
        </p:nvSpPr>
        <p:spPr>
          <a:xfrm>
            <a:off x="5806440" y="2779776"/>
            <a:ext cx="73152" cy="603504"/>
          </a:xfrm>
          <a:prstGeom prst="rect">
            <a:avLst/>
          </a:prstGeom>
          <a:solidFill>
            <a:srgbClr val="2A3FE0"/>
          </a:solidFill>
          <a:ln/>
        </p:spPr>
        <p:txBody>
          <a:bodyPr/>
          <a:lstStyle/>
          <a:p>
            <a:endParaRPr lang="es-419" noProof="0" dirty="0"/>
          </a:p>
        </p:txBody>
      </p:sp>
      <p:sp>
        <p:nvSpPr>
          <p:cNvPr id="34" name="Text 32"/>
          <p:cNvSpPr/>
          <p:nvPr/>
        </p:nvSpPr>
        <p:spPr>
          <a:xfrm>
            <a:off x="5989320" y="2779776"/>
            <a:ext cx="1502664" cy="603504"/>
          </a:xfrm>
          <a:prstGeom prst="rect">
            <a:avLst/>
          </a:prstGeom>
          <a:noFill/>
          <a:ln/>
        </p:spPr>
        <p:txBody>
          <a:bodyPr wrap="square" lIns="0" tIns="0" rIns="0" bIns="0" rtlCol="0" anchor="ctr"/>
          <a:lstStyle/>
          <a:p>
            <a:pPr marL="0" indent="0" algn="l">
              <a:buNone/>
            </a:pPr>
            <a:r>
              <a:rPr lang="es-419" sz="1050" b="1" noProof="0">
                <a:solidFill>
                  <a:srgbClr val="000000"/>
                </a:solidFill>
                <a:latin typeface="Roboto Condensed" pitchFamily="34" charset="0"/>
                <a:ea typeface="Roboto Condensed" pitchFamily="34" charset="-122"/>
                <a:cs typeface="Roboto Condensed" pitchFamily="34" charset="-120"/>
              </a:rPr>
              <a:t>Agentes</a:t>
            </a:r>
            <a:endParaRPr lang="es-419" sz="1050" noProof="0" dirty="0"/>
          </a:p>
        </p:txBody>
      </p:sp>
      <p:sp>
        <p:nvSpPr>
          <p:cNvPr id="35" name="card">
            <a:extLst>
              <a:ext uri="{C183D7F6-B498-43B3-948B-1728B52AA6E4}">
                <adec:decorative xmlns:adec="http://schemas.microsoft.com/office/drawing/2017/decorative" val="1"/>
              </a:ext>
            </a:extLst>
          </p:cNvPr>
          <p:cNvSpPr/>
          <p:nvPr/>
        </p:nvSpPr>
        <p:spPr>
          <a:xfrm>
            <a:off x="7766304" y="2779776"/>
            <a:ext cx="1776984" cy="603504"/>
          </a:xfrm>
          <a:prstGeom prst="rect">
            <a:avLst/>
          </a:prstGeom>
          <a:solidFill>
            <a:srgbClr val="FFFFFF"/>
          </a:solidFill>
          <a:ln w="12700">
            <a:solidFill>
              <a:srgbClr val="E6E8EF"/>
            </a:solidFill>
            <a:prstDash val="solid"/>
          </a:ln>
          <a:effectLst>
            <a:outerShdw blurRad="114300" dist="38100" dir="5400000" algn="bl" rotWithShape="0">
              <a:srgbClr val="5B6068">
                <a:alpha val="9000"/>
              </a:srgbClr>
            </a:outerShdw>
          </a:effectLst>
        </p:spPr>
        <p:txBody>
          <a:bodyPr/>
          <a:lstStyle/>
          <a:p>
            <a:endParaRPr lang="es-419" noProof="0" dirty="0"/>
          </a:p>
        </p:txBody>
      </p:sp>
      <p:sp>
        <p:nvSpPr>
          <p:cNvPr id="36" name="accent">
            <a:extLst>
              <a:ext uri="{C183D7F6-B498-43B3-948B-1728B52AA6E4}">
                <adec:decorative xmlns:adec="http://schemas.microsoft.com/office/drawing/2017/decorative" val="1"/>
              </a:ext>
            </a:extLst>
          </p:cNvPr>
          <p:cNvSpPr/>
          <p:nvPr/>
        </p:nvSpPr>
        <p:spPr>
          <a:xfrm>
            <a:off x="7766304" y="2779776"/>
            <a:ext cx="73152" cy="603504"/>
          </a:xfrm>
          <a:prstGeom prst="rect">
            <a:avLst/>
          </a:prstGeom>
          <a:solidFill>
            <a:srgbClr val="2A3FE0"/>
          </a:solidFill>
          <a:ln/>
        </p:spPr>
        <p:txBody>
          <a:bodyPr/>
          <a:lstStyle/>
          <a:p>
            <a:endParaRPr lang="es-419" noProof="0" dirty="0"/>
          </a:p>
        </p:txBody>
      </p:sp>
      <p:sp>
        <p:nvSpPr>
          <p:cNvPr id="37" name="Text 35"/>
          <p:cNvSpPr/>
          <p:nvPr/>
        </p:nvSpPr>
        <p:spPr>
          <a:xfrm>
            <a:off x="7949184" y="2779776"/>
            <a:ext cx="1502664" cy="603504"/>
          </a:xfrm>
          <a:prstGeom prst="rect">
            <a:avLst/>
          </a:prstGeom>
          <a:noFill/>
          <a:ln/>
        </p:spPr>
        <p:txBody>
          <a:bodyPr wrap="square" lIns="0" tIns="0" rIns="0" bIns="0" rtlCol="0" anchor="ctr"/>
          <a:lstStyle/>
          <a:p>
            <a:pPr marL="0" indent="0" algn="l">
              <a:buNone/>
            </a:pPr>
            <a:r>
              <a:rPr lang="es-419" sz="1050" b="1" noProof="0">
                <a:solidFill>
                  <a:srgbClr val="000000"/>
                </a:solidFill>
                <a:latin typeface="Roboto Condensed" pitchFamily="34" charset="0"/>
                <a:ea typeface="Roboto Condensed" pitchFamily="34" charset="-122"/>
                <a:cs typeface="Roboto Condensed" pitchFamily="34" charset="-120"/>
              </a:rPr>
              <a:t>Consumo</a:t>
            </a:r>
            <a:endParaRPr lang="es-419" sz="1050" noProof="0" dirty="0"/>
          </a:p>
        </p:txBody>
      </p:sp>
      <p:sp>
        <p:nvSpPr>
          <p:cNvPr id="44" name="card">
            <a:extLst>
              <a:ext uri="{C183D7F6-B498-43B3-948B-1728B52AA6E4}">
                <adec:decorative xmlns:adec="http://schemas.microsoft.com/office/drawing/2017/decorative" val="1"/>
              </a:ext>
            </a:extLst>
          </p:cNvPr>
          <p:cNvSpPr/>
          <p:nvPr/>
        </p:nvSpPr>
        <p:spPr>
          <a:xfrm>
            <a:off x="9726168" y="2779776"/>
            <a:ext cx="1776984" cy="603504"/>
          </a:xfrm>
          <a:prstGeom prst="rect">
            <a:avLst/>
          </a:prstGeom>
          <a:solidFill>
            <a:srgbClr val="FFFFFF"/>
          </a:solidFill>
          <a:ln w="12700">
            <a:solidFill>
              <a:srgbClr val="E6E8EF"/>
            </a:solidFill>
            <a:prstDash val="solid"/>
          </a:ln>
          <a:effectLst>
            <a:outerShdw blurRad="114300" dist="38100" dir="5400000" algn="bl" rotWithShape="0">
              <a:srgbClr val="5B6068">
                <a:alpha val="9000"/>
              </a:srgbClr>
            </a:outerShdw>
          </a:effectLst>
        </p:spPr>
        <p:txBody>
          <a:bodyPr/>
          <a:lstStyle/>
          <a:p>
            <a:endParaRPr lang="es-419" noProof="0" dirty="0"/>
          </a:p>
        </p:txBody>
      </p:sp>
      <p:sp>
        <p:nvSpPr>
          <p:cNvPr id="45" name="accent">
            <a:extLst>
              <a:ext uri="{C183D7F6-B498-43B3-948B-1728B52AA6E4}">
                <adec:decorative xmlns:adec="http://schemas.microsoft.com/office/drawing/2017/decorative" val="1"/>
              </a:ext>
            </a:extLst>
          </p:cNvPr>
          <p:cNvSpPr/>
          <p:nvPr/>
        </p:nvSpPr>
        <p:spPr>
          <a:xfrm>
            <a:off x="9726168" y="2779776"/>
            <a:ext cx="73152" cy="603504"/>
          </a:xfrm>
          <a:prstGeom prst="rect">
            <a:avLst/>
          </a:prstGeom>
          <a:solidFill>
            <a:srgbClr val="2A3FE0"/>
          </a:solidFill>
          <a:ln/>
        </p:spPr>
        <p:txBody>
          <a:bodyPr/>
          <a:lstStyle/>
          <a:p>
            <a:endParaRPr lang="es-419" noProof="0" dirty="0"/>
          </a:p>
        </p:txBody>
      </p:sp>
      <p:sp>
        <p:nvSpPr>
          <p:cNvPr id="46" name="Text 44"/>
          <p:cNvSpPr/>
          <p:nvPr/>
        </p:nvSpPr>
        <p:spPr>
          <a:xfrm>
            <a:off x="9909048" y="2779776"/>
            <a:ext cx="1502664" cy="603504"/>
          </a:xfrm>
          <a:prstGeom prst="rect">
            <a:avLst/>
          </a:prstGeom>
          <a:noFill/>
          <a:ln/>
        </p:spPr>
        <p:txBody>
          <a:bodyPr wrap="square" lIns="0" tIns="0" rIns="0" bIns="0" rtlCol="0" anchor="ctr"/>
          <a:lstStyle/>
          <a:p>
            <a:pPr marL="0" indent="0" algn="l">
              <a:buNone/>
            </a:pPr>
            <a:r>
              <a:rPr lang="es-419" sz="1050" b="1" noProof="0">
                <a:solidFill>
                  <a:srgbClr val="000000"/>
                </a:solidFill>
                <a:latin typeface="Roboto Condensed" pitchFamily="34" charset="0"/>
                <a:ea typeface="Roboto Condensed" pitchFamily="34" charset="-122"/>
                <a:cs typeface="Roboto Condensed" pitchFamily="34" charset="-120"/>
              </a:rPr>
              <a:t>Auditoría</a:t>
            </a:r>
            <a:endParaRPr lang="es-419" sz="1050" noProof="0" dirty="0"/>
          </a:p>
        </p:txBody>
      </p:sp>
      <p:sp>
        <p:nvSpPr>
          <p:cNvPr id="47" name="card">
            <a:extLst>
              <a:ext uri="{C183D7F6-B498-43B3-948B-1728B52AA6E4}">
                <adec:decorative xmlns:adec="http://schemas.microsoft.com/office/drawing/2017/decorative" val="1"/>
              </a:ext>
            </a:extLst>
          </p:cNvPr>
          <p:cNvSpPr/>
          <p:nvPr/>
        </p:nvSpPr>
        <p:spPr>
          <a:xfrm>
            <a:off x="5806440" y="4526280"/>
            <a:ext cx="5696712" cy="1417320"/>
          </a:xfrm>
          <a:prstGeom prst="rect">
            <a:avLst/>
          </a:prstGeom>
          <a:solidFill>
            <a:srgbClr val="E7EAFC"/>
          </a:solidFill>
          <a:ln w="12700">
            <a:solidFill>
              <a:srgbClr val="CBD2F7"/>
            </a:solidFill>
            <a:prstDash val="solid"/>
          </a:ln>
        </p:spPr>
        <p:txBody>
          <a:bodyPr/>
          <a:lstStyle/>
          <a:p>
            <a:endParaRPr lang="es-419" noProof="0" dirty="0"/>
          </a:p>
        </p:txBody>
      </p:sp>
      <p:sp>
        <p:nvSpPr>
          <p:cNvPr id="48" name="Text 46"/>
          <p:cNvSpPr/>
          <p:nvPr/>
        </p:nvSpPr>
        <p:spPr>
          <a:xfrm>
            <a:off x="6062472" y="4672584"/>
            <a:ext cx="5184648" cy="274320"/>
          </a:xfrm>
          <a:prstGeom prst="rect">
            <a:avLst/>
          </a:prstGeom>
          <a:noFill/>
          <a:ln/>
        </p:spPr>
        <p:txBody>
          <a:bodyPr wrap="square" lIns="0" tIns="0" rIns="0" bIns="0" rtlCol="0" anchor="ctr"/>
          <a:lstStyle/>
          <a:p>
            <a:pPr marL="0" indent="0">
              <a:buNone/>
            </a:pPr>
            <a:r>
              <a:rPr lang="es-419" sz="1100" b="1" kern="0" spc="100" noProof="0">
                <a:solidFill>
                  <a:srgbClr val="1E2FB5"/>
                </a:solidFill>
                <a:latin typeface="Roboto Condensed Medium" pitchFamily="34" charset="0"/>
                <a:ea typeface="Roboto Condensed Medium" pitchFamily="34" charset="-122"/>
                <a:cs typeface="Roboto Condensed Medium" pitchFamily="34" charset="-120"/>
              </a:rPr>
              <a:t>PENDIENTES PARA DEFINICIÓN INTERNA</a:t>
            </a:r>
            <a:endParaRPr lang="es-419" sz="1100" noProof="0" dirty="0"/>
          </a:p>
        </p:txBody>
      </p:sp>
      <p:sp>
        <p:nvSpPr>
          <p:cNvPr id="49" name="Text 47"/>
          <p:cNvSpPr/>
          <p:nvPr/>
        </p:nvSpPr>
        <p:spPr>
          <a:xfrm>
            <a:off x="6062472" y="4983480"/>
            <a:ext cx="2500884" cy="292608"/>
          </a:xfrm>
          <a:prstGeom prst="rect">
            <a:avLst/>
          </a:prstGeom>
          <a:noFill/>
          <a:ln/>
        </p:spPr>
        <p:txBody>
          <a:bodyPr wrap="square" lIns="0" tIns="0" rIns="0" bIns="0" rtlCol="0" anchor="ctr"/>
          <a:lstStyle/>
          <a:p>
            <a:pPr marL="0" indent="0" algn="l">
              <a:buNone/>
            </a:pPr>
            <a:r>
              <a:rPr lang="es-419" sz="980" noProof="0">
                <a:solidFill>
                  <a:srgbClr val="33373D"/>
                </a:solidFill>
                <a:latin typeface="Roboto Condensed" pitchFamily="34" charset="0"/>
                <a:ea typeface="Roboto Condensed" pitchFamily="34" charset="-122"/>
                <a:cs typeface="Roboto Condensed" pitchFamily="34" charset="-120"/>
              </a:rPr>
              <a:t>Administración de usuarios y licencias:  </a:t>
            </a:r>
            <a:r>
              <a:rPr lang="es-419" sz="980" b="1" noProof="0">
                <a:solidFill>
                  <a:srgbClr val="1E2FB5"/>
                </a:solidFill>
                <a:latin typeface="Roboto Condensed" pitchFamily="34" charset="0"/>
                <a:ea typeface="Roboto Condensed" pitchFamily="34" charset="-122"/>
                <a:cs typeface="Roboto Condensed" pitchFamily="34" charset="-120"/>
              </a:rPr>
              <a:t>SMT y Accesos</a:t>
            </a:r>
            <a:endParaRPr lang="es-419" sz="980" noProof="0" dirty="0"/>
          </a:p>
        </p:txBody>
      </p:sp>
      <p:sp>
        <p:nvSpPr>
          <p:cNvPr id="50" name="Text 48"/>
          <p:cNvSpPr/>
          <p:nvPr/>
        </p:nvSpPr>
        <p:spPr>
          <a:xfrm>
            <a:off x="8654796" y="4983480"/>
            <a:ext cx="2500884" cy="292608"/>
          </a:xfrm>
          <a:prstGeom prst="rect">
            <a:avLst/>
          </a:prstGeom>
          <a:noFill/>
          <a:ln/>
        </p:spPr>
        <p:txBody>
          <a:bodyPr wrap="square" lIns="0" tIns="0" rIns="0" bIns="0" rtlCol="0" anchor="ctr"/>
          <a:lstStyle/>
          <a:p>
            <a:pPr marL="0" indent="0" algn="l">
              <a:buNone/>
            </a:pPr>
            <a:r>
              <a:rPr lang="es-419" sz="980" noProof="0">
                <a:solidFill>
                  <a:srgbClr val="33373D"/>
                </a:solidFill>
                <a:latin typeface="Roboto Condensed" pitchFamily="34" charset="0"/>
                <a:ea typeface="Roboto Condensed" pitchFamily="34" charset="-122"/>
                <a:cs typeface="Roboto Condensed" pitchFamily="34" charset="-120"/>
              </a:rPr>
              <a:t>Aprovisionamiento en consola:  </a:t>
            </a:r>
            <a:r>
              <a:rPr lang="es-419" sz="980" b="1" noProof="0">
                <a:solidFill>
                  <a:srgbClr val="1E2FB5"/>
                </a:solidFill>
                <a:latin typeface="Roboto Condensed" pitchFamily="34" charset="0"/>
                <a:ea typeface="Roboto Condensed" pitchFamily="34" charset="-122"/>
                <a:cs typeface="Roboto Condensed" pitchFamily="34" charset="-120"/>
              </a:rPr>
              <a:t>Equipo de Accesos</a:t>
            </a:r>
            <a:endParaRPr lang="es-419" sz="980" noProof="0" dirty="0"/>
          </a:p>
        </p:txBody>
      </p:sp>
      <p:sp>
        <p:nvSpPr>
          <p:cNvPr id="51" name="Text 49"/>
          <p:cNvSpPr/>
          <p:nvPr/>
        </p:nvSpPr>
        <p:spPr>
          <a:xfrm>
            <a:off x="6062472" y="5294376"/>
            <a:ext cx="2500884" cy="292608"/>
          </a:xfrm>
          <a:prstGeom prst="rect">
            <a:avLst/>
          </a:prstGeom>
          <a:noFill/>
          <a:ln/>
        </p:spPr>
        <p:txBody>
          <a:bodyPr wrap="square" lIns="0" tIns="0" rIns="0" bIns="0" rtlCol="0" anchor="ctr"/>
          <a:lstStyle/>
          <a:p>
            <a:pPr marL="0" indent="0" algn="l">
              <a:buNone/>
            </a:pPr>
            <a:r>
              <a:rPr lang="es-419" sz="980" noProof="0">
                <a:solidFill>
                  <a:srgbClr val="33373D"/>
                </a:solidFill>
                <a:latin typeface="Roboto Condensed" pitchFamily="34" charset="0"/>
                <a:ea typeface="Roboto Condensed" pitchFamily="34" charset="-122"/>
                <a:cs typeface="Roboto Condensed" pitchFamily="34" charset="-120"/>
              </a:rPr>
              <a:t>Administración de consumo y excepciones:  </a:t>
            </a:r>
            <a:r>
              <a:rPr lang="es-419" sz="980" b="1" noProof="0">
                <a:solidFill>
                  <a:srgbClr val="1E2FB5"/>
                </a:solidFill>
                <a:latin typeface="Roboto Condensed" pitchFamily="34" charset="0"/>
                <a:ea typeface="Roboto Condensed" pitchFamily="34" charset="-122"/>
                <a:cs typeface="Roboto Condensed" pitchFamily="34" charset="-120"/>
              </a:rPr>
              <a:t>Ingeniería</a:t>
            </a:r>
            <a:endParaRPr lang="es-419" sz="980" noProof="0" dirty="0"/>
          </a:p>
        </p:txBody>
      </p:sp>
      <p:sp>
        <p:nvSpPr>
          <p:cNvPr id="52" name="Text 50"/>
          <p:cNvSpPr/>
          <p:nvPr/>
        </p:nvSpPr>
        <p:spPr>
          <a:xfrm>
            <a:off x="6062472" y="5605272"/>
            <a:ext cx="5093208" cy="292608"/>
          </a:xfrm>
          <a:prstGeom prst="rect">
            <a:avLst/>
          </a:prstGeom>
          <a:noFill/>
          <a:ln/>
        </p:spPr>
        <p:txBody>
          <a:bodyPr wrap="square" lIns="0" tIns="0" rIns="0" bIns="0" rtlCol="0" anchor="ctr"/>
          <a:lstStyle/>
          <a:p>
            <a:r>
              <a:rPr lang="es-419" sz="980" noProof="0">
                <a:solidFill>
                  <a:srgbClr val="33373D"/>
                </a:solidFill>
                <a:latin typeface="Roboto Condensed" pitchFamily="34" charset="0"/>
                <a:ea typeface="Roboto Condensed" pitchFamily="34" charset="-122"/>
                <a:cs typeface="Roboto Condensed" pitchFamily="34" charset="-120"/>
              </a:rPr>
              <a:t>Gobierno y periodicidad de seguimiento: </a:t>
            </a:r>
            <a:r>
              <a:rPr lang="es-419" sz="980" b="1">
                <a:solidFill>
                  <a:srgbClr val="1E2FB5"/>
                </a:solidFill>
                <a:latin typeface="Roboto Condensed" pitchFamily="34" charset="0"/>
                <a:ea typeface="Roboto Condensed" pitchFamily="34" charset="-122"/>
                <a:cs typeface="Roboto Condensed" pitchFamily="34" charset="-120"/>
              </a:rPr>
              <a:t>Ingeniería</a:t>
            </a:r>
            <a:endParaRPr lang="es-419" sz="980" noProof="0" dirty="0"/>
          </a:p>
        </p:txBody>
      </p:sp>
      <p:sp>
        <p:nvSpPr>
          <p:cNvPr id="53" name="Text 51"/>
          <p:cNvSpPr/>
          <p:nvPr/>
        </p:nvSpPr>
        <p:spPr>
          <a:xfrm>
            <a:off x="6062472" y="5605272"/>
            <a:ext cx="2500884" cy="292608"/>
          </a:xfrm>
          <a:prstGeom prst="rect">
            <a:avLst/>
          </a:prstGeom>
          <a:noFill/>
          <a:ln/>
        </p:spPr>
        <p:txBody>
          <a:bodyPr wrap="square" lIns="0" tIns="0" rIns="0" bIns="0" rtlCol="0" anchor="ctr"/>
          <a:lstStyle/>
          <a:p>
            <a:pPr marL="0" indent="0" algn="l">
              <a:buNone/>
            </a:pPr>
            <a:endParaRPr lang="es-419" sz="980" noProof="0" dirty="0"/>
          </a:p>
        </p:txBody>
      </p:sp>
      <p:sp>
        <p:nvSpPr>
          <p:cNvPr id="54" name="Text 52"/>
          <p:cNvSpPr/>
          <p:nvPr/>
        </p:nvSpPr>
        <p:spPr>
          <a:xfrm>
            <a:off x="685800" y="6437376"/>
            <a:ext cx="8686800" cy="292608"/>
          </a:xfrm>
          <a:prstGeom prst="rect">
            <a:avLst/>
          </a:prstGeom>
          <a:noFill/>
          <a:ln/>
        </p:spPr>
        <p:txBody>
          <a:bodyPr wrap="square" lIns="0" tIns="0" rIns="0" bIns="0" rtlCol="0" anchor="ctr"/>
          <a:lstStyle/>
          <a:p>
            <a:pPr marL="0" indent="0" algn="l">
              <a:buNone/>
            </a:pPr>
            <a:r>
              <a:rPr lang="es-419" sz="850" b="1" noProof="0">
                <a:solidFill>
                  <a:srgbClr val="000000"/>
                </a:solidFill>
                <a:latin typeface="Roboto Condensed" pitchFamily="34" charset="0"/>
                <a:ea typeface="Roboto Condensed" pitchFamily="34" charset="-122"/>
                <a:cs typeface="Roboto Condensed" pitchFamily="34" charset="-120"/>
              </a:rPr>
              <a:t>Tuya</a:t>
            </a:r>
            <a:r>
              <a:rPr lang="es-419" sz="850" noProof="0">
                <a:solidFill>
                  <a:srgbClr val="5B6068"/>
                </a:solidFill>
                <a:latin typeface="Roboto Condensed" pitchFamily="34" charset="0"/>
                <a:ea typeface="Roboto Condensed" pitchFamily="34" charset="-122"/>
                <a:cs typeface="Roboto Condensed" pitchFamily="34" charset="-120"/>
              </a:rPr>
              <a:t>   ·   GitHub </a:t>
            </a:r>
            <a:r>
              <a:rPr lang="es-419" sz="850" noProof="0" err="1">
                <a:solidFill>
                  <a:srgbClr val="5B6068"/>
                </a:solidFill>
                <a:latin typeface="Roboto Condensed" pitchFamily="34" charset="0"/>
                <a:ea typeface="Roboto Condensed" pitchFamily="34" charset="-122"/>
                <a:cs typeface="Roboto Condensed" pitchFamily="34" charset="-120"/>
              </a:rPr>
              <a:t>Copilot</a:t>
            </a:r>
            <a:r>
              <a:rPr lang="es-419" sz="850" noProof="0">
                <a:solidFill>
                  <a:srgbClr val="5B6068"/>
                </a:solidFill>
                <a:latin typeface="Roboto Condensed" pitchFamily="34" charset="0"/>
                <a:ea typeface="Roboto Condensed" pitchFamily="34" charset="-122"/>
                <a:cs typeface="Roboto Condensed" pitchFamily="34" charset="-120"/>
              </a:rPr>
              <a:t> - Resultados de la Prueba de Concepto</a:t>
            </a:r>
            <a:endParaRPr lang="es-419" sz="850" noProof="0" dirty="0"/>
          </a:p>
        </p:txBody>
      </p:sp>
      <p:sp>
        <p:nvSpPr>
          <p:cNvPr id="55" name="Text 53"/>
          <p:cNvSpPr/>
          <p:nvPr/>
        </p:nvSpPr>
        <p:spPr>
          <a:xfrm>
            <a:off x="10972800" y="6437376"/>
            <a:ext cx="530352" cy="292608"/>
          </a:xfrm>
          <a:prstGeom prst="rect">
            <a:avLst/>
          </a:prstGeom>
          <a:noFill/>
          <a:ln/>
        </p:spPr>
        <p:txBody>
          <a:bodyPr wrap="square" lIns="0" tIns="0" rIns="0" bIns="0" rtlCol="0" anchor="ctr"/>
          <a:lstStyle/>
          <a:p>
            <a:pPr marL="0" indent="0" algn="r">
              <a:buNone/>
            </a:pPr>
            <a:r>
              <a:rPr lang="es-419" sz="900" b="1" noProof="0">
                <a:solidFill>
                  <a:srgbClr val="2A3FE0"/>
                </a:solidFill>
                <a:latin typeface="Roboto Condensed Medium" pitchFamily="34" charset="0"/>
                <a:ea typeface="Roboto Condensed Medium" pitchFamily="34" charset="-122"/>
                <a:cs typeface="Roboto Condensed Medium" pitchFamily="34" charset="-120"/>
              </a:rPr>
              <a:t>09</a:t>
            </a:r>
            <a:endParaRPr lang="es-419" sz="900" noProof="0" dirty="0"/>
          </a:p>
        </p:txBody>
      </p:sp>
      <p:sp>
        <p:nvSpPr>
          <p:cNvPr id="56" name="Text 54"/>
          <p:cNvSpPr/>
          <p:nvPr/>
        </p:nvSpPr>
        <p:spPr>
          <a:xfrm>
            <a:off x="685800" y="5983778"/>
            <a:ext cx="4617720" cy="502920"/>
          </a:xfrm>
          <a:prstGeom prst="rect">
            <a:avLst/>
          </a:prstGeom>
          <a:noFill/>
          <a:ln/>
        </p:spPr>
        <p:txBody>
          <a:bodyPr wrap="square" lIns="0" tIns="0" rIns="0" bIns="0" rtlCol="0" anchor="t"/>
          <a:lstStyle/>
          <a:p>
            <a:pPr marL="0" indent="0" algn="l">
              <a:buNone/>
            </a:pPr>
            <a:r>
              <a:rPr lang="es-419" sz="860" i="1" noProof="0">
                <a:solidFill>
                  <a:srgbClr val="6E7278"/>
                </a:solidFill>
                <a:latin typeface="Roboto Condensed" pitchFamily="34" charset="0"/>
                <a:ea typeface="Roboto Condensed" pitchFamily="34" charset="-122"/>
                <a:cs typeface="Roboto Condensed" pitchFamily="34" charset="-120"/>
              </a:rPr>
              <a:t>Licencias gestionadas centralmente desde GitHub (APIs administrativas).</a:t>
            </a:r>
            <a:endParaRPr lang="es-419" sz="860" noProof="0" dirty="0"/>
          </a:p>
        </p:txBody>
      </p:sp>
      <p:pic>
        <p:nvPicPr>
          <p:cNvPr id="950" name="Logo Tuya"/>
          <p:cNvPicPr>
            <a:picLocks noChangeAspect="1"/>
          </p:cNvPicPr>
          <p:nvPr/>
        </p:nvPicPr>
        <p:blipFill>
          <a:blip r:embed="rId3"/>
          <a:stretch>
            <a:fillRect/>
          </a:stretch>
        </p:blipFill>
        <p:spPr>
          <a:xfrm>
            <a:off x="11152200" y="321276"/>
            <a:ext cx="640080" cy="3200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kicker mark">
            <a:extLst>
              <a:ext uri="{C183D7F6-B498-43B3-948B-1728B52AA6E4}">
                <adec:decorative xmlns:adec="http://schemas.microsoft.com/office/drawing/2017/decorative" val="1"/>
              </a:ext>
            </a:extLst>
          </p:cNvPr>
          <p:cNvSpPr/>
          <p:nvPr/>
        </p:nvSpPr>
        <p:spPr>
          <a:xfrm>
            <a:off x="685800" y="402336"/>
            <a:ext cx="146304" cy="146304"/>
          </a:xfrm>
          <a:prstGeom prst="rect">
            <a:avLst/>
          </a:prstGeom>
          <a:solidFill>
            <a:srgbClr val="2A3FE0"/>
          </a:solidFill>
          <a:ln/>
        </p:spPr>
        <p:txBody>
          <a:bodyPr/>
          <a:lstStyle/>
          <a:p>
            <a:endParaRPr lang="es-419" noProof="0" dirty="0"/>
          </a:p>
        </p:txBody>
      </p:sp>
      <p:sp>
        <p:nvSpPr>
          <p:cNvPr id="3" name="Text 1"/>
          <p:cNvSpPr/>
          <p:nvPr/>
        </p:nvSpPr>
        <p:spPr>
          <a:xfrm>
            <a:off x="932688" y="310896"/>
            <a:ext cx="9601200" cy="310896"/>
          </a:xfrm>
          <a:prstGeom prst="rect">
            <a:avLst/>
          </a:prstGeom>
          <a:noFill/>
          <a:ln/>
        </p:spPr>
        <p:txBody>
          <a:bodyPr wrap="square" lIns="0" tIns="0" rIns="0" bIns="0" rtlCol="0" anchor="ctr"/>
          <a:lstStyle/>
          <a:p>
            <a:pPr marL="0" indent="0" algn="l">
              <a:buNone/>
            </a:pPr>
            <a:r>
              <a:rPr lang="es-419" sz="1150" b="1" kern="0" spc="200" noProof="0">
                <a:solidFill>
                  <a:srgbClr val="2A3FE0"/>
                </a:solidFill>
                <a:latin typeface="Roboto Condensed Medium" pitchFamily="34" charset="0"/>
                <a:ea typeface="Roboto Condensed Medium" pitchFamily="34" charset="-122"/>
                <a:cs typeface="Roboto Condensed Medium" pitchFamily="34" charset="-120"/>
              </a:rPr>
              <a:t>CONCLUSIONES Y SIGUIENTES PASOS</a:t>
            </a:r>
            <a:endParaRPr lang="es-419" sz="1150" noProof="0" dirty="0"/>
          </a:p>
        </p:txBody>
      </p:sp>
      <p:sp>
        <p:nvSpPr>
          <p:cNvPr id="4" name="Text 0"/>
          <p:cNvSpPr>
            <a:spLocks noGrp="1"/>
          </p:cNvSpPr>
          <p:nvPr>
            <p:ph type="title" idx="100" hasCustomPrompt="1"/>
          </p:nvPr>
        </p:nvSpPr>
        <p:spPr>
          <a:xfrm>
            <a:off x="685800" y="658368"/>
            <a:ext cx="10789920" cy="822960"/>
          </a:xfrm>
          <a:prstGeom prst="rect">
            <a:avLst/>
          </a:prstGeom>
          <a:noFill/>
          <a:ln/>
        </p:spPr>
        <p:txBody>
          <a:bodyPr wrap="square" lIns="0" tIns="0" rIns="0" bIns="0" rtlCol="0" anchor="t"/>
          <a:lstStyle/>
          <a:p>
            <a:pPr marL="0" indent="0" algn="l">
              <a:buNone/>
            </a:pPr>
            <a:r>
              <a:rPr lang="es-419" sz="2700" b="1" noProof="0">
                <a:solidFill>
                  <a:srgbClr val="000000"/>
                </a:solidFill>
                <a:latin typeface="Roboto Condensed Medium" pitchFamily="34" charset="0"/>
                <a:ea typeface="Roboto Condensed Medium" pitchFamily="34" charset="-122"/>
                <a:cs typeface="Roboto Condensed Medium" pitchFamily="34" charset="-120"/>
              </a:rPr>
              <a:t>Qué observamos y qué falta decidir</a:t>
            </a:r>
            <a:endParaRPr lang="es-419" sz="2700" noProof="0" dirty="0"/>
          </a:p>
        </p:txBody>
      </p:sp>
      <p:sp>
        <p:nvSpPr>
          <p:cNvPr id="5" name="card">
            <a:extLst>
              <a:ext uri="{C183D7F6-B498-43B3-948B-1728B52AA6E4}">
                <adec:decorative xmlns:adec="http://schemas.microsoft.com/office/drawing/2017/decorative" val="1"/>
              </a:ext>
            </a:extLst>
          </p:cNvPr>
          <p:cNvSpPr/>
          <p:nvPr/>
        </p:nvSpPr>
        <p:spPr>
          <a:xfrm>
            <a:off x="685800" y="1691640"/>
            <a:ext cx="3566160" cy="3429000"/>
          </a:xfrm>
          <a:prstGeom prst="rect">
            <a:avLst/>
          </a:prstGeom>
          <a:solidFill>
            <a:srgbClr val="FFFFFF"/>
          </a:solidFill>
          <a:ln w="12700">
            <a:solidFill>
              <a:srgbClr val="E6E8EF"/>
            </a:solidFill>
            <a:prstDash val="solid"/>
          </a:ln>
          <a:effectLst>
            <a:outerShdw blurRad="114300" dist="38100" dir="5400000" algn="bl" rotWithShape="0">
              <a:srgbClr val="5B6068">
                <a:alpha val="9000"/>
              </a:srgbClr>
            </a:outerShdw>
          </a:effectLst>
        </p:spPr>
        <p:txBody>
          <a:bodyPr/>
          <a:lstStyle/>
          <a:p>
            <a:endParaRPr lang="es-419" noProof="0" dirty="0"/>
          </a:p>
        </p:txBody>
      </p:sp>
      <p:sp>
        <p:nvSpPr>
          <p:cNvPr id="6" name="top accent">
            <a:extLst>
              <a:ext uri="{C183D7F6-B498-43B3-948B-1728B52AA6E4}">
                <adec:decorative xmlns:adec="http://schemas.microsoft.com/office/drawing/2017/decorative" val="1"/>
              </a:ext>
            </a:extLst>
          </p:cNvPr>
          <p:cNvSpPr/>
          <p:nvPr/>
        </p:nvSpPr>
        <p:spPr>
          <a:xfrm>
            <a:off x="685800" y="1691640"/>
            <a:ext cx="3566160" cy="91440"/>
          </a:xfrm>
          <a:prstGeom prst="rect">
            <a:avLst/>
          </a:prstGeom>
          <a:solidFill>
            <a:srgbClr val="2A3FE0"/>
          </a:solidFill>
          <a:ln/>
        </p:spPr>
        <p:txBody>
          <a:bodyPr/>
          <a:lstStyle/>
          <a:p>
            <a:endParaRPr lang="es-419" noProof="0" dirty="0"/>
          </a:p>
        </p:txBody>
      </p:sp>
      <p:sp>
        <p:nvSpPr>
          <p:cNvPr id="7" name="Text 5"/>
          <p:cNvSpPr/>
          <p:nvPr/>
        </p:nvSpPr>
        <p:spPr>
          <a:xfrm>
            <a:off x="905256" y="1929384"/>
            <a:ext cx="3127248" cy="310896"/>
          </a:xfrm>
          <a:prstGeom prst="rect">
            <a:avLst/>
          </a:prstGeom>
          <a:noFill/>
          <a:ln/>
        </p:spPr>
        <p:txBody>
          <a:bodyPr wrap="square" lIns="0" tIns="0" rIns="0" bIns="0" rtlCol="0" anchor="ctr"/>
          <a:lstStyle/>
          <a:p>
            <a:pPr marL="0" indent="0">
              <a:buNone/>
            </a:pPr>
            <a:r>
              <a:rPr lang="es-419" sz="1250" b="1" kern="0" spc="100" noProof="0">
                <a:solidFill>
                  <a:srgbClr val="000000"/>
                </a:solidFill>
                <a:latin typeface="Roboto Condensed Medium" pitchFamily="34" charset="0"/>
                <a:ea typeface="Roboto Condensed Medium" pitchFamily="34" charset="-122"/>
                <a:cs typeface="Roboto Condensed Medium" pitchFamily="34" charset="-120"/>
              </a:rPr>
              <a:t>1 · VALOR OBSERVADO</a:t>
            </a:r>
            <a:endParaRPr lang="es-419" sz="1250" noProof="0" dirty="0"/>
          </a:p>
        </p:txBody>
      </p:sp>
      <p:sp>
        <p:nvSpPr>
          <p:cNvPr id="8" name="Text 6"/>
          <p:cNvSpPr/>
          <p:nvPr/>
        </p:nvSpPr>
        <p:spPr>
          <a:xfrm>
            <a:off x="905256" y="2350008"/>
            <a:ext cx="3127248" cy="237744"/>
          </a:xfrm>
          <a:prstGeom prst="rect">
            <a:avLst/>
          </a:prstGeom>
          <a:noFill/>
          <a:ln/>
        </p:spPr>
        <p:txBody>
          <a:bodyPr wrap="square" lIns="0" tIns="0" rIns="0" bIns="0" rtlCol="0" anchor="ctr"/>
          <a:lstStyle/>
          <a:p>
            <a:pPr marL="0" indent="0">
              <a:buNone/>
            </a:pPr>
            <a:r>
              <a:rPr lang="es-419" sz="880" b="1" kern="0" spc="100" noProof="0">
                <a:solidFill>
                  <a:srgbClr val="2A3FE0"/>
                </a:solidFill>
                <a:latin typeface="Roboto Condensed" pitchFamily="34" charset="0"/>
                <a:ea typeface="Roboto Condensed" pitchFamily="34" charset="-122"/>
                <a:cs typeface="Roboto Condensed" pitchFamily="34" charset="-120"/>
              </a:rPr>
              <a:t>PRODUCTIVIDAD</a:t>
            </a:r>
            <a:endParaRPr lang="es-419" sz="880" noProof="0" dirty="0"/>
          </a:p>
        </p:txBody>
      </p:sp>
      <p:sp>
        <p:nvSpPr>
          <p:cNvPr id="9" name="Text 7"/>
          <p:cNvSpPr/>
          <p:nvPr/>
        </p:nvSpPr>
        <p:spPr>
          <a:xfrm>
            <a:off x="905256" y="2569464"/>
            <a:ext cx="3127248" cy="624840"/>
          </a:xfrm>
          <a:prstGeom prst="rect">
            <a:avLst/>
          </a:prstGeom>
          <a:noFill/>
          <a:ln/>
        </p:spPr>
        <p:txBody>
          <a:bodyPr wrap="square" lIns="0" tIns="0" rIns="0" bIns="0" rtlCol="0" anchor="t"/>
          <a:lstStyle/>
          <a:p>
            <a:pPr marL="0" indent="0">
              <a:buNone/>
            </a:pPr>
            <a:r>
              <a:rPr lang="es-419" sz="900" noProof="0" dirty="0">
                <a:solidFill>
                  <a:srgbClr val="33373D"/>
                </a:solidFill>
                <a:latin typeface="Roboto Condensed" pitchFamily="34" charset="0"/>
                <a:ea typeface="Roboto Condensed" pitchFamily="34" charset="-122"/>
                <a:cs typeface="Roboto Condensed" pitchFamily="34" charset="-120"/>
              </a:rPr>
              <a:t>95,4 % de reducción estimada: 50 h -&gt; 2 h 18 min en 5 casos medidos.</a:t>
            </a:r>
            <a:endParaRPr lang="es-419" sz="900" noProof="0" dirty="0"/>
          </a:p>
        </p:txBody>
      </p:sp>
      <p:sp>
        <p:nvSpPr>
          <p:cNvPr id="10" name="Text 8"/>
          <p:cNvSpPr/>
          <p:nvPr/>
        </p:nvSpPr>
        <p:spPr>
          <a:xfrm>
            <a:off x="905256" y="3249168"/>
            <a:ext cx="3127248" cy="237744"/>
          </a:xfrm>
          <a:prstGeom prst="rect">
            <a:avLst/>
          </a:prstGeom>
          <a:noFill/>
          <a:ln/>
        </p:spPr>
        <p:txBody>
          <a:bodyPr wrap="square" lIns="0" tIns="0" rIns="0" bIns="0" rtlCol="0" anchor="ctr"/>
          <a:lstStyle/>
          <a:p>
            <a:pPr marL="0" indent="0">
              <a:buNone/>
            </a:pPr>
            <a:r>
              <a:rPr lang="es-419" sz="880" b="1" kern="0" spc="100" noProof="0">
                <a:solidFill>
                  <a:srgbClr val="2A3FE0"/>
                </a:solidFill>
                <a:latin typeface="Roboto Condensed" pitchFamily="34" charset="0"/>
                <a:ea typeface="Roboto Condensed" pitchFamily="34" charset="-122"/>
                <a:cs typeface="Roboto Condensed" pitchFamily="34" charset="-120"/>
              </a:rPr>
              <a:t>CALIDAD</a:t>
            </a:r>
            <a:endParaRPr lang="es-419" sz="880" noProof="0" dirty="0"/>
          </a:p>
        </p:txBody>
      </p:sp>
      <p:sp>
        <p:nvSpPr>
          <p:cNvPr id="11" name="Text 9"/>
          <p:cNvSpPr/>
          <p:nvPr/>
        </p:nvSpPr>
        <p:spPr>
          <a:xfrm>
            <a:off x="905256" y="3468624"/>
            <a:ext cx="3127248" cy="624840"/>
          </a:xfrm>
          <a:prstGeom prst="rect">
            <a:avLst/>
          </a:prstGeom>
          <a:noFill/>
          <a:ln/>
        </p:spPr>
        <p:txBody>
          <a:bodyPr wrap="square" lIns="0" tIns="0" rIns="0" bIns="0" rtlCol="0" anchor="t"/>
          <a:lstStyle/>
          <a:p>
            <a:pPr marL="0" indent="0">
              <a:buNone/>
            </a:pPr>
            <a:r>
              <a:rPr lang="es-419" sz="1050" noProof="0">
                <a:solidFill>
                  <a:srgbClr val="33373D"/>
                </a:solidFill>
                <a:latin typeface="Roboto Condensed" pitchFamily="34" charset="0"/>
                <a:ea typeface="Roboto Condensed" pitchFamily="34" charset="-122"/>
                <a:cs typeface="Roboto Condensed" pitchFamily="34" charset="-120"/>
              </a:rPr>
              <a:t>Pocas correcciones; pruebas funcionales pendientes.</a:t>
            </a:r>
            <a:endParaRPr lang="es-419" sz="1050" noProof="0" dirty="0"/>
          </a:p>
        </p:txBody>
      </p:sp>
      <p:sp>
        <p:nvSpPr>
          <p:cNvPr id="12" name="Text 10"/>
          <p:cNvSpPr/>
          <p:nvPr/>
        </p:nvSpPr>
        <p:spPr>
          <a:xfrm>
            <a:off x="905256" y="4148328"/>
            <a:ext cx="3127248" cy="237744"/>
          </a:xfrm>
          <a:prstGeom prst="rect">
            <a:avLst/>
          </a:prstGeom>
          <a:noFill/>
          <a:ln/>
        </p:spPr>
        <p:txBody>
          <a:bodyPr wrap="square" lIns="0" tIns="0" rIns="0" bIns="0" rtlCol="0" anchor="ctr"/>
          <a:lstStyle/>
          <a:p>
            <a:pPr marL="0" indent="0">
              <a:buNone/>
            </a:pPr>
            <a:r>
              <a:rPr lang="es-419" sz="880" b="1" kern="0" spc="100" noProof="0">
                <a:solidFill>
                  <a:srgbClr val="2A3FE0"/>
                </a:solidFill>
                <a:latin typeface="Roboto Condensed" pitchFamily="34" charset="0"/>
                <a:ea typeface="Roboto Condensed" pitchFamily="34" charset="-122"/>
                <a:cs typeface="Roboto Condensed" pitchFamily="34" charset="-120"/>
              </a:rPr>
              <a:t>EXPERIENCIA DEL DESARROLLADOR</a:t>
            </a:r>
            <a:endParaRPr lang="es-419" sz="880" noProof="0" dirty="0"/>
          </a:p>
        </p:txBody>
      </p:sp>
      <p:sp>
        <p:nvSpPr>
          <p:cNvPr id="13" name="Text 11"/>
          <p:cNvSpPr/>
          <p:nvPr/>
        </p:nvSpPr>
        <p:spPr>
          <a:xfrm>
            <a:off x="905256" y="4367784"/>
            <a:ext cx="3127248" cy="624840"/>
          </a:xfrm>
          <a:prstGeom prst="rect">
            <a:avLst/>
          </a:prstGeom>
          <a:noFill/>
          <a:ln/>
        </p:spPr>
        <p:txBody>
          <a:bodyPr wrap="square" lIns="0" tIns="0" rIns="0" bIns="0" rtlCol="0" anchor="t"/>
          <a:lstStyle/>
          <a:p>
            <a:pPr marL="0" indent="0">
              <a:buNone/>
            </a:pPr>
            <a:r>
              <a:rPr lang="es-419" sz="1050" noProof="0">
                <a:solidFill>
                  <a:srgbClr val="33373D"/>
                </a:solidFill>
                <a:latin typeface="Roboto Condensed" pitchFamily="34" charset="0"/>
                <a:ea typeface="Roboto Condensed" pitchFamily="34" charset="-122"/>
                <a:cs typeface="Roboto Condensed" pitchFamily="34" charset="-120"/>
              </a:rPr>
              <a:t>Los participantes percibieron una aceleración clara y menor esfuerzo para migrar a .NET 10.</a:t>
            </a:r>
            <a:endParaRPr lang="es-419" sz="1050" noProof="0" dirty="0"/>
          </a:p>
        </p:txBody>
      </p:sp>
      <p:sp>
        <p:nvSpPr>
          <p:cNvPr id="14" name="card">
            <a:extLst>
              <a:ext uri="{C183D7F6-B498-43B3-948B-1728B52AA6E4}">
                <adec:decorative xmlns:adec="http://schemas.microsoft.com/office/drawing/2017/decorative" val="1"/>
              </a:ext>
            </a:extLst>
          </p:cNvPr>
          <p:cNvSpPr/>
          <p:nvPr/>
        </p:nvSpPr>
        <p:spPr>
          <a:xfrm>
            <a:off x="4498848" y="1691640"/>
            <a:ext cx="3566160" cy="3429000"/>
          </a:xfrm>
          <a:prstGeom prst="rect">
            <a:avLst/>
          </a:prstGeom>
          <a:solidFill>
            <a:srgbClr val="FFFFFF"/>
          </a:solidFill>
          <a:ln w="12700">
            <a:solidFill>
              <a:srgbClr val="E6E8EF"/>
            </a:solidFill>
            <a:prstDash val="solid"/>
          </a:ln>
          <a:effectLst>
            <a:outerShdw blurRad="114300" dist="38100" dir="5400000" algn="bl" rotWithShape="0">
              <a:srgbClr val="5B6068">
                <a:alpha val="9000"/>
              </a:srgbClr>
            </a:outerShdw>
          </a:effectLst>
        </p:spPr>
        <p:txBody>
          <a:bodyPr/>
          <a:lstStyle/>
          <a:p>
            <a:endParaRPr lang="es-419" noProof="0" dirty="0"/>
          </a:p>
        </p:txBody>
      </p:sp>
      <p:sp>
        <p:nvSpPr>
          <p:cNvPr id="15" name="top accent">
            <a:extLst>
              <a:ext uri="{C183D7F6-B498-43B3-948B-1728B52AA6E4}">
                <adec:decorative xmlns:adec="http://schemas.microsoft.com/office/drawing/2017/decorative" val="1"/>
              </a:ext>
            </a:extLst>
          </p:cNvPr>
          <p:cNvSpPr/>
          <p:nvPr/>
        </p:nvSpPr>
        <p:spPr>
          <a:xfrm>
            <a:off x="4498848" y="1691640"/>
            <a:ext cx="3566160" cy="91440"/>
          </a:xfrm>
          <a:prstGeom prst="rect">
            <a:avLst/>
          </a:prstGeom>
          <a:solidFill>
            <a:srgbClr val="2A3FE0"/>
          </a:solidFill>
          <a:ln/>
        </p:spPr>
        <p:txBody>
          <a:bodyPr/>
          <a:lstStyle/>
          <a:p>
            <a:endParaRPr lang="es-419" noProof="0" dirty="0"/>
          </a:p>
        </p:txBody>
      </p:sp>
      <p:sp>
        <p:nvSpPr>
          <p:cNvPr id="16" name="Text 14"/>
          <p:cNvSpPr/>
          <p:nvPr/>
        </p:nvSpPr>
        <p:spPr>
          <a:xfrm>
            <a:off x="4718304" y="1929384"/>
            <a:ext cx="3127248" cy="310896"/>
          </a:xfrm>
          <a:prstGeom prst="rect">
            <a:avLst/>
          </a:prstGeom>
          <a:noFill/>
          <a:ln/>
        </p:spPr>
        <p:txBody>
          <a:bodyPr wrap="square" lIns="0" tIns="0" rIns="0" bIns="0" rtlCol="0" anchor="ctr"/>
          <a:lstStyle/>
          <a:p>
            <a:pPr marL="0" indent="0">
              <a:buNone/>
            </a:pPr>
            <a:r>
              <a:rPr lang="es-419" sz="1250" b="1" kern="0" spc="100" noProof="0">
                <a:solidFill>
                  <a:srgbClr val="000000"/>
                </a:solidFill>
                <a:latin typeface="Roboto Condensed Medium" pitchFamily="34" charset="0"/>
                <a:ea typeface="Roboto Condensed Medium" pitchFamily="34" charset="-122"/>
                <a:cs typeface="Roboto Condensed Medium" pitchFamily="34" charset="-120"/>
              </a:rPr>
              <a:t>2 · CONSIDERACIONES</a:t>
            </a:r>
            <a:endParaRPr lang="es-419" sz="1250" noProof="0" dirty="0"/>
          </a:p>
        </p:txBody>
      </p:sp>
      <p:sp>
        <p:nvSpPr>
          <p:cNvPr id="17" name="Text 15"/>
          <p:cNvSpPr/>
          <p:nvPr/>
        </p:nvSpPr>
        <p:spPr>
          <a:xfrm>
            <a:off x="4718304" y="2350008"/>
            <a:ext cx="3127248" cy="237744"/>
          </a:xfrm>
          <a:prstGeom prst="rect">
            <a:avLst/>
          </a:prstGeom>
          <a:noFill/>
          <a:ln/>
        </p:spPr>
        <p:txBody>
          <a:bodyPr wrap="square" lIns="0" tIns="0" rIns="0" bIns="0" rtlCol="0" anchor="ctr"/>
          <a:lstStyle/>
          <a:p>
            <a:pPr marL="0" indent="0">
              <a:buNone/>
            </a:pPr>
            <a:r>
              <a:rPr lang="es-419" sz="880" b="1" kern="0" spc="100" noProof="0">
                <a:solidFill>
                  <a:srgbClr val="2A3FE0"/>
                </a:solidFill>
                <a:latin typeface="Roboto Condensed" pitchFamily="34" charset="0"/>
                <a:ea typeface="Roboto Condensed" pitchFamily="34" charset="-122"/>
                <a:cs typeface="Roboto Condensed" pitchFamily="34" charset="-120"/>
              </a:rPr>
              <a:t>CONSUMO</a:t>
            </a:r>
            <a:endParaRPr lang="es-419" sz="880" noProof="0" dirty="0"/>
          </a:p>
        </p:txBody>
      </p:sp>
      <p:sp>
        <p:nvSpPr>
          <p:cNvPr id="18" name="Text 16"/>
          <p:cNvSpPr/>
          <p:nvPr/>
        </p:nvSpPr>
        <p:spPr>
          <a:xfrm>
            <a:off x="4718304" y="2569464"/>
            <a:ext cx="3127248" cy="400050"/>
          </a:xfrm>
          <a:prstGeom prst="rect">
            <a:avLst/>
          </a:prstGeom>
          <a:noFill/>
          <a:ln/>
        </p:spPr>
        <p:txBody>
          <a:bodyPr wrap="square" lIns="0" tIns="0" rIns="0" bIns="0" rtlCol="0" anchor="t"/>
          <a:lstStyle/>
          <a:p>
            <a:pPr marL="0" indent="0">
              <a:buNone/>
            </a:pPr>
            <a:r>
              <a:rPr lang="es-419" sz="1050" noProof="0" dirty="0">
                <a:solidFill>
                  <a:srgbClr val="33373D"/>
                </a:solidFill>
                <a:latin typeface="Roboto Condensed" pitchFamily="34" charset="0"/>
                <a:ea typeface="Roboto Condensed" pitchFamily="34" charset="-122"/>
                <a:cs typeface="Roboto Condensed" pitchFamily="34" charset="-120"/>
              </a:rPr>
              <a:t>≈ 566 AI </a:t>
            </a:r>
            <a:r>
              <a:rPr lang="es-419" sz="1050" noProof="0" dirty="0" err="1">
                <a:solidFill>
                  <a:srgbClr val="33373D"/>
                </a:solidFill>
                <a:latin typeface="Roboto Condensed" pitchFamily="34" charset="0"/>
                <a:ea typeface="Roboto Condensed" pitchFamily="34" charset="-122"/>
                <a:cs typeface="Roboto Condensed" pitchFamily="34" charset="-120"/>
              </a:rPr>
              <a:t>Credits</a:t>
            </a:r>
            <a:r>
              <a:rPr lang="es-419" sz="1050" noProof="0" dirty="0">
                <a:solidFill>
                  <a:srgbClr val="33373D"/>
                </a:solidFill>
                <a:latin typeface="Roboto Condensed" pitchFamily="34" charset="0"/>
                <a:ea typeface="Roboto Condensed" pitchFamily="34" charset="-122"/>
                <a:cs typeface="Roboto Condensed" pitchFamily="34" charset="-120"/>
              </a:rPr>
              <a:t> por migración (rango 20-50 %).</a:t>
            </a:r>
            <a:endParaRPr lang="es-419" sz="1050" noProof="0" dirty="0"/>
          </a:p>
        </p:txBody>
      </p:sp>
      <p:sp>
        <p:nvSpPr>
          <p:cNvPr id="19" name="Text 17"/>
          <p:cNvSpPr/>
          <p:nvPr/>
        </p:nvSpPr>
        <p:spPr>
          <a:xfrm>
            <a:off x="4718304" y="3024378"/>
            <a:ext cx="3127248" cy="237744"/>
          </a:xfrm>
          <a:prstGeom prst="rect">
            <a:avLst/>
          </a:prstGeom>
          <a:noFill/>
          <a:ln/>
        </p:spPr>
        <p:txBody>
          <a:bodyPr wrap="square" lIns="0" tIns="0" rIns="0" bIns="0" rtlCol="0" anchor="ctr"/>
          <a:lstStyle/>
          <a:p>
            <a:pPr marL="0" indent="0">
              <a:buNone/>
            </a:pPr>
            <a:r>
              <a:rPr lang="es-419" sz="880" b="1" kern="0" spc="100" noProof="0">
                <a:solidFill>
                  <a:srgbClr val="2A3FE0"/>
                </a:solidFill>
                <a:latin typeface="Roboto Condensed" pitchFamily="34" charset="0"/>
                <a:ea typeface="Roboto Condensed" pitchFamily="34" charset="-122"/>
                <a:cs typeface="Roboto Condensed" pitchFamily="34" charset="-120"/>
              </a:rPr>
              <a:t>COSTOS</a:t>
            </a:r>
            <a:endParaRPr lang="es-419" sz="880" noProof="0" dirty="0"/>
          </a:p>
        </p:txBody>
      </p:sp>
      <p:sp>
        <p:nvSpPr>
          <p:cNvPr id="20" name="Text 18"/>
          <p:cNvSpPr/>
          <p:nvPr/>
        </p:nvSpPr>
        <p:spPr>
          <a:xfrm>
            <a:off x="4718304" y="3243834"/>
            <a:ext cx="3127248" cy="400050"/>
          </a:xfrm>
          <a:prstGeom prst="rect">
            <a:avLst/>
          </a:prstGeom>
          <a:noFill/>
          <a:ln/>
        </p:spPr>
        <p:txBody>
          <a:bodyPr wrap="square" lIns="0" tIns="0" rIns="0" bIns="0" rtlCol="0" anchor="t"/>
          <a:lstStyle/>
          <a:p>
            <a:pPr marL="0" indent="0">
              <a:buNone/>
            </a:pPr>
            <a:r>
              <a:rPr lang="es-419" sz="1050" noProof="0">
                <a:solidFill>
                  <a:srgbClr val="33373D"/>
                </a:solidFill>
                <a:latin typeface="Roboto Condensed" pitchFamily="34" charset="0"/>
                <a:ea typeface="Roboto Condensed" pitchFamily="34" charset="-122"/>
                <a:cs typeface="Roboto Condensed" pitchFamily="34" charset="-120"/>
              </a:rPr>
              <a:t>70 licencias Business: USD 1.330/mes y USD 15.960/año.</a:t>
            </a:r>
            <a:endParaRPr lang="es-419" sz="1050" noProof="0" dirty="0"/>
          </a:p>
        </p:txBody>
      </p:sp>
      <p:sp>
        <p:nvSpPr>
          <p:cNvPr id="21" name="Text 19"/>
          <p:cNvSpPr/>
          <p:nvPr/>
        </p:nvSpPr>
        <p:spPr>
          <a:xfrm>
            <a:off x="4718304" y="3698748"/>
            <a:ext cx="3127248" cy="237744"/>
          </a:xfrm>
          <a:prstGeom prst="rect">
            <a:avLst/>
          </a:prstGeom>
          <a:noFill/>
          <a:ln/>
        </p:spPr>
        <p:txBody>
          <a:bodyPr wrap="square" lIns="0" tIns="0" rIns="0" bIns="0" rtlCol="0" anchor="ctr"/>
          <a:lstStyle/>
          <a:p>
            <a:pPr marL="0" indent="0">
              <a:buNone/>
            </a:pPr>
            <a:r>
              <a:rPr lang="es-419" sz="880" b="1" kern="0" spc="100" noProof="0">
                <a:solidFill>
                  <a:srgbClr val="2A3FE0"/>
                </a:solidFill>
                <a:latin typeface="Roboto Condensed" pitchFamily="34" charset="0"/>
                <a:ea typeface="Roboto Condensed" pitchFamily="34" charset="-122"/>
                <a:cs typeface="Roboto Condensed" pitchFamily="34" charset="-120"/>
              </a:rPr>
              <a:t>GOBIERNO</a:t>
            </a:r>
            <a:endParaRPr lang="es-419" sz="880" noProof="0" dirty="0"/>
          </a:p>
        </p:txBody>
      </p:sp>
      <p:sp>
        <p:nvSpPr>
          <p:cNvPr id="22" name="Text 20"/>
          <p:cNvSpPr/>
          <p:nvPr/>
        </p:nvSpPr>
        <p:spPr>
          <a:xfrm>
            <a:off x="4718304" y="3918204"/>
            <a:ext cx="3127248" cy="400050"/>
          </a:xfrm>
          <a:prstGeom prst="rect">
            <a:avLst/>
          </a:prstGeom>
          <a:noFill/>
          <a:ln/>
        </p:spPr>
        <p:txBody>
          <a:bodyPr wrap="square" lIns="0" tIns="0" rIns="0" bIns="0" rtlCol="0" anchor="t"/>
          <a:lstStyle/>
          <a:p>
            <a:pPr marL="0" indent="0">
              <a:buNone/>
            </a:pPr>
            <a:r>
              <a:rPr lang="es-419" sz="1050" noProof="0">
                <a:solidFill>
                  <a:srgbClr val="33373D"/>
                </a:solidFill>
                <a:latin typeface="Roboto Condensed" pitchFamily="34" charset="0"/>
                <a:ea typeface="Roboto Condensed" pitchFamily="34" charset="-122"/>
                <a:cs typeface="Roboto Condensed" pitchFamily="34" charset="-120"/>
              </a:rPr>
              <a:t>Presupuestos y límites configurables; SMT/Accesos e Ingeniería administran.</a:t>
            </a:r>
            <a:endParaRPr lang="es-419" sz="1050" noProof="0" dirty="0"/>
          </a:p>
        </p:txBody>
      </p:sp>
      <p:sp>
        <p:nvSpPr>
          <p:cNvPr id="23" name="Text 21"/>
          <p:cNvSpPr/>
          <p:nvPr/>
        </p:nvSpPr>
        <p:spPr>
          <a:xfrm>
            <a:off x="4718304" y="4373118"/>
            <a:ext cx="3127248" cy="237744"/>
          </a:xfrm>
          <a:prstGeom prst="rect">
            <a:avLst/>
          </a:prstGeom>
          <a:noFill/>
          <a:ln/>
        </p:spPr>
        <p:txBody>
          <a:bodyPr wrap="square" lIns="0" tIns="0" rIns="0" bIns="0" rtlCol="0" anchor="ctr"/>
          <a:lstStyle/>
          <a:p>
            <a:pPr marL="0" indent="0">
              <a:buNone/>
            </a:pPr>
            <a:r>
              <a:rPr lang="es-419" sz="880" b="1" kern="0" spc="100" noProof="0">
                <a:solidFill>
                  <a:srgbClr val="2A3FE0"/>
                </a:solidFill>
                <a:latin typeface="Roboto Condensed" pitchFamily="34" charset="0"/>
                <a:ea typeface="Roboto Condensed" pitchFamily="34" charset="-122"/>
                <a:cs typeface="Roboto Condensed" pitchFamily="34" charset="-120"/>
              </a:rPr>
              <a:t>SEGURIDAD</a:t>
            </a:r>
            <a:endParaRPr lang="es-419" sz="880" noProof="0" dirty="0"/>
          </a:p>
        </p:txBody>
      </p:sp>
      <p:sp>
        <p:nvSpPr>
          <p:cNvPr id="24" name="Text 22"/>
          <p:cNvSpPr/>
          <p:nvPr/>
        </p:nvSpPr>
        <p:spPr>
          <a:xfrm>
            <a:off x="4718304" y="4592574"/>
            <a:ext cx="3127248" cy="400050"/>
          </a:xfrm>
          <a:prstGeom prst="rect">
            <a:avLst/>
          </a:prstGeom>
          <a:noFill/>
          <a:ln/>
        </p:spPr>
        <p:txBody>
          <a:bodyPr wrap="square" lIns="0" tIns="0" rIns="0" bIns="0" rtlCol="0" anchor="t"/>
          <a:lstStyle/>
          <a:p>
            <a:pPr marL="0" indent="0">
              <a:buNone/>
            </a:pPr>
            <a:r>
              <a:rPr lang="es-419" sz="1050" noProof="0">
                <a:solidFill>
                  <a:srgbClr val="33373D"/>
                </a:solidFill>
                <a:latin typeface="Roboto Condensed" pitchFamily="34" charset="0"/>
                <a:ea typeface="Roboto Condensed" pitchFamily="34" charset="-122"/>
                <a:cs typeface="Roboto Condensed" pitchFamily="34" charset="-120"/>
              </a:rPr>
              <a:t>Sin hallazgos en Veracode ni SonarCloud; pruebas funcionales pendientes.</a:t>
            </a:r>
            <a:endParaRPr lang="es-419" sz="1050" noProof="0" dirty="0"/>
          </a:p>
        </p:txBody>
      </p:sp>
      <p:sp>
        <p:nvSpPr>
          <p:cNvPr id="25" name="decision">
            <a:extLst>
              <a:ext uri="{C183D7F6-B498-43B3-948B-1728B52AA6E4}">
                <adec:decorative xmlns:adec="http://schemas.microsoft.com/office/drawing/2017/decorative" val="1"/>
              </a:ext>
            </a:extLst>
          </p:cNvPr>
          <p:cNvSpPr/>
          <p:nvPr/>
        </p:nvSpPr>
        <p:spPr>
          <a:xfrm>
            <a:off x="8311896" y="1691640"/>
            <a:ext cx="3493008" cy="3429000"/>
          </a:xfrm>
          <a:prstGeom prst="rect">
            <a:avLst/>
          </a:prstGeom>
          <a:solidFill>
            <a:srgbClr val="FFFFFF"/>
          </a:solidFill>
          <a:ln w="12700">
            <a:solidFill>
              <a:srgbClr val="E6E8EF"/>
            </a:solidFill>
            <a:prstDash val="solid"/>
          </a:ln>
          <a:effectLst>
            <a:outerShdw blurRad="114300" dist="38100" dir="5400000" algn="bl" rotWithShape="0">
              <a:srgbClr val="5B6068">
                <a:alpha val="9000"/>
              </a:srgbClr>
            </a:outerShdw>
          </a:effectLst>
        </p:spPr>
        <p:txBody>
          <a:bodyPr/>
          <a:lstStyle/>
          <a:p>
            <a:endParaRPr lang="es-419" noProof="0" dirty="0"/>
          </a:p>
        </p:txBody>
      </p:sp>
      <p:sp>
        <p:nvSpPr>
          <p:cNvPr id="60" name="accent top"/>
          <p:cNvSpPr/>
          <p:nvPr/>
        </p:nvSpPr>
        <p:spPr>
          <a:xfrm>
            <a:off x="8311896" y="1691640"/>
            <a:ext cx="3493008" cy="91440"/>
          </a:xfrm>
          <a:prstGeom prst="rect">
            <a:avLst/>
          </a:prstGeom>
          <a:solidFill>
            <a:srgbClr val="2A3FE0"/>
          </a:solidFill>
          <a:ln/>
        </p:spPr>
        <p:txBody>
          <a:bodyPr/>
          <a:lstStyle/>
          <a:p>
            <a:endParaRPr lang="es-419" noProof="0" dirty="0"/>
          </a:p>
        </p:txBody>
      </p:sp>
      <p:sp>
        <p:nvSpPr>
          <p:cNvPr id="26" name="Text 24"/>
          <p:cNvSpPr/>
          <p:nvPr/>
        </p:nvSpPr>
        <p:spPr>
          <a:xfrm>
            <a:off x="8531352" y="1911096"/>
            <a:ext cx="3054096" cy="292608"/>
          </a:xfrm>
          <a:prstGeom prst="rect">
            <a:avLst/>
          </a:prstGeom>
          <a:noFill/>
          <a:ln/>
        </p:spPr>
        <p:txBody>
          <a:bodyPr wrap="square" lIns="0" tIns="0" rIns="0" bIns="0" rtlCol="0" anchor="ctr"/>
          <a:lstStyle/>
          <a:p>
            <a:pPr marL="0" indent="0">
              <a:buNone/>
            </a:pPr>
            <a:r>
              <a:rPr lang="es-419" sz="1250" b="1" kern="0" spc="100" noProof="0">
                <a:solidFill>
                  <a:srgbClr val="2A3FE0"/>
                </a:solidFill>
                <a:latin typeface="Roboto Condensed Medium" pitchFamily="34" charset="0"/>
                <a:ea typeface="Roboto Condensed Medium" pitchFamily="34" charset="-122"/>
                <a:cs typeface="Roboto Condensed Medium" pitchFamily="34" charset="-120"/>
              </a:rPr>
              <a:t>3 · SIGUIENTE DECISIÓN</a:t>
            </a:r>
            <a:endParaRPr lang="es-419" sz="1250" noProof="0" dirty="0"/>
          </a:p>
        </p:txBody>
      </p:sp>
      <p:sp>
        <p:nvSpPr>
          <p:cNvPr id="27" name="step badge">
            <a:extLst>
              <a:ext uri="{C183D7F6-B498-43B3-948B-1728B52AA6E4}">
                <adec:decorative xmlns:adec="http://schemas.microsoft.com/office/drawing/2017/decorative" val="1"/>
              </a:ext>
            </a:extLst>
          </p:cNvPr>
          <p:cNvSpPr/>
          <p:nvPr/>
        </p:nvSpPr>
        <p:spPr>
          <a:xfrm>
            <a:off x="8549640" y="2340864"/>
            <a:ext cx="237744" cy="237744"/>
          </a:xfrm>
          <a:prstGeom prst="ellipse">
            <a:avLst/>
          </a:prstGeom>
          <a:solidFill>
            <a:srgbClr val="2A3FE0"/>
          </a:solidFill>
          <a:ln/>
        </p:spPr>
        <p:txBody>
          <a:bodyPr/>
          <a:lstStyle/>
          <a:p>
            <a:endParaRPr lang="es-419" noProof="0" dirty="0"/>
          </a:p>
        </p:txBody>
      </p:sp>
      <p:sp>
        <p:nvSpPr>
          <p:cNvPr id="28" name="Text 26"/>
          <p:cNvSpPr/>
          <p:nvPr/>
        </p:nvSpPr>
        <p:spPr>
          <a:xfrm>
            <a:off x="8549640" y="2340864"/>
            <a:ext cx="237744" cy="237744"/>
          </a:xfrm>
          <a:prstGeom prst="rect">
            <a:avLst/>
          </a:prstGeom>
          <a:noFill/>
          <a:ln/>
        </p:spPr>
        <p:txBody>
          <a:bodyPr wrap="square" lIns="0" tIns="0" rIns="0" bIns="0" rtlCol="0" anchor="ctr"/>
          <a:lstStyle/>
          <a:p>
            <a:pPr marL="0" indent="0" algn="ctr">
              <a:buNone/>
            </a:pPr>
            <a:r>
              <a:rPr lang="es-419" sz="1000" b="1" noProof="0">
                <a:solidFill>
                  <a:srgbClr val="FFFFFF"/>
                </a:solidFill>
                <a:latin typeface="Roboto Condensed Medium" pitchFamily="34" charset="0"/>
                <a:ea typeface="Roboto Condensed Medium" pitchFamily="34" charset="-122"/>
                <a:cs typeface="Roboto Condensed Medium" pitchFamily="34" charset="-120"/>
              </a:rPr>
              <a:t>1</a:t>
            </a:r>
            <a:endParaRPr lang="es-419" sz="1000" noProof="0" dirty="0"/>
          </a:p>
        </p:txBody>
      </p:sp>
      <p:sp>
        <p:nvSpPr>
          <p:cNvPr id="29" name="Text 27"/>
          <p:cNvSpPr/>
          <p:nvPr/>
        </p:nvSpPr>
        <p:spPr>
          <a:xfrm>
            <a:off x="8897112" y="2313432"/>
            <a:ext cx="2706624" cy="310896"/>
          </a:xfrm>
          <a:prstGeom prst="rect">
            <a:avLst/>
          </a:prstGeom>
          <a:noFill/>
          <a:ln/>
        </p:spPr>
        <p:txBody>
          <a:bodyPr wrap="square" lIns="0" tIns="0" rIns="0" bIns="0" rtlCol="0" anchor="ctr"/>
          <a:lstStyle/>
          <a:p>
            <a:pPr marL="0" indent="0" algn="l">
              <a:buNone/>
            </a:pPr>
            <a:r>
              <a:rPr lang="es-419" sz="1100" noProof="0">
                <a:solidFill>
                  <a:srgbClr val="33373D"/>
                </a:solidFill>
                <a:latin typeface="Roboto Condensed" pitchFamily="34" charset="0"/>
                <a:ea typeface="Roboto Condensed" pitchFamily="34" charset="-122"/>
                <a:cs typeface="Roboto Condensed" pitchFamily="34" charset="-120"/>
              </a:rPr>
              <a:t>Medir</a:t>
            </a:r>
            <a:endParaRPr lang="es-419" sz="1100" noProof="0" dirty="0"/>
          </a:p>
        </p:txBody>
      </p:sp>
      <p:sp>
        <p:nvSpPr>
          <p:cNvPr id="30" name="step badge">
            <a:extLst>
              <a:ext uri="{C183D7F6-B498-43B3-948B-1728B52AA6E4}">
                <adec:decorative xmlns:adec="http://schemas.microsoft.com/office/drawing/2017/decorative" val="1"/>
              </a:ext>
            </a:extLst>
          </p:cNvPr>
          <p:cNvSpPr/>
          <p:nvPr/>
        </p:nvSpPr>
        <p:spPr>
          <a:xfrm>
            <a:off x="8549640" y="2784348"/>
            <a:ext cx="237744" cy="237744"/>
          </a:xfrm>
          <a:prstGeom prst="ellipse">
            <a:avLst/>
          </a:prstGeom>
          <a:solidFill>
            <a:srgbClr val="2A3FE0"/>
          </a:solidFill>
          <a:ln/>
        </p:spPr>
        <p:txBody>
          <a:bodyPr/>
          <a:lstStyle/>
          <a:p>
            <a:endParaRPr lang="es-419" noProof="0" dirty="0"/>
          </a:p>
        </p:txBody>
      </p:sp>
      <p:sp>
        <p:nvSpPr>
          <p:cNvPr id="31" name="Text 29"/>
          <p:cNvSpPr/>
          <p:nvPr/>
        </p:nvSpPr>
        <p:spPr>
          <a:xfrm>
            <a:off x="8549640" y="2784348"/>
            <a:ext cx="237744" cy="237744"/>
          </a:xfrm>
          <a:prstGeom prst="rect">
            <a:avLst/>
          </a:prstGeom>
          <a:noFill/>
          <a:ln/>
        </p:spPr>
        <p:txBody>
          <a:bodyPr wrap="square" lIns="0" tIns="0" rIns="0" bIns="0" rtlCol="0" anchor="ctr"/>
          <a:lstStyle/>
          <a:p>
            <a:pPr marL="0" indent="0" algn="ctr">
              <a:buNone/>
            </a:pPr>
            <a:r>
              <a:rPr lang="es-419" sz="1000" b="1" noProof="0">
                <a:solidFill>
                  <a:srgbClr val="FFFFFF"/>
                </a:solidFill>
                <a:latin typeface="Roboto Condensed Medium" pitchFamily="34" charset="0"/>
                <a:ea typeface="Roboto Condensed Medium" pitchFamily="34" charset="-122"/>
                <a:cs typeface="Roboto Condensed Medium" pitchFamily="34" charset="-120"/>
              </a:rPr>
              <a:t>2</a:t>
            </a:r>
            <a:endParaRPr lang="es-419" sz="1000" noProof="0" dirty="0"/>
          </a:p>
        </p:txBody>
      </p:sp>
      <p:sp>
        <p:nvSpPr>
          <p:cNvPr id="32" name="Text 30"/>
          <p:cNvSpPr/>
          <p:nvPr/>
        </p:nvSpPr>
        <p:spPr>
          <a:xfrm>
            <a:off x="8897112" y="2756916"/>
            <a:ext cx="2706624" cy="310896"/>
          </a:xfrm>
          <a:prstGeom prst="rect">
            <a:avLst/>
          </a:prstGeom>
          <a:noFill/>
          <a:ln/>
        </p:spPr>
        <p:txBody>
          <a:bodyPr wrap="square" lIns="0" tIns="0" rIns="0" bIns="0" rtlCol="0" anchor="ctr"/>
          <a:lstStyle/>
          <a:p>
            <a:pPr marL="0" indent="0" algn="l">
              <a:buNone/>
            </a:pPr>
            <a:r>
              <a:rPr lang="es-419" sz="1100" noProof="0">
                <a:solidFill>
                  <a:srgbClr val="33373D"/>
                </a:solidFill>
                <a:latin typeface="Roboto Condensed" pitchFamily="34" charset="0"/>
                <a:ea typeface="Roboto Condensed" pitchFamily="34" charset="-122"/>
                <a:cs typeface="Roboto Condensed" pitchFamily="34" charset="-120"/>
              </a:rPr>
              <a:t>Gobernar</a:t>
            </a:r>
            <a:endParaRPr lang="es-419" sz="1100" noProof="0" dirty="0"/>
          </a:p>
        </p:txBody>
      </p:sp>
      <p:sp>
        <p:nvSpPr>
          <p:cNvPr id="33" name="step badge">
            <a:extLst>
              <a:ext uri="{C183D7F6-B498-43B3-948B-1728B52AA6E4}">
                <adec:decorative xmlns:adec="http://schemas.microsoft.com/office/drawing/2017/decorative" val="1"/>
              </a:ext>
            </a:extLst>
          </p:cNvPr>
          <p:cNvSpPr/>
          <p:nvPr/>
        </p:nvSpPr>
        <p:spPr>
          <a:xfrm>
            <a:off x="8549640" y="3227832"/>
            <a:ext cx="237744" cy="237744"/>
          </a:xfrm>
          <a:prstGeom prst="ellipse">
            <a:avLst/>
          </a:prstGeom>
          <a:solidFill>
            <a:srgbClr val="2A3FE0"/>
          </a:solidFill>
          <a:ln/>
        </p:spPr>
        <p:txBody>
          <a:bodyPr/>
          <a:lstStyle/>
          <a:p>
            <a:endParaRPr lang="es-419" noProof="0" dirty="0"/>
          </a:p>
        </p:txBody>
      </p:sp>
      <p:sp>
        <p:nvSpPr>
          <p:cNvPr id="34" name="Text 32"/>
          <p:cNvSpPr/>
          <p:nvPr/>
        </p:nvSpPr>
        <p:spPr>
          <a:xfrm>
            <a:off x="8549640" y="3227832"/>
            <a:ext cx="237744" cy="237744"/>
          </a:xfrm>
          <a:prstGeom prst="rect">
            <a:avLst/>
          </a:prstGeom>
          <a:noFill/>
          <a:ln/>
        </p:spPr>
        <p:txBody>
          <a:bodyPr wrap="square" lIns="0" tIns="0" rIns="0" bIns="0" rtlCol="0" anchor="ctr"/>
          <a:lstStyle/>
          <a:p>
            <a:pPr marL="0" indent="0" algn="ctr">
              <a:buNone/>
            </a:pPr>
            <a:r>
              <a:rPr lang="es-419" sz="1000" b="1" noProof="0">
                <a:solidFill>
                  <a:srgbClr val="FFFFFF"/>
                </a:solidFill>
                <a:latin typeface="Roboto Condensed Medium" pitchFamily="34" charset="0"/>
                <a:ea typeface="Roboto Condensed Medium" pitchFamily="34" charset="-122"/>
                <a:cs typeface="Roboto Condensed Medium" pitchFamily="34" charset="-120"/>
              </a:rPr>
              <a:t>3</a:t>
            </a:r>
            <a:endParaRPr lang="es-419" sz="1000" noProof="0" dirty="0"/>
          </a:p>
        </p:txBody>
      </p:sp>
      <p:sp>
        <p:nvSpPr>
          <p:cNvPr id="35" name="Text 33"/>
          <p:cNvSpPr/>
          <p:nvPr/>
        </p:nvSpPr>
        <p:spPr>
          <a:xfrm>
            <a:off x="8897112" y="3200400"/>
            <a:ext cx="2706624" cy="310896"/>
          </a:xfrm>
          <a:prstGeom prst="rect">
            <a:avLst/>
          </a:prstGeom>
          <a:noFill/>
          <a:ln/>
        </p:spPr>
        <p:txBody>
          <a:bodyPr wrap="square" lIns="0" tIns="0" rIns="0" bIns="0" rtlCol="0" anchor="ctr"/>
          <a:lstStyle/>
          <a:p>
            <a:pPr marL="0" indent="0" algn="l">
              <a:buNone/>
            </a:pPr>
            <a:r>
              <a:rPr lang="es-419" sz="1100" noProof="0">
                <a:solidFill>
                  <a:srgbClr val="33373D"/>
                </a:solidFill>
                <a:latin typeface="Roboto Condensed" pitchFamily="34" charset="0"/>
                <a:ea typeface="Roboto Condensed" pitchFamily="34" charset="-122"/>
                <a:cs typeface="Roboto Condensed" pitchFamily="34" charset="-120"/>
              </a:rPr>
              <a:t>Dimensionar</a:t>
            </a:r>
            <a:endParaRPr lang="es-419" sz="1100" noProof="0" dirty="0"/>
          </a:p>
        </p:txBody>
      </p:sp>
      <p:sp>
        <p:nvSpPr>
          <p:cNvPr id="36" name="step badge">
            <a:extLst>
              <a:ext uri="{C183D7F6-B498-43B3-948B-1728B52AA6E4}">
                <adec:decorative xmlns:adec="http://schemas.microsoft.com/office/drawing/2017/decorative" val="1"/>
              </a:ext>
            </a:extLst>
          </p:cNvPr>
          <p:cNvSpPr/>
          <p:nvPr/>
        </p:nvSpPr>
        <p:spPr>
          <a:xfrm>
            <a:off x="8549640" y="3671316"/>
            <a:ext cx="237744" cy="237744"/>
          </a:xfrm>
          <a:prstGeom prst="ellipse">
            <a:avLst/>
          </a:prstGeom>
          <a:solidFill>
            <a:srgbClr val="2A3FE0"/>
          </a:solidFill>
          <a:ln/>
        </p:spPr>
        <p:txBody>
          <a:bodyPr/>
          <a:lstStyle/>
          <a:p>
            <a:endParaRPr lang="es-419" noProof="0" dirty="0"/>
          </a:p>
        </p:txBody>
      </p:sp>
      <p:sp>
        <p:nvSpPr>
          <p:cNvPr id="37" name="Text 35"/>
          <p:cNvSpPr/>
          <p:nvPr/>
        </p:nvSpPr>
        <p:spPr>
          <a:xfrm>
            <a:off x="8549640" y="3671316"/>
            <a:ext cx="237744" cy="237744"/>
          </a:xfrm>
          <a:prstGeom prst="rect">
            <a:avLst/>
          </a:prstGeom>
          <a:noFill/>
          <a:ln/>
        </p:spPr>
        <p:txBody>
          <a:bodyPr wrap="square" lIns="0" tIns="0" rIns="0" bIns="0" rtlCol="0" anchor="ctr"/>
          <a:lstStyle/>
          <a:p>
            <a:pPr marL="0" indent="0" algn="ctr">
              <a:buNone/>
            </a:pPr>
            <a:r>
              <a:rPr lang="es-419" sz="1000" b="1" noProof="0">
                <a:solidFill>
                  <a:srgbClr val="FFFFFF"/>
                </a:solidFill>
                <a:latin typeface="Roboto Condensed Medium" pitchFamily="34" charset="0"/>
                <a:ea typeface="Roboto Condensed Medium" pitchFamily="34" charset="-122"/>
                <a:cs typeface="Roboto Condensed Medium" pitchFamily="34" charset="-120"/>
              </a:rPr>
              <a:t>4</a:t>
            </a:r>
            <a:endParaRPr lang="es-419" sz="1000" noProof="0" dirty="0"/>
          </a:p>
        </p:txBody>
      </p:sp>
      <p:sp>
        <p:nvSpPr>
          <p:cNvPr id="38" name="Text 36"/>
          <p:cNvSpPr/>
          <p:nvPr/>
        </p:nvSpPr>
        <p:spPr>
          <a:xfrm>
            <a:off x="8897112" y="3643884"/>
            <a:ext cx="2706624" cy="310896"/>
          </a:xfrm>
          <a:prstGeom prst="rect">
            <a:avLst/>
          </a:prstGeom>
          <a:noFill/>
          <a:ln/>
        </p:spPr>
        <p:txBody>
          <a:bodyPr wrap="square" lIns="0" tIns="0" rIns="0" bIns="0" rtlCol="0" anchor="ctr"/>
          <a:lstStyle/>
          <a:p>
            <a:pPr marL="0" indent="0" algn="l">
              <a:buNone/>
            </a:pPr>
            <a:r>
              <a:rPr lang="es-419" sz="1100" noProof="0">
                <a:solidFill>
                  <a:srgbClr val="33373D"/>
                </a:solidFill>
                <a:latin typeface="Roboto Condensed" pitchFamily="34" charset="0"/>
                <a:ea typeface="Roboto Condensed" pitchFamily="34" charset="-122"/>
                <a:cs typeface="Roboto Condensed" pitchFamily="34" charset="-120"/>
              </a:rPr>
              <a:t>Decidir</a:t>
            </a:r>
            <a:endParaRPr lang="es-419" sz="1100" noProof="0" dirty="0"/>
          </a:p>
        </p:txBody>
      </p:sp>
      <p:sp>
        <p:nvSpPr>
          <p:cNvPr id="45" name="message">
            <a:extLst>
              <a:ext uri="{C183D7F6-B498-43B3-948B-1728B52AA6E4}">
                <adec:decorative xmlns:adec="http://schemas.microsoft.com/office/drawing/2017/decorative" val="1"/>
              </a:ext>
            </a:extLst>
          </p:cNvPr>
          <p:cNvSpPr/>
          <p:nvPr/>
        </p:nvSpPr>
        <p:spPr>
          <a:xfrm>
            <a:off x="685800" y="5349240"/>
            <a:ext cx="10817352" cy="841248"/>
          </a:xfrm>
          <a:prstGeom prst="rect">
            <a:avLst/>
          </a:prstGeom>
          <a:solidFill>
            <a:srgbClr val="2A3FE0"/>
          </a:solidFill>
          <a:ln w="12700">
            <a:solidFill>
              <a:srgbClr val="2A3FE0"/>
            </a:solidFill>
            <a:prstDash val="solid"/>
          </a:ln>
          <a:effectLst>
            <a:outerShdw blurRad="114300" dist="38100" dir="5400000" algn="bl" rotWithShape="0">
              <a:srgbClr val="5B6068">
                <a:alpha val="9000"/>
              </a:srgbClr>
            </a:outerShdw>
          </a:effectLst>
        </p:spPr>
        <p:txBody>
          <a:bodyPr/>
          <a:lstStyle/>
          <a:p>
            <a:endParaRPr lang="es-419" noProof="0" dirty="0"/>
          </a:p>
        </p:txBody>
      </p:sp>
      <p:sp>
        <p:nvSpPr>
          <p:cNvPr id="46" name="Text 44"/>
          <p:cNvSpPr/>
          <p:nvPr/>
        </p:nvSpPr>
        <p:spPr>
          <a:xfrm>
            <a:off x="1005840" y="5349240"/>
            <a:ext cx="10177272" cy="841248"/>
          </a:xfrm>
          <a:prstGeom prst="rect">
            <a:avLst/>
          </a:prstGeom>
          <a:noFill/>
          <a:ln/>
        </p:spPr>
        <p:txBody>
          <a:bodyPr wrap="square" lIns="0" tIns="0" rIns="0" bIns="0" rtlCol="0" anchor="ctr"/>
          <a:lstStyle/>
          <a:p>
            <a:pPr marL="0" indent="0" algn="ctr">
              <a:buNone/>
            </a:pPr>
            <a:r>
              <a:rPr lang="es-419" sz="1450" b="1" noProof="0">
                <a:solidFill>
                  <a:srgbClr val="FFFFFF"/>
                </a:solidFill>
                <a:latin typeface="Roboto Condensed Medium" pitchFamily="34" charset="0"/>
                <a:ea typeface="Roboto Condensed Medium" pitchFamily="34" charset="-122"/>
                <a:cs typeface="Roboto Condensed Medium" pitchFamily="34" charset="-120"/>
              </a:rPr>
              <a:t>La decisión de escalamiento debe considerar simultáneamente productividad, consumo, costo y capacidad de gobierno.</a:t>
            </a:r>
            <a:endParaRPr lang="es-419" sz="1450" noProof="0" dirty="0"/>
          </a:p>
        </p:txBody>
      </p:sp>
      <p:sp>
        <p:nvSpPr>
          <p:cNvPr id="47" name="Text 45"/>
          <p:cNvSpPr/>
          <p:nvPr/>
        </p:nvSpPr>
        <p:spPr>
          <a:xfrm>
            <a:off x="685800" y="6437376"/>
            <a:ext cx="8686800" cy="292608"/>
          </a:xfrm>
          <a:prstGeom prst="rect">
            <a:avLst/>
          </a:prstGeom>
          <a:noFill/>
          <a:ln/>
        </p:spPr>
        <p:txBody>
          <a:bodyPr wrap="square" lIns="0" tIns="0" rIns="0" bIns="0" rtlCol="0" anchor="ctr"/>
          <a:lstStyle/>
          <a:p>
            <a:pPr marL="0" indent="0" algn="l">
              <a:buNone/>
            </a:pPr>
            <a:r>
              <a:rPr lang="es-419" sz="850" b="1" noProof="0">
                <a:solidFill>
                  <a:srgbClr val="000000"/>
                </a:solidFill>
                <a:latin typeface="Roboto Condensed" pitchFamily="34" charset="0"/>
                <a:ea typeface="Roboto Condensed" pitchFamily="34" charset="-122"/>
                <a:cs typeface="Roboto Condensed" pitchFamily="34" charset="-120"/>
              </a:rPr>
              <a:t>Tuya</a:t>
            </a:r>
            <a:r>
              <a:rPr lang="es-419" sz="850" noProof="0">
                <a:solidFill>
                  <a:srgbClr val="5B6068"/>
                </a:solidFill>
                <a:latin typeface="Roboto Condensed" pitchFamily="34" charset="0"/>
                <a:ea typeface="Roboto Condensed" pitchFamily="34" charset="-122"/>
                <a:cs typeface="Roboto Condensed" pitchFamily="34" charset="-120"/>
              </a:rPr>
              <a:t>   ·   GitHub </a:t>
            </a:r>
            <a:r>
              <a:rPr lang="es-419" sz="850" noProof="0" err="1">
                <a:solidFill>
                  <a:srgbClr val="5B6068"/>
                </a:solidFill>
                <a:latin typeface="Roboto Condensed" pitchFamily="34" charset="0"/>
                <a:ea typeface="Roboto Condensed" pitchFamily="34" charset="-122"/>
                <a:cs typeface="Roboto Condensed" pitchFamily="34" charset="-120"/>
              </a:rPr>
              <a:t>Copilot</a:t>
            </a:r>
            <a:r>
              <a:rPr lang="es-419" sz="850" noProof="0">
                <a:solidFill>
                  <a:srgbClr val="5B6068"/>
                </a:solidFill>
                <a:latin typeface="Roboto Condensed" pitchFamily="34" charset="0"/>
                <a:ea typeface="Roboto Condensed" pitchFamily="34" charset="-122"/>
                <a:cs typeface="Roboto Condensed" pitchFamily="34" charset="-120"/>
              </a:rPr>
              <a:t> - Resultados de la Prueba de Concepto</a:t>
            </a:r>
            <a:endParaRPr lang="es-419" sz="850" noProof="0" dirty="0"/>
          </a:p>
        </p:txBody>
      </p:sp>
      <p:sp>
        <p:nvSpPr>
          <p:cNvPr id="48" name="Text 46"/>
          <p:cNvSpPr/>
          <p:nvPr/>
        </p:nvSpPr>
        <p:spPr>
          <a:xfrm>
            <a:off x="10972800" y="6437376"/>
            <a:ext cx="530352" cy="292608"/>
          </a:xfrm>
          <a:prstGeom prst="rect">
            <a:avLst/>
          </a:prstGeom>
          <a:noFill/>
          <a:ln/>
        </p:spPr>
        <p:txBody>
          <a:bodyPr wrap="square" lIns="0" tIns="0" rIns="0" bIns="0" rtlCol="0" anchor="ctr"/>
          <a:lstStyle/>
          <a:p>
            <a:pPr marL="0" indent="0" algn="r">
              <a:buNone/>
            </a:pPr>
            <a:r>
              <a:rPr lang="es-419" sz="900" b="1" noProof="0">
                <a:solidFill>
                  <a:srgbClr val="2A3FE0"/>
                </a:solidFill>
                <a:latin typeface="Roboto Condensed Medium" pitchFamily="34" charset="0"/>
                <a:ea typeface="Roboto Condensed Medium" pitchFamily="34" charset="-122"/>
                <a:cs typeface="Roboto Condensed Medium" pitchFamily="34" charset="-120"/>
              </a:rPr>
              <a:t>10</a:t>
            </a:r>
            <a:endParaRPr lang="es-419" sz="900" noProof="0" dirty="0"/>
          </a:p>
        </p:txBody>
      </p:sp>
      <p:pic>
        <p:nvPicPr>
          <p:cNvPr id="950" name="Logo Tuya"/>
          <p:cNvPicPr>
            <a:picLocks noChangeAspect="1"/>
          </p:cNvPicPr>
          <p:nvPr/>
        </p:nvPicPr>
        <p:blipFill>
          <a:blip r:embed="rId3"/>
          <a:stretch>
            <a:fillRect/>
          </a:stretch>
        </p:blipFill>
        <p:spPr>
          <a:xfrm>
            <a:off x="11152200" y="321276"/>
            <a:ext cx="640080" cy="320040"/>
          </a:xfrm>
          <a:prstGeom prst="rect">
            <a:avLst/>
          </a:prstGeom>
        </p:spPr>
      </p:pic>
    </p:spTree>
  </p:cSld>
  <p:clrMapOvr>
    <a:masterClrMapping/>
  </p:clrMapOvr>
</p:sld>
</file>

<file path=ppt/theme/theme1.xml><?xml version="1.0" encoding="utf-8"?>
<a:theme xmlns:a="http://schemas.openxmlformats.org/drawingml/2006/main" name="Office Theme">
  <a:themeElements>
    <a:clrScheme name="TUYA Colombia">
      <a:dk1>
        <a:sysClr val="windowText" lastClr="000000"/>
      </a:dk1>
      <a:lt1>
        <a:sysClr val="window" lastClr="FFFFFF"/>
      </a:lt1>
      <a:dk2>
        <a:srgbClr val="000000"/>
      </a:dk2>
      <a:lt2>
        <a:srgbClr val="F5F6FA"/>
      </a:lt2>
      <a:accent1>
        <a:srgbClr val="2A3FE0"/>
      </a:accent1>
      <a:accent2>
        <a:srgbClr val="000000"/>
      </a:accent2>
      <a:accent3>
        <a:srgbClr val="7A7A7A"/>
      </a:accent3>
      <a:accent4>
        <a:srgbClr val="77C3CD"/>
      </a:accent4>
      <a:accent5>
        <a:srgbClr val="9CCB49"/>
      </a:accent5>
      <a:accent6>
        <a:srgbClr val="C9E4DC"/>
      </a:accent6>
      <a:hlink>
        <a:srgbClr val="2A3FE0"/>
      </a:hlink>
      <a:folHlink>
        <a:srgbClr val="1E2FB5"/>
      </a:folHlink>
    </a:clrScheme>
    <a:fontScheme name="Office">
      <a:majorFont>
        <a:latin typeface="Roboto Condensed Medium"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Roboto Condensed"/>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oboto Condensed" panose="020F0502020204030204"/>
        <a:ea typeface=""/>
        <a:cs typeface=""/>
        <a:font script="Jpan" typeface="游ゴシック"/>
        <a:font script="Hang" typeface="맑은 고딕"/>
        <a:font script="Hans" typeface="等线"/>
        <a:font script="Hant" typeface="新細明體"/>
        <a:font script="Arab" typeface="Roboto Condensed"/>
        <a:font script="Hebr" typeface="Roboto Condense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Roboto Condensed"/>
        <a:font script="Uigh" typeface="Microsoft Uighur"/>
        <a:font script="Geor" typeface="Sylfaen"/>
        <a:font script="Armn" typeface="Roboto Condensed"/>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TUYA Colombia">
      <a:dk1>
        <a:sysClr val="windowText" lastClr="000000"/>
      </a:dk1>
      <a:lt1>
        <a:sysClr val="window" lastClr="FFFFFF"/>
      </a:lt1>
      <a:dk2>
        <a:srgbClr val="000000"/>
      </a:dk2>
      <a:lt2>
        <a:srgbClr val="F5F6FA"/>
      </a:lt2>
      <a:accent1>
        <a:srgbClr val="2A3FE0"/>
      </a:accent1>
      <a:accent2>
        <a:srgbClr val="000000"/>
      </a:accent2>
      <a:accent3>
        <a:srgbClr val="7A7A7A"/>
      </a:accent3>
      <a:accent4>
        <a:srgbClr val="77C3CD"/>
      </a:accent4>
      <a:accent5>
        <a:srgbClr val="9CCB49"/>
      </a:accent5>
      <a:accent6>
        <a:srgbClr val="C9E4DC"/>
      </a:accent6>
      <a:hlink>
        <a:srgbClr val="2A3FE0"/>
      </a:hlink>
      <a:folHlink>
        <a:srgbClr val="1E2FB5"/>
      </a:folHlink>
    </a:clrScheme>
    <a:fontScheme name="Office">
      <a:majorFont>
        <a:latin typeface="Roboto Condensed Medium"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Roboto Condensed"/>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oboto Condensed" panose="020F0502020204030204"/>
        <a:ea typeface=""/>
        <a:cs typeface=""/>
        <a:font script="Jpan" typeface="游ゴシック"/>
        <a:font script="Hang" typeface="맑은 고딕"/>
        <a:font script="Hans" typeface="等线"/>
        <a:font script="Hant" typeface="新細明體"/>
        <a:font script="Arab" typeface="Roboto Condensed"/>
        <a:font script="Hebr" typeface="Roboto Condense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Roboto Condensed"/>
        <a:font script="Uigh" typeface="Microsoft Uighur"/>
        <a:font script="Geor" typeface="Sylfaen"/>
        <a:font script="Armn" typeface="Roboto Condensed"/>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514</TotalTime>
  <Words>1470</Words>
  <Application>Microsoft Office PowerPoint</Application>
  <PresentationFormat>Panorámica</PresentationFormat>
  <Paragraphs>234</Paragraphs>
  <Slides>10</Slides>
  <Notes>10</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10</vt:i4>
      </vt:variant>
    </vt:vector>
  </HeadingPairs>
  <TitlesOfParts>
    <vt:vector size="13" baseType="lpstr">
      <vt:lpstr>Roboto Condensed</vt:lpstr>
      <vt:lpstr>Roboto Condensed Medium</vt:lpstr>
      <vt:lpstr>Office Theme</vt:lpstr>
      <vt:lpstr>GitHub Copilot Resultados de la Prueba de Concepto</vt:lpstr>
      <vt:lpstr>Qué evaluamos y bajo qué condiciones</vt:lpstr>
      <vt:lpstr>Cómo evaluamos el impacto de GitHub Copilot</vt:lpstr>
      <vt:lpstr>Qué resultados obtuvimos</vt:lpstr>
      <vt:lpstr>Cuánto consumimos y cómo se factura hoy</vt:lpstr>
      <vt:lpstr>Inversión base para 70 desarrolladores</vt:lpstr>
      <vt:lpstr>Punto de equilibrio de la inversión</vt:lpstr>
      <vt:lpstr>Cómo se puede gobernar y controlar el consumo</vt:lpstr>
      <vt:lpstr>Cómo se administra Copilot de forma central</vt:lpstr>
      <vt:lpstr>Qué observamos y qué falta decidir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Ricardo Andres Leyva</dc:creator>
  <cp:lastModifiedBy>Ricardo Andres Leyva</cp:lastModifiedBy>
  <cp:revision>12</cp:revision>
  <dcterms:created xsi:type="dcterms:W3CDTF">2026-07-21T13:52:08Z</dcterms:created>
  <dcterms:modified xsi:type="dcterms:W3CDTF">2026-07-27T14:02:11Z</dcterms:modified>
</cp:coreProperties>
</file>